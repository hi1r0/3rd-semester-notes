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8" r:id="rId67"/>
    <p:sldId id="329" r:id="rId6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3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29383" y="-20062"/>
            <a:ext cx="9096913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II</a:t>
            </a:r>
          </a:p>
          <a:p>
            <a:pPr algn="ctr"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Exchange Market &amp; Currency Derivatives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9875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Structure, Participants, Transactions, Quotations, Arbitrage, Forward Rates, Indian FX Market, Computations, Futures &amp;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33201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rPr dirty="0"/>
              <a:t>1.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Exchange Market: Structure &amp; Participants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Types of Transactions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Mechanics of Currency Dealing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Exchange Rate Quotations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Arbitrage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Forward Rates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Exchange Control &amp; FX Market in India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Exchange Rate Computations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Currency Futures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Currency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545431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 of Foreign Exchange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exchange (FX) refers to foreign currencies and claims payable in foreign currency</a:t>
            </a:r>
          </a:p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FX market enables conversion of one currency into another</a:t>
            </a:r>
          </a:p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supports international trade, investment, remittances and risk management</a:t>
            </a:r>
          </a:p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Exchange rate expresses the value of one currency in terms of another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478265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Exchange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global decentralized market for trading currencies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Operates across major financial centers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Transactions occur through banks, electronic platforms and other intermediaries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market is highly liquid in major currency pairs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Trading is conducted across time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50834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of the FX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function – transfers purchasing power between countries</a:t>
            </a:r>
          </a:p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Credit function – supports international trade finance</a:t>
            </a:r>
          </a:p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Hedging function – manages currency risk</a:t>
            </a:r>
          </a:p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Price discovery – determines exchange rates</a:t>
            </a:r>
          </a:p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Liquidity provision – enables currency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50311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the FX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and corporate customers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Commercial and investment banks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 banks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Foreign exchange brokers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Electronic trading platforms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Institutional investors and dealers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353872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Participants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 banks and authorized dealers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 banks and monetary authorities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Multinational corporations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Importers and exporters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Institutional investors and asset managers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Hedge funds and proprietary trading firms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Individuals and remittance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17246" y="320040"/>
            <a:ext cx="272702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Banks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71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 official foreign-exchange reserves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May intervene in FX markets under their policy framework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 monetary and exchange-rate policies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Act as banker to government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 India, RBI is the monetary authority and regulator for the foreign exchange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518340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 Banks / Dealers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Quote bid and ask rates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Execute customer and interbank transactions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 open currency positions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 hedging products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Earn income through spreads and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42530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Participants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Importers need foreign currency to pay overseas suppliers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Exporters receive foreign currency and may convert it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Borrowers may face foreign-currency repayment risk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Corporates use forwards, futures, options and swaps for risk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608647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Brokers and Electronic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Brokers facilitate matching of buyers and sellers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Electronic platforms provide prices and execution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Interbank dealing increasingly uses electronic communication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Market transparency and speed depend on platform and market 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287989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Currency Pairs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currency pair compares two currencies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Example: USD/INR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First currency = base currency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Second currency = quote/counter currency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USD/INR = ₹ value of one US dollar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55769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Major, Minor and Exotic Pairs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Major pairs involve heavily traded currencies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Minor/cross pairs exclude the US dollar, e.g., EUR/GBP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Exotic pairs combine a major currency with a less-traded currency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Liquidity and spreads can vary significantly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464319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FX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 transaction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Forward transaction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Foreign exchange swap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Currency futures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Currency options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Currency swaps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Other structured/derivative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316682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Agreement to exchange currencies at the prevailing spot rate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Settlement generally occurs shortly after trade date, subject to market convention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for immediate currency needs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Example: importer buys USD against INR for an upcoming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39202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Agreement today to exchange currencies at a specified future date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Rate is fixed at the time of contract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Helps lock in a future exchange rate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Commonly used for hedging receivables and payables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79087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FX Swap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 purchase and sale of the same currency for different value dates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One leg is normally near-date and the other far-date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for funding, liquidity and maturity management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Different from a currency swap, which generally involves longer-term cash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332770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Currency Futures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exchange-traded contracts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Specify currency, contract size, expiry and settlement terms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 margin and daily mark-to-market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Can be used for hedging or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335758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Currency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the buyer a right, not an obligation, to buy or sell currency at a specified rate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Call option = right to buy the underlying currency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Put option = right to sell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Buyer pays a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573003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Mechanics of Currency Dealing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 receives customer/interbank request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Dealer identifies currency, amount, value date and settlement instructions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Dealer quotes bid and ask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Customer accepts a rate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Trade is confirmed and settled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Dealer manages resulting currency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232768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 and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Bid = rate at which dealer buys the base currency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Ask/offer = rate at which dealer sells the base currency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Bid is normally lower than ask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Difference = bid–ask spread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Example: USD/INR 83.20 / 83.24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334258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Bid–Ask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bank quotes USD/INR 83.20 / 83.24.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Customer selling USD to bank receives ₹83.20 per USD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Customer buying USD from bank pays ₹83.24 per USD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Spread = ₹0.04 per USD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94944" y="411480"/>
            <a:ext cx="485742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Exchange Rate Quotations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quotation: domestic currency price of one unit of foreign currency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Indirect quotation: foreign currency value of one unit of domestic currency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Market convention differs across financial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Always identify the base and quote currency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449571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Quotation –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India, USD/INR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95.97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one USD costs ₹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95.97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Domestic currency is the price currency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 increase from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95.97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96.13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rupee depreciation against USD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fall indicates rupee appreciation, other things equal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346979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Indirect Quotation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units of foreign currency per unit of domestic currency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Example: ₹1 = USD 0.01198 approximately when USD/INR =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97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Reciprocal relationship connects direct and indirect quotations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Exchange Rate Spread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Spread = Ask − Bid</a:t>
            </a:r>
          </a:p>
          <a:p>
            <a:pPr>
              <a:spcAft>
                <a:spcPts val="800"/>
              </a:spcAft>
              <a:defRPr sz="1800"/>
            </a:pPr>
            <a:r>
              <a:t>• Percentage spread can be approximated as spread divided by midpoint</a:t>
            </a:r>
          </a:p>
          <a:p>
            <a:pPr>
              <a:spcAft>
                <a:spcPts val="800"/>
              </a:spcAft>
              <a:defRPr sz="1800"/>
            </a:pPr>
            <a:r>
              <a:t>• Wider spreads may reflect lower liquidity, higher risk or market conditions</a:t>
            </a:r>
          </a:p>
          <a:p>
            <a:pPr>
              <a:spcAft>
                <a:spcPts val="800"/>
              </a:spcAft>
              <a:defRPr sz="1800"/>
            </a:pPr>
            <a:r>
              <a:t>• Dealers use spreads to compensate for costs and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210564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Exchange rate between two currencies derived from their rates against a common currency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Useful when a direct market quotation is unavailable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Correct calculation depends on quotation direction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Cross-rate errors can create apparent but not necessarily executable arbitrage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375833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 Rate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Suppose EUR/USD = 1.1000 and USD/INR =</a:t>
            </a:r>
            <a:r>
              <a:rPr lang="en-IN" dirty="0"/>
              <a:t>95.97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EUR/INR = 1.1000 × </a:t>
            </a:r>
            <a:r>
              <a:rPr lang="en-IN" dirty="0"/>
              <a:t>95.97</a:t>
            </a:r>
            <a:r>
              <a:rPr dirty="0"/>
              <a:t> = ₹</a:t>
            </a:r>
            <a:r>
              <a:rPr lang="en-IN" dirty="0"/>
              <a:t>10</a:t>
            </a:r>
            <a:r>
              <a:rPr dirty="0"/>
              <a:t>9.</a:t>
            </a:r>
            <a:r>
              <a:rPr lang="en-IN" dirty="0"/>
              <a:t>15</a:t>
            </a:r>
            <a:r>
              <a:rPr dirty="0"/>
              <a:t> per EUR.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Interpretation: one euro costs approximately ₹</a:t>
            </a:r>
            <a:r>
              <a:rPr lang="en-IN" dirty="0"/>
              <a:t> 109.15 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299370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Reciprocal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USD/INR =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95.97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INR/USD = 1 ÷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95.97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0.011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04199229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USD per INR.</a:t>
            </a:r>
          </a:p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Reciprocal calculations must preserve units.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389760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Triangular Arbitrage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three currencies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Trader exploits inconsistency among three exchange rates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Convert currency A → B → C → A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Profit exists only if the final amount exceeds the starting amount after spreads and transaction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59831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Triangular Arbitrage Illustration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quoted rates imply a synthetic EUR/USD of 1.0950 while the market quote is 1.1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00.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dealer can compare the two routes.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executable opportunity depends on bid/ask rates, timing, credit limits and transaction costs.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493692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Covered Interest Arbitrage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 spot rates, forward rates and interest rates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Investor compares domestic investment with foreign investment hedged through a forward contract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Covered interest parity provides the benchmark relationship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Deviations may be constrained by transaction costs and market frictions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28184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77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rate is the exchange rate agreed today for future delivery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can be above or below the spot rate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Forward premium/discount is related to interest-rate differentials under covered interest parity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533889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Premium / Discount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premium or discount (annualized approximation):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[(Forward − Spot) / Spot] × (360 / days) × 100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depends on quotation convention.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state the base currency and quotation method.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366536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Rate Parity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direct domestic-currency quotation: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S × (1 + domestic interest rate × t) / (1 + foreign interest rate × t)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S = spot rate, F = forward rate, t = time fraction.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53479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Hedging – Importer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71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Importer has USD payable after 3 months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Risk: USD may appreciate against INR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Importer can buy USD forward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forward fixes the INR cost of the foreign-currency payment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Hedge removes uncertainty but also removes benefit from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favourable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exchange-rate movement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532549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Hedging – Exporter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Exporter expects USD receivable after 3 months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Risk: USD may depreciate against INR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Exporter can sell USD forward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INR proceeds become more predictable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Forward hedge supports budgeting and cash-flow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531805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Exchange Control – Meaning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Exchange control refers to official rules governing foreign-currency transactions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Controls may regulate acquisition, holding, transfer or use of foreign currency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Objectives can include external stability, reserve management and orderly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59217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India: Pre-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Liberalisation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historically used extensive foreign-exchange controls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Foreign Exchange Regulation Act (FERA), 1973, formed an important part of the earlier regime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Controls reflected foreign-exchange scarcity and balance-of-payments concerns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framework later shifted toward facilitation and market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595227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1991 Balance-of-Payments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faced severe external-sector pressure in 1991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Economic reforms followed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Exchange-rate and trade reforms were introduced in stages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reform process contributed to a more market-oriented FX regime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42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647645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Liberalisation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Exchange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Exchange-rate reforms in the 1990s moved India toward a market-determined exchange rate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Liberalised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Exchange Rate Management System was introduced in 1992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unified exchange rate was introduced in 1993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Current-account convertibility was accepted in 1994, subject to applicable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43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30346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FERA to FEMA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Exchange Management Act (FEMA), 1999 replaced FERA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FEMA came into force in 2000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Broad orientation changed from conservation/control toward management and facilitation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FEMA remains the principal statute governing foreign exchange management in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44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626383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Exchange Market in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RBI and authorized persons operate within the FEMA framework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Authorized Dealer banks are major market intermediaries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Market includes spot, forward and derivative transactions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RBI may participate in the market in pursuit of monetary and exchange-market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521309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RBI and Authorized Persons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RBI regulates the foreign exchange framework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Authorized Dealer Category-I banks conduct a broad range of permitted FX transactions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Other authorized persons have permissions appropriate to their category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Transactions must comply with applicable FEMA rules and RBI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28918"/>
            <a:ext cx="283763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Exchange Rate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" y="1865376"/>
            <a:ext cx="10881360" cy="177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India operates a market-determined exchange-rate system with managed intervention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rupee's value is influenced by demand and supply in the market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RBI may intervene to address disorderly market conditions and manage reserves, subject to its policy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47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566533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FX Market Participants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RBI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Authorized Dealer banks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Foreign banks operating under applicable permissions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Corporates and exporters/importers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Foreign portfolio and institutional investors within regulatory frameworks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Brokers and electronic trading venues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48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550663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Exchange Rate </a:t>
            </a:r>
            <a:r>
              <a:rPr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Keep units visible in every step</a:t>
            </a:r>
          </a:p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base and quote currency</a:t>
            </a:r>
          </a:p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multiplication when converting through a currency chain in compatible units</a:t>
            </a:r>
          </a:p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reciprocals when reversing a quotation</a:t>
            </a:r>
          </a:p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For dealer quotes, use bid/ask consistently rather than mid-rates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49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Computation 1: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company needs USD 50,000.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USD/INR = 83.50 / 83.60.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buying USD from a bank, use the ask rate.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INR required = 50,000 × 83.60 = ₹4,180,000.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Computation 2: Export Proceeds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Exporter receives USD 40,000.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USD/INR = 83.50 / 83.60.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selling USD to the bank, use the bid rate.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INR received = 40,000 × 83.50 = ₹3,340,000.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51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 3: Cross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EUR/USD = 1.1000 / 1.1010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USD/INR = 83.50 / 83.60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simplified mid-rate calculation: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EUR/INR ≈ 1.1005 × 83.55 ≈ ₹91.91.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executable dealer quotes, use bid/ask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52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528817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Currency Futures – Meaning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03020"/>
            <a:ext cx="1088136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futures contract on a currency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Traded on an organized exchange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Contract specifications are standardized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Daily mark-to-market settlement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Margin system reduces counterparty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55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525829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Currency Futures –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64079"/>
            <a:ext cx="1088136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contract size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Fixed expiry cycles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Exchange-traded transparency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Initial and maintenance margins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Daily settlement of gains/losses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Can be closed before expiry by taking an opposite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56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544847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Currency Futures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518"/>
            <a:ext cx="10881360" cy="5180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Futures: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Standardized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Exchange traded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Margin and daily settlement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Generally more liquid/transparent</a:t>
            </a:r>
          </a:p>
          <a:p>
            <a:pPr>
              <a:spcAft>
                <a:spcPts val="800"/>
              </a:spcAft>
              <a:defRPr sz="16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Forward: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Customized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Usually OTC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Flexible amount and maturity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Bilateral counterparty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57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377917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Futures Hedge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108813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firm needing foreign currency in future faces risk of currency appreciation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can take a long currency-futures position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If the currency appreciates, the futures gain can offset higher spot-market cost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Basis risk remains because spot and futures prices may not move identically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58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384650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Futures Hedge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518"/>
            <a:ext cx="108813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exporter expecting foreign-currency receipts faces depreciation risk</a:t>
            </a:r>
          </a:p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can take a short futures position</a:t>
            </a:r>
          </a:p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Futures gains may offset lower domestic-currency value of the receipt</a:t>
            </a:r>
          </a:p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Hedge effectiveness depends on basis movement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59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Currency Options – Core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Underlying currency</a:t>
            </a:r>
          </a:p>
          <a:p>
            <a:pPr>
              <a:spcAft>
                <a:spcPts val="800"/>
              </a:spcAft>
              <a:defRPr sz="1800"/>
            </a:pPr>
            <a:r>
              <a:t>• Strike/exercise price</a:t>
            </a:r>
          </a:p>
          <a:p>
            <a:pPr>
              <a:spcAft>
                <a:spcPts val="800"/>
              </a:spcAft>
              <a:defRPr sz="1800"/>
            </a:pPr>
            <a:r>
              <a:t>• Premium</a:t>
            </a:r>
          </a:p>
          <a:p>
            <a:pPr>
              <a:spcAft>
                <a:spcPts val="800"/>
              </a:spcAft>
              <a:defRPr sz="1800"/>
            </a:pPr>
            <a:r>
              <a:t>• Expiration date</a:t>
            </a:r>
          </a:p>
          <a:p>
            <a:pPr>
              <a:spcAft>
                <a:spcPts val="800"/>
              </a:spcAft>
              <a:defRPr sz="1800"/>
            </a:pPr>
            <a:r>
              <a:t>• Option buyer/holder</a:t>
            </a:r>
          </a:p>
          <a:p>
            <a:pPr>
              <a:spcAft>
                <a:spcPts val="800"/>
              </a:spcAft>
              <a:defRPr sz="1800"/>
            </a:pPr>
            <a:r>
              <a:t>• Option writer/seller</a:t>
            </a:r>
          </a:p>
          <a:p>
            <a:pPr>
              <a:spcAft>
                <a:spcPts val="800"/>
              </a:spcAft>
              <a:defRPr sz="1800"/>
            </a:pPr>
            <a:r>
              <a:t>• Call and 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60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Currency Call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Gives buyer the right to buy the underlying currency at the strike price</a:t>
            </a:r>
          </a:p>
          <a:p>
            <a:pPr>
              <a:spcAft>
                <a:spcPts val="800"/>
              </a:spcAft>
              <a:defRPr sz="1800"/>
            </a:pPr>
            <a:r>
              <a:t>• Buyer pays premium</a:t>
            </a:r>
          </a:p>
          <a:p>
            <a:pPr>
              <a:spcAft>
                <a:spcPts val="800"/>
              </a:spcAft>
              <a:defRPr sz="1800"/>
            </a:pPr>
            <a:r>
              <a:t>• Buyer exercises when market price is favourable relative to strike, subject to premium economics</a:t>
            </a:r>
          </a:p>
          <a:p>
            <a:pPr>
              <a:spcAft>
                <a:spcPts val="800"/>
              </a:spcAft>
              <a:defRPr sz="1800"/>
            </a:pPr>
            <a:r>
              <a:t>• Useful for protecting against currency appreciation while retaining upside from depreciation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61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Currency Put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Gives buyer the right to sell the underlying currency at the strike price</a:t>
            </a:r>
          </a:p>
          <a:p>
            <a:pPr>
              <a:spcAft>
                <a:spcPts val="800"/>
              </a:spcAft>
              <a:defRPr sz="1800"/>
            </a:pPr>
            <a:r>
              <a:t>• Buyer pays premium</a:t>
            </a:r>
          </a:p>
          <a:p>
            <a:pPr>
              <a:spcAft>
                <a:spcPts val="800"/>
              </a:spcAft>
              <a:defRPr sz="1800"/>
            </a:pPr>
            <a:r>
              <a:t>• Useful for protecting against currency depreciation while retaining upside from appreciation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62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379462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Payoff –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21774"/>
            <a:ext cx="1088136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expiry, call intrinsic payoff per unit = max(Spot − Strike, 0).</a:t>
            </a:r>
          </a:p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= call payoff − premium.</a:t>
            </a:r>
          </a:p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loss for the buyer is generally the premium paid, ignoring transaction costs.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63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08758"/>
            <a:ext cx="111467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sz="3200" dirty="0"/>
              <a:t>Option Payoff – 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1298"/>
            <a:ext cx="1106424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expiry, put intrinsic payoff per unit = max(Strike − Spot, 0).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= put payoff − premium.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loss for the buyer is generally the premium paid, ignoring transaction costs.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64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23439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Option </a:t>
            </a:r>
            <a:r>
              <a:rPr dirty="0" smtClean="0"/>
              <a:t>Money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950522"/>
            <a:ext cx="108813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In-the-money (ITM): immediate exercise has positive intrinsic value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At-the-money (ATM): spot is approximately equal to strike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Out-of-the-money (OTM): exercise has no positive intrinsic value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Moneyness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distinct from profitability after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65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Option Premium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506" y="2660073"/>
            <a:ext cx="11283934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Price paid by option buyer to option seller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Reflects intrinsic and time value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Influenced by volatility, time to expiry, interest rates, strike and spot price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Premium is the buyer's cost of obtaining asymmetric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66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44508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 for an Importer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5073" y="1831769"/>
            <a:ext cx="108813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Importer can buy a currency call option</a:t>
            </a:r>
          </a:p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If foreign currency appreciates, option can be exercised</a:t>
            </a:r>
          </a:p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If currency depreciates, importer may allow option to expire and buy at market rate</a:t>
            </a:r>
          </a:p>
          <a:p>
            <a:pPr algn="just"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Premium is paid for this flexibility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67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44283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 for an Exporter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44436"/>
            <a:ext cx="1106424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Exporter can buy a currency put option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If foreign currency depreciates, put can provide protection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If currency appreciates, exporter can benefit by selling at the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favourable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 rate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Premium is the cost of flexibility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68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388490"/>
            <a:ext cx="11155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/>
              <a:t>Futures and Options –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9438"/>
            <a:ext cx="11064240" cy="177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Futures: obligation for both sides; standardized; margin; linear payoff.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Options: buyer has a right; writer has an obligation if exercised; premium; asymmetric payoff.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can be used for hedging and trading.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69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1302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Risk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897578"/>
            <a:ext cx="11109960" cy="3765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risk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Credit/counterparty risk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Liquidity risk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Settlement risk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Basis risk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Model/valuation risk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Regulatory risk</a:t>
            </a:r>
          </a:p>
          <a:p>
            <a:pPr>
              <a:spcAft>
                <a:spcPts val="800"/>
              </a:spcAft>
              <a:defRPr sz="16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Operational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73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Formula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1. Reciprocal rate = 1 / quoted rate</a:t>
            </a:r>
          </a:p>
          <a:p>
            <a:pPr>
              <a:spcAft>
                <a:spcPts val="800"/>
              </a:spcAft>
              <a:defRPr sz="1800"/>
            </a:pPr>
            <a:r>
              <a:t>2. Cross rate = compatible currency-chain multiplication/division</a:t>
            </a:r>
          </a:p>
          <a:p>
            <a:pPr>
              <a:spcAft>
                <a:spcPts val="800"/>
              </a:spcAft>
              <a:defRPr sz="1800"/>
            </a:pPr>
            <a:r>
              <a:t>3. Forward rate ≈ Spot × (1 + domestic rate × t)/(1 + foreign rate × t)</a:t>
            </a:r>
          </a:p>
          <a:p>
            <a:pPr>
              <a:spcAft>
                <a:spcPts val="800"/>
              </a:spcAft>
              <a:defRPr sz="1800"/>
            </a:pPr>
            <a:r>
              <a:t>4. Call payoff = max(S − K, 0)</a:t>
            </a:r>
          </a:p>
          <a:p>
            <a:pPr>
              <a:spcAft>
                <a:spcPts val="800"/>
              </a:spcAft>
              <a:defRPr sz="1800"/>
            </a:pPr>
            <a:r>
              <a:t>5. Put payoff = max(K − S, 0)</a:t>
            </a:r>
          </a:p>
          <a:p>
            <a:pPr>
              <a:spcAft>
                <a:spcPts val="800"/>
              </a:spcAft>
              <a:defRPr sz="1800"/>
            </a:pPr>
            <a:r>
              <a:t>6. Futures hedge result depends on spot and futures price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2825</Words>
  <Application>Microsoft Office PowerPoint</Application>
  <PresentationFormat>Widescreen</PresentationFormat>
  <Paragraphs>435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sinouvassane natarajan</dc:creator>
  <cp:keywords/>
  <dc:description>generated using python-pptx</dc:description>
  <cp:lastModifiedBy>hp</cp:lastModifiedBy>
  <cp:revision>21</cp:revision>
  <dcterms:created xsi:type="dcterms:W3CDTF">2013-01-27T09:14:16Z</dcterms:created>
  <dcterms:modified xsi:type="dcterms:W3CDTF">2026-10-15T11:16:23Z</dcterms:modified>
  <cp:category/>
</cp:coreProperties>
</file>