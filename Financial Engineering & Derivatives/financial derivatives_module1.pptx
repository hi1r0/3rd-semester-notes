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7" r:id="rId2"/>
    <p:sldId id="257" r:id="rId3"/>
    <p:sldId id="310" r:id="rId4"/>
    <p:sldId id="311" r:id="rId5"/>
    <p:sldId id="312" r:id="rId6"/>
    <p:sldId id="313" r:id="rId7"/>
    <p:sldId id="314" r:id="rId8"/>
    <p:sldId id="315" r:id="rId9"/>
    <p:sldId id="316" r:id="rId10"/>
    <p:sldId id="324" r:id="rId11"/>
    <p:sldId id="325" r:id="rId12"/>
    <p:sldId id="262" r:id="rId13"/>
    <p:sldId id="319" r:id="rId14"/>
    <p:sldId id="320" r:id="rId15"/>
    <p:sldId id="321" r:id="rId16"/>
    <p:sldId id="32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14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7694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Times New Roman" pitchFamily="18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Times New Roman" pitchFamily="18" charset="0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19-Apr-21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04607A"/>
                </a:solidFill>
                <a:latin typeface="Times New Roman" pitchFamily="18" charset="0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19-Apr-21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04607A"/>
                </a:solidFill>
                <a:latin typeface="Times New Roman" pitchFamily="18" charset="0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Times New Roman" pitchFamily="18" charset="0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Times New Roman" pitchFamily="18" charset="0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19-Apr-21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04607A"/>
                </a:solidFill>
                <a:latin typeface="Times New Roman" pitchFamily="18" charset="0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19-Apr-21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19-Apr-21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746"/>
            <a:ext cx="9144000" cy="102742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00007" y="0"/>
            <a:ext cx="4743992" cy="600077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0"/>
            <a:ext cx="9091760" cy="1021461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-1030" y="50926"/>
            <a:ext cx="9146173" cy="90474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81582" y="708406"/>
            <a:ext cx="6180835" cy="788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04607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8050" y="3117850"/>
            <a:ext cx="771525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19-Apr-21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Agency FB" pitchFamily="34" charset="0"/>
          <a:ea typeface="+mj-ea"/>
          <a:cs typeface="+mj-cs"/>
        </a:defRPr>
      </a:lvl1pPr>
    </p:titleStyle>
    <p:bodyStyle>
      <a:lvl1pPr marL="0">
        <a:defRPr>
          <a:latin typeface="Times New Roman" pitchFamily="18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24.png"/><Relationship Id="rId5" Type="http://schemas.openxmlformats.org/officeDocument/2006/relationships/image" Target="../media/image4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677108"/>
          </a:xfrm>
        </p:spPr>
        <p:txBody>
          <a:bodyPr/>
          <a:lstStyle/>
          <a:p>
            <a:r>
              <a:rPr lang="en-IN" sz="4400" b="1" dirty="0" smtClean="0">
                <a:solidFill>
                  <a:srgbClr val="002060"/>
                </a:solidFill>
              </a:rPr>
              <a:t>FINANCIAL DERIVATIVES</a:t>
            </a:r>
            <a:endParaRPr lang="en-US" sz="4400" b="1" dirty="0">
              <a:solidFill>
                <a:srgbClr val="00206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1371600" y="3581400"/>
            <a:ext cx="6400800" cy="369332"/>
          </a:xfrm>
        </p:spPr>
        <p:txBody>
          <a:bodyPr/>
          <a:lstStyle/>
          <a:p>
            <a:pPr algn="ctr"/>
            <a:r>
              <a:rPr lang="en-IN" sz="2400" b="1" dirty="0" smtClean="0">
                <a:solidFill>
                  <a:schemeClr val="accent1">
                    <a:lumMod val="75000"/>
                  </a:schemeClr>
                </a:solidFill>
              </a:rPr>
              <a:t>MODULE -1</a:t>
            </a:r>
            <a:endParaRPr 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219200" y="4648200"/>
            <a:ext cx="640080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500" u="none" strike="noStrike" kern="0" cap="none" spc="0" normalizeH="0" baseline="0" noProof="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ylfaen" pitchFamily="18" charset="0"/>
              </a:rPr>
              <a:t>DR. KAMALAKKANNAN ADHISEKAR, BE,MBA,NET,</a:t>
            </a:r>
            <a:r>
              <a:rPr kumimoji="0" lang="en-IN" sz="1500" u="none" strike="noStrike" kern="0" cap="none" spc="0" normalizeH="0" noProof="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Sylfaen" pitchFamily="18" charset="0"/>
              </a:rPr>
              <a:t> PHD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500" kern="0" baseline="0" dirty="0" smtClean="0">
                <a:solidFill>
                  <a:schemeClr val="accent6">
                    <a:lumMod val="50000"/>
                  </a:schemeClr>
                </a:solidFill>
                <a:latin typeface="Sylfaen" pitchFamily="18" charset="0"/>
              </a:rPr>
              <a:t>ASSISTANT</a:t>
            </a:r>
            <a:r>
              <a:rPr lang="en-IN" sz="1500" kern="0" dirty="0" smtClean="0">
                <a:solidFill>
                  <a:schemeClr val="accent6">
                    <a:lumMod val="50000"/>
                  </a:schemeClr>
                </a:solidFill>
                <a:latin typeface="Sylfaen" pitchFamily="18" charset="0"/>
              </a:rPr>
              <a:t> PROFESSOR</a:t>
            </a:r>
            <a:endParaRPr kumimoji="0" lang="en-US" sz="150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Sylfae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9466" y="555701"/>
            <a:ext cx="5702300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What</a:t>
            </a:r>
            <a:r>
              <a:rPr spc="-40" dirty="0"/>
              <a:t> </a:t>
            </a:r>
            <a:r>
              <a:rPr spc="-25" dirty="0"/>
              <a:t>are</a:t>
            </a:r>
            <a:r>
              <a:rPr spc="-30" dirty="0"/>
              <a:t> </a:t>
            </a:r>
            <a:r>
              <a:rPr spc="-20" dirty="0"/>
              <a:t>Derivatives?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537461"/>
            <a:ext cx="7682230" cy="49464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0"/>
              </a:spcBef>
              <a:buClr>
                <a:srgbClr val="0AD0D9"/>
              </a:buClr>
              <a:buSzPct val="93750"/>
              <a:buFont typeface="Segoe UI Symbol"/>
              <a:buChar char="⚫"/>
              <a:tabLst>
                <a:tab pos="287020" algn="l"/>
              </a:tabLst>
            </a:pPr>
            <a:r>
              <a:rPr sz="2400" dirty="0">
                <a:latin typeface="Times New Roman" pitchFamily="18" charset="0"/>
                <a:cs typeface="Calibri"/>
              </a:rPr>
              <a:t>A </a:t>
            </a:r>
            <a:r>
              <a:rPr sz="2400" spc="-15" dirty="0">
                <a:latin typeface="Times New Roman" pitchFamily="18" charset="0"/>
                <a:cs typeface="Calibri"/>
              </a:rPr>
              <a:t>derivative </a:t>
            </a:r>
            <a:r>
              <a:rPr sz="2400" dirty="0">
                <a:latin typeface="Times New Roman" pitchFamily="18" charset="0"/>
                <a:cs typeface="Calibri"/>
              </a:rPr>
              <a:t>is a </a:t>
            </a:r>
            <a:r>
              <a:rPr sz="2400" spc="-5" dirty="0">
                <a:latin typeface="Times New Roman" pitchFamily="18" charset="0"/>
                <a:cs typeface="Calibri"/>
              </a:rPr>
              <a:t>financial instrument whose </a:t>
            </a:r>
            <a:r>
              <a:rPr sz="2400" spc="-10" dirty="0">
                <a:latin typeface="Times New Roman" pitchFamily="18" charset="0"/>
                <a:cs typeface="Calibri"/>
              </a:rPr>
              <a:t>value </a:t>
            </a:r>
            <a:r>
              <a:rPr sz="2400" dirty="0">
                <a:latin typeface="Times New Roman" pitchFamily="18" charset="0"/>
                <a:cs typeface="Calibri"/>
              </a:rPr>
              <a:t>is </a:t>
            </a:r>
            <a:r>
              <a:rPr sz="2400" b="1" spc="-5" dirty="0">
                <a:latin typeface="Times New Roman" pitchFamily="18" charset="0"/>
                <a:cs typeface="Calibri"/>
              </a:rPr>
              <a:t>derived </a:t>
            </a:r>
            <a:r>
              <a:rPr sz="2400" b="1" spc="-530" dirty="0">
                <a:latin typeface="Times New Roman" pitchFamily="18" charset="0"/>
                <a:cs typeface="Calibri"/>
              </a:rPr>
              <a:t> </a:t>
            </a:r>
            <a:r>
              <a:rPr sz="2400" spc="-15" dirty="0">
                <a:latin typeface="Times New Roman" pitchFamily="18" charset="0"/>
                <a:cs typeface="Calibri"/>
              </a:rPr>
              <a:t>from </a:t>
            </a:r>
            <a:r>
              <a:rPr sz="2400" dirty="0">
                <a:latin typeface="Times New Roman" pitchFamily="18" charset="0"/>
                <a:cs typeface="Calibri"/>
              </a:rPr>
              <a:t>the </a:t>
            </a:r>
            <a:r>
              <a:rPr sz="2400" spc="-10" dirty="0">
                <a:latin typeface="Times New Roman" pitchFamily="18" charset="0"/>
                <a:cs typeface="Calibri"/>
              </a:rPr>
              <a:t>value </a:t>
            </a:r>
            <a:r>
              <a:rPr sz="2400" spc="-5" dirty="0">
                <a:latin typeface="Times New Roman" pitchFamily="18" charset="0"/>
                <a:cs typeface="Calibri"/>
              </a:rPr>
              <a:t>of </a:t>
            </a:r>
            <a:r>
              <a:rPr sz="2400" dirty="0">
                <a:latin typeface="Times New Roman" pitchFamily="18" charset="0"/>
                <a:cs typeface="Calibri"/>
              </a:rPr>
              <a:t>another asset, which is </a:t>
            </a:r>
            <a:r>
              <a:rPr sz="2400" spc="-5" dirty="0">
                <a:latin typeface="Times New Roman" pitchFamily="18" charset="0"/>
                <a:cs typeface="Calibri"/>
              </a:rPr>
              <a:t>known </a:t>
            </a:r>
            <a:r>
              <a:rPr sz="2400" dirty="0">
                <a:latin typeface="Times New Roman" pitchFamily="18" charset="0"/>
                <a:cs typeface="Calibri"/>
              </a:rPr>
              <a:t>as </a:t>
            </a:r>
            <a:r>
              <a:rPr sz="2400">
                <a:latin typeface="Times New Roman" pitchFamily="18" charset="0"/>
                <a:cs typeface="Calibri"/>
              </a:rPr>
              <a:t>the </a:t>
            </a:r>
            <a:r>
              <a:rPr sz="2400" spc="5">
                <a:latin typeface="Times New Roman" pitchFamily="18" charset="0"/>
                <a:cs typeface="Calibri"/>
              </a:rPr>
              <a:t> </a:t>
            </a:r>
            <a:r>
              <a:rPr sz="2400" b="1" spc="-5" smtClean="0">
                <a:latin typeface="Times New Roman" pitchFamily="18" charset="0"/>
                <a:cs typeface="Calibri"/>
              </a:rPr>
              <a:t>underlying</a:t>
            </a:r>
            <a:r>
              <a:rPr lang="en-IN" sz="2400" b="1" spc="-5" dirty="0" smtClean="0">
                <a:latin typeface="Times New Roman" pitchFamily="18" charset="0"/>
                <a:cs typeface="Calibri"/>
              </a:rPr>
              <a:t> asset</a:t>
            </a:r>
            <a:r>
              <a:rPr sz="2400" spc="-5" smtClean="0">
                <a:latin typeface="Times New Roman" pitchFamily="18" charset="0"/>
                <a:cs typeface="Calibri"/>
              </a:rPr>
              <a:t>.</a:t>
            </a:r>
            <a:endParaRPr sz="24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Font typeface="Segoe UI Symbol"/>
              <a:buChar char="⚫"/>
            </a:pPr>
            <a:endParaRPr sz="3300">
              <a:latin typeface="Times New Roman" pitchFamily="18" charset="0"/>
              <a:cs typeface="Calibri"/>
            </a:endParaRPr>
          </a:p>
          <a:p>
            <a:pPr marL="286385" marR="114935" indent="-274320">
              <a:lnSpc>
                <a:spcPct val="100000"/>
              </a:lnSpc>
              <a:buClr>
                <a:srgbClr val="0AD0D9"/>
              </a:buClr>
              <a:buSzPct val="93750"/>
              <a:buFont typeface="Segoe UI Symbol"/>
              <a:buChar char="⚫"/>
              <a:tabLst>
                <a:tab pos="287020" algn="l"/>
              </a:tabLst>
            </a:pPr>
            <a:r>
              <a:rPr sz="2400" dirty="0">
                <a:latin typeface="Times New Roman" pitchFamily="18" charset="0"/>
                <a:cs typeface="Calibri"/>
              </a:rPr>
              <a:t>When the </a:t>
            </a:r>
            <a:r>
              <a:rPr sz="2400" spc="-5" dirty="0">
                <a:latin typeface="Times New Roman" pitchFamily="18" charset="0"/>
                <a:cs typeface="Calibri"/>
              </a:rPr>
              <a:t>price of </a:t>
            </a:r>
            <a:r>
              <a:rPr sz="2400" dirty="0">
                <a:latin typeface="Times New Roman" pitchFamily="18" charset="0"/>
                <a:cs typeface="Calibri"/>
              </a:rPr>
              <a:t>the </a:t>
            </a:r>
            <a:r>
              <a:rPr sz="2400" spc="-5">
                <a:latin typeface="Times New Roman" pitchFamily="18" charset="0"/>
                <a:cs typeface="Calibri"/>
              </a:rPr>
              <a:t>underlying </a:t>
            </a:r>
            <a:r>
              <a:rPr lang="en-IN" sz="2400" spc="-5" dirty="0" smtClean="0">
                <a:latin typeface="Times New Roman" pitchFamily="18" charset="0"/>
                <a:cs typeface="Calibri"/>
              </a:rPr>
              <a:t>asset </a:t>
            </a:r>
            <a:r>
              <a:rPr sz="2400" spc="-5" smtClean="0">
                <a:latin typeface="Times New Roman" pitchFamily="18" charset="0"/>
                <a:cs typeface="Calibri"/>
              </a:rPr>
              <a:t>changes</a:t>
            </a:r>
            <a:r>
              <a:rPr sz="2400" spc="-5" dirty="0">
                <a:latin typeface="Times New Roman" pitchFamily="18" charset="0"/>
                <a:cs typeface="Calibri"/>
              </a:rPr>
              <a:t>, </a:t>
            </a:r>
            <a:r>
              <a:rPr sz="2400" dirty="0">
                <a:latin typeface="Times New Roman" pitchFamily="18" charset="0"/>
                <a:cs typeface="Calibri"/>
              </a:rPr>
              <a:t>the </a:t>
            </a:r>
            <a:r>
              <a:rPr sz="2400" spc="-10" dirty="0">
                <a:latin typeface="Times New Roman" pitchFamily="18" charset="0"/>
                <a:cs typeface="Calibri"/>
              </a:rPr>
              <a:t>value </a:t>
            </a:r>
            <a:r>
              <a:rPr sz="2400" spc="-5" dirty="0">
                <a:latin typeface="Times New Roman" pitchFamily="18" charset="0"/>
                <a:cs typeface="Calibri"/>
              </a:rPr>
              <a:t>of </a:t>
            </a:r>
            <a:r>
              <a:rPr sz="2400" dirty="0">
                <a:latin typeface="Times New Roman" pitchFamily="18" charset="0"/>
                <a:cs typeface="Calibri"/>
              </a:rPr>
              <a:t>the </a:t>
            </a:r>
            <a:r>
              <a:rPr sz="2400" spc="-530" dirty="0">
                <a:latin typeface="Times New Roman" pitchFamily="18" charset="0"/>
                <a:cs typeface="Calibri"/>
              </a:rPr>
              <a:t> </a:t>
            </a:r>
            <a:r>
              <a:rPr sz="2400" spc="-15" dirty="0">
                <a:latin typeface="Times New Roman" pitchFamily="18" charset="0"/>
                <a:cs typeface="Calibri"/>
              </a:rPr>
              <a:t>derivative </a:t>
            </a:r>
            <a:r>
              <a:rPr sz="2400" dirty="0">
                <a:latin typeface="Times New Roman" pitchFamily="18" charset="0"/>
                <a:cs typeface="Calibri"/>
              </a:rPr>
              <a:t>also</a:t>
            </a:r>
            <a:r>
              <a:rPr sz="2400" spc="-1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changes.</a:t>
            </a:r>
            <a:endParaRPr sz="24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Font typeface="Segoe UI Symbol"/>
              <a:buChar char="⚫"/>
            </a:pPr>
            <a:endParaRPr sz="3300">
              <a:latin typeface="Times New Roman" pitchFamily="18" charset="0"/>
              <a:cs typeface="Calibri"/>
            </a:endParaRPr>
          </a:p>
          <a:p>
            <a:pPr marL="286385" marR="38735" indent="-274320">
              <a:lnSpc>
                <a:spcPct val="100000"/>
              </a:lnSpc>
              <a:buClr>
                <a:srgbClr val="0AD0D9"/>
              </a:buClr>
              <a:buSzPct val="93750"/>
              <a:buFont typeface="Segoe UI Symbol"/>
              <a:buChar char="⚫"/>
              <a:tabLst>
                <a:tab pos="353695" algn="l"/>
                <a:tab pos="354330" algn="l"/>
              </a:tabLst>
            </a:pPr>
            <a:r>
              <a:rPr dirty="0">
                <a:latin typeface="Times New Roman" pitchFamily="18" charset="0"/>
              </a:rPr>
              <a:t>	</a:t>
            </a:r>
            <a:r>
              <a:rPr sz="2400" dirty="0">
                <a:latin typeface="Times New Roman" pitchFamily="18" charset="0"/>
                <a:cs typeface="Calibri"/>
              </a:rPr>
              <a:t>A </a:t>
            </a:r>
            <a:r>
              <a:rPr sz="2400" spc="-15" dirty="0">
                <a:latin typeface="Times New Roman" pitchFamily="18" charset="0"/>
                <a:cs typeface="Calibri"/>
              </a:rPr>
              <a:t>Derivative </a:t>
            </a:r>
            <a:r>
              <a:rPr sz="2400" dirty="0">
                <a:latin typeface="Times New Roman" pitchFamily="18" charset="0"/>
                <a:cs typeface="Calibri"/>
              </a:rPr>
              <a:t>is </a:t>
            </a:r>
            <a:r>
              <a:rPr sz="2400" spc="-5" dirty="0">
                <a:latin typeface="Times New Roman" pitchFamily="18" charset="0"/>
                <a:cs typeface="Calibri"/>
              </a:rPr>
              <a:t>not </a:t>
            </a:r>
            <a:r>
              <a:rPr sz="2400" dirty="0">
                <a:latin typeface="Times New Roman" pitchFamily="18" charset="0"/>
                <a:cs typeface="Calibri"/>
              </a:rPr>
              <a:t>a </a:t>
            </a:r>
            <a:r>
              <a:rPr sz="2400" spc="-10" dirty="0">
                <a:latin typeface="Times New Roman" pitchFamily="18" charset="0"/>
                <a:cs typeface="Calibri"/>
              </a:rPr>
              <a:t>product. </a:t>
            </a:r>
            <a:r>
              <a:rPr sz="2400" dirty="0">
                <a:latin typeface="Times New Roman" pitchFamily="18" charset="0"/>
                <a:cs typeface="Calibri"/>
              </a:rPr>
              <a:t>It is a </a:t>
            </a:r>
            <a:r>
              <a:rPr sz="2400" spc="-15" dirty="0">
                <a:latin typeface="Times New Roman" pitchFamily="18" charset="0"/>
                <a:cs typeface="Calibri"/>
              </a:rPr>
              <a:t>contract </a:t>
            </a:r>
            <a:r>
              <a:rPr sz="2400" spc="-10" dirty="0">
                <a:latin typeface="Times New Roman" pitchFamily="18" charset="0"/>
                <a:cs typeface="Calibri"/>
              </a:rPr>
              <a:t>that derives </a:t>
            </a:r>
            <a:r>
              <a:rPr sz="2400" dirty="0">
                <a:latin typeface="Times New Roman" pitchFamily="18" charset="0"/>
                <a:cs typeface="Calibri"/>
              </a:rPr>
              <a:t>its </a:t>
            </a:r>
            <a:r>
              <a:rPr sz="2400" spc="-530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value</a:t>
            </a:r>
            <a:r>
              <a:rPr sz="2400" spc="-15" dirty="0">
                <a:latin typeface="Times New Roman" pitchFamily="18" charset="0"/>
                <a:cs typeface="Calibri"/>
              </a:rPr>
              <a:t> from</a:t>
            </a:r>
            <a:r>
              <a:rPr sz="2400" spc="-5" dirty="0">
                <a:latin typeface="Times New Roman" pitchFamily="18" charset="0"/>
                <a:cs typeface="Calibri"/>
              </a:rPr>
              <a:t> changes</a:t>
            </a:r>
            <a:r>
              <a:rPr sz="2400" spc="-20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in the </a:t>
            </a:r>
            <a:r>
              <a:rPr sz="2400" spc="-5" dirty="0">
                <a:latin typeface="Times New Roman" pitchFamily="18" charset="0"/>
                <a:cs typeface="Calibri"/>
              </a:rPr>
              <a:t>price</a:t>
            </a:r>
            <a:r>
              <a:rPr sz="2400" spc="-15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of </a:t>
            </a:r>
            <a:r>
              <a:rPr sz="2400" dirty="0">
                <a:latin typeface="Times New Roman" pitchFamily="18" charset="0"/>
                <a:cs typeface="Calibri"/>
              </a:rPr>
              <a:t>the</a:t>
            </a:r>
            <a:r>
              <a:rPr sz="2400" spc="-5" dirty="0">
                <a:latin typeface="Times New Roman" pitchFamily="18" charset="0"/>
                <a:cs typeface="Calibri"/>
              </a:rPr>
              <a:t> underlying.</a:t>
            </a:r>
            <a:endParaRPr sz="2400">
              <a:latin typeface="Times New Roman" pitchFamily="18" charset="0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spc="-10" dirty="0">
                <a:latin typeface="Times New Roman" pitchFamily="18" charset="0"/>
                <a:cs typeface="Calibri"/>
              </a:rPr>
              <a:t>Example</a:t>
            </a:r>
            <a:r>
              <a:rPr sz="2400" spc="-55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:</a:t>
            </a:r>
            <a:endParaRPr sz="2400">
              <a:latin typeface="Times New Roman" pitchFamily="18" charset="0"/>
              <a:cs typeface="Calibri"/>
            </a:endParaRPr>
          </a:p>
          <a:p>
            <a:pPr marL="12700" marR="877569">
              <a:lnSpc>
                <a:spcPct val="120000"/>
              </a:lnSpc>
            </a:pPr>
            <a:r>
              <a:rPr sz="2400" spc="-5" dirty="0">
                <a:latin typeface="Times New Roman" pitchFamily="18" charset="0"/>
                <a:cs typeface="Calibri"/>
              </a:rPr>
              <a:t>The</a:t>
            </a:r>
            <a:r>
              <a:rPr sz="2400" spc="-10" dirty="0">
                <a:latin typeface="Times New Roman" pitchFamily="18" charset="0"/>
                <a:cs typeface="Calibri"/>
              </a:rPr>
              <a:t> value</a:t>
            </a:r>
            <a:r>
              <a:rPr sz="240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of</a:t>
            </a:r>
            <a:r>
              <a:rPr sz="2400" spc="5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a</a:t>
            </a:r>
            <a:r>
              <a:rPr sz="2400" spc="-15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gold</a:t>
            </a:r>
            <a:r>
              <a:rPr sz="2400" spc="-5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futures</a:t>
            </a:r>
            <a:r>
              <a:rPr sz="2400" spc="-5" dirty="0">
                <a:latin typeface="Times New Roman" pitchFamily="18" charset="0"/>
                <a:cs typeface="Calibri"/>
              </a:rPr>
              <a:t> </a:t>
            </a:r>
            <a:r>
              <a:rPr sz="2400" spc="-15" dirty="0">
                <a:latin typeface="Times New Roman" pitchFamily="18" charset="0"/>
                <a:cs typeface="Calibri"/>
              </a:rPr>
              <a:t>contract </a:t>
            </a:r>
            <a:r>
              <a:rPr sz="2400" dirty="0">
                <a:latin typeface="Times New Roman" pitchFamily="18" charset="0"/>
                <a:cs typeface="Calibri"/>
              </a:rPr>
              <a:t>is</a:t>
            </a:r>
            <a:r>
              <a:rPr sz="2400" spc="-15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derived</a:t>
            </a:r>
            <a:r>
              <a:rPr sz="2400" spc="10" dirty="0">
                <a:latin typeface="Times New Roman" pitchFamily="18" charset="0"/>
                <a:cs typeface="Calibri"/>
              </a:rPr>
              <a:t> </a:t>
            </a:r>
            <a:r>
              <a:rPr sz="2400" spc="-15" dirty="0">
                <a:latin typeface="Times New Roman" pitchFamily="18" charset="0"/>
                <a:cs typeface="Calibri"/>
              </a:rPr>
              <a:t>from</a:t>
            </a:r>
            <a:r>
              <a:rPr sz="2400" spc="-20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the </a:t>
            </a:r>
            <a:r>
              <a:rPr sz="2400" spc="-530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value</a:t>
            </a:r>
            <a:r>
              <a:rPr sz="2400" spc="-15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of </a:t>
            </a:r>
            <a:r>
              <a:rPr sz="2400" dirty="0">
                <a:latin typeface="Times New Roman" pitchFamily="18" charset="0"/>
                <a:cs typeface="Calibri"/>
              </a:rPr>
              <a:t>the</a:t>
            </a:r>
            <a:r>
              <a:rPr sz="2400" spc="-1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underlying</a:t>
            </a:r>
            <a:r>
              <a:rPr sz="240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asset</a:t>
            </a:r>
            <a:r>
              <a:rPr sz="2400" spc="-15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i.e. </a:t>
            </a:r>
            <a:r>
              <a:rPr sz="2400" spc="-10" dirty="0">
                <a:latin typeface="Times New Roman" pitchFamily="18" charset="0"/>
                <a:cs typeface="Calibri"/>
              </a:rPr>
              <a:t>Gold.</a:t>
            </a:r>
            <a:endParaRPr sz="24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175" y="1036319"/>
            <a:ext cx="5579364" cy="54102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575817"/>
            <a:ext cx="503809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cs typeface="Times New Roman" pitchFamily="18" charset="0"/>
              </a:rPr>
              <a:t>HISTORY</a:t>
            </a:r>
            <a:r>
              <a:rPr sz="2800" spc="-35" dirty="0">
                <a:cs typeface="Times New Roman" pitchFamily="18" charset="0"/>
              </a:rPr>
              <a:t> </a:t>
            </a:r>
            <a:r>
              <a:rPr sz="2800" dirty="0">
                <a:cs typeface="Times New Roman" pitchFamily="18" charset="0"/>
              </a:rPr>
              <a:t>OF</a:t>
            </a:r>
            <a:r>
              <a:rPr sz="2800" spc="-35" dirty="0">
                <a:cs typeface="Times New Roman" pitchFamily="18" charset="0"/>
              </a:rPr>
              <a:t> DERIVATIVES</a:t>
            </a:r>
            <a:endParaRPr sz="2800">
              <a:cs typeface="Times New Roman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337818"/>
            <a:ext cx="8495665" cy="3717043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 indent="914400" algn="just">
              <a:lnSpc>
                <a:spcPct val="80000"/>
              </a:lnSpc>
              <a:spcBef>
                <a:spcPts val="585"/>
              </a:spcBef>
            </a:pP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000" spc="-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word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derivatives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originated</a:t>
            </a:r>
            <a:r>
              <a:rPr sz="2000" spc="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mathematics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refers</a:t>
            </a:r>
            <a:r>
              <a:rPr sz="2000" spc="-2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variable</a:t>
            </a:r>
            <a:r>
              <a:rPr sz="2000" spc="-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that</a:t>
            </a:r>
            <a:r>
              <a:rPr sz="2000" spc="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has</a:t>
            </a:r>
            <a:r>
              <a:rPr sz="20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been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derived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from</a:t>
            </a:r>
            <a:r>
              <a:rPr sz="2000" spc="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another</a:t>
            </a:r>
            <a:r>
              <a:rPr sz="2000" spc="2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variable.</a:t>
            </a:r>
            <a:r>
              <a:rPr sz="2000" spc="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For</a:t>
            </a:r>
            <a:r>
              <a:rPr sz="2000" spc="1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sz="2000" spc="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sz="2000" spc="3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measure</a:t>
            </a:r>
            <a:r>
              <a:rPr sz="2000" spc="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sz="2000" spc="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distance</a:t>
            </a:r>
            <a:r>
              <a:rPr sz="2000" spc="3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r>
              <a:rPr sz="2000" spc="2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KM</a:t>
            </a:r>
            <a:r>
              <a:rPr sz="2000" spc="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could</a:t>
            </a:r>
            <a:r>
              <a:rPr sz="2000" spc="5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be</a:t>
            </a:r>
            <a:r>
              <a:rPr sz="2000" spc="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derived</a:t>
            </a:r>
            <a:r>
              <a:rPr sz="2000" spc="3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from</a:t>
            </a:r>
            <a:r>
              <a:rPr sz="2000" spc="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sz="2000" spc="2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measure</a:t>
            </a:r>
            <a:r>
              <a:rPr sz="2000" spc="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of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distance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miles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dividing</a:t>
            </a:r>
            <a:r>
              <a:rPr sz="2000" spc="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1.61,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or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Similarly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a</a:t>
            </a:r>
            <a:r>
              <a:rPr sz="2000" spc="-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measure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temperature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Celsius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could</a:t>
            </a:r>
            <a:r>
              <a:rPr sz="2000" spc="2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be</a:t>
            </a:r>
            <a:r>
              <a:rPr sz="20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derived</a:t>
            </a:r>
            <a:r>
              <a:rPr sz="2000" spc="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from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sz="2000" spc="-33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measure of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temperature</a:t>
            </a:r>
            <a:r>
              <a:rPr sz="2000" spc="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r>
              <a:rPr sz="2000" spc="1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Fahrenheit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. In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sense,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a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derivative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is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a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financial</a:t>
            </a:r>
            <a:r>
              <a:rPr sz="20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product</a:t>
            </a:r>
            <a:r>
              <a:rPr sz="2000" spc="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which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had been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derived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from</a:t>
            </a:r>
            <a:r>
              <a:rPr sz="2000" spc="-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market</a:t>
            </a:r>
            <a:r>
              <a:rPr sz="2000" spc="-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for another</a:t>
            </a:r>
            <a:r>
              <a:rPr sz="2000" spc="-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product.</a:t>
            </a:r>
            <a:endParaRPr sz="2000">
              <a:latin typeface="Times New Roman" pitchFamily="18" charset="0"/>
              <a:cs typeface="Times New Roman" pitchFamily="18" charset="0"/>
            </a:endParaRPr>
          </a:p>
          <a:p>
            <a:pPr marL="12700" marR="45720" indent="914400" algn="just">
              <a:lnSpc>
                <a:spcPts val="1920"/>
              </a:lnSpc>
              <a:spcBef>
                <a:spcPts val="459"/>
              </a:spcBef>
            </a:pP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Derivative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market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can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be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traced</a:t>
            </a:r>
            <a:r>
              <a:rPr sz="2000" spc="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back</a:t>
            </a:r>
            <a:r>
              <a:rPr sz="2000" spc="-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sz="2000" spc="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000" spc="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middle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ages.</a:t>
            </a:r>
            <a:r>
              <a:rPr sz="2000" spc="-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They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were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originally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developed</a:t>
            </a:r>
            <a:r>
              <a:rPr sz="2000" spc="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meet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000" spc="-33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needs of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farmers</a:t>
            </a:r>
            <a:r>
              <a:rPr sz="2000" spc="-2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-1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merchants.</a:t>
            </a:r>
            <a:endParaRPr lang="en-IN" sz="2000" spc="-5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12700" marR="45720" indent="914400" algn="just">
              <a:lnSpc>
                <a:spcPts val="1920"/>
              </a:lnSpc>
              <a:spcBef>
                <a:spcPts val="459"/>
              </a:spcBef>
            </a:pPr>
            <a:r>
              <a:rPr sz="200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000" spc="-5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Chicago</a:t>
            </a:r>
            <a:r>
              <a:rPr sz="2000" spc="-2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Board</a:t>
            </a:r>
            <a:r>
              <a:rPr sz="2000" spc="1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sz="2000" spc="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Trade</a:t>
            </a:r>
            <a:r>
              <a:rPr sz="2000" spc="-1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was</a:t>
            </a:r>
            <a:r>
              <a:rPr sz="2000" spc="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000" spc="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first derivatives</a:t>
            </a:r>
            <a:r>
              <a:rPr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market established</a:t>
            </a:r>
            <a:r>
              <a:rPr sz="2000" spc="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r>
              <a:rPr sz="2000" spc="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1848</a:t>
            </a:r>
            <a:r>
              <a:rPr sz="2000" spc="3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bring </a:t>
            </a:r>
            <a:r>
              <a:rPr sz="2000" spc="-5" smtClean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farmers</a:t>
            </a:r>
            <a:r>
              <a:rPr lang="en-IN" sz="2000" spc="-5" dirty="0" smtClean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-15" smtClean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merchants</a:t>
            </a:r>
            <a:r>
              <a:rPr sz="2000" spc="-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together.</a:t>
            </a:r>
            <a:endParaRPr sz="2000">
              <a:latin typeface="Times New Roman" pitchFamily="18" charset="0"/>
              <a:cs typeface="Times New Roman" pitchFamily="18" charset="0"/>
            </a:endParaRPr>
          </a:p>
          <a:p>
            <a:pPr marL="12700" marR="229235" indent="914400" algn="just">
              <a:lnSpc>
                <a:spcPct val="80000"/>
              </a:lnSpc>
              <a:spcBef>
                <a:spcPts val="480"/>
              </a:spcBef>
            </a:pPr>
            <a:r>
              <a:rPr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r>
              <a:rPr sz="2000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1874,</a:t>
            </a:r>
            <a:r>
              <a:rPr sz="2000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Chicago</a:t>
            </a:r>
            <a:r>
              <a:rPr sz="20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Produce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Exchange</a:t>
            </a:r>
            <a:r>
              <a:rPr sz="20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was</a:t>
            </a:r>
            <a:r>
              <a:rPr sz="2000" spc="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established.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r>
              <a:rPr sz="2000" spc="1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1919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sz="2000" spc="2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this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was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renamed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Chicago </a:t>
            </a:r>
            <a:r>
              <a:rPr sz="2000" spc="-33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Merchantile Exchange</a:t>
            </a:r>
            <a:r>
              <a:rPr sz="20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(CME) and</a:t>
            </a:r>
            <a:r>
              <a:rPr sz="2000" spc="-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was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reorganized</a:t>
            </a:r>
            <a:r>
              <a:rPr sz="2000" spc="-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for futures</a:t>
            </a:r>
            <a:r>
              <a:rPr sz="2000" spc="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trading. In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India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it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is</a:t>
            </a:r>
            <a:r>
              <a:rPr sz="2000" spc="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trading</a:t>
            </a:r>
            <a:r>
              <a:rPr sz="2000" spc="-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on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Multicommodity</a:t>
            </a:r>
            <a:r>
              <a:rPr sz="2000" spc="2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Exchange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(MCX),</a:t>
            </a:r>
            <a:r>
              <a:rPr sz="20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National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Commodity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Derivatives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Exchange</a:t>
            </a:r>
            <a:r>
              <a:rPr sz="2000" spc="-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(NCDEX).</a:t>
            </a:r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112" y="1046988"/>
            <a:ext cx="8628888" cy="182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3540" y="350265"/>
            <a:ext cx="8534400" cy="33701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CHARACTERISTICS</a:t>
            </a:r>
            <a:r>
              <a:rPr sz="2800" spc="-5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sz="2800" spc="-3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4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DERIVATIVES</a:t>
            </a:r>
            <a:endParaRPr sz="280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3600">
              <a:latin typeface="Times New Roman" pitchFamily="18" charset="0"/>
              <a:cs typeface="Times New Roman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EFA12D"/>
                </a:solidFill>
                <a:latin typeface="Times New Roman" pitchFamily="18" charset="0"/>
                <a:cs typeface="Times New Roman" pitchFamily="18" charset="0"/>
              </a:rPr>
              <a:t></a:t>
            </a:r>
            <a:r>
              <a:rPr sz="2000" spc="135" dirty="0">
                <a:solidFill>
                  <a:srgbClr val="EFA12D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It has</a:t>
            </a:r>
            <a:r>
              <a:rPr sz="2800" spc="-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one</a:t>
            </a:r>
            <a:r>
              <a:rPr sz="28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or</a:t>
            </a:r>
            <a:r>
              <a:rPr sz="28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more</a:t>
            </a:r>
            <a:r>
              <a:rPr sz="28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underlying</a:t>
            </a:r>
            <a:r>
              <a:rPr sz="2800" spc="-2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assets</a:t>
            </a:r>
            <a:endParaRPr sz="2800">
              <a:latin typeface="Times New Roman" pitchFamily="18" charset="0"/>
              <a:cs typeface="Times New Roman" pitchFamily="18" charset="0"/>
            </a:endParaRPr>
          </a:p>
          <a:p>
            <a:pPr marL="355600" marR="91440" indent="-342900">
              <a:lnSpc>
                <a:spcPct val="100000"/>
              </a:lnSpc>
              <a:spcBef>
                <a:spcPts val="770"/>
              </a:spcBef>
            </a:pPr>
            <a:r>
              <a:rPr sz="2000" spc="-10" dirty="0">
                <a:solidFill>
                  <a:srgbClr val="EFA12D"/>
                </a:solidFill>
                <a:latin typeface="Times New Roman" pitchFamily="18" charset="0"/>
                <a:cs typeface="Times New Roman" pitchFamily="18" charset="0"/>
              </a:rPr>
              <a:t></a:t>
            </a:r>
            <a:r>
              <a:rPr sz="2000" spc="130" dirty="0">
                <a:solidFill>
                  <a:srgbClr val="EFA12D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Requires</a:t>
            </a:r>
            <a:r>
              <a:rPr sz="28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negligible</a:t>
            </a:r>
            <a:r>
              <a:rPr sz="2800" spc="-2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initial </a:t>
            </a:r>
            <a:r>
              <a:rPr sz="28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investment</a:t>
            </a:r>
            <a:r>
              <a:rPr sz="2800" spc="-3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compared</a:t>
            </a:r>
            <a:r>
              <a:rPr sz="28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sz="2800" spc="-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other types </a:t>
            </a:r>
            <a:r>
              <a:rPr sz="2800" spc="-105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sz="2800" spc="17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financial</a:t>
            </a:r>
            <a:r>
              <a:rPr sz="28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contracts</a:t>
            </a:r>
            <a:endParaRPr sz="2800">
              <a:latin typeface="Times New Roman" pitchFamily="18" charset="0"/>
              <a:cs typeface="Times New Roman" pitchFamily="18" charset="0"/>
            </a:endParaRPr>
          </a:p>
          <a:p>
            <a:pPr marL="355600" marR="60325" indent="-342900">
              <a:lnSpc>
                <a:spcPct val="100000"/>
              </a:lnSpc>
              <a:spcBef>
                <a:spcPts val="770"/>
              </a:spcBef>
            </a:pPr>
            <a:r>
              <a:rPr sz="2000" spc="-10" dirty="0">
                <a:solidFill>
                  <a:srgbClr val="EFA12D"/>
                </a:solidFill>
                <a:latin typeface="Times New Roman" pitchFamily="18" charset="0"/>
                <a:cs typeface="Times New Roman" pitchFamily="18" charset="0"/>
              </a:rPr>
              <a:t></a:t>
            </a:r>
            <a:r>
              <a:rPr sz="2000" spc="130" dirty="0">
                <a:solidFill>
                  <a:srgbClr val="EFA12D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Should</a:t>
            </a:r>
            <a:r>
              <a:rPr sz="2800" spc="-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provide</a:t>
            </a:r>
            <a:r>
              <a:rPr sz="28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net</a:t>
            </a:r>
            <a:r>
              <a:rPr sz="2800" spc="-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settlement</a:t>
            </a:r>
            <a:r>
              <a:rPr sz="2800" spc="-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I.e.,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offsetting</a:t>
            </a:r>
            <a:r>
              <a:rPr sz="28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sz="2800" spc="16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initial</a:t>
            </a:r>
            <a:r>
              <a:rPr sz="2800" spc="-3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contract</a:t>
            </a:r>
            <a:r>
              <a:rPr sz="28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position</a:t>
            </a:r>
            <a:endParaRPr sz="28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112" y="1046988"/>
            <a:ext cx="8628888" cy="1828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363982"/>
            <a:ext cx="474853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25" dirty="0">
                <a:cs typeface="Times New Roman" pitchFamily="18" charset="0"/>
              </a:rPr>
              <a:t>FEATURES</a:t>
            </a:r>
            <a:r>
              <a:rPr sz="2800" spc="-65" dirty="0">
                <a:cs typeface="Times New Roman" pitchFamily="18" charset="0"/>
              </a:rPr>
              <a:t> </a:t>
            </a:r>
            <a:r>
              <a:rPr sz="2800" dirty="0">
                <a:cs typeface="Times New Roman" pitchFamily="18" charset="0"/>
              </a:rPr>
              <a:t>OF</a:t>
            </a:r>
            <a:r>
              <a:rPr sz="2800" spc="-25" dirty="0">
                <a:cs typeface="Times New Roman" pitchFamily="18" charset="0"/>
              </a:rPr>
              <a:t> </a:t>
            </a:r>
            <a:r>
              <a:rPr sz="2800" spc="-30" dirty="0">
                <a:cs typeface="Times New Roman" pitchFamily="18" charset="0"/>
              </a:rPr>
              <a:t>DERIVATIVES</a:t>
            </a:r>
            <a:endParaRPr sz="2800">
              <a:cs typeface="Times New Roman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1537208"/>
            <a:ext cx="8426450" cy="4378763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499745" indent="-342900" algn="just">
              <a:lnSpc>
                <a:spcPct val="90000"/>
              </a:lnSpc>
              <a:spcBef>
                <a:spcPts val="425"/>
              </a:spcBef>
              <a:tabLst>
                <a:tab pos="354965" algn="l"/>
              </a:tabLst>
            </a:pPr>
            <a:r>
              <a:rPr spc="30" dirty="0">
                <a:solidFill>
                  <a:srgbClr val="EFA12D"/>
                </a:solidFill>
                <a:latin typeface="Times New Roman" pitchFamily="18" charset="0"/>
                <a:cs typeface="Times New Roman" pitchFamily="18" charset="0"/>
              </a:rPr>
              <a:t>	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The instrument </a:t>
            </a:r>
            <a:r>
              <a:rPr sz="24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relates 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to the future contract </a:t>
            </a:r>
            <a:r>
              <a:rPr sz="24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settlement of terms </a:t>
            </a:r>
            <a:r>
              <a:rPr sz="24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between 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parties involved, </a:t>
            </a:r>
            <a:r>
              <a:rPr sz="24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normally</a:t>
            </a:r>
            <a:r>
              <a:rPr sz="24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called</a:t>
            </a:r>
            <a:r>
              <a:rPr sz="24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maturity</a:t>
            </a:r>
            <a:r>
              <a:rPr sz="2400" spc="-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period</a:t>
            </a:r>
            <a:r>
              <a:rPr sz="2400" spc="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r>
              <a:rPr sz="24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case</a:t>
            </a:r>
            <a:r>
              <a:rPr sz="24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sz="2400" spc="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Forward </a:t>
            </a:r>
            <a:r>
              <a:rPr sz="2400" spc="-73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contract.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5600" marR="61594" indent="-342900" algn="just">
              <a:lnSpc>
                <a:spcPct val="90000"/>
              </a:lnSpc>
              <a:spcBef>
                <a:spcPts val="645"/>
              </a:spcBef>
              <a:tabLst>
                <a:tab pos="354965" algn="l"/>
              </a:tabLst>
            </a:pPr>
            <a:r>
              <a:rPr spc="30" dirty="0">
                <a:solidFill>
                  <a:srgbClr val="EFA12D"/>
                </a:solidFill>
                <a:latin typeface="Times New Roman" pitchFamily="18" charset="0"/>
                <a:cs typeface="Times New Roman" pitchFamily="18" charset="0"/>
              </a:rPr>
              <a:t>	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parties involved</a:t>
            </a:r>
            <a:r>
              <a:rPr sz="2400" spc="-3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may </a:t>
            </a:r>
            <a:r>
              <a:rPr sz="24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be obliged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to</a:t>
            </a:r>
            <a:r>
              <a:rPr sz="24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exercise</a:t>
            </a:r>
            <a:r>
              <a:rPr sz="2400" spc="-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their </a:t>
            </a:r>
            <a:r>
              <a:rPr sz="2400" spc="-73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contracts or </a:t>
            </a:r>
            <a:r>
              <a:rPr sz="2400" spc="-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offset 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them </a:t>
            </a:r>
            <a:r>
              <a:rPr sz="24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(Forwards, Futures) 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or may </a:t>
            </a:r>
            <a:r>
              <a:rPr sz="24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have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rights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(like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option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buyers).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5600" marR="5080" indent="-342900" algn="just">
              <a:lnSpc>
                <a:spcPct val="90000"/>
              </a:lnSpc>
              <a:spcBef>
                <a:spcPts val="650"/>
              </a:spcBef>
              <a:tabLst>
                <a:tab pos="354965" algn="l"/>
              </a:tabLst>
            </a:pPr>
            <a:r>
              <a:rPr spc="30" dirty="0">
                <a:solidFill>
                  <a:srgbClr val="EFA12D"/>
                </a:solidFill>
                <a:latin typeface="Times New Roman" pitchFamily="18" charset="0"/>
                <a:cs typeface="Times New Roman" pitchFamily="18" charset="0"/>
              </a:rPr>
              <a:t>	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The contracts </a:t>
            </a:r>
            <a:r>
              <a:rPr sz="24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are 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fulfilled </a:t>
            </a:r>
            <a:r>
              <a:rPr sz="24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or 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transacted </a:t>
            </a:r>
            <a:r>
              <a:rPr sz="24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through a 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recognized</a:t>
            </a:r>
            <a:r>
              <a:rPr sz="2400" spc="-2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exchange</a:t>
            </a:r>
            <a:r>
              <a:rPr sz="2400" spc="-3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(Futures</a:t>
            </a:r>
            <a:r>
              <a:rPr sz="2400" spc="-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contracts)</a:t>
            </a:r>
            <a:r>
              <a:rPr sz="2400" spc="-4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through</a:t>
            </a:r>
            <a:r>
              <a:rPr sz="2400" spc="-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400" spc="-73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clearing house or they may be private bi-lateral </a:t>
            </a:r>
            <a:r>
              <a:rPr sz="24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contracts </a:t>
            </a:r>
            <a:r>
              <a:rPr sz="24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(Forwards, Swaps) or 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OTC contracts </a:t>
            </a:r>
            <a:r>
              <a:rPr sz="24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(Options)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355600" marR="118745" indent="-342900" algn="just">
              <a:lnSpc>
                <a:spcPts val="2920"/>
              </a:lnSpc>
              <a:spcBef>
                <a:spcPts val="685"/>
              </a:spcBef>
              <a:tabLst>
                <a:tab pos="354965" algn="l"/>
              </a:tabLst>
            </a:pPr>
            <a:r>
              <a:rPr spc="30" dirty="0">
                <a:solidFill>
                  <a:srgbClr val="EFA12D"/>
                </a:solidFill>
                <a:latin typeface="Times New Roman" pitchFamily="18" charset="0"/>
                <a:cs typeface="Times New Roman" pitchFamily="18" charset="0"/>
              </a:rPr>
              <a:t>	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The value of derivatives </a:t>
            </a:r>
            <a:r>
              <a:rPr sz="24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depends </a:t>
            </a:r>
            <a:r>
              <a:rPr sz="2400" spc="-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on </a:t>
            </a:r>
            <a:r>
              <a:rPr sz="24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their underlying </a:t>
            </a:r>
            <a:r>
              <a:rPr sz="2400" spc="-74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assets</a:t>
            </a:r>
            <a:r>
              <a:rPr sz="2400" spc="-3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price movements.</a:t>
            </a:r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112" y="1046988"/>
            <a:ext cx="8628888" cy="182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3540" y="363982"/>
            <a:ext cx="8445500" cy="50404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FUNCTIONS</a:t>
            </a:r>
            <a:r>
              <a:rPr sz="2800" spc="-7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sz="28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3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DERIVATIVES</a:t>
            </a:r>
            <a:r>
              <a:rPr sz="2800" spc="-4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MARKET</a:t>
            </a:r>
            <a:endParaRPr sz="280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800">
              <a:latin typeface="Times New Roman" pitchFamily="18" charset="0"/>
              <a:cs typeface="Times New Roman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EFA12D"/>
                </a:solidFill>
                <a:latin typeface="Times New Roman" pitchFamily="18" charset="0"/>
                <a:cs typeface="Times New Roman" pitchFamily="18" charset="0"/>
              </a:rPr>
              <a:t></a:t>
            </a:r>
            <a:r>
              <a:rPr sz="2000" spc="120" dirty="0">
                <a:solidFill>
                  <a:srgbClr val="EFA12D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Risk</a:t>
            </a:r>
            <a:r>
              <a:rPr sz="28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management-</a:t>
            </a:r>
            <a:r>
              <a:rPr sz="2800" spc="-4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Stop</a:t>
            </a:r>
            <a:r>
              <a:rPr sz="2800" spc="-2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loss</a:t>
            </a:r>
            <a:endParaRPr sz="2800">
              <a:latin typeface="Times New Roman" pitchFamily="18" charset="0"/>
              <a:cs typeface="Times New Roman" pitchFamily="18" charset="0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000" spc="-10" dirty="0">
                <a:solidFill>
                  <a:srgbClr val="EFA12D"/>
                </a:solidFill>
                <a:latin typeface="Times New Roman" pitchFamily="18" charset="0"/>
                <a:cs typeface="Times New Roman" pitchFamily="18" charset="0"/>
              </a:rPr>
              <a:t></a:t>
            </a:r>
            <a:r>
              <a:rPr sz="2000" spc="120" dirty="0">
                <a:solidFill>
                  <a:srgbClr val="EFA12D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Transfer</a:t>
            </a:r>
            <a:r>
              <a:rPr sz="2800" spc="-4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sz="2800" spc="-2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risk</a:t>
            </a:r>
            <a:endParaRPr sz="2800">
              <a:latin typeface="Times New Roman" pitchFamily="18" charset="0"/>
              <a:cs typeface="Times New Roman" pitchFamily="18" charset="0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000" spc="-10" dirty="0">
                <a:solidFill>
                  <a:srgbClr val="EFA12D"/>
                </a:solidFill>
                <a:latin typeface="Times New Roman" pitchFamily="18" charset="0"/>
                <a:cs typeface="Times New Roman" pitchFamily="18" charset="0"/>
              </a:rPr>
              <a:t></a:t>
            </a:r>
            <a:r>
              <a:rPr sz="2000" spc="110" dirty="0">
                <a:solidFill>
                  <a:srgbClr val="EFA12D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Price</a:t>
            </a:r>
            <a:r>
              <a:rPr sz="2800" spc="-4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discovery</a:t>
            </a:r>
            <a:endParaRPr sz="2800">
              <a:latin typeface="Times New Roman" pitchFamily="18" charset="0"/>
              <a:cs typeface="Times New Roman" pitchFamily="18" charset="0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</a:pPr>
            <a:r>
              <a:rPr sz="2000" spc="-5" dirty="0">
                <a:solidFill>
                  <a:srgbClr val="EFA12D"/>
                </a:solidFill>
                <a:latin typeface="Times New Roman" pitchFamily="18" charset="0"/>
                <a:cs typeface="Times New Roman" pitchFamily="18" charset="0"/>
              </a:rPr>
              <a:t></a:t>
            </a:r>
            <a:r>
              <a:rPr sz="2000" spc="135" dirty="0">
                <a:solidFill>
                  <a:srgbClr val="EFA12D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Transitional</a:t>
            </a:r>
            <a:r>
              <a:rPr sz="2800" spc="-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efficiency</a:t>
            </a:r>
            <a:r>
              <a:rPr sz="28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sz="28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low</a:t>
            </a:r>
            <a:r>
              <a:rPr sz="28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transaction</a:t>
            </a:r>
            <a:r>
              <a:rPr sz="2800" spc="-4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cost </a:t>
            </a:r>
            <a:r>
              <a:rPr sz="28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compare</a:t>
            </a:r>
            <a:r>
              <a:rPr sz="2800" spc="-4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sz="2800" spc="-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rest</a:t>
            </a:r>
            <a:r>
              <a:rPr sz="28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like,</a:t>
            </a:r>
            <a:r>
              <a:rPr sz="28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brokerage,</a:t>
            </a:r>
            <a:r>
              <a:rPr sz="2800" spc="-3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commission, </a:t>
            </a:r>
            <a:r>
              <a:rPr sz="2800" spc="-87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regulatory</a:t>
            </a:r>
            <a:r>
              <a:rPr sz="2800" spc="-3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costs</a:t>
            </a:r>
            <a:r>
              <a:rPr sz="2800" spc="-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8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margin</a:t>
            </a:r>
            <a:r>
              <a:rPr sz="2800" spc="-2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requirements</a:t>
            </a:r>
            <a:endParaRPr sz="2800">
              <a:latin typeface="Times New Roman" pitchFamily="18" charset="0"/>
              <a:cs typeface="Times New Roman" pitchFamily="18" charset="0"/>
            </a:endParaRPr>
          </a:p>
          <a:p>
            <a:pPr marL="355600" marR="1063625" indent="-342900">
              <a:lnSpc>
                <a:spcPct val="100000"/>
              </a:lnSpc>
              <a:spcBef>
                <a:spcPts val="770"/>
              </a:spcBef>
            </a:pPr>
            <a:r>
              <a:rPr sz="2000" spc="-5" dirty="0">
                <a:solidFill>
                  <a:srgbClr val="EFA12D"/>
                </a:solidFill>
                <a:latin typeface="Times New Roman" pitchFamily="18" charset="0"/>
                <a:cs typeface="Times New Roman" pitchFamily="18" charset="0"/>
              </a:rPr>
              <a:t></a:t>
            </a:r>
            <a:r>
              <a:rPr sz="2000" spc="135" dirty="0">
                <a:solidFill>
                  <a:srgbClr val="EFA12D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Financial</a:t>
            </a:r>
            <a:r>
              <a:rPr sz="28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Engineering-</a:t>
            </a:r>
            <a:r>
              <a:rPr sz="28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as</a:t>
            </a:r>
            <a:r>
              <a:rPr sz="2800" spc="-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it</a:t>
            </a:r>
            <a:r>
              <a:rPr sz="2800" spc="-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is </a:t>
            </a:r>
            <a:r>
              <a:rPr sz="28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new</a:t>
            </a:r>
            <a:r>
              <a:rPr sz="28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field </a:t>
            </a:r>
            <a:r>
              <a:rPr sz="2800" spc="-87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creating calls, </a:t>
            </a:r>
            <a:r>
              <a:rPr sz="28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puts, futures and other </a:t>
            </a:r>
            <a:r>
              <a:rPr sz="28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derivatives</a:t>
            </a:r>
            <a:endParaRPr sz="28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112" y="1046988"/>
            <a:ext cx="8628888" cy="1828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363982"/>
            <a:ext cx="387731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cs typeface="Times New Roman" pitchFamily="18" charset="0"/>
              </a:rPr>
              <a:t>USES</a:t>
            </a:r>
            <a:r>
              <a:rPr sz="2800" spc="-60" dirty="0">
                <a:cs typeface="Times New Roman" pitchFamily="18" charset="0"/>
              </a:rPr>
              <a:t> </a:t>
            </a:r>
            <a:r>
              <a:rPr sz="2800" dirty="0">
                <a:cs typeface="Times New Roman" pitchFamily="18" charset="0"/>
              </a:rPr>
              <a:t>OF</a:t>
            </a:r>
            <a:r>
              <a:rPr sz="2800" spc="-30" dirty="0">
                <a:cs typeface="Times New Roman" pitchFamily="18" charset="0"/>
              </a:rPr>
              <a:t> DERIVATIVES</a:t>
            </a:r>
            <a:endParaRPr sz="2800">
              <a:cs typeface="Times New Roman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1000" y="1066800"/>
            <a:ext cx="8511540" cy="4396716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153670" indent="914400" algn="just">
              <a:lnSpc>
                <a:spcPct val="80000"/>
              </a:lnSpc>
              <a:spcBef>
                <a:spcPts val="585"/>
              </a:spcBef>
            </a:pP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Derivatives are used by companies and individuals wanting to 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cover their risks. This is facilitated by a counter party who has the 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motivation</a:t>
            </a:r>
            <a:r>
              <a:rPr sz="2000" spc="-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make</a:t>
            </a:r>
            <a:r>
              <a:rPr sz="2000" spc="-2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profits</a:t>
            </a:r>
            <a:r>
              <a:rPr sz="2000" spc="-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out</a:t>
            </a:r>
            <a:r>
              <a:rPr sz="20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sz="2000" spc="-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000" spc="-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Premium,</a:t>
            </a:r>
            <a:r>
              <a:rPr sz="2000" spc="-2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or</a:t>
            </a:r>
            <a:r>
              <a:rPr sz="2000" spc="-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is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holding</a:t>
            </a:r>
            <a:r>
              <a:rPr sz="20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mirror-image </a:t>
            </a:r>
            <a:r>
              <a:rPr sz="2000" spc="-54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opposite</a:t>
            </a:r>
            <a:r>
              <a:rPr sz="2000" spc="-3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position.</a:t>
            </a:r>
            <a:endParaRPr sz="2000">
              <a:latin typeface="Times New Roman" pitchFamily="18" charset="0"/>
              <a:cs typeface="Times New Roman" pitchFamily="18" charset="0"/>
            </a:endParaRPr>
          </a:p>
          <a:p>
            <a:pPr marL="12700" algn="just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r>
              <a:rPr sz="2000" spc="-2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for</a:t>
            </a:r>
            <a:r>
              <a:rPr sz="2000" spc="-5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derivatives</a:t>
            </a:r>
            <a:r>
              <a:rPr sz="2000" spc="-3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use;</a:t>
            </a:r>
            <a:endParaRPr sz="2000">
              <a:latin typeface="Times New Roman" pitchFamily="18" charset="0"/>
              <a:cs typeface="Times New Roman" pitchFamily="18" charset="0"/>
            </a:endParaRPr>
          </a:p>
          <a:p>
            <a:pPr marL="12700" marR="542290" indent="914400" algn="just">
              <a:lnSpc>
                <a:spcPct val="80000"/>
              </a:lnSpc>
              <a:spcBef>
                <a:spcPts val="480"/>
              </a:spcBef>
              <a:buFont typeface="Arial" pitchFamily="34" charset="0"/>
              <a:buChar char="•"/>
            </a:pP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An</a:t>
            </a:r>
            <a:r>
              <a:rPr sz="20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exporter</a:t>
            </a:r>
            <a:r>
              <a:rPr sz="2000" spc="-3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sz="2000" spc="-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000" spc="-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US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expects</a:t>
            </a:r>
            <a:r>
              <a:rPr sz="2000" spc="-3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sz="2000" spc="-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get</a:t>
            </a:r>
            <a:r>
              <a:rPr sz="2000" spc="-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$50,000</a:t>
            </a:r>
            <a:r>
              <a:rPr sz="2000" spc="-2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sz="2000" spc="-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months</a:t>
            </a:r>
            <a:r>
              <a:rPr sz="2000" spc="-3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from </a:t>
            </a:r>
            <a:r>
              <a:rPr sz="2000" spc="-54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2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now.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She</a:t>
            </a:r>
            <a:r>
              <a:rPr sz="2000" spc="-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will</a:t>
            </a:r>
            <a:r>
              <a:rPr sz="2000" spc="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be</a:t>
            </a:r>
            <a:r>
              <a:rPr sz="20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happy</a:t>
            </a:r>
            <a:r>
              <a:rPr sz="2000" spc="-2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sz="20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have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this</a:t>
            </a:r>
            <a:r>
              <a:rPr sz="20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converted</a:t>
            </a:r>
            <a:r>
              <a:rPr sz="2000" spc="-4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at</a:t>
            </a:r>
            <a:r>
              <a:rPr sz="2000" spc="-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around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Rs.</a:t>
            </a:r>
            <a:r>
              <a:rPr sz="2000" spc="-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45</a:t>
            </a:r>
            <a:r>
              <a:rPr sz="20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per</a:t>
            </a:r>
            <a:r>
              <a:rPr sz="2000" spc="-25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$.</a:t>
            </a:r>
            <a:endParaRPr lang="en-IN" sz="2000" dirty="0" smtClean="0">
              <a:solidFill>
                <a:srgbClr val="4E3A2F"/>
              </a:solidFill>
              <a:latin typeface="Times New Roman" pitchFamily="18" charset="0"/>
              <a:cs typeface="Times New Roman" pitchFamily="18" charset="0"/>
            </a:endParaRPr>
          </a:p>
          <a:p>
            <a:pPr marL="12700" marR="542290" indent="914400" algn="just">
              <a:lnSpc>
                <a:spcPct val="80000"/>
              </a:lnSpc>
              <a:spcBef>
                <a:spcPts val="480"/>
              </a:spcBef>
              <a:buFont typeface="Arial" pitchFamily="34" charset="0"/>
              <a:buChar char="•"/>
            </a:pPr>
            <a:r>
              <a:rPr sz="2000" spc="-15" smtClean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However</a:t>
            </a:r>
            <a:r>
              <a:rPr sz="20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sz="2000" spc="-3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there</a:t>
            </a:r>
            <a:r>
              <a:rPr sz="2000" spc="-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is</a:t>
            </a:r>
            <a:r>
              <a:rPr sz="20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great</a:t>
            </a:r>
            <a:r>
              <a:rPr sz="2000" spc="-2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uncertainty</a:t>
            </a:r>
            <a:r>
              <a:rPr sz="2000" spc="-3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0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foreign</a:t>
            </a:r>
            <a:r>
              <a:rPr sz="2000" spc="-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exchange</a:t>
            </a:r>
            <a:r>
              <a:rPr sz="2000" spc="-2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market</a:t>
            </a:r>
            <a:r>
              <a:rPr sz="2000" spc="-4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as</a:t>
            </a:r>
            <a:r>
              <a:rPr sz="2000" spc="-15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IN" sz="2000" dirty="0" smtClean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000" spc="-20" smtClean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nature</a:t>
            </a:r>
            <a:r>
              <a:rPr sz="2000" spc="-2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sz="2000" spc="-2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0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possible</a:t>
            </a:r>
            <a:r>
              <a:rPr sz="2000" spc="-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movement</a:t>
            </a:r>
            <a:r>
              <a:rPr sz="2000" spc="-3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after</a:t>
            </a:r>
            <a:r>
              <a:rPr sz="2000" spc="-2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sz="2000" spc="-15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months.</a:t>
            </a:r>
            <a:endParaRPr lang="en-IN" sz="2000" dirty="0" smtClean="0">
              <a:solidFill>
                <a:srgbClr val="4E3A2F"/>
              </a:solidFill>
              <a:latin typeface="Times New Roman" pitchFamily="18" charset="0"/>
              <a:cs typeface="Times New Roman" pitchFamily="18" charset="0"/>
            </a:endParaRPr>
          </a:p>
          <a:p>
            <a:pPr marL="12700" marR="542290" indent="914400" algn="just">
              <a:lnSpc>
                <a:spcPct val="80000"/>
              </a:lnSpc>
              <a:spcBef>
                <a:spcPts val="480"/>
              </a:spcBef>
              <a:buFont typeface="Arial" pitchFamily="34" charset="0"/>
              <a:buChar char="•"/>
            </a:pPr>
            <a:r>
              <a:rPr sz="2000" smtClean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Fortunately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for the exporter a bank is willing to enter into a 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Forwards contract with her for paying 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Rs.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45 per $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after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3 months on her 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surrounding $50,000 then</a:t>
            </a:r>
            <a:r>
              <a:rPr sz="200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IN" sz="2000" dirty="0" smtClean="0">
              <a:solidFill>
                <a:srgbClr val="4E3A2F"/>
              </a:solidFill>
              <a:latin typeface="Times New Roman" pitchFamily="18" charset="0"/>
              <a:cs typeface="Times New Roman" pitchFamily="18" charset="0"/>
            </a:endParaRPr>
          </a:p>
          <a:p>
            <a:pPr marL="12700" marR="542290" indent="914400" algn="just">
              <a:lnSpc>
                <a:spcPct val="80000"/>
              </a:lnSpc>
              <a:spcBef>
                <a:spcPts val="480"/>
              </a:spcBef>
              <a:buFont typeface="Arial" pitchFamily="34" charset="0"/>
              <a:buChar char="•"/>
            </a:pPr>
            <a:r>
              <a:rPr sz="2000" smtClean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If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the exporter enters into this Forward contract, 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she</a:t>
            </a:r>
            <a:r>
              <a:rPr sz="20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makes</a:t>
            </a:r>
            <a:r>
              <a:rPr sz="2000" spc="-3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sure</a:t>
            </a:r>
            <a:r>
              <a:rPr sz="2000" spc="-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that</a:t>
            </a:r>
            <a:r>
              <a:rPr sz="2000" spc="-2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she</a:t>
            </a:r>
            <a:r>
              <a:rPr sz="2000" spc="-3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will</a:t>
            </a:r>
            <a:r>
              <a:rPr sz="2000" spc="2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be</a:t>
            </a:r>
            <a:r>
              <a:rPr sz="20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able</a:t>
            </a:r>
            <a:r>
              <a:rPr sz="20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get</a:t>
            </a:r>
            <a:r>
              <a:rPr sz="2000" spc="-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22,50,000</a:t>
            </a:r>
            <a:r>
              <a:rPr sz="2000" spc="-4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($50,000*Rs.45)</a:t>
            </a:r>
            <a:r>
              <a:rPr sz="2000" spc="-4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after </a:t>
            </a:r>
            <a:r>
              <a:rPr sz="2000" spc="-54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sz="2000" spc="-5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mtClean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months.</a:t>
            </a:r>
            <a:endParaRPr lang="en-IN" sz="2000" dirty="0" smtClean="0">
              <a:solidFill>
                <a:srgbClr val="4E3A2F"/>
              </a:solidFill>
              <a:latin typeface="Times New Roman" pitchFamily="18" charset="0"/>
              <a:cs typeface="Times New Roman" pitchFamily="18" charset="0"/>
            </a:endParaRPr>
          </a:p>
          <a:p>
            <a:pPr marL="12700" marR="542290" indent="914400" algn="just">
              <a:lnSpc>
                <a:spcPct val="80000"/>
              </a:lnSpc>
              <a:spcBef>
                <a:spcPts val="480"/>
              </a:spcBef>
              <a:buFont typeface="Arial" pitchFamily="34" charset="0"/>
              <a:buChar char="•"/>
            </a:pPr>
            <a:r>
              <a:rPr sz="2000" smtClean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However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if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rates change to her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favor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say to Rs. 48 per $ she 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will</a:t>
            </a:r>
            <a:r>
              <a:rPr sz="2000" spc="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not</a:t>
            </a:r>
            <a:r>
              <a:rPr sz="2000" spc="-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be</a:t>
            </a:r>
            <a:r>
              <a:rPr sz="20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able to</a:t>
            </a:r>
            <a:r>
              <a:rPr sz="2000" spc="-2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make</a:t>
            </a:r>
            <a:r>
              <a:rPr sz="2000" spc="-3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advantage</a:t>
            </a:r>
            <a:r>
              <a:rPr sz="2000" spc="-3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sz="2000" spc="-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000" spc="-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favorable</a:t>
            </a:r>
            <a:r>
              <a:rPr sz="2000" spc="-2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movement</a:t>
            </a:r>
            <a:r>
              <a:rPr sz="2000" spc="-3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since</a:t>
            </a:r>
            <a:r>
              <a:rPr sz="2000" spc="-2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she</a:t>
            </a:r>
            <a:r>
              <a:rPr sz="20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is </a:t>
            </a:r>
            <a:r>
              <a:rPr sz="2000" spc="-54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already</a:t>
            </a:r>
            <a:r>
              <a:rPr sz="2000" spc="-2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committed</a:t>
            </a:r>
            <a:r>
              <a:rPr sz="2000" spc="-4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sz="2000" spc="-1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000" spc="-1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Forward</a:t>
            </a:r>
            <a:r>
              <a:rPr sz="2000" spc="-40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solidFill>
                  <a:srgbClr val="4E3A2F"/>
                </a:solidFill>
                <a:latin typeface="Times New Roman" pitchFamily="18" charset="0"/>
                <a:cs typeface="Times New Roman" pitchFamily="18" charset="0"/>
              </a:rPr>
              <a:t>Contract/agreement</a:t>
            </a:r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7368" y="458165"/>
            <a:ext cx="684974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b="1" spc="-15" dirty="0">
                <a:solidFill>
                  <a:srgbClr val="000000"/>
                </a:solidFill>
              </a:rPr>
              <a:t>Economic</a:t>
            </a:r>
            <a:r>
              <a:rPr sz="3600" b="1" spc="-10" dirty="0">
                <a:solidFill>
                  <a:srgbClr val="000000"/>
                </a:solidFill>
              </a:rPr>
              <a:t> </a:t>
            </a:r>
            <a:r>
              <a:rPr sz="3600" b="1" spc="-5" dirty="0">
                <a:solidFill>
                  <a:srgbClr val="000000"/>
                </a:solidFill>
              </a:rPr>
              <a:t>benefits</a:t>
            </a:r>
            <a:r>
              <a:rPr sz="3600" b="1" spc="-35" dirty="0">
                <a:solidFill>
                  <a:srgbClr val="000000"/>
                </a:solidFill>
              </a:rPr>
              <a:t> </a:t>
            </a:r>
            <a:r>
              <a:rPr sz="3600" b="1" spc="-5" dirty="0">
                <a:solidFill>
                  <a:srgbClr val="000000"/>
                </a:solidFill>
              </a:rPr>
              <a:t>of</a:t>
            </a:r>
            <a:r>
              <a:rPr sz="3600" b="1" spc="-20" dirty="0">
                <a:solidFill>
                  <a:srgbClr val="000000"/>
                </a:solidFill>
              </a:rPr>
              <a:t> </a:t>
            </a:r>
            <a:r>
              <a:rPr sz="3600" b="1" spc="-15" dirty="0">
                <a:solidFill>
                  <a:srgbClr val="000000"/>
                </a:solidFill>
              </a:rPr>
              <a:t>derivatives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079347"/>
            <a:ext cx="7541260" cy="335476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2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10" dirty="0">
                <a:latin typeface="Times New Roman" pitchFamily="18" charset="0"/>
                <a:cs typeface="Calibri"/>
              </a:rPr>
              <a:t>Reduces</a:t>
            </a:r>
            <a:r>
              <a:rPr sz="2600" spc="-3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risk</a:t>
            </a:r>
            <a:endParaRPr sz="2600">
              <a:latin typeface="Times New Roman" pitchFamily="18" charset="0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5" dirty="0">
                <a:latin typeface="Times New Roman" pitchFamily="18" charset="0"/>
                <a:cs typeface="Calibri"/>
              </a:rPr>
              <a:t>Enhance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liquidity</a:t>
            </a:r>
            <a:r>
              <a:rPr sz="2600" spc="3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of</a:t>
            </a:r>
            <a:r>
              <a:rPr sz="2600" spc="-1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the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underlying</a:t>
            </a:r>
            <a:r>
              <a:rPr sz="2600" spc="3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asset</a:t>
            </a:r>
            <a:endParaRPr sz="2600">
              <a:latin typeface="Times New Roman" pitchFamily="18" charset="0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30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5" dirty="0">
                <a:latin typeface="Times New Roman" pitchFamily="18" charset="0"/>
                <a:cs typeface="Calibri"/>
              </a:rPr>
              <a:t>Lower</a:t>
            </a:r>
            <a:r>
              <a:rPr sz="2600" spc="-5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transaction</a:t>
            </a:r>
            <a:r>
              <a:rPr sz="2600" spc="-2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costs</a:t>
            </a:r>
            <a:endParaRPr sz="2600">
              <a:latin typeface="Times New Roman" pitchFamily="18" charset="0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5" smtClean="0">
                <a:latin typeface="Times New Roman" pitchFamily="18" charset="0"/>
                <a:cs typeface="Calibri"/>
              </a:rPr>
              <a:t>Enhances</a:t>
            </a:r>
            <a:r>
              <a:rPr sz="2600" spc="-15" smtClean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the</a:t>
            </a:r>
            <a:r>
              <a:rPr sz="2600" spc="-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price </a:t>
            </a:r>
            <a:r>
              <a:rPr sz="2600" spc="-5" dirty="0">
                <a:latin typeface="Times New Roman" pitchFamily="18" charset="0"/>
                <a:cs typeface="Calibri"/>
              </a:rPr>
              <a:t>discovery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process.</a:t>
            </a:r>
            <a:endParaRPr sz="2600">
              <a:latin typeface="Times New Roman" pitchFamily="18" charset="0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10" dirty="0">
                <a:latin typeface="Times New Roman" pitchFamily="18" charset="0"/>
                <a:cs typeface="Calibri"/>
              </a:rPr>
              <a:t>Portfolio</a:t>
            </a:r>
            <a:r>
              <a:rPr sz="2600" spc="-5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Management</a:t>
            </a:r>
            <a:endParaRPr sz="2600">
              <a:latin typeface="Times New Roman" pitchFamily="18" charset="0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10" dirty="0">
                <a:latin typeface="Times New Roman" pitchFamily="18" charset="0"/>
                <a:cs typeface="Calibri"/>
              </a:rPr>
              <a:t>Provides</a:t>
            </a:r>
            <a:r>
              <a:rPr sz="260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signals</a:t>
            </a:r>
            <a:r>
              <a:rPr sz="2600" dirty="0">
                <a:latin typeface="Times New Roman" pitchFamily="18" charset="0"/>
                <a:cs typeface="Calibri"/>
              </a:rPr>
              <a:t> of </a:t>
            </a:r>
            <a:r>
              <a:rPr sz="2600" spc="-20" dirty="0">
                <a:latin typeface="Times New Roman" pitchFamily="18" charset="0"/>
                <a:cs typeface="Calibri"/>
              </a:rPr>
              <a:t>market</a:t>
            </a:r>
            <a:r>
              <a:rPr sz="2600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movements</a:t>
            </a:r>
            <a:endParaRPr sz="2600">
              <a:latin typeface="Times New Roman" pitchFamily="18" charset="0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20" dirty="0">
                <a:latin typeface="Times New Roman" pitchFamily="18" charset="0"/>
                <a:cs typeface="Calibri"/>
              </a:rPr>
              <a:t>Facilitates</a:t>
            </a:r>
            <a:r>
              <a:rPr sz="2600" spc="-5" dirty="0">
                <a:latin typeface="Times New Roman" pitchFamily="18" charset="0"/>
                <a:cs typeface="Calibri"/>
              </a:rPr>
              <a:t> financial</a:t>
            </a:r>
            <a:r>
              <a:rPr sz="2600" spc="10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markets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spc="-20" dirty="0">
                <a:latin typeface="Times New Roman" pitchFamily="18" charset="0"/>
                <a:cs typeface="Calibri"/>
              </a:rPr>
              <a:t>integration</a:t>
            </a:r>
            <a:endParaRPr sz="26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7160" y="758697"/>
            <a:ext cx="682498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b="1" spc="-55" dirty="0">
                <a:solidFill>
                  <a:srgbClr val="006FC0"/>
                </a:solidFill>
              </a:rPr>
              <a:t>Traders</a:t>
            </a:r>
            <a:r>
              <a:rPr sz="4000" b="1" spc="-50" dirty="0">
                <a:solidFill>
                  <a:srgbClr val="006FC0"/>
                </a:solidFill>
              </a:rPr>
              <a:t> </a:t>
            </a:r>
            <a:r>
              <a:rPr sz="4000" b="1" dirty="0">
                <a:solidFill>
                  <a:srgbClr val="006FC0"/>
                </a:solidFill>
              </a:rPr>
              <a:t>in</a:t>
            </a:r>
            <a:r>
              <a:rPr sz="4000" b="1" spc="-15" dirty="0">
                <a:solidFill>
                  <a:srgbClr val="006FC0"/>
                </a:solidFill>
              </a:rPr>
              <a:t> Derivatives</a:t>
            </a:r>
            <a:r>
              <a:rPr sz="4000" b="1" spc="-55" dirty="0">
                <a:solidFill>
                  <a:srgbClr val="006FC0"/>
                </a:solidFill>
              </a:rPr>
              <a:t> </a:t>
            </a:r>
            <a:r>
              <a:rPr sz="4000" b="1" spc="-30" dirty="0">
                <a:solidFill>
                  <a:srgbClr val="006FC0"/>
                </a:solidFill>
              </a:rPr>
              <a:t>Market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31140" y="1448206"/>
            <a:ext cx="7851775" cy="485267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655"/>
              </a:spcBef>
              <a:tabLst>
                <a:tab pos="4431030" algn="l"/>
              </a:tabLst>
            </a:pPr>
            <a:r>
              <a:rPr sz="2400" b="1" spc="-10" dirty="0">
                <a:latin typeface="Times New Roman" pitchFamily="18" charset="0"/>
                <a:cs typeface="Calibri"/>
              </a:rPr>
              <a:t>There are </a:t>
            </a:r>
            <a:r>
              <a:rPr sz="2400" b="1" dirty="0">
                <a:latin typeface="Times New Roman" pitchFamily="18" charset="0"/>
                <a:cs typeface="Calibri"/>
              </a:rPr>
              <a:t>3</a:t>
            </a:r>
            <a:r>
              <a:rPr sz="2400" b="1" spc="-5" dirty="0">
                <a:latin typeface="Times New Roman" pitchFamily="18" charset="0"/>
                <a:cs typeface="Calibri"/>
              </a:rPr>
              <a:t> types</a:t>
            </a:r>
            <a:r>
              <a:rPr sz="2400" b="1" spc="15" dirty="0">
                <a:latin typeface="Times New Roman" pitchFamily="18" charset="0"/>
                <a:cs typeface="Calibri"/>
              </a:rPr>
              <a:t> </a:t>
            </a:r>
            <a:r>
              <a:rPr sz="2400" b="1" dirty="0">
                <a:latin typeface="Times New Roman" pitchFamily="18" charset="0"/>
                <a:cs typeface="Calibri"/>
              </a:rPr>
              <a:t>of</a:t>
            </a:r>
            <a:r>
              <a:rPr sz="2400" b="1" spc="-5" dirty="0">
                <a:latin typeface="Times New Roman" pitchFamily="18" charset="0"/>
                <a:cs typeface="Calibri"/>
              </a:rPr>
              <a:t> </a:t>
            </a:r>
            <a:r>
              <a:rPr sz="2400" b="1" spc="-15" dirty="0">
                <a:latin typeface="Times New Roman" pitchFamily="18" charset="0"/>
                <a:cs typeface="Calibri"/>
              </a:rPr>
              <a:t>traders</a:t>
            </a:r>
            <a:r>
              <a:rPr sz="2400" b="1" spc="5" dirty="0">
                <a:latin typeface="Times New Roman" pitchFamily="18" charset="0"/>
                <a:cs typeface="Calibri"/>
              </a:rPr>
              <a:t> </a:t>
            </a:r>
            <a:r>
              <a:rPr sz="2400" b="1" dirty="0">
                <a:latin typeface="Times New Roman" pitchFamily="18" charset="0"/>
                <a:cs typeface="Calibri"/>
              </a:rPr>
              <a:t>in</a:t>
            </a:r>
            <a:r>
              <a:rPr sz="2400" b="1" spc="-5" dirty="0">
                <a:latin typeface="Times New Roman" pitchFamily="18" charset="0"/>
                <a:cs typeface="Calibri"/>
              </a:rPr>
              <a:t> the	</a:t>
            </a:r>
            <a:r>
              <a:rPr sz="2400" b="1" spc="-10" dirty="0">
                <a:latin typeface="Times New Roman" pitchFamily="18" charset="0"/>
                <a:cs typeface="Calibri"/>
              </a:rPr>
              <a:t>Derivatives</a:t>
            </a:r>
            <a:r>
              <a:rPr sz="2400" b="1" spc="-20" dirty="0">
                <a:latin typeface="Times New Roman" pitchFamily="18" charset="0"/>
                <a:cs typeface="Calibri"/>
              </a:rPr>
              <a:t> </a:t>
            </a:r>
            <a:r>
              <a:rPr sz="2400" b="1" spc="-15" dirty="0">
                <a:latin typeface="Times New Roman" pitchFamily="18" charset="0"/>
                <a:cs typeface="Calibri"/>
              </a:rPr>
              <a:t>Market</a:t>
            </a:r>
            <a:r>
              <a:rPr sz="2400" b="1" spc="-45" dirty="0">
                <a:latin typeface="Times New Roman" pitchFamily="18" charset="0"/>
                <a:cs typeface="Calibri"/>
              </a:rPr>
              <a:t> </a:t>
            </a:r>
            <a:r>
              <a:rPr sz="2400" b="1" dirty="0">
                <a:latin typeface="Times New Roman" pitchFamily="18" charset="0"/>
                <a:cs typeface="Calibri"/>
              </a:rPr>
              <a:t>:</a:t>
            </a:r>
            <a:endParaRPr sz="2400">
              <a:latin typeface="Times New Roman" pitchFamily="18" charset="0"/>
              <a:cs typeface="Calibri"/>
            </a:endParaRPr>
          </a:p>
          <a:p>
            <a:pPr marL="287020" indent="-274320" algn="just">
              <a:lnSpc>
                <a:spcPct val="100000"/>
              </a:lnSpc>
              <a:spcBef>
                <a:spcPts val="650"/>
              </a:spcBef>
              <a:buClr>
                <a:srgbClr val="0AD0D9"/>
              </a:buClr>
              <a:buSzPct val="94642"/>
              <a:buFont typeface="Segoe UI Symbol"/>
              <a:buChar char="⚫"/>
              <a:tabLst>
                <a:tab pos="287020" algn="l"/>
              </a:tabLst>
            </a:pPr>
            <a:r>
              <a:rPr sz="2800" b="1" spc="-5" dirty="0">
                <a:solidFill>
                  <a:srgbClr val="006FC0"/>
                </a:solidFill>
                <a:latin typeface="Times New Roman" pitchFamily="18" charset="0"/>
                <a:cs typeface="Calibri"/>
              </a:rPr>
              <a:t>HEDGER</a:t>
            </a:r>
            <a:endParaRPr sz="2800">
              <a:latin typeface="Times New Roman" pitchFamily="18" charset="0"/>
              <a:cs typeface="Calibri"/>
            </a:endParaRPr>
          </a:p>
          <a:p>
            <a:pPr marL="286385" marR="26034" indent="46990" algn="just">
              <a:lnSpc>
                <a:spcPct val="101899"/>
              </a:lnSpc>
              <a:spcBef>
                <a:spcPts val="1015"/>
              </a:spcBef>
              <a:tabLst>
                <a:tab pos="6340475" algn="l"/>
              </a:tabLst>
            </a:pPr>
            <a:r>
              <a:rPr sz="2400" dirty="0">
                <a:latin typeface="Times New Roman" pitchFamily="18" charset="0"/>
                <a:cs typeface="Calibri"/>
              </a:rPr>
              <a:t>A </a:t>
            </a:r>
            <a:r>
              <a:rPr sz="2400" spc="-10" dirty="0">
                <a:latin typeface="Times New Roman" pitchFamily="18" charset="0"/>
                <a:cs typeface="Calibri"/>
              </a:rPr>
              <a:t>hedger </a:t>
            </a:r>
            <a:r>
              <a:rPr sz="2400" dirty="0">
                <a:latin typeface="Times New Roman" pitchFamily="18" charset="0"/>
                <a:cs typeface="Calibri"/>
              </a:rPr>
              <a:t>is </a:t>
            </a:r>
            <a:r>
              <a:rPr sz="2400" spc="-5" dirty="0">
                <a:latin typeface="Times New Roman" pitchFamily="18" charset="0"/>
                <a:cs typeface="Calibri"/>
              </a:rPr>
              <a:t>someone </a:t>
            </a:r>
            <a:r>
              <a:rPr sz="2400" dirty="0">
                <a:latin typeface="Times New Roman" pitchFamily="18" charset="0"/>
                <a:cs typeface="Calibri"/>
              </a:rPr>
              <a:t>who </a:t>
            </a:r>
            <a:r>
              <a:rPr sz="2400" spc="-10" dirty="0">
                <a:latin typeface="Times New Roman" pitchFamily="18" charset="0"/>
                <a:cs typeface="Calibri"/>
              </a:rPr>
              <a:t>faces </a:t>
            </a:r>
            <a:r>
              <a:rPr sz="2400" dirty="0">
                <a:latin typeface="Times New Roman" pitchFamily="18" charset="0"/>
                <a:cs typeface="Calibri"/>
              </a:rPr>
              <a:t>risk </a:t>
            </a:r>
            <a:r>
              <a:rPr sz="2400" spc="-10" dirty="0">
                <a:latin typeface="Times New Roman" pitchFamily="18" charset="0"/>
                <a:cs typeface="Calibri"/>
              </a:rPr>
              <a:t>associated </a:t>
            </a:r>
            <a:r>
              <a:rPr sz="2400" dirty="0">
                <a:latin typeface="Times New Roman" pitchFamily="18" charset="0"/>
                <a:cs typeface="Calibri"/>
              </a:rPr>
              <a:t>with </a:t>
            </a:r>
            <a:r>
              <a:rPr sz="2400" spc="-5" dirty="0">
                <a:latin typeface="Times New Roman" pitchFamily="18" charset="0"/>
                <a:cs typeface="Calibri"/>
              </a:rPr>
              <a:t>price </a:t>
            </a:r>
            <a:r>
              <a:rPr sz="2400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movement</a:t>
            </a:r>
            <a:r>
              <a:rPr sz="2400" spc="-15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of</a:t>
            </a:r>
            <a:r>
              <a:rPr sz="2400" dirty="0">
                <a:latin typeface="Times New Roman" pitchFamily="18" charset="0"/>
                <a:cs typeface="Calibri"/>
              </a:rPr>
              <a:t> an </a:t>
            </a:r>
            <a:r>
              <a:rPr sz="2400" spc="-5" dirty="0">
                <a:latin typeface="Times New Roman" pitchFamily="18" charset="0"/>
                <a:cs typeface="Calibri"/>
              </a:rPr>
              <a:t>asset</a:t>
            </a:r>
            <a:r>
              <a:rPr sz="2400" spc="-20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and who</a:t>
            </a:r>
            <a:r>
              <a:rPr sz="2400" spc="5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uses</a:t>
            </a:r>
            <a:r>
              <a:rPr sz="2400" spc="15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derivatives	</a:t>
            </a:r>
            <a:r>
              <a:rPr sz="2400" dirty="0">
                <a:latin typeface="Times New Roman" pitchFamily="18" charset="0"/>
                <a:cs typeface="Calibri"/>
              </a:rPr>
              <a:t>as</a:t>
            </a:r>
            <a:r>
              <a:rPr sz="2400" spc="-50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means</a:t>
            </a:r>
            <a:r>
              <a:rPr sz="2400" spc="-65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of </a:t>
            </a:r>
            <a:r>
              <a:rPr sz="2400" spc="-525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reducing</a:t>
            </a:r>
            <a:r>
              <a:rPr sz="2400" spc="-20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risk.</a:t>
            </a:r>
            <a:endParaRPr sz="2400">
              <a:latin typeface="Times New Roman" pitchFamily="18" charset="0"/>
              <a:cs typeface="Calibri"/>
            </a:endParaRPr>
          </a:p>
          <a:p>
            <a:pPr marL="283845" algn="just">
              <a:lnSpc>
                <a:spcPct val="100000"/>
              </a:lnSpc>
              <a:spcBef>
                <a:spcPts val="580"/>
              </a:spcBef>
            </a:pPr>
            <a:r>
              <a:rPr sz="2400" spc="-10" dirty="0">
                <a:latin typeface="Times New Roman" pitchFamily="18" charset="0"/>
                <a:cs typeface="Calibri"/>
              </a:rPr>
              <a:t>They</a:t>
            </a:r>
            <a:r>
              <a:rPr sz="2400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provide</a:t>
            </a:r>
            <a:r>
              <a:rPr sz="2400" spc="10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economic</a:t>
            </a:r>
            <a:r>
              <a:rPr sz="2400" spc="-15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balance</a:t>
            </a:r>
            <a:r>
              <a:rPr sz="2400" spc="-10" dirty="0">
                <a:latin typeface="Times New Roman" pitchFamily="18" charset="0"/>
                <a:cs typeface="Calibri"/>
              </a:rPr>
              <a:t> </a:t>
            </a:r>
            <a:r>
              <a:rPr sz="2400" spc="-15" dirty="0">
                <a:latin typeface="Times New Roman" pitchFamily="18" charset="0"/>
                <a:cs typeface="Calibri"/>
              </a:rPr>
              <a:t>to</a:t>
            </a:r>
            <a:r>
              <a:rPr sz="2400" spc="-10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the</a:t>
            </a:r>
            <a:r>
              <a:rPr sz="2400" spc="-15" dirty="0">
                <a:latin typeface="Times New Roman" pitchFamily="18" charset="0"/>
                <a:cs typeface="Calibri"/>
              </a:rPr>
              <a:t> market.</a:t>
            </a:r>
            <a:endParaRPr sz="2400">
              <a:latin typeface="Times New Roman" pitchFamily="18" charset="0"/>
              <a:cs typeface="Calibri"/>
            </a:endParaRPr>
          </a:p>
          <a:p>
            <a:pPr algn="just">
              <a:lnSpc>
                <a:spcPct val="100000"/>
              </a:lnSpc>
              <a:spcBef>
                <a:spcPts val="10"/>
              </a:spcBef>
            </a:pPr>
            <a:endParaRPr sz="3350">
              <a:latin typeface="Times New Roman" pitchFamily="18" charset="0"/>
              <a:cs typeface="Calibri"/>
            </a:endParaRPr>
          </a:p>
          <a:p>
            <a:pPr marL="287020" indent="-274320" algn="just">
              <a:lnSpc>
                <a:spcPct val="100000"/>
              </a:lnSpc>
              <a:buClr>
                <a:srgbClr val="0AD0D9"/>
              </a:buClr>
              <a:buSzPct val="94642"/>
              <a:buFont typeface="Segoe UI Symbol"/>
              <a:buChar char="⚫"/>
              <a:tabLst>
                <a:tab pos="287020" algn="l"/>
              </a:tabLst>
            </a:pPr>
            <a:r>
              <a:rPr sz="2800" b="1" spc="-40" dirty="0">
                <a:solidFill>
                  <a:srgbClr val="006FC0"/>
                </a:solidFill>
                <a:latin typeface="Times New Roman" pitchFamily="18" charset="0"/>
                <a:cs typeface="Calibri"/>
              </a:rPr>
              <a:t>SPECULATOR</a:t>
            </a:r>
            <a:endParaRPr sz="2800">
              <a:latin typeface="Times New Roman" pitchFamily="18" charset="0"/>
              <a:cs typeface="Calibri"/>
            </a:endParaRPr>
          </a:p>
          <a:p>
            <a:pPr marL="286385" marR="5080" indent="65405" algn="just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latin typeface="Times New Roman" pitchFamily="18" charset="0"/>
                <a:cs typeface="Calibri"/>
              </a:rPr>
              <a:t>A </a:t>
            </a:r>
            <a:r>
              <a:rPr sz="2400" spc="-10" dirty="0">
                <a:latin typeface="Times New Roman" pitchFamily="18" charset="0"/>
                <a:cs typeface="Calibri"/>
              </a:rPr>
              <a:t>trader </a:t>
            </a:r>
            <a:r>
              <a:rPr sz="2400" dirty="0">
                <a:latin typeface="Times New Roman" pitchFamily="18" charset="0"/>
                <a:cs typeface="Calibri"/>
              </a:rPr>
              <a:t>who </a:t>
            </a:r>
            <a:r>
              <a:rPr sz="2400" spc="-15" dirty="0">
                <a:latin typeface="Times New Roman" pitchFamily="18" charset="0"/>
                <a:cs typeface="Calibri"/>
              </a:rPr>
              <a:t>enters </a:t>
            </a:r>
            <a:r>
              <a:rPr sz="2400" dirty="0">
                <a:latin typeface="Times New Roman" pitchFamily="18" charset="0"/>
                <a:cs typeface="Calibri"/>
              </a:rPr>
              <a:t>the </a:t>
            </a:r>
            <a:r>
              <a:rPr sz="2400" spc="-10" dirty="0">
                <a:latin typeface="Times New Roman" pitchFamily="18" charset="0"/>
                <a:cs typeface="Calibri"/>
              </a:rPr>
              <a:t>futures </a:t>
            </a:r>
            <a:r>
              <a:rPr sz="2400" spc="-15" dirty="0">
                <a:latin typeface="Times New Roman" pitchFamily="18" charset="0"/>
                <a:cs typeface="Calibri"/>
              </a:rPr>
              <a:t>market </a:t>
            </a:r>
            <a:r>
              <a:rPr sz="2400" spc="-20" dirty="0">
                <a:latin typeface="Times New Roman" pitchFamily="18" charset="0"/>
                <a:cs typeface="Calibri"/>
              </a:rPr>
              <a:t>for </a:t>
            </a:r>
            <a:r>
              <a:rPr sz="2400" spc="-10" dirty="0">
                <a:latin typeface="Times New Roman" pitchFamily="18" charset="0"/>
                <a:cs typeface="Calibri"/>
              </a:rPr>
              <a:t>pursuit of profits, </a:t>
            </a:r>
            <a:r>
              <a:rPr sz="2400" spc="-53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accepting</a:t>
            </a:r>
            <a:r>
              <a:rPr sz="2400" spc="-50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risk</a:t>
            </a:r>
            <a:r>
              <a:rPr sz="2400" spc="-15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in the </a:t>
            </a:r>
            <a:r>
              <a:rPr sz="2400" spc="-35" dirty="0">
                <a:latin typeface="Times New Roman" pitchFamily="18" charset="0"/>
                <a:cs typeface="Calibri"/>
              </a:rPr>
              <a:t>endeavor.</a:t>
            </a:r>
            <a:endParaRPr sz="2400">
              <a:latin typeface="Times New Roman" pitchFamily="18" charset="0"/>
              <a:cs typeface="Calibri"/>
            </a:endParaRPr>
          </a:p>
          <a:p>
            <a:pPr marL="352425" algn="just">
              <a:lnSpc>
                <a:spcPct val="100000"/>
              </a:lnSpc>
              <a:spcBef>
                <a:spcPts val="580"/>
              </a:spcBef>
            </a:pPr>
            <a:r>
              <a:rPr sz="2400" spc="-10" dirty="0">
                <a:latin typeface="Times New Roman" pitchFamily="18" charset="0"/>
                <a:cs typeface="Calibri"/>
              </a:rPr>
              <a:t>They</a:t>
            </a:r>
            <a:r>
              <a:rPr sz="2400" spc="-5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provide</a:t>
            </a:r>
            <a:r>
              <a:rPr sz="2400" dirty="0">
                <a:latin typeface="Times New Roman" pitchFamily="18" charset="0"/>
                <a:cs typeface="Calibri"/>
              </a:rPr>
              <a:t> liquidity</a:t>
            </a:r>
            <a:r>
              <a:rPr sz="2400" spc="-15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and</a:t>
            </a:r>
            <a:r>
              <a:rPr sz="2400" spc="-1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depth</a:t>
            </a:r>
            <a:r>
              <a:rPr sz="2400" spc="-20" dirty="0">
                <a:latin typeface="Times New Roman" pitchFamily="18" charset="0"/>
                <a:cs typeface="Calibri"/>
              </a:rPr>
              <a:t> </a:t>
            </a:r>
            <a:r>
              <a:rPr sz="2400" spc="-15" dirty="0">
                <a:latin typeface="Times New Roman" pitchFamily="18" charset="0"/>
                <a:cs typeface="Calibri"/>
              </a:rPr>
              <a:t>to</a:t>
            </a:r>
            <a:r>
              <a:rPr sz="2400" spc="-5" dirty="0">
                <a:latin typeface="Times New Roman" pitchFamily="18" charset="0"/>
                <a:cs typeface="Calibri"/>
              </a:rPr>
              <a:t> the</a:t>
            </a:r>
            <a:r>
              <a:rPr sz="2400" spc="-10" dirty="0">
                <a:latin typeface="Times New Roman" pitchFamily="18" charset="0"/>
                <a:cs typeface="Calibri"/>
              </a:rPr>
              <a:t> </a:t>
            </a:r>
            <a:r>
              <a:rPr sz="2400" spc="-15" dirty="0">
                <a:latin typeface="Times New Roman" pitchFamily="18" charset="0"/>
                <a:cs typeface="Calibri"/>
              </a:rPr>
              <a:t>market.</a:t>
            </a:r>
            <a:endParaRPr sz="24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320802"/>
            <a:ext cx="8015605" cy="464165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75"/>
              </a:spcBef>
              <a:buClr>
                <a:srgbClr val="0AD0D9"/>
              </a:buClr>
              <a:buSzPct val="93750"/>
              <a:buFont typeface="Segoe UI Symbol"/>
              <a:buChar char="⚫"/>
              <a:tabLst>
                <a:tab pos="287020" algn="l"/>
              </a:tabLst>
            </a:pPr>
            <a:r>
              <a:rPr sz="2400" b="1" spc="-5" dirty="0">
                <a:solidFill>
                  <a:srgbClr val="006FC0"/>
                </a:solidFill>
                <a:latin typeface="Times New Roman" pitchFamily="18" charset="0"/>
                <a:cs typeface="Calibri"/>
              </a:rPr>
              <a:t>ARBITRAGEUR</a:t>
            </a:r>
            <a:endParaRPr sz="2400">
              <a:latin typeface="Times New Roman" pitchFamily="18" charset="0"/>
              <a:cs typeface="Calibri"/>
            </a:endParaRPr>
          </a:p>
          <a:p>
            <a:pPr marL="286385" marR="253365" indent="-3175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Times New Roman" pitchFamily="18" charset="0"/>
                <a:cs typeface="Calibri"/>
              </a:rPr>
              <a:t>A </a:t>
            </a:r>
            <a:r>
              <a:rPr sz="2400" spc="-10" dirty="0">
                <a:latin typeface="Times New Roman" pitchFamily="18" charset="0"/>
                <a:cs typeface="Calibri"/>
              </a:rPr>
              <a:t>person </a:t>
            </a:r>
            <a:r>
              <a:rPr sz="2400" dirty="0">
                <a:latin typeface="Times New Roman" pitchFamily="18" charset="0"/>
                <a:cs typeface="Calibri"/>
              </a:rPr>
              <a:t>who </a:t>
            </a:r>
            <a:r>
              <a:rPr sz="2400" spc="-5" dirty="0">
                <a:latin typeface="Times New Roman" pitchFamily="18" charset="0"/>
                <a:cs typeface="Calibri"/>
              </a:rPr>
              <a:t>simultaneously </a:t>
            </a:r>
            <a:r>
              <a:rPr sz="2400" spc="-15" dirty="0">
                <a:latin typeface="Times New Roman" pitchFamily="18" charset="0"/>
                <a:cs typeface="Calibri"/>
              </a:rPr>
              <a:t>enters into </a:t>
            </a:r>
            <a:r>
              <a:rPr sz="2400" spc="-5" dirty="0">
                <a:latin typeface="Times New Roman" pitchFamily="18" charset="0"/>
                <a:cs typeface="Calibri"/>
              </a:rPr>
              <a:t>transactions </a:t>
            </a:r>
            <a:r>
              <a:rPr sz="2400" dirty="0">
                <a:latin typeface="Times New Roman" pitchFamily="18" charset="0"/>
                <a:cs typeface="Calibri"/>
              </a:rPr>
              <a:t>in </a:t>
            </a:r>
            <a:r>
              <a:rPr sz="2400" spc="-10" dirty="0">
                <a:latin typeface="Times New Roman" pitchFamily="18" charset="0"/>
                <a:cs typeface="Calibri"/>
              </a:rPr>
              <a:t>two </a:t>
            </a:r>
            <a:r>
              <a:rPr sz="2400" spc="-53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or </a:t>
            </a:r>
            <a:r>
              <a:rPr sz="2400" spc="-10" dirty="0">
                <a:latin typeface="Times New Roman" pitchFamily="18" charset="0"/>
                <a:cs typeface="Calibri"/>
              </a:rPr>
              <a:t>more </a:t>
            </a:r>
            <a:r>
              <a:rPr sz="2400" spc="-15" dirty="0">
                <a:latin typeface="Times New Roman" pitchFamily="18" charset="0"/>
                <a:cs typeface="Calibri"/>
              </a:rPr>
              <a:t>markets to </a:t>
            </a:r>
            <a:r>
              <a:rPr sz="2400" spc="-30" dirty="0">
                <a:latin typeface="Times New Roman" pitchFamily="18" charset="0"/>
                <a:cs typeface="Calibri"/>
              </a:rPr>
              <a:t>take </a:t>
            </a:r>
            <a:r>
              <a:rPr sz="2400" spc="-15" dirty="0">
                <a:latin typeface="Times New Roman" pitchFamily="18" charset="0"/>
                <a:cs typeface="Calibri"/>
              </a:rPr>
              <a:t>advantage </a:t>
            </a:r>
            <a:r>
              <a:rPr sz="2400" spc="-5" dirty="0">
                <a:latin typeface="Times New Roman" pitchFamily="18" charset="0"/>
                <a:cs typeface="Calibri"/>
              </a:rPr>
              <a:t>of </a:t>
            </a:r>
            <a:r>
              <a:rPr sz="2400" dirty="0">
                <a:latin typeface="Times New Roman" pitchFamily="18" charset="0"/>
                <a:cs typeface="Calibri"/>
              </a:rPr>
              <a:t>the </a:t>
            </a:r>
            <a:r>
              <a:rPr sz="2400" spc="-5" dirty="0">
                <a:latin typeface="Times New Roman" pitchFamily="18" charset="0"/>
                <a:cs typeface="Calibri"/>
              </a:rPr>
              <a:t>discrepancies </a:t>
            </a:r>
            <a:r>
              <a:rPr sz="240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between</a:t>
            </a:r>
            <a:r>
              <a:rPr sz="2400" spc="-25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prices</a:t>
            </a:r>
            <a:r>
              <a:rPr sz="2400" spc="-15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in these </a:t>
            </a:r>
            <a:r>
              <a:rPr sz="2400" spc="-15" dirty="0">
                <a:latin typeface="Times New Roman" pitchFamily="18" charset="0"/>
                <a:cs typeface="Calibri"/>
              </a:rPr>
              <a:t>markets.</a:t>
            </a:r>
            <a:endParaRPr sz="24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300">
              <a:latin typeface="Times New Roman" pitchFamily="18" charset="0"/>
              <a:cs typeface="Calibri"/>
            </a:endParaRPr>
          </a:p>
          <a:p>
            <a:pPr marL="489584" indent="-477520">
              <a:lnSpc>
                <a:spcPct val="100000"/>
              </a:lnSpc>
              <a:buClr>
                <a:srgbClr val="0AD0D9"/>
              </a:buClr>
              <a:buSzPct val="93750"/>
              <a:buFont typeface="Segoe UI Symbol"/>
              <a:buChar char="⚫"/>
              <a:tabLst>
                <a:tab pos="489584" algn="l"/>
                <a:tab pos="490220" algn="l"/>
              </a:tabLst>
            </a:pPr>
            <a:r>
              <a:rPr sz="2400" spc="-10" dirty="0">
                <a:latin typeface="Times New Roman" pitchFamily="18" charset="0"/>
                <a:cs typeface="Calibri"/>
              </a:rPr>
              <a:t>Arbitrage</a:t>
            </a:r>
            <a:r>
              <a:rPr sz="2400" spc="-15" dirty="0">
                <a:latin typeface="Times New Roman" pitchFamily="18" charset="0"/>
                <a:cs typeface="Calibri"/>
              </a:rPr>
              <a:t> involves</a:t>
            </a:r>
            <a:r>
              <a:rPr sz="2400" spc="10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making</a:t>
            </a:r>
            <a:r>
              <a:rPr sz="2400" spc="-25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profits</a:t>
            </a:r>
            <a:r>
              <a:rPr sz="2400" spc="-15" dirty="0">
                <a:latin typeface="Times New Roman" pitchFamily="18" charset="0"/>
                <a:cs typeface="Calibri"/>
              </a:rPr>
              <a:t> from</a:t>
            </a:r>
            <a:r>
              <a:rPr sz="2400" spc="-5" dirty="0">
                <a:latin typeface="Times New Roman" pitchFamily="18" charset="0"/>
                <a:cs typeface="Calibri"/>
              </a:rPr>
              <a:t> </a:t>
            </a:r>
            <a:r>
              <a:rPr sz="2400" spc="-15" dirty="0">
                <a:latin typeface="Times New Roman" pitchFamily="18" charset="0"/>
                <a:cs typeface="Calibri"/>
              </a:rPr>
              <a:t>relative</a:t>
            </a:r>
            <a:r>
              <a:rPr sz="2400" dirty="0">
                <a:latin typeface="Times New Roman" pitchFamily="18" charset="0"/>
                <a:cs typeface="Calibri"/>
              </a:rPr>
              <a:t> mispricing.</a:t>
            </a:r>
            <a:endParaRPr sz="24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Font typeface="Segoe UI Symbol"/>
              <a:buChar char="⚫"/>
            </a:pPr>
            <a:endParaRPr sz="3300">
              <a:latin typeface="Times New Roman" pitchFamily="18" charset="0"/>
              <a:cs typeface="Calibri"/>
            </a:endParaRPr>
          </a:p>
          <a:p>
            <a:pPr marL="286385" marR="5080" indent="-274320">
              <a:lnSpc>
                <a:spcPct val="100000"/>
              </a:lnSpc>
              <a:buClr>
                <a:srgbClr val="0AD0D9"/>
              </a:buClr>
              <a:buSzPct val="93750"/>
              <a:buFont typeface="Segoe UI Symbol"/>
              <a:buChar char="⚫"/>
              <a:tabLst>
                <a:tab pos="287020" algn="l"/>
              </a:tabLst>
            </a:pPr>
            <a:r>
              <a:rPr sz="2400" spc="-10" dirty="0">
                <a:latin typeface="Times New Roman" pitchFamily="18" charset="0"/>
                <a:cs typeface="Calibri"/>
              </a:rPr>
              <a:t>Arbitrageurs </a:t>
            </a:r>
            <a:r>
              <a:rPr sz="2400" dirty="0">
                <a:latin typeface="Times New Roman" pitchFamily="18" charset="0"/>
                <a:cs typeface="Calibri"/>
              </a:rPr>
              <a:t>also </a:t>
            </a:r>
            <a:r>
              <a:rPr sz="2400" spc="-5" dirty="0">
                <a:latin typeface="Times New Roman" pitchFamily="18" charset="0"/>
                <a:cs typeface="Calibri"/>
              </a:rPr>
              <a:t>help </a:t>
            </a:r>
            <a:r>
              <a:rPr sz="2400" spc="-15" dirty="0">
                <a:latin typeface="Times New Roman" pitchFamily="18" charset="0"/>
                <a:cs typeface="Calibri"/>
              </a:rPr>
              <a:t>to </a:t>
            </a:r>
            <a:r>
              <a:rPr sz="2400" spc="-20" dirty="0">
                <a:latin typeface="Times New Roman" pitchFamily="18" charset="0"/>
                <a:cs typeface="Calibri"/>
              </a:rPr>
              <a:t>make </a:t>
            </a:r>
            <a:r>
              <a:rPr sz="2400" spc="-15" dirty="0">
                <a:latin typeface="Times New Roman" pitchFamily="18" charset="0"/>
                <a:cs typeface="Calibri"/>
              </a:rPr>
              <a:t>markets </a:t>
            </a:r>
            <a:r>
              <a:rPr sz="2400" dirty="0">
                <a:latin typeface="Times New Roman" pitchFamily="18" charset="0"/>
                <a:cs typeface="Calibri"/>
              </a:rPr>
              <a:t>liquid, </a:t>
            </a:r>
            <a:r>
              <a:rPr sz="2400" spc="-10" dirty="0">
                <a:latin typeface="Times New Roman" pitchFamily="18" charset="0"/>
                <a:cs typeface="Calibri"/>
              </a:rPr>
              <a:t>ensure </a:t>
            </a:r>
            <a:r>
              <a:rPr sz="2400" spc="-15" dirty="0">
                <a:latin typeface="Times New Roman" pitchFamily="18" charset="0"/>
                <a:cs typeface="Calibri"/>
              </a:rPr>
              <a:t>accurate </a:t>
            </a:r>
            <a:r>
              <a:rPr sz="2400" spc="-530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and</a:t>
            </a:r>
            <a:r>
              <a:rPr sz="2400" spc="-20" dirty="0">
                <a:latin typeface="Times New Roman" pitchFamily="18" charset="0"/>
                <a:cs typeface="Calibri"/>
              </a:rPr>
              <a:t> </a:t>
            </a:r>
            <a:r>
              <a:rPr sz="2400" spc="-15" dirty="0">
                <a:latin typeface="Times New Roman" pitchFamily="18" charset="0"/>
                <a:cs typeface="Calibri"/>
              </a:rPr>
              <a:t>uniform</a:t>
            </a:r>
            <a:r>
              <a:rPr sz="2400" spc="-5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pricing,</a:t>
            </a:r>
            <a:r>
              <a:rPr sz="2400" spc="-15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and enhance</a:t>
            </a:r>
            <a:r>
              <a:rPr sz="2400" spc="-1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price</a:t>
            </a:r>
            <a:r>
              <a:rPr sz="2400" spc="-10" dirty="0">
                <a:latin typeface="Times New Roman" pitchFamily="18" charset="0"/>
                <a:cs typeface="Calibri"/>
              </a:rPr>
              <a:t> stability</a:t>
            </a:r>
            <a:endParaRPr sz="24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Font typeface="Segoe UI Symbol"/>
              <a:buChar char="⚫"/>
            </a:pPr>
            <a:endParaRPr sz="3300">
              <a:latin typeface="Times New Roman" pitchFamily="18" charset="0"/>
              <a:cs typeface="Calibri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3750"/>
              <a:buFont typeface="Segoe UI Symbol"/>
              <a:buChar char="⚫"/>
              <a:tabLst>
                <a:tab pos="287020" algn="l"/>
              </a:tabLst>
            </a:pPr>
            <a:r>
              <a:rPr sz="2400" spc="-10" dirty="0">
                <a:latin typeface="Times New Roman" pitchFamily="18" charset="0"/>
                <a:cs typeface="Calibri"/>
              </a:rPr>
              <a:t>They</a:t>
            </a:r>
            <a:r>
              <a:rPr sz="2400" spc="-15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help</a:t>
            </a:r>
            <a:r>
              <a:rPr sz="2400" spc="-10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in </a:t>
            </a:r>
            <a:r>
              <a:rPr sz="2400" spc="-5" dirty="0">
                <a:latin typeface="Times New Roman" pitchFamily="18" charset="0"/>
                <a:cs typeface="Calibri"/>
              </a:rPr>
              <a:t>bringing</a:t>
            </a:r>
            <a:r>
              <a:rPr sz="2400" spc="-1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about</a:t>
            </a:r>
            <a:r>
              <a:rPr sz="2400" spc="-2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price</a:t>
            </a:r>
            <a:r>
              <a:rPr sz="2400" spc="-15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uniformity</a:t>
            </a:r>
            <a:r>
              <a:rPr sz="2400" spc="-15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and</a:t>
            </a:r>
            <a:r>
              <a:rPr sz="2400" spc="-10" dirty="0">
                <a:latin typeface="Times New Roman" pitchFamily="18" charset="0"/>
                <a:cs typeface="Calibri"/>
              </a:rPr>
              <a:t> </a:t>
            </a:r>
            <a:r>
              <a:rPr sz="2400" spc="-25" dirty="0">
                <a:latin typeface="Times New Roman" pitchFamily="18" charset="0"/>
                <a:cs typeface="Calibri"/>
              </a:rPr>
              <a:t>discovery.</a:t>
            </a:r>
            <a:endParaRPr sz="24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0"/>
            <a:ext cx="7960995" cy="5904052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15"/>
              </a:spcBef>
              <a:buClr>
                <a:srgbClr val="0AD0D9"/>
              </a:buClr>
              <a:buSzPct val="93750"/>
              <a:buFont typeface="Segoe UI Symbol"/>
              <a:buChar char="⚫"/>
              <a:tabLst>
                <a:tab pos="287020" algn="l"/>
              </a:tabLst>
            </a:pPr>
            <a:r>
              <a:rPr sz="2400" spc="-45" dirty="0">
                <a:latin typeface="Times New Roman" pitchFamily="18" charset="0"/>
                <a:cs typeface="Calibri"/>
              </a:rPr>
              <a:t>OTC</a:t>
            </a:r>
            <a:r>
              <a:rPr sz="2400" spc="-30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and</a:t>
            </a:r>
            <a:r>
              <a:rPr sz="2400" spc="-15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Exchange</a:t>
            </a:r>
            <a:r>
              <a:rPr sz="2400" spc="-35" dirty="0">
                <a:latin typeface="Times New Roman" pitchFamily="18" charset="0"/>
                <a:cs typeface="Calibri"/>
              </a:rPr>
              <a:t> Traded</a:t>
            </a:r>
            <a:r>
              <a:rPr sz="2400" spc="-15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Derivatives.</a:t>
            </a:r>
            <a:endParaRPr sz="2400">
              <a:latin typeface="Times New Roman" pitchFamily="18" charset="0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865"/>
              </a:spcBef>
              <a:buClr>
                <a:srgbClr val="0AD0D9"/>
              </a:buClr>
              <a:buSzPct val="95000"/>
              <a:buFont typeface="Segoe UI Symbol"/>
              <a:buChar char="⚫"/>
              <a:tabLst>
                <a:tab pos="287020" algn="l"/>
              </a:tabLst>
            </a:pPr>
            <a:r>
              <a:rPr sz="4000" b="1" spc="-5" dirty="0">
                <a:latin typeface="Times New Roman" pitchFamily="18" charset="0"/>
                <a:cs typeface="Calibri"/>
              </a:rPr>
              <a:t>1.</a:t>
            </a:r>
            <a:r>
              <a:rPr sz="4000" b="1" spc="-70" dirty="0">
                <a:latin typeface="Times New Roman" pitchFamily="18" charset="0"/>
                <a:cs typeface="Calibri"/>
              </a:rPr>
              <a:t> </a:t>
            </a:r>
            <a:r>
              <a:rPr sz="4000" b="1" spc="-60" dirty="0">
                <a:latin typeface="Times New Roman" pitchFamily="18" charset="0"/>
                <a:cs typeface="Calibri"/>
              </a:rPr>
              <a:t>OTC</a:t>
            </a:r>
            <a:endParaRPr sz="4000">
              <a:latin typeface="Times New Roman" pitchFamily="18" charset="0"/>
              <a:cs typeface="Calibri"/>
            </a:endParaRPr>
          </a:p>
          <a:p>
            <a:pPr marL="12700" marR="5080">
              <a:lnSpc>
                <a:spcPct val="120000"/>
              </a:lnSpc>
              <a:spcBef>
                <a:spcPts val="100"/>
              </a:spcBef>
              <a:tabLst>
                <a:tab pos="1490345" algn="l"/>
                <a:tab pos="2550160" algn="l"/>
              </a:tabLst>
            </a:pPr>
            <a:r>
              <a:rPr sz="2400" spc="-10" dirty="0">
                <a:latin typeface="Times New Roman" pitchFamily="18" charset="0"/>
                <a:cs typeface="Calibri"/>
              </a:rPr>
              <a:t>Over-the-counter</a:t>
            </a:r>
            <a:r>
              <a:rPr sz="2400" dirty="0">
                <a:latin typeface="Times New Roman" pitchFamily="18" charset="0"/>
                <a:cs typeface="Calibri"/>
              </a:rPr>
              <a:t> </a:t>
            </a:r>
            <a:r>
              <a:rPr sz="2400" spc="-25" dirty="0">
                <a:latin typeface="Times New Roman" pitchFamily="18" charset="0"/>
                <a:cs typeface="Calibri"/>
              </a:rPr>
              <a:t>(OTC)</a:t>
            </a:r>
            <a:r>
              <a:rPr sz="2400" spc="-1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or </a:t>
            </a:r>
            <a:r>
              <a:rPr sz="2400" spc="-15" dirty="0">
                <a:latin typeface="Times New Roman" pitchFamily="18" charset="0"/>
                <a:cs typeface="Calibri"/>
              </a:rPr>
              <a:t>off-exchange</a:t>
            </a:r>
            <a:r>
              <a:rPr sz="2400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trading </a:t>
            </a:r>
            <a:r>
              <a:rPr sz="2400" dirty="0">
                <a:latin typeface="Times New Roman" pitchFamily="18" charset="0"/>
                <a:cs typeface="Calibri"/>
              </a:rPr>
              <a:t>is</a:t>
            </a:r>
            <a:r>
              <a:rPr sz="2400" spc="-15" dirty="0">
                <a:latin typeface="Times New Roman" pitchFamily="18" charset="0"/>
                <a:cs typeface="Calibri"/>
              </a:rPr>
              <a:t> to</a:t>
            </a:r>
            <a:r>
              <a:rPr sz="2400" spc="-5" dirty="0">
                <a:latin typeface="Times New Roman" pitchFamily="18" charset="0"/>
                <a:cs typeface="Calibri"/>
              </a:rPr>
              <a:t> </a:t>
            </a:r>
            <a:r>
              <a:rPr sz="2400" spc="-15" dirty="0">
                <a:latin typeface="Times New Roman" pitchFamily="18" charset="0"/>
                <a:cs typeface="Calibri"/>
              </a:rPr>
              <a:t>trade </a:t>
            </a:r>
            <a:r>
              <a:rPr sz="2400" spc="-1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financial instruments such </a:t>
            </a:r>
            <a:r>
              <a:rPr sz="2400" dirty="0">
                <a:latin typeface="Times New Roman" pitchFamily="18" charset="0"/>
                <a:cs typeface="Calibri"/>
              </a:rPr>
              <a:t>as </a:t>
            </a:r>
            <a:r>
              <a:rPr sz="2400" spc="-15" dirty="0">
                <a:latin typeface="Times New Roman" pitchFamily="18" charset="0"/>
                <a:cs typeface="Calibri"/>
              </a:rPr>
              <a:t>stocks, </a:t>
            </a:r>
            <a:r>
              <a:rPr sz="2400" spc="-5" dirty="0">
                <a:latin typeface="Times New Roman" pitchFamily="18" charset="0"/>
                <a:cs typeface="Calibri"/>
              </a:rPr>
              <a:t>bonds, </a:t>
            </a:r>
            <a:r>
              <a:rPr sz="2400" spc="-10" dirty="0">
                <a:latin typeface="Times New Roman" pitchFamily="18" charset="0"/>
                <a:cs typeface="Calibri"/>
              </a:rPr>
              <a:t>commodities </a:t>
            </a:r>
            <a:r>
              <a:rPr sz="2400" spc="-5" dirty="0">
                <a:latin typeface="Times New Roman" pitchFamily="18" charset="0"/>
                <a:cs typeface="Calibri"/>
              </a:rPr>
              <a:t>or </a:t>
            </a:r>
            <a:r>
              <a:rPr sz="2400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derivatives	</a:t>
            </a:r>
            <a:r>
              <a:rPr sz="2400" spc="-5" dirty="0">
                <a:latin typeface="Times New Roman" pitchFamily="18" charset="0"/>
                <a:cs typeface="Calibri"/>
              </a:rPr>
              <a:t>directly	</a:t>
            </a:r>
            <a:r>
              <a:rPr sz="2400" spc="-10" dirty="0">
                <a:latin typeface="Times New Roman" pitchFamily="18" charset="0"/>
                <a:cs typeface="Calibri"/>
              </a:rPr>
              <a:t>between two </a:t>
            </a:r>
            <a:r>
              <a:rPr sz="2400" spc="-5" dirty="0">
                <a:latin typeface="Times New Roman" pitchFamily="18" charset="0"/>
                <a:cs typeface="Calibri"/>
              </a:rPr>
              <a:t>parties without </a:t>
            </a:r>
            <a:r>
              <a:rPr sz="2400" spc="-10" dirty="0">
                <a:latin typeface="Times New Roman" pitchFamily="18" charset="0"/>
                <a:cs typeface="Calibri"/>
              </a:rPr>
              <a:t>going through </a:t>
            </a:r>
            <a:r>
              <a:rPr sz="2400" spc="-530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an</a:t>
            </a:r>
            <a:r>
              <a:rPr sz="2400" spc="-20" dirty="0">
                <a:latin typeface="Times New Roman" pitchFamily="18" charset="0"/>
                <a:cs typeface="Calibri"/>
              </a:rPr>
              <a:t> </a:t>
            </a:r>
            <a:r>
              <a:rPr sz="2400" spc="-15" dirty="0">
                <a:latin typeface="Times New Roman" pitchFamily="18" charset="0"/>
                <a:cs typeface="Calibri"/>
              </a:rPr>
              <a:t>exchange</a:t>
            </a:r>
            <a:r>
              <a:rPr sz="2400" spc="-2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or other</a:t>
            </a:r>
            <a:r>
              <a:rPr sz="2400" dirty="0">
                <a:latin typeface="Times New Roman" pitchFamily="18" charset="0"/>
                <a:cs typeface="Calibri"/>
              </a:rPr>
              <a:t> </a:t>
            </a:r>
            <a:r>
              <a:rPr sz="2400" spc="-15" dirty="0">
                <a:latin typeface="Times New Roman" pitchFamily="18" charset="0"/>
                <a:cs typeface="Calibri"/>
              </a:rPr>
              <a:t>intermediary.</a:t>
            </a:r>
            <a:endParaRPr sz="2400">
              <a:latin typeface="Times New Roman" pitchFamily="18" charset="0"/>
              <a:cs typeface="Calibri"/>
            </a:endParaRPr>
          </a:p>
          <a:p>
            <a:pPr marL="527685" marR="1088390" indent="-515620">
              <a:lnSpc>
                <a:spcPct val="100000"/>
              </a:lnSpc>
              <a:spcBef>
                <a:spcPts val="575"/>
              </a:spcBef>
              <a:buClr>
                <a:srgbClr val="0AD0D9"/>
              </a:buClr>
              <a:buSzPct val="93750"/>
              <a:buFont typeface="Arial MT"/>
              <a:buChar char="•"/>
              <a:tabLst>
                <a:tab pos="527685" algn="l"/>
                <a:tab pos="528320" algn="l"/>
                <a:tab pos="3856354" algn="l"/>
              </a:tabLst>
            </a:pPr>
            <a:r>
              <a:rPr sz="2400" spc="-5" dirty="0">
                <a:latin typeface="Times New Roman" pitchFamily="18" charset="0"/>
                <a:cs typeface="Calibri"/>
              </a:rPr>
              <a:t>The </a:t>
            </a:r>
            <a:r>
              <a:rPr sz="2400" spc="-15" dirty="0">
                <a:latin typeface="Times New Roman" pitchFamily="18" charset="0"/>
                <a:cs typeface="Calibri"/>
              </a:rPr>
              <a:t>contract</a:t>
            </a:r>
            <a:r>
              <a:rPr sz="2400" spc="-25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between </a:t>
            </a:r>
            <a:r>
              <a:rPr sz="2400" dirty="0">
                <a:latin typeface="Times New Roman" pitchFamily="18" charset="0"/>
                <a:cs typeface="Calibri"/>
              </a:rPr>
              <a:t>the	</a:t>
            </a:r>
            <a:r>
              <a:rPr sz="2400" spc="-10" dirty="0">
                <a:latin typeface="Times New Roman" pitchFamily="18" charset="0"/>
                <a:cs typeface="Calibri"/>
              </a:rPr>
              <a:t>two </a:t>
            </a:r>
            <a:r>
              <a:rPr sz="2400" spc="-5" dirty="0">
                <a:latin typeface="Times New Roman" pitchFamily="18" charset="0"/>
                <a:cs typeface="Calibri"/>
              </a:rPr>
              <a:t>parties </a:t>
            </a:r>
            <a:r>
              <a:rPr sz="2400" spc="-15" dirty="0">
                <a:latin typeface="Times New Roman" pitchFamily="18" charset="0"/>
                <a:cs typeface="Calibri"/>
              </a:rPr>
              <a:t>are privately </a:t>
            </a:r>
            <a:r>
              <a:rPr sz="2400" spc="-525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negotiated.</a:t>
            </a:r>
            <a:endParaRPr sz="24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Font typeface="Arial MT"/>
              <a:buChar char="•"/>
            </a:pPr>
            <a:endParaRPr sz="3300">
              <a:latin typeface="Times New Roman" pitchFamily="18" charset="0"/>
              <a:cs typeface="Calibri"/>
            </a:endParaRPr>
          </a:p>
          <a:p>
            <a:pPr marL="594995" indent="-582930">
              <a:lnSpc>
                <a:spcPct val="100000"/>
              </a:lnSpc>
              <a:buClr>
                <a:srgbClr val="0AD0D9"/>
              </a:buClr>
              <a:buSzPct val="93750"/>
              <a:buFont typeface="Arial MT"/>
              <a:buChar char="•"/>
              <a:tabLst>
                <a:tab pos="594995" algn="l"/>
                <a:tab pos="595630" algn="l"/>
              </a:tabLst>
            </a:pPr>
            <a:r>
              <a:rPr sz="2400" spc="-5" dirty="0">
                <a:latin typeface="Times New Roman" pitchFamily="18" charset="0"/>
                <a:cs typeface="Calibri"/>
              </a:rPr>
              <a:t>The</a:t>
            </a:r>
            <a:r>
              <a:rPr sz="2400" spc="5" dirty="0">
                <a:latin typeface="Times New Roman" pitchFamily="18" charset="0"/>
                <a:cs typeface="Calibri"/>
              </a:rPr>
              <a:t> </a:t>
            </a:r>
            <a:r>
              <a:rPr sz="2400" spc="-15" dirty="0">
                <a:latin typeface="Times New Roman" pitchFamily="18" charset="0"/>
                <a:cs typeface="Calibri"/>
              </a:rPr>
              <a:t>contract</a:t>
            </a:r>
            <a:r>
              <a:rPr sz="2400" spc="-25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can</a:t>
            </a:r>
            <a:r>
              <a:rPr sz="240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be</a:t>
            </a:r>
            <a:r>
              <a:rPr sz="2400" spc="5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tailor-made</a:t>
            </a:r>
            <a:r>
              <a:rPr sz="2400" spc="-20" dirty="0">
                <a:latin typeface="Times New Roman" pitchFamily="18" charset="0"/>
                <a:cs typeface="Calibri"/>
              </a:rPr>
              <a:t> </a:t>
            </a:r>
            <a:r>
              <a:rPr sz="2400" spc="-15" dirty="0">
                <a:latin typeface="Times New Roman" pitchFamily="18" charset="0"/>
                <a:cs typeface="Calibri"/>
              </a:rPr>
              <a:t>to</a:t>
            </a:r>
            <a:r>
              <a:rPr sz="2400" spc="-10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the</a:t>
            </a:r>
            <a:r>
              <a:rPr sz="2400" spc="-5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two </a:t>
            </a:r>
            <a:r>
              <a:rPr sz="2400" spc="-5" dirty="0">
                <a:latin typeface="Times New Roman" pitchFamily="18" charset="0"/>
                <a:cs typeface="Calibri"/>
              </a:rPr>
              <a:t>parties’ liking.</a:t>
            </a:r>
            <a:endParaRPr sz="24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Font typeface="Arial MT"/>
              <a:buChar char="•"/>
            </a:pPr>
            <a:endParaRPr sz="3300">
              <a:latin typeface="Times New Roman" pitchFamily="18" charset="0"/>
              <a:cs typeface="Calibri"/>
            </a:endParaRPr>
          </a:p>
          <a:p>
            <a:pPr marL="527685" marR="441959" indent="-515620">
              <a:lnSpc>
                <a:spcPct val="100000"/>
              </a:lnSpc>
              <a:buClr>
                <a:srgbClr val="0AD0D9"/>
              </a:buClr>
              <a:buSzPct val="93750"/>
              <a:buFont typeface="Arial MT"/>
              <a:buChar char="•"/>
              <a:tabLst>
                <a:tab pos="527685" algn="l"/>
                <a:tab pos="528320" algn="l"/>
              </a:tabLst>
            </a:pPr>
            <a:r>
              <a:rPr sz="2400" spc="-10" dirty="0">
                <a:latin typeface="Times New Roman" pitchFamily="18" charset="0"/>
                <a:cs typeface="Calibri"/>
              </a:rPr>
              <a:t>Over-the-counter </a:t>
            </a:r>
            <a:r>
              <a:rPr sz="2400" spc="-15" dirty="0">
                <a:latin typeface="Times New Roman" pitchFamily="18" charset="0"/>
                <a:cs typeface="Calibri"/>
              </a:rPr>
              <a:t>markets are </a:t>
            </a:r>
            <a:r>
              <a:rPr sz="2400" spc="-10" dirty="0">
                <a:latin typeface="Times New Roman" pitchFamily="18" charset="0"/>
                <a:cs typeface="Calibri"/>
              </a:rPr>
              <a:t>uncontrolled, unregulated </a:t>
            </a:r>
            <a:r>
              <a:rPr sz="2400" spc="-530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and</a:t>
            </a:r>
            <a:r>
              <a:rPr sz="2400" spc="-20" dirty="0">
                <a:latin typeface="Times New Roman" pitchFamily="18" charset="0"/>
                <a:cs typeface="Calibri"/>
              </a:rPr>
              <a:t> have</a:t>
            </a:r>
            <a:r>
              <a:rPr sz="240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very</a:t>
            </a:r>
            <a:r>
              <a:rPr sz="2400" dirty="0">
                <a:latin typeface="Times New Roman" pitchFamily="18" charset="0"/>
                <a:cs typeface="Calibri"/>
              </a:rPr>
              <a:t> </a:t>
            </a:r>
            <a:r>
              <a:rPr sz="2400" spc="-20" dirty="0">
                <a:latin typeface="Times New Roman" pitchFamily="18" charset="0"/>
                <a:cs typeface="Calibri"/>
              </a:rPr>
              <a:t>few</a:t>
            </a:r>
            <a:r>
              <a:rPr sz="2400" spc="-15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laws.</a:t>
            </a:r>
            <a:r>
              <a:rPr sz="2400" spc="-25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Its</a:t>
            </a:r>
            <a:r>
              <a:rPr sz="2400" spc="-10" dirty="0">
                <a:latin typeface="Times New Roman" pitchFamily="18" charset="0"/>
                <a:cs typeface="Calibri"/>
              </a:rPr>
              <a:t> more</a:t>
            </a:r>
            <a:r>
              <a:rPr sz="2400" spc="-15" dirty="0">
                <a:latin typeface="Times New Roman" pitchFamily="18" charset="0"/>
                <a:cs typeface="Calibri"/>
              </a:rPr>
              <a:t> </a:t>
            </a:r>
            <a:r>
              <a:rPr sz="2400" spc="-20" dirty="0">
                <a:latin typeface="Times New Roman" pitchFamily="18" charset="0"/>
                <a:cs typeface="Calibri"/>
              </a:rPr>
              <a:t>like</a:t>
            </a:r>
            <a:r>
              <a:rPr sz="2400" spc="-10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a</a:t>
            </a:r>
            <a:r>
              <a:rPr sz="2400" spc="-5" dirty="0">
                <a:latin typeface="Times New Roman" pitchFamily="18" charset="0"/>
                <a:cs typeface="Calibri"/>
              </a:rPr>
              <a:t> </a:t>
            </a:r>
            <a:r>
              <a:rPr sz="2400" spc="-15" dirty="0">
                <a:latin typeface="Times New Roman" pitchFamily="18" charset="0"/>
                <a:cs typeface="Calibri"/>
              </a:rPr>
              <a:t>freefall.</a:t>
            </a:r>
            <a:endParaRPr sz="24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30" y="0"/>
            <a:ext cx="9146540" cy="6858000"/>
            <a:chOff x="-1030" y="0"/>
            <a:chExt cx="914654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46"/>
              <a:ext cx="9144000" cy="10274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0007" y="0"/>
              <a:ext cx="4743992" cy="6000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091760" cy="10214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1030" y="50926"/>
              <a:ext cx="9146173" cy="90474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35940" y="320802"/>
            <a:ext cx="7522209" cy="5306453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dirty="0">
                <a:latin typeface="Times New Roman" pitchFamily="18" charset="0"/>
                <a:cs typeface="Calibri"/>
              </a:rPr>
              <a:t>2.</a:t>
            </a:r>
            <a:r>
              <a:rPr sz="2400" b="1" spc="-35" dirty="0">
                <a:latin typeface="Times New Roman" pitchFamily="18" charset="0"/>
                <a:cs typeface="Calibri"/>
              </a:rPr>
              <a:t> </a:t>
            </a:r>
            <a:r>
              <a:rPr sz="2400" b="1" spc="-15" dirty="0">
                <a:latin typeface="Times New Roman" pitchFamily="18" charset="0"/>
                <a:cs typeface="Calibri"/>
              </a:rPr>
              <a:t>Exchange-traded</a:t>
            </a:r>
            <a:r>
              <a:rPr sz="2400" b="1" spc="-10" dirty="0">
                <a:latin typeface="Times New Roman" pitchFamily="18" charset="0"/>
                <a:cs typeface="Calibri"/>
              </a:rPr>
              <a:t> Derivatives</a:t>
            </a:r>
            <a:endParaRPr sz="2400">
              <a:latin typeface="Times New Roman" pitchFamily="18" charset="0"/>
              <a:cs typeface="Calibri"/>
            </a:endParaRPr>
          </a:p>
          <a:p>
            <a:pPr marL="12700" marR="293370">
              <a:lnSpc>
                <a:spcPct val="120000"/>
              </a:lnSpc>
              <a:spcBef>
                <a:spcPts val="5"/>
              </a:spcBef>
              <a:buClr>
                <a:srgbClr val="0AD0D9"/>
              </a:buClr>
              <a:buSzPct val="93750"/>
              <a:buFont typeface="Segoe UI Symbol"/>
              <a:buChar char="⚫"/>
              <a:tabLst>
                <a:tab pos="287020" algn="l"/>
              </a:tabLst>
            </a:pPr>
            <a:r>
              <a:rPr sz="2400" spc="-10" dirty="0">
                <a:latin typeface="Times New Roman" pitchFamily="18" charset="0"/>
                <a:cs typeface="Calibri"/>
              </a:rPr>
              <a:t>Exchange traded </a:t>
            </a:r>
            <a:r>
              <a:rPr sz="2400" spc="-15" dirty="0">
                <a:latin typeface="Times New Roman" pitchFamily="18" charset="0"/>
                <a:cs typeface="Calibri"/>
              </a:rPr>
              <a:t>derivatives contract </a:t>
            </a:r>
            <a:r>
              <a:rPr sz="2400" spc="-5" dirty="0">
                <a:latin typeface="Times New Roman" pitchFamily="18" charset="0"/>
                <a:cs typeface="Calibri"/>
              </a:rPr>
              <a:t>(ETD) </a:t>
            </a:r>
            <a:r>
              <a:rPr sz="2400" spc="-15" dirty="0">
                <a:latin typeface="Times New Roman" pitchFamily="18" charset="0"/>
                <a:cs typeface="Calibri"/>
              </a:rPr>
              <a:t>are </a:t>
            </a:r>
            <a:r>
              <a:rPr sz="2400" dirty="0">
                <a:latin typeface="Times New Roman" pitchFamily="18" charset="0"/>
                <a:cs typeface="Calibri"/>
              </a:rPr>
              <a:t>those </a:t>
            </a:r>
            <a:r>
              <a:rPr sz="2400" spc="5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derivatives </a:t>
            </a:r>
            <a:r>
              <a:rPr sz="2400" spc="-5" dirty="0">
                <a:latin typeface="Times New Roman" pitchFamily="18" charset="0"/>
                <a:cs typeface="Calibri"/>
              </a:rPr>
              <a:t>instruments </a:t>
            </a:r>
            <a:r>
              <a:rPr sz="2400" spc="-10" dirty="0">
                <a:latin typeface="Times New Roman" pitchFamily="18" charset="0"/>
                <a:cs typeface="Calibri"/>
              </a:rPr>
              <a:t>that </a:t>
            </a:r>
            <a:r>
              <a:rPr sz="2400" spc="-15" dirty="0">
                <a:latin typeface="Times New Roman" pitchFamily="18" charset="0"/>
                <a:cs typeface="Calibri"/>
              </a:rPr>
              <a:t>are </a:t>
            </a:r>
            <a:r>
              <a:rPr sz="2400" spc="-10" dirty="0">
                <a:latin typeface="Times New Roman" pitchFamily="18" charset="0"/>
                <a:cs typeface="Calibri"/>
              </a:rPr>
              <a:t>traded </a:t>
            </a:r>
            <a:r>
              <a:rPr sz="2400" dirty="0">
                <a:latin typeface="Times New Roman" pitchFamily="18" charset="0"/>
                <a:cs typeface="Calibri"/>
              </a:rPr>
              <a:t>via </a:t>
            </a:r>
            <a:r>
              <a:rPr sz="2400" spc="-10" dirty="0">
                <a:latin typeface="Times New Roman" pitchFamily="18" charset="0"/>
                <a:cs typeface="Calibri"/>
              </a:rPr>
              <a:t>specialized </a:t>
            </a:r>
            <a:r>
              <a:rPr sz="2400" spc="-5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Derivatives </a:t>
            </a:r>
            <a:r>
              <a:rPr sz="2400" spc="-15" dirty="0">
                <a:latin typeface="Times New Roman" pitchFamily="18" charset="0"/>
                <a:cs typeface="Calibri"/>
              </a:rPr>
              <a:t>exchange </a:t>
            </a:r>
            <a:r>
              <a:rPr sz="2400" spc="-5" dirty="0">
                <a:latin typeface="Times New Roman" pitchFamily="18" charset="0"/>
                <a:cs typeface="Calibri"/>
              </a:rPr>
              <a:t>or other </a:t>
            </a:r>
            <a:r>
              <a:rPr sz="2400" spc="-15" dirty="0">
                <a:latin typeface="Times New Roman" pitchFamily="18" charset="0"/>
                <a:cs typeface="Calibri"/>
              </a:rPr>
              <a:t>exchanges. </a:t>
            </a:r>
            <a:r>
              <a:rPr sz="2400" dirty="0">
                <a:latin typeface="Times New Roman" pitchFamily="18" charset="0"/>
                <a:cs typeface="Calibri"/>
              </a:rPr>
              <a:t>A </a:t>
            </a:r>
            <a:r>
              <a:rPr sz="2400" spc="-10" dirty="0">
                <a:latin typeface="Times New Roman" pitchFamily="18" charset="0"/>
                <a:cs typeface="Calibri"/>
              </a:rPr>
              <a:t>derivatives </a:t>
            </a:r>
            <a:r>
              <a:rPr sz="2400" spc="-5" dirty="0">
                <a:latin typeface="Times New Roman" pitchFamily="18" charset="0"/>
                <a:cs typeface="Calibri"/>
              </a:rPr>
              <a:t> </a:t>
            </a:r>
            <a:r>
              <a:rPr sz="2400" spc="-15" dirty="0">
                <a:latin typeface="Times New Roman" pitchFamily="18" charset="0"/>
                <a:cs typeface="Calibri"/>
              </a:rPr>
              <a:t>exchange </a:t>
            </a:r>
            <a:r>
              <a:rPr sz="2400" dirty="0">
                <a:latin typeface="Times New Roman" pitchFamily="18" charset="0"/>
                <a:cs typeface="Calibri"/>
              </a:rPr>
              <a:t>is a </a:t>
            </a:r>
            <a:r>
              <a:rPr sz="2400" spc="-15" dirty="0">
                <a:latin typeface="Times New Roman" pitchFamily="18" charset="0"/>
                <a:cs typeface="Calibri"/>
              </a:rPr>
              <a:t>market </a:t>
            </a:r>
            <a:r>
              <a:rPr sz="2400" spc="-10" dirty="0">
                <a:latin typeface="Times New Roman" pitchFamily="18" charset="0"/>
                <a:cs typeface="Calibri"/>
              </a:rPr>
              <a:t>where </a:t>
            </a:r>
            <a:r>
              <a:rPr sz="2400" dirty="0">
                <a:latin typeface="Times New Roman" pitchFamily="18" charset="0"/>
                <a:cs typeface="Calibri"/>
              </a:rPr>
              <a:t>individuals </a:t>
            </a:r>
            <a:r>
              <a:rPr sz="2400" spc="-10" dirty="0">
                <a:latin typeface="Times New Roman" pitchFamily="18" charset="0"/>
                <a:cs typeface="Calibri"/>
              </a:rPr>
              <a:t>trade </a:t>
            </a:r>
            <a:r>
              <a:rPr sz="2400" spc="-15" dirty="0">
                <a:latin typeface="Times New Roman" pitchFamily="18" charset="0"/>
                <a:cs typeface="Calibri"/>
              </a:rPr>
              <a:t>standardized </a:t>
            </a:r>
            <a:r>
              <a:rPr sz="2400" spc="-530" dirty="0">
                <a:latin typeface="Times New Roman" pitchFamily="18" charset="0"/>
                <a:cs typeface="Calibri"/>
              </a:rPr>
              <a:t> </a:t>
            </a:r>
            <a:r>
              <a:rPr sz="2400" spc="-15" dirty="0">
                <a:latin typeface="Times New Roman" pitchFamily="18" charset="0"/>
                <a:cs typeface="Calibri"/>
              </a:rPr>
              <a:t>contracts</a:t>
            </a:r>
            <a:r>
              <a:rPr sz="2400" spc="-45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that</a:t>
            </a:r>
            <a:r>
              <a:rPr sz="2400" dirty="0">
                <a:latin typeface="Times New Roman" pitchFamily="18" charset="0"/>
                <a:cs typeface="Calibri"/>
              </a:rPr>
              <a:t> </a:t>
            </a:r>
            <a:r>
              <a:rPr sz="2400" spc="-20" dirty="0">
                <a:latin typeface="Times New Roman" pitchFamily="18" charset="0"/>
                <a:cs typeface="Calibri"/>
              </a:rPr>
              <a:t>have</a:t>
            </a:r>
            <a:r>
              <a:rPr sz="240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been</a:t>
            </a:r>
            <a:r>
              <a:rPr sz="2400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defined</a:t>
            </a:r>
            <a:r>
              <a:rPr sz="2400" spc="10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by</a:t>
            </a:r>
            <a:r>
              <a:rPr sz="2400" spc="5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the</a:t>
            </a:r>
            <a:r>
              <a:rPr sz="2400" spc="-10" dirty="0">
                <a:latin typeface="Times New Roman" pitchFamily="18" charset="0"/>
                <a:cs typeface="Calibri"/>
              </a:rPr>
              <a:t> </a:t>
            </a:r>
            <a:r>
              <a:rPr sz="2400" spc="-15" dirty="0">
                <a:latin typeface="Times New Roman" pitchFamily="18" charset="0"/>
                <a:cs typeface="Calibri"/>
              </a:rPr>
              <a:t>exchange.</a:t>
            </a:r>
            <a:endParaRPr sz="24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AD0D9"/>
              </a:buClr>
              <a:buFont typeface="Segoe UI Symbol"/>
              <a:buChar char="⚫"/>
            </a:pPr>
            <a:endParaRPr sz="2800">
              <a:latin typeface="Times New Roman" pitchFamily="18" charset="0"/>
              <a:cs typeface="Calibri"/>
            </a:endParaRPr>
          </a:p>
          <a:p>
            <a:pPr marL="12700" marR="268605">
              <a:lnSpc>
                <a:spcPct val="120100"/>
              </a:lnSpc>
              <a:buClr>
                <a:srgbClr val="0AD0D9"/>
              </a:buClr>
              <a:buSzPct val="93750"/>
              <a:buFont typeface="Segoe UI Symbol"/>
              <a:buChar char="⚫"/>
              <a:tabLst>
                <a:tab pos="287020" algn="l"/>
              </a:tabLst>
            </a:pPr>
            <a:r>
              <a:rPr sz="2400" spc="-5" dirty="0">
                <a:latin typeface="Times New Roman" pitchFamily="18" charset="0"/>
                <a:cs typeface="Calibri"/>
              </a:rPr>
              <a:t>The</a:t>
            </a:r>
            <a:r>
              <a:rPr sz="2400" spc="-10" dirty="0">
                <a:latin typeface="Times New Roman" pitchFamily="18" charset="0"/>
                <a:cs typeface="Calibri"/>
              </a:rPr>
              <a:t> world's</a:t>
            </a:r>
            <a:r>
              <a:rPr sz="2400" spc="-25" dirty="0">
                <a:latin typeface="Times New Roman" pitchFamily="18" charset="0"/>
                <a:cs typeface="Calibri"/>
              </a:rPr>
              <a:t> </a:t>
            </a:r>
            <a:r>
              <a:rPr sz="2400" spc="-15" dirty="0">
                <a:latin typeface="Times New Roman" pitchFamily="18" charset="0"/>
                <a:cs typeface="Calibri"/>
              </a:rPr>
              <a:t>largest</a:t>
            </a:r>
            <a:r>
              <a:rPr sz="2400" spc="365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derivatives</a:t>
            </a:r>
            <a:r>
              <a:rPr sz="2400" spc="-5" dirty="0">
                <a:latin typeface="Times New Roman" pitchFamily="18" charset="0"/>
                <a:cs typeface="Calibri"/>
              </a:rPr>
              <a:t> </a:t>
            </a:r>
            <a:r>
              <a:rPr sz="2400" spc="-15" dirty="0">
                <a:latin typeface="Times New Roman" pitchFamily="18" charset="0"/>
                <a:cs typeface="Calibri"/>
              </a:rPr>
              <a:t>exchanges </a:t>
            </a:r>
            <a:r>
              <a:rPr sz="2400" spc="-5" dirty="0">
                <a:latin typeface="Times New Roman" pitchFamily="18" charset="0"/>
                <a:cs typeface="Calibri"/>
              </a:rPr>
              <a:t>(by</a:t>
            </a:r>
            <a:r>
              <a:rPr sz="2400" spc="-2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number of </a:t>
            </a:r>
            <a:r>
              <a:rPr sz="2400" spc="-525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transactions)</a:t>
            </a:r>
            <a:r>
              <a:rPr sz="2400" spc="-50" dirty="0">
                <a:latin typeface="Times New Roman" pitchFamily="18" charset="0"/>
                <a:cs typeface="Calibri"/>
              </a:rPr>
              <a:t> </a:t>
            </a:r>
            <a:r>
              <a:rPr sz="2400" spc="-15" dirty="0">
                <a:latin typeface="Times New Roman" pitchFamily="18" charset="0"/>
                <a:cs typeface="Calibri"/>
              </a:rPr>
              <a:t>are</a:t>
            </a:r>
            <a:r>
              <a:rPr sz="2400" dirty="0">
                <a:latin typeface="Times New Roman" pitchFamily="18" charset="0"/>
                <a:cs typeface="Calibri"/>
              </a:rPr>
              <a:t> the</a:t>
            </a:r>
            <a:r>
              <a:rPr sz="2400" spc="-5" dirty="0">
                <a:latin typeface="Times New Roman" pitchFamily="18" charset="0"/>
                <a:cs typeface="Calibri"/>
              </a:rPr>
              <a:t> </a:t>
            </a:r>
            <a:r>
              <a:rPr sz="2400" b="1" spc="-15" dirty="0">
                <a:latin typeface="Times New Roman" pitchFamily="18" charset="0"/>
                <a:cs typeface="Calibri"/>
              </a:rPr>
              <a:t>Korea Exchange.</a:t>
            </a:r>
            <a:endParaRPr sz="24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AD0D9"/>
              </a:buClr>
              <a:buFont typeface="Segoe UI Symbol"/>
              <a:buChar char="⚫"/>
            </a:pPr>
            <a:endParaRPr sz="2800">
              <a:latin typeface="Times New Roman" pitchFamily="18" charset="0"/>
              <a:cs typeface="Calibri"/>
            </a:endParaRPr>
          </a:p>
          <a:p>
            <a:pPr marL="12700" marR="5080">
              <a:lnSpc>
                <a:spcPct val="120100"/>
              </a:lnSpc>
              <a:buClr>
                <a:srgbClr val="0AD0D9"/>
              </a:buClr>
              <a:buSzPct val="93750"/>
              <a:buFont typeface="Segoe UI Symbol"/>
              <a:buChar char="⚫"/>
              <a:tabLst>
                <a:tab pos="287020" algn="l"/>
              </a:tabLst>
            </a:pPr>
            <a:r>
              <a:rPr sz="2400" spc="-10" dirty="0">
                <a:latin typeface="Times New Roman" pitchFamily="18" charset="0"/>
                <a:cs typeface="Calibri"/>
              </a:rPr>
              <a:t>There </a:t>
            </a:r>
            <a:r>
              <a:rPr sz="2400" dirty="0">
                <a:latin typeface="Times New Roman" pitchFamily="18" charset="0"/>
                <a:cs typeface="Calibri"/>
              </a:rPr>
              <a:t>is a </a:t>
            </a:r>
            <a:r>
              <a:rPr sz="2400" spc="-5" dirty="0">
                <a:latin typeface="Times New Roman" pitchFamily="18" charset="0"/>
                <a:cs typeface="Calibri"/>
              </a:rPr>
              <a:t>very </a:t>
            </a:r>
            <a:r>
              <a:rPr sz="2400" dirty="0">
                <a:latin typeface="Times New Roman" pitchFamily="18" charset="0"/>
                <a:cs typeface="Calibri"/>
              </a:rPr>
              <a:t>visible and </a:t>
            </a:r>
            <a:r>
              <a:rPr sz="2400" spc="-10" dirty="0">
                <a:latin typeface="Times New Roman" pitchFamily="18" charset="0"/>
                <a:cs typeface="Calibri"/>
              </a:rPr>
              <a:t>transparent </a:t>
            </a:r>
            <a:r>
              <a:rPr sz="2400" spc="-15" dirty="0">
                <a:latin typeface="Times New Roman" pitchFamily="18" charset="0"/>
                <a:cs typeface="Calibri"/>
              </a:rPr>
              <a:t>market </a:t>
            </a:r>
            <a:r>
              <a:rPr sz="2400" spc="-5" dirty="0">
                <a:latin typeface="Times New Roman" pitchFamily="18" charset="0"/>
                <a:cs typeface="Calibri"/>
              </a:rPr>
              <a:t>price </a:t>
            </a:r>
            <a:r>
              <a:rPr sz="2400" spc="-20" dirty="0">
                <a:latin typeface="Times New Roman" pitchFamily="18" charset="0"/>
                <a:cs typeface="Calibri"/>
              </a:rPr>
              <a:t>for </a:t>
            </a:r>
            <a:r>
              <a:rPr sz="2400" dirty="0">
                <a:latin typeface="Times New Roman" pitchFamily="18" charset="0"/>
                <a:cs typeface="Calibri"/>
              </a:rPr>
              <a:t>the </a:t>
            </a:r>
            <a:r>
              <a:rPr sz="2400" spc="-530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derivatives.</a:t>
            </a:r>
            <a:endParaRPr sz="24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3910" y="784606"/>
            <a:ext cx="4995545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What</a:t>
            </a:r>
            <a:r>
              <a:rPr spc="-45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spc="-30" dirty="0"/>
              <a:t>Forward?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947418"/>
            <a:ext cx="8045450" cy="39068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 pitchFamily="18" charset="0"/>
                <a:cs typeface="Calibri"/>
              </a:rPr>
              <a:t>A</a:t>
            </a:r>
            <a:r>
              <a:rPr sz="2600" spc="-20" dirty="0">
                <a:latin typeface="Times New Roman" pitchFamily="18" charset="0"/>
                <a:cs typeface="Calibri"/>
              </a:rPr>
              <a:t> forward</a:t>
            </a:r>
            <a:r>
              <a:rPr sz="2600" spc="-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is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a </a:t>
            </a:r>
            <a:r>
              <a:rPr sz="2600" spc="-15" dirty="0">
                <a:latin typeface="Times New Roman" pitchFamily="18" charset="0"/>
                <a:cs typeface="Calibri"/>
              </a:rPr>
              <a:t>contract</a:t>
            </a:r>
            <a:r>
              <a:rPr sz="2600" dirty="0">
                <a:latin typeface="Times New Roman" pitchFamily="18" charset="0"/>
                <a:cs typeface="Calibri"/>
              </a:rPr>
              <a:t> in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which</a:t>
            </a:r>
            <a:r>
              <a:rPr sz="2600" spc="-2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one party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commits</a:t>
            </a:r>
            <a:r>
              <a:rPr sz="2600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to</a:t>
            </a:r>
            <a:r>
              <a:rPr sz="2600" spc="-5" dirty="0">
                <a:latin typeface="Times New Roman" pitchFamily="18" charset="0"/>
                <a:cs typeface="Calibri"/>
              </a:rPr>
              <a:t> buy </a:t>
            </a:r>
            <a:r>
              <a:rPr sz="2600" spc="-57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and</a:t>
            </a:r>
            <a:r>
              <a:rPr sz="2600" spc="4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the</a:t>
            </a:r>
            <a:r>
              <a:rPr sz="2600" spc="6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other</a:t>
            </a:r>
            <a:r>
              <a:rPr sz="2600" spc="5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party</a:t>
            </a:r>
            <a:r>
              <a:rPr sz="2600" spc="7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commits</a:t>
            </a:r>
            <a:r>
              <a:rPr sz="2600" spc="55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to</a:t>
            </a:r>
            <a:r>
              <a:rPr sz="2600" spc="6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sell</a:t>
            </a:r>
            <a:r>
              <a:rPr sz="2600" spc="4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a</a:t>
            </a:r>
            <a:r>
              <a:rPr sz="2600" spc="7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specified</a:t>
            </a:r>
            <a:r>
              <a:rPr sz="2600" spc="3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quantity </a:t>
            </a:r>
            <a:r>
              <a:rPr sz="260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of </a:t>
            </a:r>
            <a:r>
              <a:rPr sz="2600" dirty="0">
                <a:latin typeface="Times New Roman" pitchFamily="18" charset="0"/>
                <a:cs typeface="Calibri"/>
              </a:rPr>
              <a:t>an </a:t>
            </a:r>
            <a:r>
              <a:rPr sz="2600" spc="-5" dirty="0">
                <a:latin typeface="Times New Roman" pitchFamily="18" charset="0"/>
                <a:cs typeface="Calibri"/>
              </a:rPr>
              <a:t>agreed upon asset </a:t>
            </a:r>
            <a:r>
              <a:rPr sz="2600" spc="-25" dirty="0">
                <a:latin typeface="Times New Roman" pitchFamily="18" charset="0"/>
                <a:cs typeface="Calibri"/>
              </a:rPr>
              <a:t>for </a:t>
            </a:r>
            <a:r>
              <a:rPr sz="2600" dirty="0">
                <a:latin typeface="Times New Roman" pitchFamily="18" charset="0"/>
                <a:cs typeface="Calibri"/>
              </a:rPr>
              <a:t>a </a:t>
            </a:r>
            <a:r>
              <a:rPr sz="2600" spc="-5" dirty="0">
                <a:latin typeface="Times New Roman" pitchFamily="18" charset="0"/>
                <a:cs typeface="Calibri"/>
              </a:rPr>
              <a:t>pre-determined price </a:t>
            </a:r>
            <a:r>
              <a:rPr sz="2600" spc="-15" dirty="0">
                <a:latin typeface="Times New Roman" pitchFamily="18" charset="0"/>
                <a:cs typeface="Calibri"/>
              </a:rPr>
              <a:t>at </a:t>
            </a:r>
            <a:r>
              <a:rPr sz="2600" dirty="0">
                <a:latin typeface="Times New Roman" pitchFamily="18" charset="0"/>
                <a:cs typeface="Calibri"/>
              </a:rPr>
              <a:t>a 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specific</a:t>
            </a:r>
            <a:r>
              <a:rPr sz="2600" spc="-50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date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in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the</a:t>
            </a:r>
            <a:r>
              <a:rPr sz="2600" spc="-10" dirty="0">
                <a:latin typeface="Times New Roman" pitchFamily="18" charset="0"/>
                <a:cs typeface="Calibri"/>
              </a:rPr>
              <a:t> future.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AD0D9"/>
              </a:buClr>
              <a:buFont typeface="Segoe UI Symbol"/>
              <a:buChar char="⚫"/>
            </a:pPr>
            <a:endParaRPr sz="3550">
              <a:latin typeface="Times New Roman" pitchFamily="18" charset="0"/>
              <a:cs typeface="Calibri"/>
            </a:endParaRPr>
          </a:p>
          <a:p>
            <a:pPr marL="286385" marR="146050" indent="-274320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 pitchFamily="18" charset="0"/>
                <a:cs typeface="Calibri"/>
              </a:rPr>
              <a:t>It</a:t>
            </a:r>
            <a:r>
              <a:rPr sz="2600" spc="-2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is</a:t>
            </a:r>
            <a:r>
              <a:rPr sz="2600" spc="-1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a</a:t>
            </a:r>
            <a:r>
              <a:rPr sz="2600" spc="-5" dirty="0">
                <a:latin typeface="Times New Roman" pitchFamily="18" charset="0"/>
                <a:cs typeface="Calibri"/>
              </a:rPr>
              <a:t> customised</a:t>
            </a:r>
            <a:r>
              <a:rPr sz="2600" spc="-3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contract,</a:t>
            </a:r>
            <a:r>
              <a:rPr sz="2600" spc="-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in</a:t>
            </a:r>
            <a:r>
              <a:rPr sz="2600" spc="-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the</a:t>
            </a:r>
            <a:r>
              <a:rPr sz="2600" spc="-1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sense</a:t>
            </a:r>
            <a:r>
              <a:rPr sz="2600" spc="-4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that</a:t>
            </a:r>
            <a:r>
              <a:rPr sz="2600" spc="-1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the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terms</a:t>
            </a:r>
            <a:r>
              <a:rPr sz="2600" spc="-3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of </a:t>
            </a:r>
            <a:r>
              <a:rPr sz="2600" spc="-57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the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contract</a:t>
            </a:r>
            <a:r>
              <a:rPr sz="2600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are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agreed</a:t>
            </a:r>
            <a:r>
              <a:rPr sz="2600" spc="-2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upon</a:t>
            </a:r>
            <a:r>
              <a:rPr sz="2600" spc="-10" dirty="0">
                <a:latin typeface="Times New Roman" pitchFamily="18" charset="0"/>
                <a:cs typeface="Calibri"/>
              </a:rPr>
              <a:t> by</a:t>
            </a:r>
            <a:r>
              <a:rPr sz="2600" dirty="0">
                <a:latin typeface="Times New Roman" pitchFamily="18" charset="0"/>
                <a:cs typeface="Calibri"/>
              </a:rPr>
              <a:t> the</a:t>
            </a:r>
            <a:r>
              <a:rPr sz="2600" spc="-3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individual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parties.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AD0D9"/>
              </a:buClr>
              <a:buFont typeface="Segoe UI Symbol"/>
              <a:buChar char="⚫"/>
            </a:pPr>
            <a:endParaRPr sz="3550">
              <a:latin typeface="Times New Roman" pitchFamily="18" charset="0"/>
              <a:cs typeface="Calibri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5" dirty="0">
                <a:latin typeface="Times New Roman" pitchFamily="18" charset="0"/>
                <a:cs typeface="Calibri"/>
              </a:rPr>
              <a:t>Hence,</a:t>
            </a:r>
            <a:r>
              <a:rPr sz="2600" spc="-6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it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is</a:t>
            </a:r>
            <a:r>
              <a:rPr sz="2600" spc="-5" dirty="0">
                <a:latin typeface="Times New Roman" pitchFamily="18" charset="0"/>
                <a:cs typeface="Calibri"/>
              </a:rPr>
              <a:t> traded</a:t>
            </a:r>
            <a:r>
              <a:rPr sz="2600" spc="-40" dirty="0">
                <a:latin typeface="Times New Roman" pitchFamily="18" charset="0"/>
                <a:cs typeface="Calibri"/>
              </a:rPr>
              <a:t> </a:t>
            </a:r>
            <a:r>
              <a:rPr sz="2600" spc="-35" dirty="0">
                <a:latin typeface="Times New Roman" pitchFamily="18" charset="0"/>
                <a:cs typeface="Calibri"/>
              </a:rPr>
              <a:t>OTC.</a:t>
            </a:r>
            <a:endParaRPr sz="26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30" y="0"/>
            <a:ext cx="9146540" cy="6858000"/>
            <a:chOff x="-1030" y="0"/>
            <a:chExt cx="914654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46"/>
              <a:ext cx="9144000" cy="10274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0007" y="0"/>
              <a:ext cx="4743992" cy="6000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091760" cy="10214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1030" y="50926"/>
              <a:ext cx="9146173" cy="90474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153464" y="708406"/>
            <a:ext cx="6836409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-30" dirty="0"/>
              <a:t>Forward</a:t>
            </a:r>
            <a:r>
              <a:rPr sz="4800" spc="-20" dirty="0"/>
              <a:t> </a:t>
            </a:r>
            <a:r>
              <a:rPr sz="4800" spc="-25" dirty="0"/>
              <a:t>Contract</a:t>
            </a:r>
            <a:r>
              <a:rPr sz="4800" spc="-40" dirty="0"/>
              <a:t> </a:t>
            </a:r>
            <a:r>
              <a:rPr sz="4800" spc="-15" dirty="0"/>
              <a:t>Example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3291840" y="1559052"/>
            <a:ext cx="2580640" cy="2105025"/>
            <a:chOff x="3291840" y="1559052"/>
            <a:chExt cx="2580640" cy="2105025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91840" y="1559052"/>
              <a:ext cx="2560319" cy="21046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36036" y="1744980"/>
              <a:ext cx="2535936" cy="163982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352800" y="1600200"/>
            <a:ext cx="2438400" cy="1719060"/>
          </a:xfrm>
          <a:prstGeom prst="rect">
            <a:avLst/>
          </a:prstGeom>
          <a:solidFill>
            <a:srgbClr val="0AD0D9"/>
          </a:solidFill>
          <a:ln w="38100">
            <a:solidFill>
              <a:srgbClr val="FFFFFF"/>
            </a:solidFill>
          </a:ln>
        </p:spPr>
        <p:txBody>
          <a:bodyPr vert="horz" wrap="square" lIns="0" tIns="239395" rIns="0" bIns="0" rtlCol="0">
            <a:spAutoFit/>
          </a:bodyPr>
          <a:lstStyle/>
          <a:p>
            <a:pPr marL="209550" marR="202565" indent="-1270" algn="ctr">
              <a:lnSpc>
                <a:spcPct val="100000"/>
              </a:lnSpc>
              <a:spcBef>
                <a:spcPts val="1885"/>
              </a:spcBef>
            </a:pPr>
            <a:r>
              <a:rPr sz="2400" dirty="0">
                <a:latin typeface="Times New Roman" pitchFamily="18" charset="0"/>
                <a:cs typeface="Calibri"/>
              </a:rPr>
              <a:t>I </a:t>
            </a:r>
            <a:r>
              <a:rPr sz="2400" spc="-10" dirty="0">
                <a:latin typeface="Times New Roman" pitchFamily="18" charset="0"/>
                <a:cs typeface="Calibri"/>
              </a:rPr>
              <a:t>agree </a:t>
            </a:r>
            <a:r>
              <a:rPr sz="2400" spc="-15" dirty="0">
                <a:latin typeface="Times New Roman" pitchFamily="18" charset="0"/>
                <a:cs typeface="Calibri"/>
              </a:rPr>
              <a:t>to </a:t>
            </a:r>
            <a:r>
              <a:rPr sz="2400" spc="-5" dirty="0">
                <a:latin typeface="Times New Roman" pitchFamily="18" charset="0"/>
                <a:cs typeface="Calibri"/>
              </a:rPr>
              <a:t>sell </a:t>
            </a:r>
            <a:r>
              <a:rPr sz="240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500kgs</a:t>
            </a:r>
            <a:r>
              <a:rPr sz="2400" spc="-75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wheat</a:t>
            </a:r>
            <a:r>
              <a:rPr sz="2400" spc="-40" dirty="0">
                <a:latin typeface="Times New Roman" pitchFamily="18" charset="0"/>
                <a:cs typeface="Calibri"/>
              </a:rPr>
              <a:t> </a:t>
            </a:r>
            <a:r>
              <a:rPr sz="2400" spc="-15" dirty="0">
                <a:latin typeface="Times New Roman" pitchFamily="18" charset="0"/>
                <a:cs typeface="Calibri"/>
              </a:rPr>
              <a:t>at </a:t>
            </a:r>
            <a:r>
              <a:rPr sz="2400" spc="-53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Rs.40/kg </a:t>
            </a:r>
            <a:r>
              <a:rPr sz="2400" spc="-10" dirty="0">
                <a:latin typeface="Times New Roman" pitchFamily="18" charset="0"/>
                <a:cs typeface="Calibri"/>
              </a:rPr>
              <a:t>after </a:t>
            </a:r>
            <a:r>
              <a:rPr sz="2400" dirty="0">
                <a:latin typeface="Times New Roman" pitchFamily="18" charset="0"/>
                <a:cs typeface="Calibri"/>
              </a:rPr>
              <a:t>3 </a:t>
            </a:r>
            <a:r>
              <a:rPr sz="2400" spc="-53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months.</a:t>
            </a:r>
            <a:endParaRPr sz="2400">
              <a:latin typeface="Times New Roman" pitchFamily="18" charset="0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0600" y="1905000"/>
            <a:ext cx="1600200" cy="605935"/>
          </a:xfrm>
          <a:prstGeom prst="rect">
            <a:avLst/>
          </a:prstGeom>
          <a:solidFill>
            <a:srgbClr val="FFFFFF"/>
          </a:solidFill>
          <a:ln w="25400">
            <a:solidFill>
              <a:srgbClr val="0E6EC5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885"/>
              </a:spcBef>
            </a:pPr>
            <a:r>
              <a:rPr sz="3200" spc="-15" dirty="0">
                <a:latin typeface="Times New Roman" pitchFamily="18" charset="0"/>
                <a:cs typeface="Calibri"/>
              </a:rPr>
              <a:t>Farmer</a:t>
            </a:r>
            <a:endParaRPr sz="3200">
              <a:latin typeface="Times New Roman" pitchFamily="18" charset="0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540500" y="1968500"/>
            <a:ext cx="1625600" cy="787400"/>
            <a:chOff x="6540500" y="1968500"/>
            <a:chExt cx="1625600" cy="787400"/>
          </a:xfrm>
        </p:grpSpPr>
        <p:sp>
          <p:nvSpPr>
            <p:cNvPr id="15" name="object 15"/>
            <p:cNvSpPr/>
            <p:nvPr/>
          </p:nvSpPr>
          <p:spPr>
            <a:xfrm>
              <a:off x="6553200" y="1981200"/>
              <a:ext cx="1600200" cy="762000"/>
            </a:xfrm>
            <a:custGeom>
              <a:avLst/>
              <a:gdLst/>
              <a:ahLst/>
              <a:cxnLst/>
              <a:rect l="l" t="t" r="r" b="b"/>
              <a:pathLst>
                <a:path w="1600200" h="762000">
                  <a:moveTo>
                    <a:pt x="1600200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1600200" y="762000"/>
                  </a:lnTo>
                  <a:lnTo>
                    <a:pt x="1600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6553200" y="1981200"/>
              <a:ext cx="1600200" cy="762000"/>
            </a:xfrm>
            <a:custGeom>
              <a:avLst/>
              <a:gdLst/>
              <a:ahLst/>
              <a:cxnLst/>
              <a:rect l="l" t="t" r="r" b="b"/>
              <a:pathLst>
                <a:path w="1600200" h="762000">
                  <a:moveTo>
                    <a:pt x="0" y="762000"/>
                  </a:moveTo>
                  <a:lnTo>
                    <a:pt x="1600200" y="762000"/>
                  </a:lnTo>
                  <a:lnTo>
                    <a:pt x="1600200" y="0"/>
                  </a:lnTo>
                  <a:lnTo>
                    <a:pt x="0" y="0"/>
                  </a:lnTo>
                  <a:lnTo>
                    <a:pt x="0" y="762000"/>
                  </a:lnTo>
                  <a:close/>
                </a:path>
              </a:pathLst>
            </a:custGeom>
            <a:ln w="25400">
              <a:solidFill>
                <a:srgbClr val="0E6EC5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878828" y="1900173"/>
            <a:ext cx="95123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937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imes New Roman" pitchFamily="18" charset="0"/>
                <a:cs typeface="Calibri"/>
              </a:rPr>
              <a:t>Bread </a:t>
            </a:r>
            <a:r>
              <a:rPr sz="2800" spc="-62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Ma</a:t>
            </a:r>
            <a:r>
              <a:rPr sz="2800" spc="-90" dirty="0">
                <a:latin typeface="Times New Roman" pitchFamily="18" charset="0"/>
                <a:cs typeface="Calibri"/>
              </a:rPr>
              <a:t>k</a:t>
            </a:r>
            <a:r>
              <a:rPr sz="2800" spc="-5" dirty="0">
                <a:latin typeface="Times New Roman" pitchFamily="18" charset="0"/>
                <a:cs typeface="Calibri"/>
              </a:rPr>
              <a:t>er</a:t>
            </a:r>
            <a:endParaRPr sz="2800">
              <a:latin typeface="Times New Roman" pitchFamily="18" charset="0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654300" y="2197100"/>
            <a:ext cx="3835400" cy="177800"/>
            <a:chOff x="2654300" y="2197100"/>
            <a:chExt cx="3835400" cy="177800"/>
          </a:xfrm>
        </p:grpSpPr>
        <p:sp>
          <p:nvSpPr>
            <p:cNvPr id="19" name="object 19"/>
            <p:cNvSpPr/>
            <p:nvPr/>
          </p:nvSpPr>
          <p:spPr>
            <a:xfrm>
              <a:off x="2667000" y="2209800"/>
              <a:ext cx="609600" cy="76200"/>
            </a:xfrm>
            <a:custGeom>
              <a:avLst/>
              <a:gdLst/>
              <a:ahLst/>
              <a:cxnLst/>
              <a:rect l="l" t="t" r="r" b="b"/>
              <a:pathLst>
                <a:path w="609600" h="76200">
                  <a:moveTo>
                    <a:pt x="571500" y="0"/>
                  </a:moveTo>
                  <a:lnTo>
                    <a:pt x="571500" y="19050"/>
                  </a:lnTo>
                  <a:lnTo>
                    <a:pt x="0" y="19050"/>
                  </a:lnTo>
                  <a:lnTo>
                    <a:pt x="0" y="57150"/>
                  </a:lnTo>
                  <a:lnTo>
                    <a:pt x="571500" y="57150"/>
                  </a:lnTo>
                  <a:lnTo>
                    <a:pt x="571500" y="76200"/>
                  </a:lnTo>
                  <a:lnTo>
                    <a:pt x="609600" y="38100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2667000" y="2209800"/>
              <a:ext cx="609600" cy="76200"/>
            </a:xfrm>
            <a:custGeom>
              <a:avLst/>
              <a:gdLst/>
              <a:ahLst/>
              <a:cxnLst/>
              <a:rect l="l" t="t" r="r" b="b"/>
              <a:pathLst>
                <a:path w="609600" h="76200">
                  <a:moveTo>
                    <a:pt x="0" y="19050"/>
                  </a:moveTo>
                  <a:lnTo>
                    <a:pt x="571500" y="19050"/>
                  </a:lnTo>
                  <a:lnTo>
                    <a:pt x="571500" y="0"/>
                  </a:lnTo>
                  <a:lnTo>
                    <a:pt x="609600" y="38100"/>
                  </a:lnTo>
                  <a:lnTo>
                    <a:pt x="571500" y="76200"/>
                  </a:lnTo>
                  <a:lnTo>
                    <a:pt x="571500" y="57150"/>
                  </a:lnTo>
                  <a:lnTo>
                    <a:pt x="0" y="57150"/>
                  </a:lnTo>
                  <a:lnTo>
                    <a:pt x="0" y="19050"/>
                  </a:lnTo>
                  <a:close/>
                </a:path>
              </a:pathLst>
            </a:custGeom>
            <a:ln w="2540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5867400" y="2286000"/>
              <a:ext cx="609600" cy="76200"/>
            </a:xfrm>
            <a:custGeom>
              <a:avLst/>
              <a:gdLst/>
              <a:ahLst/>
              <a:cxnLst/>
              <a:rect l="l" t="t" r="r" b="b"/>
              <a:pathLst>
                <a:path w="609600" h="76200">
                  <a:moveTo>
                    <a:pt x="571500" y="0"/>
                  </a:moveTo>
                  <a:lnTo>
                    <a:pt x="571500" y="19050"/>
                  </a:lnTo>
                  <a:lnTo>
                    <a:pt x="0" y="19050"/>
                  </a:lnTo>
                  <a:lnTo>
                    <a:pt x="0" y="57150"/>
                  </a:lnTo>
                  <a:lnTo>
                    <a:pt x="571500" y="57150"/>
                  </a:lnTo>
                  <a:lnTo>
                    <a:pt x="571500" y="76200"/>
                  </a:lnTo>
                  <a:lnTo>
                    <a:pt x="609600" y="38100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5867400" y="2286000"/>
              <a:ext cx="609600" cy="76200"/>
            </a:xfrm>
            <a:custGeom>
              <a:avLst/>
              <a:gdLst/>
              <a:ahLst/>
              <a:cxnLst/>
              <a:rect l="l" t="t" r="r" b="b"/>
              <a:pathLst>
                <a:path w="609600" h="76200">
                  <a:moveTo>
                    <a:pt x="0" y="19050"/>
                  </a:moveTo>
                  <a:lnTo>
                    <a:pt x="571500" y="19050"/>
                  </a:lnTo>
                  <a:lnTo>
                    <a:pt x="571500" y="0"/>
                  </a:lnTo>
                  <a:lnTo>
                    <a:pt x="609600" y="38100"/>
                  </a:lnTo>
                  <a:lnTo>
                    <a:pt x="571500" y="76200"/>
                  </a:lnTo>
                  <a:lnTo>
                    <a:pt x="571500" y="57150"/>
                  </a:lnTo>
                  <a:lnTo>
                    <a:pt x="0" y="57150"/>
                  </a:lnTo>
                  <a:lnTo>
                    <a:pt x="0" y="19050"/>
                  </a:lnTo>
                  <a:close/>
                </a:path>
              </a:pathLst>
            </a:custGeom>
            <a:ln w="2540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736975" y="3828669"/>
            <a:ext cx="144335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 pitchFamily="18" charset="0"/>
                <a:cs typeface="Calibri"/>
              </a:rPr>
              <a:t>3</a:t>
            </a:r>
            <a:r>
              <a:rPr sz="1800" b="1" spc="-60" dirty="0">
                <a:latin typeface="Times New Roman" pitchFamily="18" charset="0"/>
                <a:cs typeface="Calibri"/>
              </a:rPr>
              <a:t> </a:t>
            </a:r>
            <a:r>
              <a:rPr sz="1800" b="1" spc="-5" dirty="0">
                <a:latin typeface="Times New Roman" pitchFamily="18" charset="0"/>
                <a:cs typeface="Calibri"/>
              </a:rPr>
              <a:t>months</a:t>
            </a:r>
            <a:r>
              <a:rPr sz="1800" b="1" spc="-75" dirty="0">
                <a:latin typeface="Times New Roman" pitchFamily="18" charset="0"/>
                <a:cs typeface="Calibri"/>
              </a:rPr>
              <a:t> </a:t>
            </a:r>
            <a:r>
              <a:rPr sz="1800" b="1" spc="-10" dirty="0">
                <a:latin typeface="Times New Roman" pitchFamily="18" charset="0"/>
                <a:cs typeface="Calibri"/>
              </a:rPr>
              <a:t>Later</a:t>
            </a:r>
            <a:endParaRPr sz="1800">
              <a:latin typeface="Times New Roman" pitchFamily="18" charset="0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66800" y="4724400"/>
            <a:ext cx="1600200" cy="605935"/>
          </a:xfrm>
          <a:prstGeom prst="rect">
            <a:avLst/>
          </a:prstGeom>
          <a:solidFill>
            <a:srgbClr val="FFFFFF"/>
          </a:solidFill>
          <a:ln w="25400">
            <a:solidFill>
              <a:srgbClr val="0E6EC5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885"/>
              </a:spcBef>
            </a:pPr>
            <a:r>
              <a:rPr sz="3200" spc="-15" dirty="0">
                <a:latin typeface="Times New Roman" pitchFamily="18" charset="0"/>
                <a:cs typeface="Calibri"/>
              </a:rPr>
              <a:t>Farmer</a:t>
            </a:r>
            <a:endParaRPr sz="3200">
              <a:latin typeface="Times New Roman" pitchFamily="18" charset="0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616700" y="4559300"/>
            <a:ext cx="1625600" cy="787400"/>
            <a:chOff x="6616700" y="4559300"/>
            <a:chExt cx="1625600" cy="787400"/>
          </a:xfrm>
        </p:grpSpPr>
        <p:sp>
          <p:nvSpPr>
            <p:cNvPr id="26" name="object 26"/>
            <p:cNvSpPr/>
            <p:nvPr/>
          </p:nvSpPr>
          <p:spPr>
            <a:xfrm>
              <a:off x="6629400" y="4572000"/>
              <a:ext cx="1600200" cy="762000"/>
            </a:xfrm>
            <a:custGeom>
              <a:avLst/>
              <a:gdLst/>
              <a:ahLst/>
              <a:cxnLst/>
              <a:rect l="l" t="t" r="r" b="b"/>
              <a:pathLst>
                <a:path w="1600200" h="762000">
                  <a:moveTo>
                    <a:pt x="1600200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1600200" y="762000"/>
                  </a:lnTo>
                  <a:lnTo>
                    <a:pt x="1600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6629400" y="4572000"/>
              <a:ext cx="1600200" cy="762000"/>
            </a:xfrm>
            <a:custGeom>
              <a:avLst/>
              <a:gdLst/>
              <a:ahLst/>
              <a:cxnLst/>
              <a:rect l="l" t="t" r="r" b="b"/>
              <a:pathLst>
                <a:path w="1600200" h="762000">
                  <a:moveTo>
                    <a:pt x="0" y="762000"/>
                  </a:moveTo>
                  <a:lnTo>
                    <a:pt x="1600200" y="762000"/>
                  </a:lnTo>
                  <a:lnTo>
                    <a:pt x="1600200" y="0"/>
                  </a:lnTo>
                  <a:lnTo>
                    <a:pt x="0" y="0"/>
                  </a:lnTo>
                  <a:lnTo>
                    <a:pt x="0" y="762000"/>
                  </a:lnTo>
                  <a:close/>
                </a:path>
              </a:pathLst>
            </a:custGeom>
            <a:ln w="25400">
              <a:solidFill>
                <a:srgbClr val="0E6EC5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955028" y="4491609"/>
            <a:ext cx="95186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937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imes New Roman" pitchFamily="18" charset="0"/>
                <a:cs typeface="Calibri"/>
              </a:rPr>
              <a:t>Bread </a:t>
            </a:r>
            <a:r>
              <a:rPr sz="2800" spc="-62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Ma</a:t>
            </a:r>
            <a:r>
              <a:rPr sz="2800" spc="-85" dirty="0">
                <a:latin typeface="Times New Roman" pitchFamily="18" charset="0"/>
                <a:cs typeface="Calibri"/>
              </a:rPr>
              <a:t>k</a:t>
            </a:r>
            <a:r>
              <a:rPr sz="2800" spc="-5" dirty="0">
                <a:latin typeface="Times New Roman" pitchFamily="18" charset="0"/>
                <a:cs typeface="Calibri"/>
              </a:rPr>
              <a:t>er</a:t>
            </a:r>
            <a:endParaRPr sz="2800">
              <a:latin typeface="Times New Roman" pitchFamily="18" charset="0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416300" y="4864100"/>
            <a:ext cx="2387600" cy="177800"/>
            <a:chOff x="3416300" y="4864100"/>
            <a:chExt cx="2387600" cy="177800"/>
          </a:xfrm>
        </p:grpSpPr>
        <p:sp>
          <p:nvSpPr>
            <p:cNvPr id="30" name="object 30"/>
            <p:cNvSpPr/>
            <p:nvPr/>
          </p:nvSpPr>
          <p:spPr>
            <a:xfrm>
              <a:off x="3429000" y="4876800"/>
              <a:ext cx="2362200" cy="152400"/>
            </a:xfrm>
            <a:custGeom>
              <a:avLst/>
              <a:gdLst/>
              <a:ahLst/>
              <a:cxnLst/>
              <a:rect l="l" t="t" r="r" b="b"/>
              <a:pathLst>
                <a:path w="2362200" h="152400">
                  <a:moveTo>
                    <a:pt x="2286000" y="0"/>
                  </a:moveTo>
                  <a:lnTo>
                    <a:pt x="2286000" y="38100"/>
                  </a:lnTo>
                  <a:lnTo>
                    <a:pt x="0" y="38100"/>
                  </a:lnTo>
                  <a:lnTo>
                    <a:pt x="0" y="114300"/>
                  </a:lnTo>
                  <a:lnTo>
                    <a:pt x="2286000" y="114300"/>
                  </a:lnTo>
                  <a:lnTo>
                    <a:pt x="2286000" y="152400"/>
                  </a:lnTo>
                  <a:lnTo>
                    <a:pt x="2362200" y="76200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3429000" y="4876800"/>
              <a:ext cx="2362200" cy="152400"/>
            </a:xfrm>
            <a:custGeom>
              <a:avLst/>
              <a:gdLst/>
              <a:ahLst/>
              <a:cxnLst/>
              <a:rect l="l" t="t" r="r" b="b"/>
              <a:pathLst>
                <a:path w="2362200" h="152400">
                  <a:moveTo>
                    <a:pt x="0" y="38100"/>
                  </a:moveTo>
                  <a:lnTo>
                    <a:pt x="2286000" y="38100"/>
                  </a:lnTo>
                  <a:lnTo>
                    <a:pt x="2286000" y="0"/>
                  </a:lnTo>
                  <a:lnTo>
                    <a:pt x="2362200" y="76200"/>
                  </a:lnTo>
                  <a:lnTo>
                    <a:pt x="2286000" y="152400"/>
                  </a:lnTo>
                  <a:lnTo>
                    <a:pt x="2286000" y="114300"/>
                  </a:lnTo>
                  <a:lnTo>
                    <a:pt x="0" y="114300"/>
                  </a:lnTo>
                  <a:lnTo>
                    <a:pt x="0" y="38100"/>
                  </a:lnTo>
                  <a:close/>
                </a:path>
              </a:pathLst>
            </a:custGeom>
            <a:ln w="2540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3492500" y="5168900"/>
            <a:ext cx="2387600" cy="177800"/>
            <a:chOff x="3492500" y="5168900"/>
            <a:chExt cx="2387600" cy="177800"/>
          </a:xfrm>
        </p:grpSpPr>
        <p:sp>
          <p:nvSpPr>
            <p:cNvPr id="33" name="object 33"/>
            <p:cNvSpPr/>
            <p:nvPr/>
          </p:nvSpPr>
          <p:spPr>
            <a:xfrm>
              <a:off x="3505200" y="5181600"/>
              <a:ext cx="2362200" cy="152400"/>
            </a:xfrm>
            <a:custGeom>
              <a:avLst/>
              <a:gdLst/>
              <a:ahLst/>
              <a:cxnLst/>
              <a:rect l="l" t="t" r="r" b="b"/>
              <a:pathLst>
                <a:path w="2362200" h="152400">
                  <a:moveTo>
                    <a:pt x="76200" y="0"/>
                  </a:moveTo>
                  <a:lnTo>
                    <a:pt x="0" y="76200"/>
                  </a:lnTo>
                  <a:lnTo>
                    <a:pt x="76200" y="152400"/>
                  </a:lnTo>
                  <a:lnTo>
                    <a:pt x="76200" y="114300"/>
                  </a:lnTo>
                  <a:lnTo>
                    <a:pt x="2362200" y="114300"/>
                  </a:lnTo>
                  <a:lnTo>
                    <a:pt x="2362200" y="38100"/>
                  </a:lnTo>
                  <a:lnTo>
                    <a:pt x="76200" y="381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3505200" y="5181600"/>
              <a:ext cx="2362200" cy="152400"/>
            </a:xfrm>
            <a:custGeom>
              <a:avLst/>
              <a:gdLst/>
              <a:ahLst/>
              <a:cxnLst/>
              <a:rect l="l" t="t" r="r" b="b"/>
              <a:pathLst>
                <a:path w="2362200" h="152400">
                  <a:moveTo>
                    <a:pt x="0" y="76200"/>
                  </a:moveTo>
                  <a:lnTo>
                    <a:pt x="76200" y="0"/>
                  </a:lnTo>
                  <a:lnTo>
                    <a:pt x="76200" y="38100"/>
                  </a:lnTo>
                  <a:lnTo>
                    <a:pt x="2362200" y="38100"/>
                  </a:lnTo>
                  <a:lnTo>
                    <a:pt x="2362200" y="114300"/>
                  </a:lnTo>
                  <a:lnTo>
                    <a:pt x="76200" y="114300"/>
                  </a:lnTo>
                  <a:lnTo>
                    <a:pt x="76200" y="152400"/>
                  </a:lnTo>
                  <a:lnTo>
                    <a:pt x="0" y="76200"/>
                  </a:lnTo>
                  <a:close/>
                </a:path>
              </a:pathLst>
            </a:custGeom>
            <a:ln w="2540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736975" y="4433696"/>
            <a:ext cx="1765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500kgs</a:t>
            </a:r>
            <a:r>
              <a:rPr sz="2400" b="1" spc="-7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wheat</a:t>
            </a:r>
            <a:endParaRPr sz="2400">
              <a:latin typeface="Times New Roman" pitchFamily="18" charset="0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965575" y="5271922"/>
            <a:ext cx="125031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Rs.20,000</a:t>
            </a:r>
            <a:endParaRPr sz="24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30" y="0"/>
            <a:ext cx="9146540" cy="6858000"/>
            <a:chOff x="-1030" y="0"/>
            <a:chExt cx="914654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46"/>
              <a:ext cx="9144000" cy="10274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0007" y="0"/>
              <a:ext cx="4743992" cy="6000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091760" cy="10214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1030" y="50926"/>
              <a:ext cx="9146173" cy="90474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173276" y="631901"/>
            <a:ext cx="6797675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-10" dirty="0"/>
              <a:t>Risks</a:t>
            </a:r>
            <a:r>
              <a:rPr sz="4800" spc="-55" dirty="0"/>
              <a:t> </a:t>
            </a:r>
            <a:r>
              <a:rPr sz="4800" dirty="0"/>
              <a:t>in</a:t>
            </a:r>
            <a:r>
              <a:rPr sz="4800" spc="-5" dirty="0"/>
              <a:t> </a:t>
            </a:r>
            <a:r>
              <a:rPr sz="4800" spc="-30" dirty="0"/>
              <a:t>Forward </a:t>
            </a:r>
            <a:r>
              <a:rPr sz="4800" spc="-20" dirty="0"/>
              <a:t>Contracts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35940" y="1947418"/>
            <a:ext cx="8044180" cy="35067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676275" indent="-274320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5" dirty="0">
                <a:latin typeface="Times New Roman" pitchFamily="18" charset="0"/>
                <a:cs typeface="Calibri"/>
              </a:rPr>
              <a:t>Credit </a:t>
            </a:r>
            <a:r>
              <a:rPr sz="2600" dirty="0">
                <a:latin typeface="Times New Roman" pitchFamily="18" charset="0"/>
                <a:cs typeface="Calibri"/>
              </a:rPr>
              <a:t>Risk – </a:t>
            </a:r>
            <a:r>
              <a:rPr sz="2600" spc="-5" dirty="0">
                <a:latin typeface="Times New Roman" pitchFamily="18" charset="0"/>
                <a:cs typeface="Calibri"/>
              </a:rPr>
              <a:t>Does </a:t>
            </a:r>
            <a:r>
              <a:rPr sz="2600" dirty="0">
                <a:latin typeface="Times New Roman" pitchFamily="18" charset="0"/>
                <a:cs typeface="Calibri"/>
              </a:rPr>
              <a:t>the </a:t>
            </a:r>
            <a:r>
              <a:rPr sz="2600" spc="-5" dirty="0">
                <a:latin typeface="Times New Roman" pitchFamily="18" charset="0"/>
                <a:cs typeface="Calibri"/>
              </a:rPr>
              <a:t>other party </a:t>
            </a:r>
            <a:r>
              <a:rPr sz="2600" spc="-25" dirty="0">
                <a:latin typeface="Times New Roman" pitchFamily="18" charset="0"/>
                <a:cs typeface="Calibri"/>
              </a:rPr>
              <a:t>have </a:t>
            </a:r>
            <a:r>
              <a:rPr sz="2600" dirty="0">
                <a:latin typeface="Times New Roman" pitchFamily="18" charset="0"/>
                <a:cs typeface="Calibri"/>
              </a:rPr>
              <a:t>the means </a:t>
            </a:r>
            <a:r>
              <a:rPr sz="2600" spc="-15" dirty="0">
                <a:latin typeface="Times New Roman" pitchFamily="18" charset="0"/>
                <a:cs typeface="Calibri"/>
              </a:rPr>
              <a:t>to </a:t>
            </a:r>
            <a:r>
              <a:rPr sz="2600" spc="-575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pay?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AD0D9"/>
              </a:buClr>
              <a:buFont typeface="Segoe UI Symbol"/>
              <a:buChar char="⚫"/>
            </a:pPr>
            <a:endParaRPr sz="3550">
              <a:latin typeface="Times New Roman" pitchFamily="18" charset="0"/>
              <a:cs typeface="Calibri"/>
            </a:endParaRPr>
          </a:p>
          <a:p>
            <a:pPr marL="286385" marR="501015" indent="-274320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10" dirty="0">
                <a:latin typeface="Times New Roman" pitchFamily="18" charset="0"/>
                <a:cs typeface="Calibri"/>
              </a:rPr>
              <a:t>Operational</a:t>
            </a:r>
            <a:r>
              <a:rPr sz="2600" spc="-1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Risk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–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Will</a:t>
            </a:r>
            <a:r>
              <a:rPr sz="2600" spc="-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the</a:t>
            </a:r>
            <a:r>
              <a:rPr sz="2600" spc="-5" dirty="0">
                <a:latin typeface="Times New Roman" pitchFamily="18" charset="0"/>
                <a:cs typeface="Calibri"/>
              </a:rPr>
              <a:t> other</a:t>
            </a:r>
            <a:r>
              <a:rPr sz="260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party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spc="-25" dirty="0">
                <a:latin typeface="Times New Roman" pitchFamily="18" charset="0"/>
                <a:cs typeface="Calibri"/>
              </a:rPr>
              <a:t>make</a:t>
            </a:r>
            <a:r>
              <a:rPr sz="2600" spc="-5" dirty="0">
                <a:latin typeface="Times New Roman" pitchFamily="18" charset="0"/>
                <a:cs typeface="Calibri"/>
              </a:rPr>
              <a:t> delivery? </a:t>
            </a:r>
            <a:r>
              <a:rPr sz="2600" spc="-57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Will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the</a:t>
            </a:r>
            <a:r>
              <a:rPr sz="2600" spc="-2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other party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accept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delivery?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AD0D9"/>
              </a:buClr>
              <a:buFont typeface="Segoe UI Symbol"/>
              <a:buChar char="⚫"/>
            </a:pPr>
            <a:endParaRPr sz="3550">
              <a:latin typeface="Times New Roman" pitchFamily="18" charset="0"/>
              <a:cs typeface="Calibri"/>
            </a:endParaRPr>
          </a:p>
          <a:p>
            <a:pPr marL="286385" marR="5080" indent="-274320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5" dirty="0">
                <a:latin typeface="Times New Roman" pitchFamily="18" charset="0"/>
                <a:cs typeface="Calibri"/>
              </a:rPr>
              <a:t>Liquidity </a:t>
            </a:r>
            <a:r>
              <a:rPr sz="2600" dirty="0">
                <a:latin typeface="Times New Roman" pitchFamily="18" charset="0"/>
                <a:cs typeface="Calibri"/>
              </a:rPr>
              <a:t>Risk – </a:t>
            </a:r>
            <a:r>
              <a:rPr sz="2600" spc="-5" dirty="0">
                <a:latin typeface="Times New Roman" pitchFamily="18" charset="0"/>
                <a:cs typeface="Calibri"/>
              </a:rPr>
              <a:t>Incase </a:t>
            </a:r>
            <a:r>
              <a:rPr sz="2600" dirty="0">
                <a:latin typeface="Times New Roman" pitchFamily="18" charset="0"/>
                <a:cs typeface="Calibri"/>
              </a:rPr>
              <a:t>either </a:t>
            </a:r>
            <a:r>
              <a:rPr sz="2600" spc="-5" dirty="0">
                <a:latin typeface="Times New Roman" pitchFamily="18" charset="0"/>
                <a:cs typeface="Calibri"/>
              </a:rPr>
              <a:t>party </a:t>
            </a:r>
            <a:r>
              <a:rPr sz="2600" spc="-10" dirty="0">
                <a:latin typeface="Times New Roman" pitchFamily="18" charset="0"/>
                <a:cs typeface="Calibri"/>
              </a:rPr>
              <a:t>wants </a:t>
            </a:r>
            <a:r>
              <a:rPr sz="2600" spc="-15" dirty="0">
                <a:latin typeface="Times New Roman" pitchFamily="18" charset="0"/>
                <a:cs typeface="Calibri"/>
              </a:rPr>
              <a:t>to </a:t>
            </a:r>
            <a:r>
              <a:rPr sz="2600" spc="-10" dirty="0">
                <a:latin typeface="Times New Roman" pitchFamily="18" charset="0"/>
                <a:cs typeface="Calibri"/>
              </a:rPr>
              <a:t>opt </a:t>
            </a:r>
            <a:r>
              <a:rPr sz="2600" spc="-5" dirty="0">
                <a:latin typeface="Times New Roman" pitchFamily="18" charset="0"/>
                <a:cs typeface="Calibri"/>
              </a:rPr>
              <a:t>out of </a:t>
            </a:r>
            <a:r>
              <a:rPr sz="2600" dirty="0">
                <a:latin typeface="Times New Roman" pitchFamily="18" charset="0"/>
                <a:cs typeface="Calibri"/>
              </a:rPr>
              <a:t>the </a:t>
            </a:r>
            <a:r>
              <a:rPr sz="2600" spc="-57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contract,</a:t>
            </a:r>
            <a:r>
              <a:rPr sz="2600" spc="-30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how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to</a:t>
            </a:r>
            <a:r>
              <a:rPr sz="2600" spc="-5" dirty="0">
                <a:latin typeface="Times New Roman" pitchFamily="18" charset="0"/>
                <a:cs typeface="Calibri"/>
              </a:rPr>
              <a:t> find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another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counter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party?</a:t>
            </a:r>
            <a:endParaRPr sz="26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30" y="0"/>
            <a:ext cx="9146540" cy="6858000"/>
            <a:chOff x="-1030" y="0"/>
            <a:chExt cx="914654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46"/>
              <a:ext cx="9144000" cy="10274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0007" y="0"/>
              <a:ext cx="4743992" cy="6000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091760" cy="10214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1030" y="50926"/>
              <a:ext cx="9146173" cy="90474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968879" y="860806"/>
            <a:ext cx="3209290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-450" dirty="0"/>
              <a:t>T</a:t>
            </a:r>
            <a:r>
              <a:rPr sz="4800" dirty="0"/>
              <a:t>erminology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35940" y="1947418"/>
            <a:ext cx="7946390" cy="405303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5" dirty="0">
                <a:latin typeface="Times New Roman" pitchFamily="18" charset="0"/>
                <a:cs typeface="Calibri"/>
              </a:rPr>
              <a:t>Long</a:t>
            </a:r>
            <a:r>
              <a:rPr sz="2600" spc="-4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position</a:t>
            </a:r>
            <a:r>
              <a:rPr sz="2600" dirty="0">
                <a:latin typeface="Times New Roman" pitchFamily="18" charset="0"/>
                <a:cs typeface="Calibri"/>
              </a:rPr>
              <a:t> -</a:t>
            </a:r>
            <a:r>
              <a:rPr sz="2600" spc="-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Buyer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AD0D9"/>
              </a:buClr>
              <a:buFont typeface="Segoe UI Symbol"/>
              <a:buChar char="⚫"/>
            </a:pPr>
            <a:endParaRPr sz="3550">
              <a:latin typeface="Times New Roman" pitchFamily="18" charset="0"/>
              <a:cs typeface="Calibri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5" dirty="0">
                <a:latin typeface="Times New Roman" pitchFamily="18" charset="0"/>
                <a:cs typeface="Calibri"/>
              </a:rPr>
              <a:t>Short</a:t>
            </a:r>
            <a:r>
              <a:rPr sz="2600" spc="-2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position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-</a:t>
            </a:r>
            <a:r>
              <a:rPr sz="2600" spc="-1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seller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AD0D9"/>
              </a:buClr>
              <a:buFont typeface="Segoe UI Symbol"/>
              <a:buChar char="⚫"/>
            </a:pPr>
            <a:endParaRPr sz="3550">
              <a:latin typeface="Times New Roman" pitchFamily="18" charset="0"/>
              <a:cs typeface="Calibri"/>
            </a:endParaRPr>
          </a:p>
          <a:p>
            <a:pPr marL="286385" marR="10795" indent="-274320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5" dirty="0">
                <a:latin typeface="Times New Roman" pitchFamily="18" charset="0"/>
                <a:cs typeface="Calibri"/>
              </a:rPr>
              <a:t>Spot price </a:t>
            </a:r>
            <a:r>
              <a:rPr sz="2600" dirty="0">
                <a:latin typeface="Times New Roman" pitchFamily="18" charset="0"/>
                <a:cs typeface="Calibri"/>
              </a:rPr>
              <a:t>– Price of the </a:t>
            </a:r>
            <a:r>
              <a:rPr sz="2600" spc="-5" dirty="0">
                <a:latin typeface="Times New Roman" pitchFamily="18" charset="0"/>
                <a:cs typeface="Calibri"/>
              </a:rPr>
              <a:t>asset </a:t>
            </a:r>
            <a:r>
              <a:rPr sz="2600" dirty="0">
                <a:latin typeface="Times New Roman" pitchFamily="18" charset="0"/>
                <a:cs typeface="Calibri"/>
              </a:rPr>
              <a:t>in the </a:t>
            </a:r>
            <a:r>
              <a:rPr sz="2600" spc="-5" dirty="0">
                <a:latin typeface="Times New Roman" pitchFamily="18" charset="0"/>
                <a:cs typeface="Calibri"/>
              </a:rPr>
              <a:t>spot </a:t>
            </a:r>
            <a:r>
              <a:rPr sz="2600" spc="-15" dirty="0">
                <a:latin typeface="Times New Roman" pitchFamily="18" charset="0"/>
                <a:cs typeface="Calibri"/>
              </a:rPr>
              <a:t>market.(market </a:t>
            </a:r>
            <a:r>
              <a:rPr sz="2600" spc="-57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price)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AD0D9"/>
              </a:buClr>
              <a:buFont typeface="Segoe UI Symbol"/>
              <a:buChar char="⚫"/>
            </a:pPr>
            <a:endParaRPr sz="3550">
              <a:latin typeface="Times New Roman" pitchFamily="18" charset="0"/>
              <a:cs typeface="Calibri"/>
            </a:endParaRPr>
          </a:p>
          <a:p>
            <a:pPr marL="286385" marR="5080" indent="-274320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10" dirty="0">
                <a:latin typeface="Times New Roman" pitchFamily="18" charset="0"/>
                <a:cs typeface="Calibri"/>
              </a:rPr>
              <a:t>Delivery/forward </a:t>
            </a:r>
            <a:r>
              <a:rPr sz="2600" spc="-5" dirty="0">
                <a:latin typeface="Times New Roman" pitchFamily="18" charset="0"/>
                <a:cs typeface="Calibri"/>
              </a:rPr>
              <a:t>price </a:t>
            </a:r>
            <a:r>
              <a:rPr sz="2600" dirty="0">
                <a:latin typeface="Times New Roman" pitchFamily="18" charset="0"/>
                <a:cs typeface="Calibri"/>
              </a:rPr>
              <a:t>– Price of the </a:t>
            </a:r>
            <a:r>
              <a:rPr sz="2600" spc="-5" dirty="0">
                <a:latin typeface="Times New Roman" pitchFamily="18" charset="0"/>
                <a:cs typeface="Calibri"/>
              </a:rPr>
              <a:t>asset </a:t>
            </a:r>
            <a:r>
              <a:rPr sz="2600" spc="-10" dirty="0">
                <a:latin typeface="Times New Roman" pitchFamily="18" charset="0"/>
                <a:cs typeface="Calibri"/>
              </a:rPr>
              <a:t>at </a:t>
            </a:r>
            <a:r>
              <a:rPr sz="2600" dirty="0">
                <a:latin typeface="Times New Roman" pitchFamily="18" charset="0"/>
                <a:cs typeface="Calibri"/>
              </a:rPr>
              <a:t>the </a:t>
            </a:r>
            <a:r>
              <a:rPr sz="2600" spc="-5" dirty="0">
                <a:latin typeface="Times New Roman" pitchFamily="18" charset="0"/>
                <a:cs typeface="Calibri"/>
              </a:rPr>
              <a:t>delivery </a:t>
            </a:r>
            <a:r>
              <a:rPr sz="2600" spc="-57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date.</a:t>
            </a:r>
            <a:endParaRPr sz="26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30" y="0"/>
            <a:ext cx="9146540" cy="6858000"/>
            <a:chOff x="-1030" y="0"/>
            <a:chExt cx="914654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46"/>
              <a:ext cx="9144000" cy="10274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0007" y="0"/>
              <a:ext cx="4743992" cy="6000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091760" cy="10214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1030" y="50926"/>
              <a:ext cx="9146173" cy="90474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172970" y="631901"/>
            <a:ext cx="4799330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What</a:t>
            </a:r>
            <a:r>
              <a:rPr spc="-60" dirty="0"/>
              <a:t> </a:t>
            </a:r>
            <a:r>
              <a:rPr spc="-25" dirty="0"/>
              <a:t>are</a:t>
            </a:r>
            <a:r>
              <a:rPr spc="-50" dirty="0"/>
              <a:t> </a:t>
            </a:r>
            <a:r>
              <a:rPr spc="-10" dirty="0"/>
              <a:t>Futures?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35940" y="1947418"/>
            <a:ext cx="7689850" cy="42271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 pitchFamily="18" charset="0"/>
                <a:cs typeface="Calibri"/>
              </a:rPr>
              <a:t>A</a:t>
            </a:r>
            <a:r>
              <a:rPr sz="2600" spc="-2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future</a:t>
            </a:r>
            <a:r>
              <a:rPr sz="2600" spc="-3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is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a</a:t>
            </a:r>
            <a:r>
              <a:rPr sz="2600" spc="-10" dirty="0">
                <a:latin typeface="Times New Roman" pitchFamily="18" charset="0"/>
                <a:cs typeface="Calibri"/>
              </a:rPr>
              <a:t> standardised</a:t>
            </a:r>
            <a:r>
              <a:rPr sz="2600" spc="-30" dirty="0">
                <a:latin typeface="Times New Roman" pitchFamily="18" charset="0"/>
                <a:cs typeface="Calibri"/>
              </a:rPr>
              <a:t> </a:t>
            </a:r>
            <a:r>
              <a:rPr sz="2600" spc="-20" dirty="0">
                <a:latin typeface="Times New Roman" pitchFamily="18" charset="0"/>
                <a:cs typeface="Calibri"/>
              </a:rPr>
              <a:t>forward</a:t>
            </a:r>
            <a:r>
              <a:rPr sz="2600" spc="-10" dirty="0">
                <a:latin typeface="Times New Roman" pitchFamily="18" charset="0"/>
                <a:cs typeface="Calibri"/>
              </a:rPr>
              <a:t> contract.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AD0D9"/>
              </a:buClr>
              <a:buFont typeface="Segoe UI Symbol"/>
              <a:buChar char="⚫"/>
            </a:pPr>
            <a:endParaRPr sz="3550">
              <a:latin typeface="Times New Roman" pitchFamily="18" charset="0"/>
              <a:cs typeface="Calibri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 pitchFamily="18" charset="0"/>
                <a:cs typeface="Calibri"/>
              </a:rPr>
              <a:t>It</a:t>
            </a:r>
            <a:r>
              <a:rPr sz="2600" spc="-2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is</a:t>
            </a:r>
            <a:r>
              <a:rPr sz="2600" spc="-1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traded</a:t>
            </a:r>
            <a:r>
              <a:rPr sz="2600" spc="-2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on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an</a:t>
            </a:r>
            <a:r>
              <a:rPr sz="2600" spc="-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organised </a:t>
            </a:r>
            <a:r>
              <a:rPr sz="2600" spc="-15" dirty="0">
                <a:latin typeface="Times New Roman" pitchFamily="18" charset="0"/>
                <a:cs typeface="Calibri"/>
              </a:rPr>
              <a:t>exchange.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AD0D9"/>
              </a:buClr>
              <a:buFont typeface="Segoe UI Symbol"/>
              <a:buChar char="⚫"/>
            </a:pPr>
            <a:endParaRPr sz="3550">
              <a:latin typeface="Times New Roman" pitchFamily="18" charset="0"/>
              <a:cs typeface="Calibri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5" dirty="0">
                <a:latin typeface="Times New Roman" pitchFamily="18" charset="0"/>
                <a:cs typeface="Calibri"/>
              </a:rPr>
              <a:t>Standardisations-</a:t>
            </a:r>
            <a:endParaRPr sz="2600">
              <a:latin typeface="Times New Roman" pitchFamily="18" charset="0"/>
              <a:cs typeface="Calibri"/>
            </a:endParaRPr>
          </a:p>
          <a:p>
            <a:pPr marL="462280" lvl="1" indent="-175895">
              <a:lnSpc>
                <a:spcPct val="100000"/>
              </a:lnSpc>
              <a:spcBef>
                <a:spcPts val="625"/>
              </a:spcBef>
              <a:buChar char="-"/>
              <a:tabLst>
                <a:tab pos="462280" algn="l"/>
              </a:tabLst>
            </a:pPr>
            <a:r>
              <a:rPr sz="2600" spc="-5" dirty="0">
                <a:latin typeface="Times New Roman" pitchFamily="18" charset="0"/>
                <a:cs typeface="Calibri"/>
              </a:rPr>
              <a:t>quantity</a:t>
            </a:r>
            <a:r>
              <a:rPr sz="2600" spc="-5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of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underlying</a:t>
            </a:r>
            <a:endParaRPr sz="2600">
              <a:latin typeface="Times New Roman" pitchFamily="18" charset="0"/>
              <a:cs typeface="Calibri"/>
            </a:endParaRPr>
          </a:p>
          <a:p>
            <a:pPr marL="462280" lvl="1" indent="-175895">
              <a:lnSpc>
                <a:spcPct val="100000"/>
              </a:lnSpc>
              <a:spcBef>
                <a:spcPts val="625"/>
              </a:spcBef>
              <a:buChar char="-"/>
              <a:tabLst>
                <a:tab pos="462280" algn="l"/>
              </a:tabLst>
            </a:pPr>
            <a:r>
              <a:rPr sz="2600" spc="-5" dirty="0">
                <a:latin typeface="Times New Roman" pitchFamily="18" charset="0"/>
                <a:cs typeface="Calibri"/>
              </a:rPr>
              <a:t>quality</a:t>
            </a:r>
            <a:r>
              <a:rPr sz="2600" spc="-1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of underlying(not</a:t>
            </a:r>
            <a:r>
              <a:rPr sz="2600" spc="-4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required</a:t>
            </a:r>
            <a:r>
              <a:rPr sz="2600" spc="-3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in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financial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futures)</a:t>
            </a:r>
            <a:endParaRPr sz="2600">
              <a:latin typeface="Times New Roman" pitchFamily="18" charset="0"/>
              <a:cs typeface="Calibri"/>
            </a:endParaRPr>
          </a:p>
          <a:p>
            <a:pPr marL="462280" lvl="1" indent="-175895">
              <a:lnSpc>
                <a:spcPct val="100000"/>
              </a:lnSpc>
              <a:spcBef>
                <a:spcPts val="625"/>
              </a:spcBef>
              <a:buChar char="-"/>
              <a:tabLst>
                <a:tab pos="462280" algn="l"/>
              </a:tabLst>
            </a:pPr>
            <a:r>
              <a:rPr sz="2600" spc="-5" dirty="0">
                <a:latin typeface="Times New Roman" pitchFamily="18" charset="0"/>
                <a:cs typeface="Calibri"/>
              </a:rPr>
              <a:t>delivery</a:t>
            </a:r>
            <a:r>
              <a:rPr sz="2600" spc="-5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dates</a:t>
            </a:r>
            <a:r>
              <a:rPr sz="2600" spc="-4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and</a:t>
            </a:r>
            <a:r>
              <a:rPr sz="2600" spc="-1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procedure</a:t>
            </a:r>
            <a:endParaRPr sz="2600">
              <a:latin typeface="Times New Roman" pitchFamily="18" charset="0"/>
              <a:cs typeface="Calibri"/>
            </a:endParaRPr>
          </a:p>
          <a:p>
            <a:pPr marL="462280" lvl="1" indent="-175895">
              <a:lnSpc>
                <a:spcPct val="100000"/>
              </a:lnSpc>
              <a:spcBef>
                <a:spcPts val="625"/>
              </a:spcBef>
              <a:buChar char="-"/>
              <a:tabLst>
                <a:tab pos="462280" algn="l"/>
              </a:tabLst>
            </a:pPr>
            <a:r>
              <a:rPr sz="2600" spc="-5" dirty="0">
                <a:latin typeface="Times New Roman" pitchFamily="18" charset="0"/>
                <a:cs typeface="Calibri"/>
              </a:rPr>
              <a:t>price</a:t>
            </a:r>
            <a:r>
              <a:rPr sz="2600" spc="-5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quotes</a:t>
            </a:r>
            <a:endParaRPr sz="26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30" y="0"/>
            <a:ext cx="9146540" cy="6858000"/>
            <a:chOff x="-1030" y="0"/>
            <a:chExt cx="914654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46"/>
              <a:ext cx="9144000" cy="10274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0007" y="0"/>
              <a:ext cx="4743992" cy="6000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091760" cy="10214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1030" y="50926"/>
              <a:ext cx="9146173" cy="90474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173276" y="631901"/>
            <a:ext cx="6647180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-10" dirty="0">
                <a:solidFill>
                  <a:srgbClr val="04607A"/>
                </a:solidFill>
                <a:latin typeface="Times New Roman" pitchFamily="18" charset="0"/>
                <a:cs typeface="Calibri"/>
              </a:rPr>
              <a:t>Futures</a:t>
            </a:r>
            <a:r>
              <a:rPr sz="5000" spc="-75" dirty="0">
                <a:solidFill>
                  <a:srgbClr val="04607A"/>
                </a:solidFill>
                <a:latin typeface="Times New Roman" pitchFamily="18" charset="0"/>
                <a:cs typeface="Calibri"/>
              </a:rPr>
              <a:t> </a:t>
            </a:r>
            <a:r>
              <a:rPr sz="5000" spc="-20" dirty="0">
                <a:solidFill>
                  <a:srgbClr val="04607A"/>
                </a:solidFill>
                <a:latin typeface="Times New Roman" pitchFamily="18" charset="0"/>
                <a:cs typeface="Calibri"/>
              </a:rPr>
              <a:t>Contract</a:t>
            </a:r>
            <a:r>
              <a:rPr sz="5000" spc="-55" dirty="0">
                <a:solidFill>
                  <a:srgbClr val="04607A"/>
                </a:solidFill>
                <a:latin typeface="Times New Roman" pitchFamily="18" charset="0"/>
                <a:cs typeface="Calibri"/>
              </a:rPr>
              <a:t> </a:t>
            </a:r>
            <a:r>
              <a:rPr sz="5000" spc="-15" dirty="0">
                <a:solidFill>
                  <a:srgbClr val="04607A"/>
                </a:solidFill>
                <a:latin typeface="Times New Roman" pitchFamily="18" charset="0"/>
                <a:cs typeface="Calibri"/>
              </a:rPr>
              <a:t>Example</a:t>
            </a:r>
            <a:endParaRPr sz="5000">
              <a:latin typeface="Times New Roman" pitchFamily="18" charset="0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82011" y="1211580"/>
            <a:ext cx="1711960" cy="1457325"/>
            <a:chOff x="2382011" y="1211580"/>
            <a:chExt cx="1711960" cy="1457325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42031" y="1495044"/>
              <a:ext cx="1392936" cy="116433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82011" y="1211580"/>
              <a:ext cx="1711452" cy="14569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90799" y="1524000"/>
              <a:ext cx="1295400" cy="10668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590799" y="1524000"/>
              <a:ext cx="1295400" cy="1066800"/>
            </a:xfrm>
            <a:custGeom>
              <a:avLst/>
              <a:gdLst/>
              <a:ahLst/>
              <a:cxnLst/>
              <a:rect l="l" t="t" r="r" b="b"/>
              <a:pathLst>
                <a:path w="1295400" h="1066800">
                  <a:moveTo>
                    <a:pt x="0" y="533400"/>
                  </a:moveTo>
                  <a:lnTo>
                    <a:pt x="2146" y="489645"/>
                  </a:lnTo>
                  <a:lnTo>
                    <a:pt x="8476" y="446867"/>
                  </a:lnTo>
                  <a:lnTo>
                    <a:pt x="18821" y="405201"/>
                  </a:lnTo>
                  <a:lnTo>
                    <a:pt x="33015" y="364784"/>
                  </a:lnTo>
                  <a:lnTo>
                    <a:pt x="50893" y="325755"/>
                  </a:lnTo>
                  <a:lnTo>
                    <a:pt x="72286" y="288249"/>
                  </a:lnTo>
                  <a:lnTo>
                    <a:pt x="97029" y="252404"/>
                  </a:lnTo>
                  <a:lnTo>
                    <a:pt x="124955" y="218358"/>
                  </a:lnTo>
                  <a:lnTo>
                    <a:pt x="155898" y="186248"/>
                  </a:lnTo>
                  <a:lnTo>
                    <a:pt x="189690" y="156210"/>
                  </a:lnTo>
                  <a:lnTo>
                    <a:pt x="226165" y="128381"/>
                  </a:lnTo>
                  <a:lnTo>
                    <a:pt x="265157" y="102900"/>
                  </a:lnTo>
                  <a:lnTo>
                    <a:pt x="306499" y="79903"/>
                  </a:lnTo>
                  <a:lnTo>
                    <a:pt x="350025" y="59527"/>
                  </a:lnTo>
                  <a:lnTo>
                    <a:pt x="395567" y="41910"/>
                  </a:lnTo>
                  <a:lnTo>
                    <a:pt x="442959" y="27188"/>
                  </a:lnTo>
                  <a:lnTo>
                    <a:pt x="492035" y="15499"/>
                  </a:lnTo>
                  <a:lnTo>
                    <a:pt x="542628" y="6979"/>
                  </a:lnTo>
                  <a:lnTo>
                    <a:pt x="594572" y="1767"/>
                  </a:lnTo>
                  <a:lnTo>
                    <a:pt x="647700" y="0"/>
                  </a:lnTo>
                  <a:lnTo>
                    <a:pt x="700827" y="1767"/>
                  </a:lnTo>
                  <a:lnTo>
                    <a:pt x="752771" y="6979"/>
                  </a:lnTo>
                  <a:lnTo>
                    <a:pt x="803364" y="15499"/>
                  </a:lnTo>
                  <a:lnTo>
                    <a:pt x="852440" y="27188"/>
                  </a:lnTo>
                  <a:lnTo>
                    <a:pt x="899832" y="41909"/>
                  </a:lnTo>
                  <a:lnTo>
                    <a:pt x="945374" y="59527"/>
                  </a:lnTo>
                  <a:lnTo>
                    <a:pt x="988900" y="79903"/>
                  </a:lnTo>
                  <a:lnTo>
                    <a:pt x="1030242" y="102900"/>
                  </a:lnTo>
                  <a:lnTo>
                    <a:pt x="1069234" y="128381"/>
                  </a:lnTo>
                  <a:lnTo>
                    <a:pt x="1105709" y="156209"/>
                  </a:lnTo>
                  <a:lnTo>
                    <a:pt x="1139501" y="186248"/>
                  </a:lnTo>
                  <a:lnTo>
                    <a:pt x="1170444" y="218358"/>
                  </a:lnTo>
                  <a:lnTo>
                    <a:pt x="1198370" y="252404"/>
                  </a:lnTo>
                  <a:lnTo>
                    <a:pt x="1223113" y="288249"/>
                  </a:lnTo>
                  <a:lnTo>
                    <a:pt x="1244506" y="325754"/>
                  </a:lnTo>
                  <a:lnTo>
                    <a:pt x="1262384" y="364784"/>
                  </a:lnTo>
                  <a:lnTo>
                    <a:pt x="1276578" y="405201"/>
                  </a:lnTo>
                  <a:lnTo>
                    <a:pt x="1286923" y="446867"/>
                  </a:lnTo>
                  <a:lnTo>
                    <a:pt x="1293253" y="489645"/>
                  </a:lnTo>
                  <a:lnTo>
                    <a:pt x="1295400" y="533400"/>
                  </a:lnTo>
                  <a:lnTo>
                    <a:pt x="1293253" y="577154"/>
                  </a:lnTo>
                  <a:lnTo>
                    <a:pt x="1286923" y="619932"/>
                  </a:lnTo>
                  <a:lnTo>
                    <a:pt x="1276578" y="661598"/>
                  </a:lnTo>
                  <a:lnTo>
                    <a:pt x="1262384" y="702015"/>
                  </a:lnTo>
                  <a:lnTo>
                    <a:pt x="1244506" y="741044"/>
                  </a:lnTo>
                  <a:lnTo>
                    <a:pt x="1223113" y="778550"/>
                  </a:lnTo>
                  <a:lnTo>
                    <a:pt x="1198370" y="814395"/>
                  </a:lnTo>
                  <a:lnTo>
                    <a:pt x="1170444" y="848441"/>
                  </a:lnTo>
                  <a:lnTo>
                    <a:pt x="1139501" y="880551"/>
                  </a:lnTo>
                  <a:lnTo>
                    <a:pt x="1105709" y="910589"/>
                  </a:lnTo>
                  <a:lnTo>
                    <a:pt x="1069234" y="938418"/>
                  </a:lnTo>
                  <a:lnTo>
                    <a:pt x="1030242" y="963899"/>
                  </a:lnTo>
                  <a:lnTo>
                    <a:pt x="988900" y="986896"/>
                  </a:lnTo>
                  <a:lnTo>
                    <a:pt x="945374" y="1007272"/>
                  </a:lnTo>
                  <a:lnTo>
                    <a:pt x="899832" y="1024889"/>
                  </a:lnTo>
                  <a:lnTo>
                    <a:pt x="852440" y="1039611"/>
                  </a:lnTo>
                  <a:lnTo>
                    <a:pt x="803364" y="1051300"/>
                  </a:lnTo>
                  <a:lnTo>
                    <a:pt x="752771" y="1059820"/>
                  </a:lnTo>
                  <a:lnTo>
                    <a:pt x="700827" y="1065032"/>
                  </a:lnTo>
                  <a:lnTo>
                    <a:pt x="647700" y="1066800"/>
                  </a:lnTo>
                  <a:lnTo>
                    <a:pt x="594572" y="1065032"/>
                  </a:lnTo>
                  <a:lnTo>
                    <a:pt x="542628" y="1059820"/>
                  </a:lnTo>
                  <a:lnTo>
                    <a:pt x="492035" y="1051300"/>
                  </a:lnTo>
                  <a:lnTo>
                    <a:pt x="442959" y="1039611"/>
                  </a:lnTo>
                  <a:lnTo>
                    <a:pt x="395567" y="1024890"/>
                  </a:lnTo>
                  <a:lnTo>
                    <a:pt x="350025" y="1007272"/>
                  </a:lnTo>
                  <a:lnTo>
                    <a:pt x="306499" y="986896"/>
                  </a:lnTo>
                  <a:lnTo>
                    <a:pt x="265157" y="963899"/>
                  </a:lnTo>
                  <a:lnTo>
                    <a:pt x="226165" y="938418"/>
                  </a:lnTo>
                  <a:lnTo>
                    <a:pt x="189690" y="910590"/>
                  </a:lnTo>
                  <a:lnTo>
                    <a:pt x="155898" y="880551"/>
                  </a:lnTo>
                  <a:lnTo>
                    <a:pt x="124955" y="848441"/>
                  </a:lnTo>
                  <a:lnTo>
                    <a:pt x="97029" y="814395"/>
                  </a:lnTo>
                  <a:lnTo>
                    <a:pt x="72286" y="778550"/>
                  </a:lnTo>
                  <a:lnTo>
                    <a:pt x="50893" y="741045"/>
                  </a:lnTo>
                  <a:lnTo>
                    <a:pt x="33015" y="702015"/>
                  </a:lnTo>
                  <a:lnTo>
                    <a:pt x="18821" y="661598"/>
                  </a:lnTo>
                  <a:lnTo>
                    <a:pt x="8476" y="619932"/>
                  </a:lnTo>
                  <a:lnTo>
                    <a:pt x="2146" y="577154"/>
                  </a:lnTo>
                  <a:lnTo>
                    <a:pt x="0" y="533400"/>
                  </a:lnTo>
                  <a:close/>
                </a:path>
              </a:pathLst>
            </a:custGeom>
            <a:ln w="12700">
              <a:solidFill>
                <a:srgbClr val="009CD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960623" y="1438478"/>
            <a:ext cx="5549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>
                <a:solidFill>
                  <a:srgbClr val="000000"/>
                </a:solidFill>
              </a:rPr>
              <a:t>A</a:t>
            </a:r>
            <a:endParaRPr sz="7200"/>
          </a:p>
        </p:txBody>
      </p:sp>
      <p:grpSp>
        <p:nvGrpSpPr>
          <p:cNvPr id="15" name="object 15"/>
          <p:cNvGrpSpPr/>
          <p:nvPr/>
        </p:nvGrpSpPr>
        <p:grpSpPr>
          <a:xfrm>
            <a:off x="550163" y="4015740"/>
            <a:ext cx="1414780" cy="1310640"/>
            <a:chOff x="550163" y="4015740"/>
            <a:chExt cx="1414780" cy="1310640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0831" y="4162044"/>
              <a:ext cx="1392936" cy="116433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0163" y="4015740"/>
              <a:ext cx="1414272" cy="122834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9599" y="4191000"/>
              <a:ext cx="1295400" cy="10668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09599" y="4191000"/>
              <a:ext cx="1295400" cy="1066800"/>
            </a:xfrm>
            <a:custGeom>
              <a:avLst/>
              <a:gdLst/>
              <a:ahLst/>
              <a:cxnLst/>
              <a:rect l="l" t="t" r="r" b="b"/>
              <a:pathLst>
                <a:path w="1295400" h="1066800">
                  <a:moveTo>
                    <a:pt x="0" y="533400"/>
                  </a:moveTo>
                  <a:lnTo>
                    <a:pt x="2147" y="489645"/>
                  </a:lnTo>
                  <a:lnTo>
                    <a:pt x="8477" y="446867"/>
                  </a:lnTo>
                  <a:lnTo>
                    <a:pt x="18824" y="405201"/>
                  </a:lnTo>
                  <a:lnTo>
                    <a:pt x="33020" y="364784"/>
                  </a:lnTo>
                  <a:lnTo>
                    <a:pt x="50900" y="325754"/>
                  </a:lnTo>
                  <a:lnTo>
                    <a:pt x="72296" y="288249"/>
                  </a:lnTo>
                  <a:lnTo>
                    <a:pt x="97041" y="252404"/>
                  </a:lnTo>
                  <a:lnTo>
                    <a:pt x="124970" y="218358"/>
                  </a:lnTo>
                  <a:lnTo>
                    <a:pt x="155915" y="186248"/>
                  </a:lnTo>
                  <a:lnTo>
                    <a:pt x="189709" y="156209"/>
                  </a:lnTo>
                  <a:lnTo>
                    <a:pt x="226186" y="128381"/>
                  </a:lnTo>
                  <a:lnTo>
                    <a:pt x="265179" y="102900"/>
                  </a:lnTo>
                  <a:lnTo>
                    <a:pt x="306522" y="79903"/>
                  </a:lnTo>
                  <a:lnTo>
                    <a:pt x="350047" y="59527"/>
                  </a:lnTo>
                  <a:lnTo>
                    <a:pt x="395588" y="41909"/>
                  </a:lnTo>
                  <a:lnTo>
                    <a:pt x="442979" y="27188"/>
                  </a:lnTo>
                  <a:lnTo>
                    <a:pt x="492052" y="15499"/>
                  </a:lnTo>
                  <a:lnTo>
                    <a:pt x="542641" y="6979"/>
                  </a:lnTo>
                  <a:lnTo>
                    <a:pt x="594579" y="1767"/>
                  </a:lnTo>
                  <a:lnTo>
                    <a:pt x="647700" y="0"/>
                  </a:lnTo>
                  <a:lnTo>
                    <a:pt x="700827" y="1767"/>
                  </a:lnTo>
                  <a:lnTo>
                    <a:pt x="752771" y="6979"/>
                  </a:lnTo>
                  <a:lnTo>
                    <a:pt x="803364" y="15499"/>
                  </a:lnTo>
                  <a:lnTo>
                    <a:pt x="852440" y="27188"/>
                  </a:lnTo>
                  <a:lnTo>
                    <a:pt x="899832" y="41910"/>
                  </a:lnTo>
                  <a:lnTo>
                    <a:pt x="945374" y="59527"/>
                  </a:lnTo>
                  <a:lnTo>
                    <a:pt x="988900" y="79903"/>
                  </a:lnTo>
                  <a:lnTo>
                    <a:pt x="1030242" y="102900"/>
                  </a:lnTo>
                  <a:lnTo>
                    <a:pt x="1069234" y="128381"/>
                  </a:lnTo>
                  <a:lnTo>
                    <a:pt x="1105709" y="156210"/>
                  </a:lnTo>
                  <a:lnTo>
                    <a:pt x="1139501" y="186248"/>
                  </a:lnTo>
                  <a:lnTo>
                    <a:pt x="1170444" y="218358"/>
                  </a:lnTo>
                  <a:lnTo>
                    <a:pt x="1198370" y="252404"/>
                  </a:lnTo>
                  <a:lnTo>
                    <a:pt x="1223113" y="288249"/>
                  </a:lnTo>
                  <a:lnTo>
                    <a:pt x="1244506" y="325755"/>
                  </a:lnTo>
                  <a:lnTo>
                    <a:pt x="1262384" y="364784"/>
                  </a:lnTo>
                  <a:lnTo>
                    <a:pt x="1276578" y="405201"/>
                  </a:lnTo>
                  <a:lnTo>
                    <a:pt x="1286923" y="446867"/>
                  </a:lnTo>
                  <a:lnTo>
                    <a:pt x="1293253" y="489645"/>
                  </a:lnTo>
                  <a:lnTo>
                    <a:pt x="1295400" y="533400"/>
                  </a:lnTo>
                  <a:lnTo>
                    <a:pt x="1293253" y="577154"/>
                  </a:lnTo>
                  <a:lnTo>
                    <a:pt x="1286923" y="619932"/>
                  </a:lnTo>
                  <a:lnTo>
                    <a:pt x="1276578" y="661598"/>
                  </a:lnTo>
                  <a:lnTo>
                    <a:pt x="1262384" y="702015"/>
                  </a:lnTo>
                  <a:lnTo>
                    <a:pt x="1244506" y="741045"/>
                  </a:lnTo>
                  <a:lnTo>
                    <a:pt x="1223113" y="778550"/>
                  </a:lnTo>
                  <a:lnTo>
                    <a:pt x="1198370" y="814395"/>
                  </a:lnTo>
                  <a:lnTo>
                    <a:pt x="1170444" y="848441"/>
                  </a:lnTo>
                  <a:lnTo>
                    <a:pt x="1139501" y="880551"/>
                  </a:lnTo>
                  <a:lnTo>
                    <a:pt x="1105709" y="910590"/>
                  </a:lnTo>
                  <a:lnTo>
                    <a:pt x="1069234" y="938418"/>
                  </a:lnTo>
                  <a:lnTo>
                    <a:pt x="1030242" y="963899"/>
                  </a:lnTo>
                  <a:lnTo>
                    <a:pt x="988900" y="986896"/>
                  </a:lnTo>
                  <a:lnTo>
                    <a:pt x="945374" y="1007272"/>
                  </a:lnTo>
                  <a:lnTo>
                    <a:pt x="899832" y="1024890"/>
                  </a:lnTo>
                  <a:lnTo>
                    <a:pt x="852440" y="1039611"/>
                  </a:lnTo>
                  <a:lnTo>
                    <a:pt x="803364" y="1051300"/>
                  </a:lnTo>
                  <a:lnTo>
                    <a:pt x="752771" y="1059820"/>
                  </a:lnTo>
                  <a:lnTo>
                    <a:pt x="700827" y="1065032"/>
                  </a:lnTo>
                  <a:lnTo>
                    <a:pt x="647700" y="1066800"/>
                  </a:lnTo>
                  <a:lnTo>
                    <a:pt x="594577" y="1065032"/>
                  </a:lnTo>
                  <a:lnTo>
                    <a:pt x="542638" y="1059820"/>
                  </a:lnTo>
                  <a:lnTo>
                    <a:pt x="492048" y="1051300"/>
                  </a:lnTo>
                  <a:lnTo>
                    <a:pt x="442974" y="1039611"/>
                  </a:lnTo>
                  <a:lnTo>
                    <a:pt x="395583" y="1024890"/>
                  </a:lnTo>
                  <a:lnTo>
                    <a:pt x="350041" y="1007272"/>
                  </a:lnTo>
                  <a:lnTo>
                    <a:pt x="306516" y="986896"/>
                  </a:lnTo>
                  <a:lnTo>
                    <a:pt x="265174" y="963899"/>
                  </a:lnTo>
                  <a:lnTo>
                    <a:pt x="226181" y="938418"/>
                  </a:lnTo>
                  <a:lnTo>
                    <a:pt x="189704" y="910589"/>
                  </a:lnTo>
                  <a:lnTo>
                    <a:pt x="155910" y="880551"/>
                  </a:lnTo>
                  <a:lnTo>
                    <a:pt x="124966" y="848441"/>
                  </a:lnTo>
                  <a:lnTo>
                    <a:pt x="97038" y="814395"/>
                  </a:lnTo>
                  <a:lnTo>
                    <a:pt x="72293" y="778550"/>
                  </a:lnTo>
                  <a:lnTo>
                    <a:pt x="50898" y="741044"/>
                  </a:lnTo>
                  <a:lnTo>
                    <a:pt x="33019" y="702015"/>
                  </a:lnTo>
                  <a:lnTo>
                    <a:pt x="18823" y="661598"/>
                  </a:lnTo>
                  <a:lnTo>
                    <a:pt x="8477" y="619932"/>
                  </a:lnTo>
                  <a:lnTo>
                    <a:pt x="2147" y="577154"/>
                  </a:lnTo>
                  <a:lnTo>
                    <a:pt x="0" y="533400"/>
                  </a:lnTo>
                  <a:close/>
                </a:path>
              </a:pathLst>
            </a:custGeom>
            <a:ln w="12700">
              <a:solidFill>
                <a:srgbClr val="009CD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4820411" y="4015740"/>
            <a:ext cx="1407160" cy="1310640"/>
            <a:chOff x="4820411" y="4015740"/>
            <a:chExt cx="1407160" cy="1310640"/>
          </a:xfrm>
        </p:grpSpPr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28031" y="4162044"/>
              <a:ext cx="1392936" cy="116433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20411" y="4015740"/>
              <a:ext cx="1406652" cy="122834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76799" y="4191000"/>
              <a:ext cx="1295400" cy="10668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876799" y="4191000"/>
              <a:ext cx="1295400" cy="1066800"/>
            </a:xfrm>
            <a:custGeom>
              <a:avLst/>
              <a:gdLst/>
              <a:ahLst/>
              <a:cxnLst/>
              <a:rect l="l" t="t" r="r" b="b"/>
              <a:pathLst>
                <a:path w="1295400" h="1066800">
                  <a:moveTo>
                    <a:pt x="0" y="533400"/>
                  </a:moveTo>
                  <a:lnTo>
                    <a:pt x="2146" y="489645"/>
                  </a:lnTo>
                  <a:lnTo>
                    <a:pt x="8476" y="446867"/>
                  </a:lnTo>
                  <a:lnTo>
                    <a:pt x="18821" y="405201"/>
                  </a:lnTo>
                  <a:lnTo>
                    <a:pt x="33015" y="364784"/>
                  </a:lnTo>
                  <a:lnTo>
                    <a:pt x="50893" y="325754"/>
                  </a:lnTo>
                  <a:lnTo>
                    <a:pt x="72286" y="288249"/>
                  </a:lnTo>
                  <a:lnTo>
                    <a:pt x="97029" y="252404"/>
                  </a:lnTo>
                  <a:lnTo>
                    <a:pt x="124955" y="218358"/>
                  </a:lnTo>
                  <a:lnTo>
                    <a:pt x="155898" y="186248"/>
                  </a:lnTo>
                  <a:lnTo>
                    <a:pt x="189690" y="156209"/>
                  </a:lnTo>
                  <a:lnTo>
                    <a:pt x="226165" y="128381"/>
                  </a:lnTo>
                  <a:lnTo>
                    <a:pt x="265157" y="102900"/>
                  </a:lnTo>
                  <a:lnTo>
                    <a:pt x="306499" y="79903"/>
                  </a:lnTo>
                  <a:lnTo>
                    <a:pt x="350025" y="59527"/>
                  </a:lnTo>
                  <a:lnTo>
                    <a:pt x="395567" y="41909"/>
                  </a:lnTo>
                  <a:lnTo>
                    <a:pt x="442959" y="27188"/>
                  </a:lnTo>
                  <a:lnTo>
                    <a:pt x="492035" y="15499"/>
                  </a:lnTo>
                  <a:lnTo>
                    <a:pt x="542628" y="6979"/>
                  </a:lnTo>
                  <a:lnTo>
                    <a:pt x="594572" y="1767"/>
                  </a:lnTo>
                  <a:lnTo>
                    <a:pt x="647700" y="0"/>
                  </a:lnTo>
                  <a:lnTo>
                    <a:pt x="700827" y="1767"/>
                  </a:lnTo>
                  <a:lnTo>
                    <a:pt x="752771" y="6979"/>
                  </a:lnTo>
                  <a:lnTo>
                    <a:pt x="803364" y="15499"/>
                  </a:lnTo>
                  <a:lnTo>
                    <a:pt x="852440" y="27188"/>
                  </a:lnTo>
                  <a:lnTo>
                    <a:pt x="899832" y="41910"/>
                  </a:lnTo>
                  <a:lnTo>
                    <a:pt x="945374" y="59527"/>
                  </a:lnTo>
                  <a:lnTo>
                    <a:pt x="988900" y="79903"/>
                  </a:lnTo>
                  <a:lnTo>
                    <a:pt x="1030242" y="102900"/>
                  </a:lnTo>
                  <a:lnTo>
                    <a:pt x="1069234" y="128381"/>
                  </a:lnTo>
                  <a:lnTo>
                    <a:pt x="1105709" y="156210"/>
                  </a:lnTo>
                  <a:lnTo>
                    <a:pt x="1139501" y="186248"/>
                  </a:lnTo>
                  <a:lnTo>
                    <a:pt x="1170444" y="218358"/>
                  </a:lnTo>
                  <a:lnTo>
                    <a:pt x="1198370" y="252404"/>
                  </a:lnTo>
                  <a:lnTo>
                    <a:pt x="1223113" y="288249"/>
                  </a:lnTo>
                  <a:lnTo>
                    <a:pt x="1244506" y="325755"/>
                  </a:lnTo>
                  <a:lnTo>
                    <a:pt x="1262384" y="364784"/>
                  </a:lnTo>
                  <a:lnTo>
                    <a:pt x="1276578" y="405201"/>
                  </a:lnTo>
                  <a:lnTo>
                    <a:pt x="1286923" y="446867"/>
                  </a:lnTo>
                  <a:lnTo>
                    <a:pt x="1293253" y="489645"/>
                  </a:lnTo>
                  <a:lnTo>
                    <a:pt x="1295400" y="533400"/>
                  </a:lnTo>
                  <a:lnTo>
                    <a:pt x="1293253" y="577154"/>
                  </a:lnTo>
                  <a:lnTo>
                    <a:pt x="1286923" y="619932"/>
                  </a:lnTo>
                  <a:lnTo>
                    <a:pt x="1276578" y="661598"/>
                  </a:lnTo>
                  <a:lnTo>
                    <a:pt x="1262384" y="702015"/>
                  </a:lnTo>
                  <a:lnTo>
                    <a:pt x="1244506" y="741045"/>
                  </a:lnTo>
                  <a:lnTo>
                    <a:pt x="1223113" y="778550"/>
                  </a:lnTo>
                  <a:lnTo>
                    <a:pt x="1198370" y="814395"/>
                  </a:lnTo>
                  <a:lnTo>
                    <a:pt x="1170444" y="848441"/>
                  </a:lnTo>
                  <a:lnTo>
                    <a:pt x="1139501" y="880551"/>
                  </a:lnTo>
                  <a:lnTo>
                    <a:pt x="1105709" y="910590"/>
                  </a:lnTo>
                  <a:lnTo>
                    <a:pt x="1069234" y="938418"/>
                  </a:lnTo>
                  <a:lnTo>
                    <a:pt x="1030242" y="963899"/>
                  </a:lnTo>
                  <a:lnTo>
                    <a:pt x="988900" y="986896"/>
                  </a:lnTo>
                  <a:lnTo>
                    <a:pt x="945374" y="1007272"/>
                  </a:lnTo>
                  <a:lnTo>
                    <a:pt x="899832" y="1024890"/>
                  </a:lnTo>
                  <a:lnTo>
                    <a:pt x="852440" y="1039611"/>
                  </a:lnTo>
                  <a:lnTo>
                    <a:pt x="803364" y="1051300"/>
                  </a:lnTo>
                  <a:lnTo>
                    <a:pt x="752771" y="1059820"/>
                  </a:lnTo>
                  <a:lnTo>
                    <a:pt x="700827" y="1065032"/>
                  </a:lnTo>
                  <a:lnTo>
                    <a:pt x="647700" y="1066800"/>
                  </a:lnTo>
                  <a:lnTo>
                    <a:pt x="594572" y="1065032"/>
                  </a:lnTo>
                  <a:lnTo>
                    <a:pt x="542628" y="1059820"/>
                  </a:lnTo>
                  <a:lnTo>
                    <a:pt x="492035" y="1051300"/>
                  </a:lnTo>
                  <a:lnTo>
                    <a:pt x="442959" y="1039611"/>
                  </a:lnTo>
                  <a:lnTo>
                    <a:pt x="395567" y="1024890"/>
                  </a:lnTo>
                  <a:lnTo>
                    <a:pt x="350025" y="1007272"/>
                  </a:lnTo>
                  <a:lnTo>
                    <a:pt x="306499" y="986896"/>
                  </a:lnTo>
                  <a:lnTo>
                    <a:pt x="265157" y="963899"/>
                  </a:lnTo>
                  <a:lnTo>
                    <a:pt x="226165" y="938418"/>
                  </a:lnTo>
                  <a:lnTo>
                    <a:pt x="189690" y="910589"/>
                  </a:lnTo>
                  <a:lnTo>
                    <a:pt x="155898" y="880551"/>
                  </a:lnTo>
                  <a:lnTo>
                    <a:pt x="124955" y="848441"/>
                  </a:lnTo>
                  <a:lnTo>
                    <a:pt x="97029" y="814395"/>
                  </a:lnTo>
                  <a:lnTo>
                    <a:pt x="72286" y="778550"/>
                  </a:lnTo>
                  <a:lnTo>
                    <a:pt x="50893" y="741044"/>
                  </a:lnTo>
                  <a:lnTo>
                    <a:pt x="33015" y="702015"/>
                  </a:lnTo>
                  <a:lnTo>
                    <a:pt x="18821" y="661598"/>
                  </a:lnTo>
                  <a:lnTo>
                    <a:pt x="8476" y="619932"/>
                  </a:lnTo>
                  <a:lnTo>
                    <a:pt x="2146" y="577154"/>
                  </a:lnTo>
                  <a:lnTo>
                    <a:pt x="0" y="533400"/>
                  </a:lnTo>
                  <a:close/>
                </a:path>
              </a:pathLst>
            </a:custGeom>
            <a:ln w="12700">
              <a:solidFill>
                <a:srgbClr val="009CD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40739" y="4052880"/>
            <a:ext cx="1056640" cy="159194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208915">
              <a:lnSpc>
                <a:spcPct val="100000"/>
              </a:lnSpc>
              <a:spcBef>
                <a:spcPts val="1310"/>
              </a:spcBef>
            </a:pPr>
            <a:r>
              <a:rPr sz="6000" dirty="0">
                <a:latin typeface="Times New Roman" pitchFamily="18" charset="0"/>
                <a:cs typeface="Calibri"/>
              </a:rPr>
              <a:t>B</a:t>
            </a:r>
            <a:endParaRPr sz="6000">
              <a:latin typeface="Times New Roman" pitchFamily="18" charset="0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  <a:tabLst>
                <a:tab pos="502284" algn="l"/>
              </a:tabLst>
            </a:pPr>
            <a:r>
              <a:rPr sz="2800" b="1" spc="-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S	$10</a:t>
            </a:r>
            <a:endParaRPr sz="2800">
              <a:latin typeface="Times New Roman" pitchFamily="18" charset="0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40739" y="5497779"/>
            <a:ext cx="10382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4505" algn="l"/>
              </a:tabLst>
            </a:pPr>
            <a:r>
              <a:rPr sz="2800" b="1" spc="-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L	$14</a:t>
            </a:r>
            <a:endParaRPr sz="2800">
              <a:latin typeface="Times New Roman" pitchFamily="18" charset="0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08828" y="4052880"/>
            <a:ext cx="1038225" cy="159194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212090">
              <a:lnSpc>
                <a:spcPct val="100000"/>
              </a:lnSpc>
              <a:spcBef>
                <a:spcPts val="1310"/>
              </a:spcBef>
            </a:pPr>
            <a:r>
              <a:rPr sz="6000" dirty="0">
                <a:latin typeface="Times New Roman" pitchFamily="18" charset="0"/>
                <a:cs typeface="Calibri"/>
              </a:rPr>
              <a:t>C</a:t>
            </a:r>
            <a:endParaRPr sz="6000">
              <a:latin typeface="Times New Roman" pitchFamily="18" charset="0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  <a:tabLst>
                <a:tab pos="483870" algn="l"/>
              </a:tabLst>
            </a:pPr>
            <a:r>
              <a:rPr sz="2800" b="1" spc="-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L	$12</a:t>
            </a:r>
            <a:endParaRPr sz="2800">
              <a:latin typeface="Times New Roman" pitchFamily="18" charset="0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08828" y="5497779"/>
            <a:ext cx="10560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2284" algn="l"/>
              </a:tabLst>
            </a:pPr>
            <a:r>
              <a:rPr sz="2800" b="1" spc="-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S	$14</a:t>
            </a:r>
            <a:endParaRPr sz="2800">
              <a:latin typeface="Times New Roman" pitchFamily="18" charset="0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593594" y="2525394"/>
            <a:ext cx="1453515" cy="1137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ts val="2880"/>
              </a:lnSpc>
              <a:spcBef>
                <a:spcPts val="95"/>
              </a:spcBef>
              <a:tabLst>
                <a:tab pos="636905" algn="l"/>
              </a:tabLst>
            </a:pPr>
            <a:r>
              <a:rPr sz="2800" b="1" spc="-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L	$10</a:t>
            </a:r>
            <a:endParaRPr sz="2800">
              <a:latin typeface="Times New Roman" pitchFamily="18" charset="0"/>
              <a:cs typeface="Calibri"/>
            </a:endParaRPr>
          </a:p>
          <a:p>
            <a:pPr marL="165100">
              <a:lnSpc>
                <a:spcPts val="2700"/>
              </a:lnSpc>
              <a:tabLst>
                <a:tab pos="654685" algn="l"/>
              </a:tabLst>
            </a:pPr>
            <a:r>
              <a:rPr sz="2800" b="1" spc="-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S	$12</a:t>
            </a:r>
            <a:endParaRPr sz="2800">
              <a:latin typeface="Times New Roman" pitchFamily="18" charset="0"/>
              <a:cs typeface="Calibri"/>
            </a:endParaRPr>
          </a:p>
          <a:p>
            <a:pPr marL="12700">
              <a:lnSpc>
                <a:spcPts val="3180"/>
              </a:lnSpc>
              <a:tabLst>
                <a:tab pos="1080135" algn="l"/>
              </a:tabLst>
            </a:pPr>
            <a:r>
              <a:rPr sz="2800" b="1" spc="-10" dirty="0">
                <a:latin typeface="Times New Roman" pitchFamily="18" charset="0"/>
                <a:cs typeface="Calibri"/>
              </a:rPr>
              <a:t>P</a:t>
            </a:r>
            <a:r>
              <a:rPr sz="2800" b="1" spc="-40" dirty="0">
                <a:latin typeface="Times New Roman" pitchFamily="18" charset="0"/>
                <a:cs typeface="Calibri"/>
              </a:rPr>
              <a:t>r</a:t>
            </a:r>
            <a:r>
              <a:rPr sz="2800" b="1" spc="-5" dirty="0">
                <a:latin typeface="Times New Roman" pitchFamily="18" charset="0"/>
                <a:cs typeface="Calibri"/>
              </a:rPr>
              <a:t>ofit</a:t>
            </a:r>
            <a:r>
              <a:rPr sz="2800" b="1" dirty="0">
                <a:latin typeface="Times New Roman" pitchFamily="18" charset="0"/>
                <a:cs typeface="Calibri"/>
              </a:rPr>
              <a:t>	</a:t>
            </a:r>
            <a:r>
              <a:rPr sz="2800" b="1" spc="-5" dirty="0">
                <a:latin typeface="Times New Roman" pitchFamily="18" charset="0"/>
                <a:cs typeface="Calibri"/>
              </a:rPr>
              <a:t>$2</a:t>
            </a:r>
            <a:endParaRPr sz="2800">
              <a:latin typeface="Times New Roman" pitchFamily="18" charset="0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88340" y="5802579"/>
            <a:ext cx="12509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77569" algn="l"/>
              </a:tabLst>
            </a:pPr>
            <a:r>
              <a:rPr sz="2800" b="1" spc="-5" dirty="0">
                <a:latin typeface="Times New Roman" pitchFamily="18" charset="0"/>
                <a:cs typeface="Calibri"/>
              </a:rPr>
              <a:t>Loss	$4</a:t>
            </a:r>
            <a:endParaRPr sz="2800">
              <a:latin typeface="Times New Roman" pitchFamily="18" charset="0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879975" y="5802579"/>
            <a:ext cx="14535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80135" algn="l"/>
              </a:tabLst>
            </a:pPr>
            <a:r>
              <a:rPr sz="2800" b="1" spc="-10" dirty="0">
                <a:latin typeface="Times New Roman" pitchFamily="18" charset="0"/>
                <a:cs typeface="Calibri"/>
              </a:rPr>
              <a:t>P</a:t>
            </a:r>
            <a:r>
              <a:rPr sz="2800" b="1" spc="-40" dirty="0">
                <a:latin typeface="Times New Roman" pitchFamily="18" charset="0"/>
                <a:cs typeface="Calibri"/>
              </a:rPr>
              <a:t>r</a:t>
            </a:r>
            <a:r>
              <a:rPr sz="2800" b="1" spc="-5" dirty="0">
                <a:latin typeface="Times New Roman" pitchFamily="18" charset="0"/>
                <a:cs typeface="Calibri"/>
              </a:rPr>
              <a:t>ofit</a:t>
            </a:r>
            <a:r>
              <a:rPr sz="2800" b="1" dirty="0">
                <a:latin typeface="Times New Roman" pitchFamily="18" charset="0"/>
                <a:cs typeface="Calibri"/>
              </a:rPr>
              <a:t>	</a:t>
            </a:r>
            <a:r>
              <a:rPr sz="2800" b="1" spc="-5" dirty="0">
                <a:latin typeface="Times New Roman" pitchFamily="18" charset="0"/>
                <a:cs typeface="Calibri"/>
              </a:rPr>
              <a:t>$2</a:t>
            </a:r>
            <a:endParaRPr sz="2800">
              <a:latin typeface="Times New Roman" pitchFamily="18" charset="0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266688" y="1418844"/>
            <a:ext cx="2691765" cy="2612390"/>
            <a:chOff x="6266688" y="1418844"/>
            <a:chExt cx="2691765" cy="2612390"/>
          </a:xfrm>
        </p:grpSpPr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352032" y="1418844"/>
              <a:ext cx="2535936" cy="261213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66688" y="1493520"/>
              <a:ext cx="2691384" cy="237134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400800" y="1447800"/>
              <a:ext cx="2438400" cy="251460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400800" y="1447800"/>
              <a:ext cx="2438400" cy="2514600"/>
            </a:xfrm>
            <a:custGeom>
              <a:avLst/>
              <a:gdLst/>
              <a:ahLst/>
              <a:cxnLst/>
              <a:rect l="l" t="t" r="r" b="b"/>
              <a:pathLst>
                <a:path w="2438400" h="2514600">
                  <a:moveTo>
                    <a:pt x="0" y="2514600"/>
                  </a:moveTo>
                  <a:lnTo>
                    <a:pt x="2438400" y="2514600"/>
                  </a:lnTo>
                  <a:lnTo>
                    <a:pt x="2438400" y="0"/>
                  </a:lnTo>
                  <a:lnTo>
                    <a:pt x="0" y="0"/>
                  </a:lnTo>
                  <a:lnTo>
                    <a:pt x="0" y="2514600"/>
                  </a:lnTo>
                  <a:close/>
                </a:path>
              </a:pathLst>
            </a:custGeom>
            <a:ln w="12700">
              <a:solidFill>
                <a:srgbClr val="009CD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593205" y="1575561"/>
            <a:ext cx="2053589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53085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latin typeface="Times New Roman" pitchFamily="18" charset="0"/>
                <a:cs typeface="Calibri"/>
              </a:rPr>
              <a:t>Market </a:t>
            </a:r>
            <a:r>
              <a:rPr sz="2400" b="1" spc="-10" dirty="0">
                <a:latin typeface="Times New Roman" pitchFamily="18" charset="0"/>
                <a:cs typeface="Calibri"/>
              </a:rPr>
              <a:t> </a:t>
            </a:r>
            <a:r>
              <a:rPr sz="2400" b="1" spc="-5" dirty="0">
                <a:latin typeface="Times New Roman" pitchFamily="18" charset="0"/>
                <a:cs typeface="Calibri"/>
              </a:rPr>
              <a:t>Price/Spot</a:t>
            </a:r>
            <a:r>
              <a:rPr sz="2400" b="1" spc="-95" dirty="0">
                <a:latin typeface="Times New Roman" pitchFamily="18" charset="0"/>
                <a:cs typeface="Calibri"/>
              </a:rPr>
              <a:t> </a:t>
            </a:r>
            <a:r>
              <a:rPr sz="2400" b="1" spc="-5" dirty="0">
                <a:latin typeface="Times New Roman" pitchFamily="18" charset="0"/>
                <a:cs typeface="Calibri"/>
              </a:rPr>
              <a:t>Price</a:t>
            </a:r>
            <a:endParaRPr sz="2400">
              <a:latin typeface="Times New Roman" pitchFamily="18" charset="0"/>
              <a:cs typeface="Calibri"/>
            </a:endParaRPr>
          </a:p>
        </p:txBody>
      </p:sp>
      <p:graphicFrame>
        <p:nvGraphicFramePr>
          <p:cNvPr id="38" name="object 38"/>
          <p:cNvGraphicFramePr>
            <a:graphicFrameLocks noGrp="1"/>
          </p:cNvGraphicFramePr>
          <p:nvPr/>
        </p:nvGraphicFramePr>
        <p:xfrm>
          <a:off x="6461378" y="2762123"/>
          <a:ext cx="2304414" cy="103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4105"/>
                <a:gridCol w="1210309"/>
              </a:tblGrid>
              <a:tr h="335279">
                <a:tc>
                  <a:txBody>
                    <a:bodyPr/>
                    <a:lstStyle/>
                    <a:p>
                      <a:pPr marL="31750">
                        <a:lnSpc>
                          <a:spcPts val="2280"/>
                        </a:lnSpc>
                      </a:pPr>
                      <a:r>
                        <a:rPr sz="2400" b="1" spc="-5" dirty="0">
                          <a:latin typeface="Times New Roman" pitchFamily="18" charset="0"/>
                          <a:cs typeface="Calibri"/>
                        </a:rPr>
                        <a:t>D1</a:t>
                      </a:r>
                      <a:endParaRPr sz="24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280"/>
                        </a:lnSpc>
                      </a:pPr>
                      <a:r>
                        <a:rPr sz="2400" b="1" spc="-5" dirty="0">
                          <a:latin typeface="Times New Roman" pitchFamily="18" charset="0"/>
                          <a:cs typeface="Calibri"/>
                        </a:rPr>
                        <a:t>$10</a:t>
                      </a:r>
                      <a:endParaRPr sz="24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0" marB="0"/>
                </a:tc>
              </a:tr>
              <a:tr h="365760">
                <a:tc>
                  <a:txBody>
                    <a:bodyPr/>
                    <a:lstStyle/>
                    <a:p>
                      <a:pPr marL="31750">
                        <a:lnSpc>
                          <a:spcPts val="2520"/>
                        </a:lnSpc>
                      </a:pPr>
                      <a:r>
                        <a:rPr sz="2400" b="1" spc="-5" dirty="0">
                          <a:latin typeface="Times New Roman" pitchFamily="18" charset="0"/>
                          <a:cs typeface="Calibri"/>
                        </a:rPr>
                        <a:t>D2</a:t>
                      </a:r>
                      <a:endParaRPr sz="24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520"/>
                        </a:lnSpc>
                      </a:pPr>
                      <a:r>
                        <a:rPr sz="2400" b="1" spc="-5" dirty="0">
                          <a:latin typeface="Times New Roman" pitchFamily="18" charset="0"/>
                          <a:cs typeface="Calibri"/>
                        </a:rPr>
                        <a:t>$12</a:t>
                      </a:r>
                      <a:endParaRPr sz="24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0" marB="0"/>
                </a:tc>
              </a:tr>
              <a:tr h="335279">
                <a:tc>
                  <a:txBody>
                    <a:bodyPr/>
                    <a:lstStyle/>
                    <a:p>
                      <a:pPr marL="31750">
                        <a:lnSpc>
                          <a:spcPts val="2520"/>
                        </a:lnSpc>
                      </a:pPr>
                      <a:r>
                        <a:rPr sz="2400" b="1" spc="-5" dirty="0">
                          <a:latin typeface="Times New Roman" pitchFamily="18" charset="0"/>
                          <a:cs typeface="Calibri"/>
                        </a:rPr>
                        <a:t>D3</a:t>
                      </a:r>
                      <a:endParaRPr sz="24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520"/>
                        </a:lnSpc>
                      </a:pPr>
                      <a:r>
                        <a:rPr sz="2400" b="1" spc="-5" dirty="0">
                          <a:latin typeface="Times New Roman" pitchFamily="18" charset="0"/>
                          <a:cs typeface="Calibri"/>
                        </a:rPr>
                        <a:t>$14</a:t>
                      </a:r>
                      <a:endParaRPr sz="24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7368" y="708406"/>
            <a:ext cx="6851650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Types </a:t>
            </a:r>
            <a:r>
              <a:rPr spc="-5" dirty="0"/>
              <a:t>of</a:t>
            </a:r>
            <a:r>
              <a:rPr spc="-20" dirty="0"/>
              <a:t> </a:t>
            </a:r>
            <a:r>
              <a:rPr spc="-10" dirty="0"/>
              <a:t>Futures</a:t>
            </a:r>
            <a:r>
              <a:rPr spc="-55" dirty="0"/>
              <a:t> </a:t>
            </a:r>
            <a:r>
              <a:rPr spc="-20" dirty="0"/>
              <a:t>Contracts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947418"/>
            <a:ext cx="7904480" cy="2721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10" dirty="0">
                <a:latin typeface="Times New Roman" pitchFamily="18" charset="0"/>
                <a:cs typeface="Calibri"/>
              </a:rPr>
              <a:t>Stock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Futures</a:t>
            </a:r>
            <a:r>
              <a:rPr sz="2600" spc="-30" dirty="0">
                <a:latin typeface="Times New Roman" pitchFamily="18" charset="0"/>
                <a:cs typeface="Calibri"/>
              </a:rPr>
              <a:t> Trading</a:t>
            </a:r>
            <a:r>
              <a:rPr sz="2600" spc="-4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(dealing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with</a:t>
            </a:r>
            <a:r>
              <a:rPr sz="2600" spc="-1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shares)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AD0D9"/>
              </a:buClr>
              <a:buFont typeface="Segoe UI Symbol"/>
              <a:buChar char="⚫"/>
            </a:pPr>
            <a:endParaRPr sz="3550">
              <a:latin typeface="Times New Roman" pitchFamily="18" charset="0"/>
              <a:cs typeface="Calibri"/>
            </a:endParaRPr>
          </a:p>
          <a:p>
            <a:pPr marL="286385" marR="307340" indent="-274320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5" dirty="0">
                <a:latin typeface="Times New Roman" pitchFamily="18" charset="0"/>
                <a:cs typeface="Calibri"/>
              </a:rPr>
              <a:t>Commodity Futures </a:t>
            </a:r>
            <a:r>
              <a:rPr sz="2600" spc="-30" dirty="0">
                <a:latin typeface="Times New Roman" pitchFamily="18" charset="0"/>
                <a:cs typeface="Calibri"/>
              </a:rPr>
              <a:t>Trading </a:t>
            </a:r>
            <a:r>
              <a:rPr sz="2600" spc="-5" dirty="0">
                <a:latin typeface="Times New Roman" pitchFamily="18" charset="0"/>
                <a:cs typeface="Calibri"/>
              </a:rPr>
              <a:t>(dealing </a:t>
            </a:r>
            <a:r>
              <a:rPr sz="2600" dirty="0">
                <a:latin typeface="Times New Roman" pitchFamily="18" charset="0"/>
                <a:cs typeface="Calibri"/>
              </a:rPr>
              <a:t>with </a:t>
            </a:r>
            <a:r>
              <a:rPr sz="2600" spc="-5" dirty="0">
                <a:latin typeface="Times New Roman" pitchFamily="18" charset="0"/>
                <a:cs typeface="Calibri"/>
              </a:rPr>
              <a:t>gold </a:t>
            </a:r>
            <a:r>
              <a:rPr sz="2600" spc="-10" dirty="0">
                <a:latin typeface="Times New Roman" pitchFamily="18" charset="0"/>
                <a:cs typeface="Calibri"/>
              </a:rPr>
              <a:t>futures, </a:t>
            </a:r>
            <a:r>
              <a:rPr sz="2600" spc="-57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crude</a:t>
            </a:r>
            <a:r>
              <a:rPr sz="2600" spc="-3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oil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futures)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AD0D9"/>
              </a:buClr>
              <a:buFont typeface="Segoe UI Symbol"/>
              <a:buChar char="⚫"/>
            </a:pPr>
            <a:endParaRPr sz="3550">
              <a:latin typeface="Times New Roman" pitchFamily="18" charset="0"/>
              <a:cs typeface="Calibri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10" dirty="0">
                <a:latin typeface="Times New Roman" pitchFamily="18" charset="0"/>
                <a:cs typeface="Calibri"/>
              </a:rPr>
              <a:t>Index</a:t>
            </a:r>
            <a:r>
              <a:rPr sz="2600" spc="-5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Futures</a:t>
            </a:r>
            <a:r>
              <a:rPr sz="2600" spc="-25" dirty="0">
                <a:latin typeface="Times New Roman" pitchFamily="18" charset="0"/>
                <a:cs typeface="Calibri"/>
              </a:rPr>
              <a:t> </a:t>
            </a:r>
            <a:r>
              <a:rPr sz="2600" spc="-30" dirty="0">
                <a:latin typeface="Times New Roman" pitchFamily="18" charset="0"/>
                <a:cs typeface="Calibri"/>
              </a:rPr>
              <a:t>Trading</a:t>
            </a:r>
            <a:r>
              <a:rPr sz="2600" spc="-4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(dealing </a:t>
            </a:r>
            <a:r>
              <a:rPr sz="2600" dirty="0">
                <a:latin typeface="Times New Roman" pitchFamily="18" charset="0"/>
                <a:cs typeface="Calibri"/>
              </a:rPr>
              <a:t>with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stock market</a:t>
            </a:r>
            <a:r>
              <a:rPr sz="2600" spc="-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indices)</a:t>
            </a:r>
            <a:endParaRPr sz="26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0094" y="708406"/>
            <a:ext cx="6619240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-5" dirty="0"/>
              <a:t>Closing</a:t>
            </a:r>
            <a:r>
              <a:rPr sz="4800" spc="-60" dirty="0"/>
              <a:t> </a:t>
            </a:r>
            <a:r>
              <a:rPr sz="4800" dirty="0"/>
              <a:t>a</a:t>
            </a:r>
            <a:r>
              <a:rPr sz="4800" spc="-15" dirty="0"/>
              <a:t> </a:t>
            </a:r>
            <a:r>
              <a:rPr sz="4800" spc="-10" dirty="0"/>
              <a:t>Futures</a:t>
            </a:r>
            <a:r>
              <a:rPr sz="4800" spc="-50" dirty="0"/>
              <a:t> </a:t>
            </a:r>
            <a:r>
              <a:rPr sz="4800" spc="-20" dirty="0"/>
              <a:t>Position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840738"/>
            <a:ext cx="8019415" cy="39068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152400" indent="-274320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5" dirty="0">
                <a:latin typeface="Times New Roman" pitchFamily="18" charset="0"/>
                <a:cs typeface="Calibri"/>
              </a:rPr>
              <a:t>Most </a:t>
            </a:r>
            <a:r>
              <a:rPr sz="2600" spc="-10" dirty="0">
                <a:latin typeface="Times New Roman" pitchFamily="18" charset="0"/>
                <a:cs typeface="Calibri"/>
              </a:rPr>
              <a:t>futures contracts are </a:t>
            </a:r>
            <a:r>
              <a:rPr sz="2600" spc="-5" dirty="0">
                <a:latin typeface="Times New Roman" pitchFamily="18" charset="0"/>
                <a:cs typeface="Calibri"/>
              </a:rPr>
              <a:t>not held </a:t>
            </a:r>
            <a:r>
              <a:rPr sz="2600" dirty="0">
                <a:latin typeface="Times New Roman" pitchFamily="18" charset="0"/>
                <a:cs typeface="Calibri"/>
              </a:rPr>
              <a:t>till </a:t>
            </a:r>
            <a:r>
              <a:rPr sz="2600" spc="-30" dirty="0">
                <a:latin typeface="Times New Roman" pitchFamily="18" charset="0"/>
                <a:cs typeface="Calibri"/>
              </a:rPr>
              <a:t>expiry, </a:t>
            </a:r>
            <a:r>
              <a:rPr sz="2600" spc="-5" dirty="0">
                <a:latin typeface="Times New Roman" pitchFamily="18" charset="0"/>
                <a:cs typeface="Calibri"/>
              </a:rPr>
              <a:t>but </a:t>
            </a:r>
            <a:r>
              <a:rPr sz="2600" dirty="0">
                <a:latin typeface="Times New Roman" pitchFamily="18" charset="0"/>
                <a:cs typeface="Calibri"/>
              </a:rPr>
              <a:t>closed </a:t>
            </a:r>
            <a:r>
              <a:rPr sz="2600" spc="-575" dirty="0">
                <a:latin typeface="Times New Roman" pitchFamily="18" charset="0"/>
                <a:cs typeface="Calibri"/>
              </a:rPr>
              <a:t> </a:t>
            </a:r>
            <a:r>
              <a:rPr sz="2600" spc="-25" dirty="0">
                <a:latin typeface="Times New Roman" pitchFamily="18" charset="0"/>
                <a:cs typeface="Calibri"/>
              </a:rPr>
              <a:t>before</a:t>
            </a:r>
            <a:r>
              <a:rPr sz="2600" spc="-3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that.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AD0D9"/>
              </a:buClr>
              <a:buFont typeface="Segoe UI Symbol"/>
              <a:buChar char="⚫"/>
            </a:pPr>
            <a:endParaRPr sz="3550">
              <a:latin typeface="Times New Roman" pitchFamily="18" charset="0"/>
              <a:cs typeface="Calibri"/>
            </a:endParaRPr>
          </a:p>
          <a:p>
            <a:pPr marL="286385" marR="5080" indent="-274320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 pitchFamily="18" charset="0"/>
                <a:cs typeface="Calibri"/>
              </a:rPr>
              <a:t>If </a:t>
            </a:r>
            <a:r>
              <a:rPr sz="2600" spc="-5" dirty="0">
                <a:latin typeface="Times New Roman" pitchFamily="18" charset="0"/>
                <a:cs typeface="Calibri"/>
              </a:rPr>
              <a:t>held </a:t>
            </a:r>
            <a:r>
              <a:rPr sz="2600" dirty="0">
                <a:latin typeface="Times New Roman" pitchFamily="18" charset="0"/>
                <a:cs typeface="Calibri"/>
              </a:rPr>
              <a:t>till </a:t>
            </a:r>
            <a:r>
              <a:rPr sz="2600" spc="-30" dirty="0">
                <a:latin typeface="Times New Roman" pitchFamily="18" charset="0"/>
                <a:cs typeface="Calibri"/>
              </a:rPr>
              <a:t>expiry, </a:t>
            </a:r>
            <a:r>
              <a:rPr sz="2600" spc="-5" dirty="0">
                <a:latin typeface="Times New Roman" pitchFamily="18" charset="0"/>
                <a:cs typeface="Calibri"/>
              </a:rPr>
              <a:t>they </a:t>
            </a:r>
            <a:r>
              <a:rPr sz="2600" spc="-10" dirty="0">
                <a:latin typeface="Times New Roman" pitchFamily="18" charset="0"/>
                <a:cs typeface="Calibri"/>
              </a:rPr>
              <a:t>are generally settled by </a:t>
            </a:r>
            <a:r>
              <a:rPr sz="2600" spc="-25" dirty="0">
                <a:latin typeface="Times New Roman" pitchFamily="18" charset="0"/>
                <a:cs typeface="Calibri"/>
              </a:rPr>
              <a:t>delivery. </a:t>
            </a:r>
            <a:r>
              <a:rPr sz="2600" spc="10" dirty="0">
                <a:latin typeface="Times New Roman" pitchFamily="18" charset="0"/>
                <a:cs typeface="Calibri"/>
              </a:rPr>
              <a:t>(2- </a:t>
            </a:r>
            <a:r>
              <a:rPr sz="2600" spc="-57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3%)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AD0D9"/>
              </a:buClr>
              <a:buFont typeface="Segoe UI Symbol"/>
              <a:buChar char="⚫"/>
            </a:pPr>
            <a:endParaRPr sz="3550">
              <a:latin typeface="Times New Roman" pitchFamily="18" charset="0"/>
              <a:cs typeface="Calibri"/>
            </a:endParaRPr>
          </a:p>
          <a:p>
            <a:pPr marL="286385" marR="462280" indent="-274320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15" dirty="0">
                <a:latin typeface="Times New Roman" pitchFamily="18" charset="0"/>
                <a:cs typeface="Calibri"/>
              </a:rPr>
              <a:t>By</a:t>
            </a:r>
            <a:r>
              <a:rPr sz="2600" spc="-3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closing a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futures</a:t>
            </a:r>
            <a:r>
              <a:rPr sz="2600" spc="-35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contract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spc="-25" dirty="0">
                <a:latin typeface="Times New Roman" pitchFamily="18" charset="0"/>
                <a:cs typeface="Calibri"/>
              </a:rPr>
              <a:t>before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spc="-35" dirty="0">
                <a:latin typeface="Times New Roman" pitchFamily="18" charset="0"/>
                <a:cs typeface="Calibri"/>
              </a:rPr>
              <a:t>expiry,</a:t>
            </a:r>
            <a:r>
              <a:rPr sz="2600" spc="-2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the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net </a:t>
            </a:r>
            <a:r>
              <a:rPr sz="2600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difference </a:t>
            </a:r>
            <a:r>
              <a:rPr sz="2600" dirty="0">
                <a:latin typeface="Times New Roman" pitchFamily="18" charset="0"/>
                <a:cs typeface="Calibri"/>
              </a:rPr>
              <a:t>is </a:t>
            </a:r>
            <a:r>
              <a:rPr sz="2600" spc="-10" dirty="0">
                <a:latin typeface="Times New Roman" pitchFamily="18" charset="0"/>
                <a:cs typeface="Calibri"/>
              </a:rPr>
              <a:t>settled </a:t>
            </a:r>
            <a:r>
              <a:rPr sz="2600" spc="-5" dirty="0">
                <a:latin typeface="Times New Roman" pitchFamily="18" charset="0"/>
                <a:cs typeface="Calibri"/>
              </a:rPr>
              <a:t>between </a:t>
            </a:r>
            <a:r>
              <a:rPr sz="2600" spc="-15" dirty="0">
                <a:latin typeface="Times New Roman" pitchFamily="18" charset="0"/>
                <a:cs typeface="Calibri"/>
              </a:rPr>
              <a:t>traders, </a:t>
            </a:r>
            <a:r>
              <a:rPr sz="2600" dirty="0">
                <a:latin typeface="Times New Roman" pitchFamily="18" charset="0"/>
                <a:cs typeface="Calibri"/>
              </a:rPr>
              <a:t>without </a:t>
            </a:r>
            <a:r>
              <a:rPr sz="2600" spc="-15" dirty="0">
                <a:latin typeface="Times New Roman" pitchFamily="18" charset="0"/>
                <a:cs typeface="Calibri"/>
              </a:rPr>
              <a:t>physical </a:t>
            </a:r>
            <a:r>
              <a:rPr sz="2600" spc="-57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delivery</a:t>
            </a:r>
            <a:r>
              <a:rPr sz="2600" spc="-4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of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the</a:t>
            </a:r>
            <a:r>
              <a:rPr sz="2600" spc="-1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underlying.</a:t>
            </a:r>
            <a:endParaRPr sz="26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2679" y="708406"/>
            <a:ext cx="320929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450" dirty="0"/>
              <a:t>T</a:t>
            </a:r>
            <a:r>
              <a:rPr sz="4400" dirty="0"/>
              <a:t>erminology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724913"/>
            <a:ext cx="7939405" cy="482155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86385" marR="5080" indent="-274320">
              <a:lnSpc>
                <a:spcPct val="90000"/>
              </a:lnSpc>
              <a:spcBef>
                <a:spcPts val="41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10" dirty="0">
                <a:latin typeface="Times New Roman" pitchFamily="18" charset="0"/>
                <a:cs typeface="Calibri"/>
              </a:rPr>
              <a:t>Contract </a:t>
            </a:r>
            <a:r>
              <a:rPr sz="2600" spc="-15" dirty="0">
                <a:latin typeface="Times New Roman" pitchFamily="18" charset="0"/>
                <a:cs typeface="Calibri"/>
              </a:rPr>
              <a:t>size </a:t>
            </a:r>
            <a:r>
              <a:rPr sz="2600" dirty="0">
                <a:latin typeface="Times New Roman" pitchFamily="18" charset="0"/>
                <a:cs typeface="Calibri"/>
              </a:rPr>
              <a:t>– </a:t>
            </a:r>
            <a:r>
              <a:rPr sz="2600" spc="-5" dirty="0">
                <a:latin typeface="Times New Roman" pitchFamily="18" charset="0"/>
                <a:cs typeface="Calibri"/>
              </a:rPr>
              <a:t>The amount of </a:t>
            </a:r>
            <a:r>
              <a:rPr sz="2600" dirty="0">
                <a:latin typeface="Times New Roman" pitchFamily="18" charset="0"/>
                <a:cs typeface="Calibri"/>
              </a:rPr>
              <a:t>the </a:t>
            </a:r>
            <a:r>
              <a:rPr sz="2600" spc="-5" dirty="0">
                <a:latin typeface="Times New Roman" pitchFamily="18" charset="0"/>
                <a:cs typeface="Calibri"/>
              </a:rPr>
              <a:t>asset that has </a:t>
            </a:r>
            <a:r>
              <a:rPr sz="2600" spc="-15" dirty="0">
                <a:latin typeface="Times New Roman" pitchFamily="18" charset="0"/>
                <a:cs typeface="Calibri"/>
              </a:rPr>
              <a:t>to </a:t>
            </a:r>
            <a:r>
              <a:rPr sz="2600" dirty="0">
                <a:latin typeface="Times New Roman" pitchFamily="18" charset="0"/>
                <a:cs typeface="Calibri"/>
              </a:rPr>
              <a:t>be 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delivered </a:t>
            </a:r>
            <a:r>
              <a:rPr sz="2600" spc="-5" dirty="0">
                <a:latin typeface="Times New Roman" pitchFamily="18" charset="0"/>
                <a:cs typeface="Calibri"/>
              </a:rPr>
              <a:t>under </a:t>
            </a:r>
            <a:r>
              <a:rPr sz="2600" dirty="0">
                <a:latin typeface="Times New Roman" pitchFamily="18" charset="0"/>
                <a:cs typeface="Calibri"/>
              </a:rPr>
              <a:t>one </a:t>
            </a:r>
            <a:r>
              <a:rPr sz="2600" spc="-10" dirty="0">
                <a:latin typeface="Times New Roman" pitchFamily="18" charset="0"/>
                <a:cs typeface="Calibri"/>
              </a:rPr>
              <a:t>contract. </a:t>
            </a:r>
            <a:r>
              <a:rPr sz="2600" dirty="0">
                <a:latin typeface="Times New Roman" pitchFamily="18" charset="0"/>
                <a:cs typeface="Calibri"/>
              </a:rPr>
              <a:t>All </a:t>
            </a:r>
            <a:r>
              <a:rPr sz="2600" spc="-10" dirty="0">
                <a:latin typeface="Times New Roman" pitchFamily="18" charset="0"/>
                <a:cs typeface="Calibri"/>
              </a:rPr>
              <a:t>futures are </a:t>
            </a:r>
            <a:r>
              <a:rPr sz="2600" spc="-5" dirty="0">
                <a:latin typeface="Times New Roman" pitchFamily="18" charset="0"/>
                <a:cs typeface="Calibri"/>
              </a:rPr>
              <a:t>sold </a:t>
            </a:r>
            <a:r>
              <a:rPr sz="2600" dirty="0">
                <a:latin typeface="Times New Roman" pitchFamily="18" charset="0"/>
                <a:cs typeface="Calibri"/>
              </a:rPr>
              <a:t>in 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multiples</a:t>
            </a:r>
            <a:r>
              <a:rPr sz="2600" spc="-3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of lots</a:t>
            </a:r>
            <a:r>
              <a:rPr sz="2600" dirty="0">
                <a:latin typeface="Times New Roman" pitchFamily="18" charset="0"/>
                <a:cs typeface="Calibri"/>
              </a:rPr>
              <a:t> which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is </a:t>
            </a:r>
            <a:r>
              <a:rPr sz="2600" spc="-5" dirty="0">
                <a:latin typeface="Times New Roman" pitchFamily="18" charset="0"/>
                <a:cs typeface="Calibri"/>
              </a:rPr>
              <a:t>decided</a:t>
            </a:r>
            <a:r>
              <a:rPr sz="2600" spc="-30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by</a:t>
            </a:r>
            <a:r>
              <a:rPr sz="2600" spc="-1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the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exchange</a:t>
            </a:r>
            <a:r>
              <a:rPr sz="2600" spc="-40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board.</a:t>
            </a:r>
            <a:endParaRPr sz="2600">
              <a:latin typeface="Times New Roman" pitchFamily="18" charset="0"/>
              <a:cs typeface="Calibri"/>
            </a:endParaRPr>
          </a:p>
          <a:p>
            <a:pPr marL="286385" marR="887094" indent="-274320">
              <a:lnSpc>
                <a:spcPts val="2810"/>
              </a:lnSpc>
              <a:spcBef>
                <a:spcPts val="665"/>
              </a:spcBef>
            </a:pPr>
            <a:r>
              <a:rPr sz="2600" dirty="0">
                <a:latin typeface="Times New Roman" pitchFamily="18" charset="0"/>
                <a:cs typeface="Calibri"/>
              </a:rPr>
              <a:t>Eg. If the lot </a:t>
            </a:r>
            <a:r>
              <a:rPr sz="2600" spc="-15" dirty="0">
                <a:latin typeface="Times New Roman" pitchFamily="18" charset="0"/>
                <a:cs typeface="Calibri"/>
              </a:rPr>
              <a:t>size </a:t>
            </a:r>
            <a:r>
              <a:rPr sz="2600" spc="-5" dirty="0">
                <a:latin typeface="Times New Roman" pitchFamily="18" charset="0"/>
                <a:cs typeface="Calibri"/>
              </a:rPr>
              <a:t>of </a:t>
            </a:r>
            <a:r>
              <a:rPr sz="2600" spc="-70" dirty="0">
                <a:latin typeface="Times New Roman" pitchFamily="18" charset="0"/>
                <a:cs typeface="Calibri"/>
              </a:rPr>
              <a:t>Tata </a:t>
            </a:r>
            <a:r>
              <a:rPr sz="2600" spc="-10" dirty="0">
                <a:latin typeface="Times New Roman" pitchFamily="18" charset="0"/>
                <a:cs typeface="Calibri"/>
              </a:rPr>
              <a:t>steel </a:t>
            </a:r>
            <a:r>
              <a:rPr sz="2600" dirty="0">
                <a:latin typeface="Times New Roman" pitchFamily="18" charset="0"/>
                <a:cs typeface="Calibri"/>
              </a:rPr>
              <a:t>is 500 </a:t>
            </a:r>
            <a:r>
              <a:rPr sz="2600" spc="-5" dirty="0">
                <a:latin typeface="Times New Roman" pitchFamily="18" charset="0"/>
                <a:cs typeface="Calibri"/>
              </a:rPr>
              <a:t>shares, </a:t>
            </a:r>
            <a:r>
              <a:rPr sz="2600" dirty="0">
                <a:latin typeface="Times New Roman" pitchFamily="18" charset="0"/>
                <a:cs typeface="Calibri"/>
              </a:rPr>
              <a:t>then </a:t>
            </a:r>
            <a:r>
              <a:rPr sz="2600" spc="-5" dirty="0">
                <a:latin typeface="Times New Roman" pitchFamily="18" charset="0"/>
                <a:cs typeface="Calibri"/>
              </a:rPr>
              <a:t>one </a:t>
            </a:r>
            <a:r>
              <a:rPr sz="2600" spc="-57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futures</a:t>
            </a:r>
            <a:r>
              <a:rPr sz="2600" spc="-45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contract</a:t>
            </a:r>
            <a:r>
              <a:rPr sz="2600" dirty="0">
                <a:latin typeface="Times New Roman" pitchFamily="18" charset="0"/>
                <a:cs typeface="Calibri"/>
              </a:rPr>
              <a:t> is</a:t>
            </a:r>
            <a:r>
              <a:rPr sz="2600" spc="-5" dirty="0">
                <a:latin typeface="Times New Roman" pitchFamily="18" charset="0"/>
                <a:cs typeface="Calibri"/>
              </a:rPr>
              <a:t> necessarily</a:t>
            </a:r>
            <a:r>
              <a:rPr sz="2600" spc="-4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500</a:t>
            </a:r>
            <a:r>
              <a:rPr sz="2600" spc="-2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shares.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750">
              <a:latin typeface="Times New Roman" pitchFamily="18" charset="0"/>
              <a:cs typeface="Calibri"/>
            </a:endParaRPr>
          </a:p>
          <a:p>
            <a:pPr marL="12700" marR="153035">
              <a:lnSpc>
                <a:spcPct val="11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10" dirty="0">
                <a:latin typeface="Times New Roman" pitchFamily="18" charset="0"/>
                <a:cs typeface="Calibri"/>
              </a:rPr>
              <a:t>Contract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cycle</a:t>
            </a:r>
            <a:r>
              <a:rPr sz="2600" dirty="0">
                <a:latin typeface="Times New Roman" pitchFamily="18" charset="0"/>
                <a:cs typeface="Calibri"/>
              </a:rPr>
              <a:t> – </a:t>
            </a:r>
            <a:r>
              <a:rPr sz="2600" spc="-5" dirty="0">
                <a:latin typeface="Times New Roman" pitchFamily="18" charset="0"/>
                <a:cs typeface="Calibri"/>
              </a:rPr>
              <a:t>The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period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spc="-25" dirty="0">
                <a:latin typeface="Times New Roman" pitchFamily="18" charset="0"/>
                <a:cs typeface="Calibri"/>
              </a:rPr>
              <a:t>for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which</a:t>
            </a:r>
            <a:r>
              <a:rPr sz="2600" spc="-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a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contract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trades. </a:t>
            </a:r>
            <a:r>
              <a:rPr sz="2600" spc="-5" dirty="0">
                <a:latin typeface="Times New Roman" pitchFamily="18" charset="0"/>
                <a:cs typeface="Calibri"/>
              </a:rPr>
              <a:t> The</a:t>
            </a:r>
            <a:r>
              <a:rPr sz="2600" spc="-3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futures</a:t>
            </a:r>
            <a:r>
              <a:rPr sz="2600" spc="-3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on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the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NSE </a:t>
            </a:r>
            <a:r>
              <a:rPr sz="2600" spc="-20" dirty="0">
                <a:latin typeface="Times New Roman" pitchFamily="18" charset="0"/>
                <a:cs typeface="Calibri"/>
              </a:rPr>
              <a:t>have</a:t>
            </a:r>
            <a:r>
              <a:rPr sz="2600" spc="-5" dirty="0">
                <a:latin typeface="Times New Roman" pitchFamily="18" charset="0"/>
                <a:cs typeface="Calibri"/>
              </a:rPr>
              <a:t> one (near)</a:t>
            </a:r>
            <a:r>
              <a:rPr sz="2600" spc="-1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month,</a:t>
            </a:r>
            <a:r>
              <a:rPr sz="2600" spc="-10" dirty="0">
                <a:latin typeface="Times New Roman" pitchFamily="18" charset="0"/>
                <a:cs typeface="Calibri"/>
              </a:rPr>
              <a:t> two</a:t>
            </a:r>
            <a:r>
              <a:rPr sz="260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(next)</a:t>
            </a:r>
            <a:endParaRPr sz="2600">
              <a:latin typeface="Times New Roman" pitchFamily="18" charset="0"/>
              <a:cs typeface="Calibri"/>
            </a:endParaRPr>
          </a:p>
          <a:p>
            <a:pPr marL="286385">
              <a:lnSpc>
                <a:spcPts val="2810"/>
              </a:lnSpc>
            </a:pPr>
            <a:r>
              <a:rPr sz="2600" spc="-5" dirty="0">
                <a:latin typeface="Times New Roman" pitchFamily="18" charset="0"/>
                <a:cs typeface="Calibri"/>
              </a:rPr>
              <a:t>months,</a:t>
            </a:r>
            <a:r>
              <a:rPr sz="2600" spc="-2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three</a:t>
            </a:r>
            <a:r>
              <a:rPr sz="2600" spc="-30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(far)</a:t>
            </a:r>
            <a:r>
              <a:rPr sz="2600" spc="-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months</a:t>
            </a:r>
            <a:r>
              <a:rPr sz="2600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expiry</a:t>
            </a:r>
            <a:r>
              <a:rPr sz="2600" spc="-3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cycles.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350">
              <a:latin typeface="Times New Roman" pitchFamily="18" charset="0"/>
              <a:cs typeface="Calibri"/>
            </a:endParaRPr>
          </a:p>
          <a:p>
            <a:pPr marL="286385" marR="569595" indent="-274320">
              <a:lnSpc>
                <a:spcPts val="281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 pitchFamily="18" charset="0"/>
                <a:cs typeface="Calibri"/>
              </a:rPr>
              <a:t>Expiry </a:t>
            </a:r>
            <a:r>
              <a:rPr sz="2600" spc="-15" dirty="0">
                <a:latin typeface="Times New Roman" pitchFamily="18" charset="0"/>
                <a:cs typeface="Calibri"/>
              </a:rPr>
              <a:t>date </a:t>
            </a:r>
            <a:r>
              <a:rPr sz="2600" dirty="0">
                <a:latin typeface="Times New Roman" pitchFamily="18" charset="0"/>
                <a:cs typeface="Calibri"/>
              </a:rPr>
              <a:t>– </a:t>
            </a:r>
            <a:r>
              <a:rPr sz="2600" spc="-5" dirty="0">
                <a:latin typeface="Times New Roman" pitchFamily="18" charset="0"/>
                <a:cs typeface="Calibri"/>
              </a:rPr>
              <a:t>usually last </a:t>
            </a:r>
            <a:r>
              <a:rPr sz="2600" spc="-15" dirty="0">
                <a:latin typeface="Times New Roman" pitchFamily="18" charset="0"/>
                <a:cs typeface="Calibri"/>
              </a:rPr>
              <a:t>Thursday </a:t>
            </a:r>
            <a:r>
              <a:rPr sz="2600" spc="-5" dirty="0">
                <a:latin typeface="Times New Roman" pitchFamily="18" charset="0"/>
                <a:cs typeface="Calibri"/>
              </a:rPr>
              <a:t>of every month or </a:t>
            </a:r>
            <a:r>
              <a:rPr sz="2600" spc="-57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previous</a:t>
            </a:r>
            <a:r>
              <a:rPr sz="2600" spc="-40" dirty="0">
                <a:latin typeface="Times New Roman" pitchFamily="18" charset="0"/>
                <a:cs typeface="Calibri"/>
              </a:rPr>
              <a:t> </a:t>
            </a:r>
            <a:r>
              <a:rPr sz="2600" spc="-20" dirty="0">
                <a:latin typeface="Times New Roman" pitchFamily="18" charset="0"/>
                <a:cs typeface="Calibri"/>
              </a:rPr>
              <a:t>day</a:t>
            </a:r>
            <a:r>
              <a:rPr sz="2600" dirty="0">
                <a:latin typeface="Times New Roman" pitchFamily="18" charset="0"/>
                <a:cs typeface="Calibri"/>
              </a:rPr>
              <a:t> if </a:t>
            </a:r>
            <a:r>
              <a:rPr sz="2600" spc="-15" dirty="0">
                <a:latin typeface="Times New Roman" pitchFamily="18" charset="0"/>
                <a:cs typeface="Calibri"/>
              </a:rPr>
              <a:t>Thursday</a:t>
            </a:r>
            <a:r>
              <a:rPr sz="2600" spc="-4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is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public </a:t>
            </a:r>
            <a:r>
              <a:rPr sz="2600" spc="-30" dirty="0">
                <a:latin typeface="Times New Roman" pitchFamily="18" charset="0"/>
                <a:cs typeface="Calibri"/>
              </a:rPr>
              <a:t>holiday.</a:t>
            </a:r>
            <a:endParaRPr sz="26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30" y="0"/>
            <a:ext cx="9146540" cy="6858000"/>
            <a:chOff x="-1030" y="0"/>
            <a:chExt cx="914654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46"/>
              <a:ext cx="9144000" cy="10274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0007" y="0"/>
              <a:ext cx="4743992" cy="6000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091760" cy="10214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1030" y="50926"/>
              <a:ext cx="9146173" cy="90474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968879" y="708406"/>
            <a:ext cx="3209290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-450" dirty="0"/>
              <a:t>T</a:t>
            </a:r>
            <a:r>
              <a:rPr sz="4800" dirty="0"/>
              <a:t>erminology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35940" y="1764538"/>
            <a:ext cx="7533005" cy="216020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15" dirty="0">
                <a:latin typeface="Times New Roman" pitchFamily="18" charset="0"/>
                <a:cs typeface="Calibri"/>
              </a:rPr>
              <a:t>Strike </a:t>
            </a:r>
            <a:r>
              <a:rPr sz="2600" spc="-5" dirty="0">
                <a:latin typeface="Times New Roman" pitchFamily="18" charset="0"/>
                <a:cs typeface="Calibri"/>
              </a:rPr>
              <a:t>price </a:t>
            </a:r>
            <a:r>
              <a:rPr sz="2600" dirty="0">
                <a:latin typeface="Times New Roman" pitchFamily="18" charset="0"/>
                <a:cs typeface="Calibri"/>
              </a:rPr>
              <a:t>– </a:t>
            </a:r>
            <a:r>
              <a:rPr sz="2600" spc="-5" dirty="0">
                <a:latin typeface="Times New Roman" pitchFamily="18" charset="0"/>
                <a:cs typeface="Calibri"/>
              </a:rPr>
              <a:t>The agreed price </a:t>
            </a:r>
            <a:r>
              <a:rPr sz="2600" spc="-10" dirty="0">
                <a:latin typeface="Times New Roman" pitchFamily="18" charset="0"/>
                <a:cs typeface="Calibri"/>
              </a:rPr>
              <a:t>of </a:t>
            </a:r>
            <a:r>
              <a:rPr sz="2600" dirty="0">
                <a:latin typeface="Times New Roman" pitchFamily="18" charset="0"/>
                <a:cs typeface="Calibri"/>
              </a:rPr>
              <a:t>the </a:t>
            </a:r>
            <a:r>
              <a:rPr sz="2600" spc="-5" dirty="0">
                <a:latin typeface="Times New Roman" pitchFamily="18" charset="0"/>
                <a:cs typeface="Calibri"/>
              </a:rPr>
              <a:t>deal </a:t>
            </a:r>
            <a:r>
              <a:rPr sz="2600" dirty="0">
                <a:latin typeface="Times New Roman" pitchFamily="18" charset="0"/>
                <a:cs typeface="Calibri"/>
              </a:rPr>
              <a:t>is </a:t>
            </a:r>
            <a:r>
              <a:rPr sz="2600" spc="-5" dirty="0">
                <a:latin typeface="Times New Roman" pitchFamily="18" charset="0"/>
                <a:cs typeface="Calibri"/>
              </a:rPr>
              <a:t>called </a:t>
            </a:r>
            <a:r>
              <a:rPr sz="2600" dirty="0">
                <a:latin typeface="Times New Roman" pitchFamily="18" charset="0"/>
                <a:cs typeface="Calibri"/>
              </a:rPr>
              <a:t>the </a:t>
            </a:r>
            <a:r>
              <a:rPr sz="2600" spc="-575" dirty="0">
                <a:latin typeface="Times New Roman" pitchFamily="18" charset="0"/>
                <a:cs typeface="Calibri"/>
              </a:rPr>
              <a:t> </a:t>
            </a:r>
            <a:r>
              <a:rPr sz="2600" spc="-20" dirty="0">
                <a:latin typeface="Times New Roman" pitchFamily="18" charset="0"/>
                <a:cs typeface="Calibri"/>
              </a:rPr>
              <a:t>strike</a:t>
            </a:r>
            <a:r>
              <a:rPr sz="2600" spc="-4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price.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AD0D9"/>
              </a:buClr>
              <a:buFont typeface="Segoe UI Symbol"/>
              <a:buChar char="⚫"/>
            </a:pPr>
            <a:endParaRPr sz="3550">
              <a:latin typeface="Times New Roman" pitchFamily="18" charset="0"/>
              <a:cs typeface="Calibri"/>
            </a:endParaRPr>
          </a:p>
          <a:p>
            <a:pPr marL="286385" marR="471805" indent="-274320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10" dirty="0">
                <a:latin typeface="Times New Roman" pitchFamily="18" charset="0"/>
                <a:cs typeface="Calibri"/>
              </a:rPr>
              <a:t>Cost </a:t>
            </a:r>
            <a:r>
              <a:rPr sz="2600" spc="-5" dirty="0">
                <a:latin typeface="Times New Roman" pitchFamily="18" charset="0"/>
                <a:cs typeface="Calibri"/>
              </a:rPr>
              <a:t>of carry </a:t>
            </a:r>
            <a:r>
              <a:rPr sz="2600" dirty="0">
                <a:latin typeface="Times New Roman" pitchFamily="18" charset="0"/>
                <a:cs typeface="Calibri"/>
              </a:rPr>
              <a:t>– </a:t>
            </a:r>
            <a:r>
              <a:rPr sz="2600" spc="-15" dirty="0">
                <a:latin typeface="Times New Roman" pitchFamily="18" charset="0"/>
                <a:cs typeface="Calibri"/>
              </a:rPr>
              <a:t>Difference </a:t>
            </a:r>
            <a:r>
              <a:rPr sz="2600" spc="-5" dirty="0">
                <a:latin typeface="Times New Roman" pitchFamily="18" charset="0"/>
                <a:cs typeface="Calibri"/>
              </a:rPr>
              <a:t>between </a:t>
            </a:r>
            <a:r>
              <a:rPr sz="2600" spc="-20" dirty="0">
                <a:latin typeface="Times New Roman" pitchFamily="18" charset="0"/>
                <a:cs typeface="Calibri"/>
              </a:rPr>
              <a:t>strike </a:t>
            </a:r>
            <a:r>
              <a:rPr sz="2600" spc="-5" dirty="0">
                <a:latin typeface="Times New Roman" pitchFamily="18" charset="0"/>
                <a:cs typeface="Calibri"/>
              </a:rPr>
              <a:t>price </a:t>
            </a:r>
            <a:r>
              <a:rPr sz="2600" dirty="0">
                <a:latin typeface="Times New Roman" pitchFamily="18" charset="0"/>
                <a:cs typeface="Calibri"/>
              </a:rPr>
              <a:t>and </a:t>
            </a:r>
            <a:r>
              <a:rPr sz="2600" spc="-57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current</a:t>
            </a:r>
            <a:r>
              <a:rPr sz="2600" spc="-4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price.</a:t>
            </a:r>
            <a:endParaRPr sz="26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15995" y="708406"/>
            <a:ext cx="2115185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dirty="0"/>
              <a:t>Ma</a:t>
            </a:r>
            <a:r>
              <a:rPr sz="4800" spc="-65" dirty="0"/>
              <a:t>r</a:t>
            </a:r>
            <a:r>
              <a:rPr sz="4800" dirty="0"/>
              <a:t>gins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1688338"/>
            <a:ext cx="7494905" cy="39068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 pitchFamily="18" charset="0"/>
                <a:cs typeface="Calibri"/>
              </a:rPr>
              <a:t>A </a:t>
            </a:r>
            <a:r>
              <a:rPr sz="2600" b="1" spc="-10" dirty="0">
                <a:latin typeface="Times New Roman" pitchFamily="18" charset="0"/>
                <a:cs typeface="Calibri"/>
              </a:rPr>
              <a:t>margin </a:t>
            </a:r>
            <a:r>
              <a:rPr sz="2600" dirty="0">
                <a:latin typeface="Times New Roman" pitchFamily="18" charset="0"/>
                <a:cs typeface="Calibri"/>
              </a:rPr>
              <a:t>is an </a:t>
            </a:r>
            <a:r>
              <a:rPr sz="2600" spc="-5" dirty="0">
                <a:latin typeface="Times New Roman" pitchFamily="18" charset="0"/>
                <a:cs typeface="Calibri"/>
              </a:rPr>
              <a:t>amount of </a:t>
            </a:r>
            <a:r>
              <a:rPr sz="2600" dirty="0">
                <a:latin typeface="Times New Roman" pitchFamily="18" charset="0"/>
                <a:cs typeface="Calibri"/>
              </a:rPr>
              <a:t>a </a:t>
            </a:r>
            <a:r>
              <a:rPr sz="2600" spc="-5" dirty="0">
                <a:latin typeface="Times New Roman" pitchFamily="18" charset="0"/>
                <a:cs typeface="Calibri"/>
              </a:rPr>
              <a:t>money that must be </a:t>
            </a:r>
            <a:r>
              <a:rPr sz="260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deposited</a:t>
            </a:r>
            <a:r>
              <a:rPr sz="2600" spc="-5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with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the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clearing</a:t>
            </a:r>
            <a:r>
              <a:rPr sz="2600" spc="-1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house</a:t>
            </a:r>
            <a:r>
              <a:rPr sz="2600" spc="-3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by</a:t>
            </a:r>
            <a:r>
              <a:rPr sz="2600" spc="-1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both </a:t>
            </a:r>
            <a:r>
              <a:rPr sz="2600" spc="-20" dirty="0">
                <a:latin typeface="Times New Roman" pitchFamily="18" charset="0"/>
                <a:cs typeface="Calibri"/>
              </a:rPr>
              <a:t>buyers </a:t>
            </a:r>
            <a:r>
              <a:rPr sz="2600" dirty="0">
                <a:latin typeface="Times New Roman" pitchFamily="18" charset="0"/>
                <a:cs typeface="Calibri"/>
              </a:rPr>
              <a:t>and </a:t>
            </a:r>
            <a:r>
              <a:rPr sz="2600" spc="-57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sellers </a:t>
            </a:r>
            <a:r>
              <a:rPr sz="2600" dirty="0">
                <a:latin typeface="Times New Roman" pitchFamily="18" charset="0"/>
                <a:cs typeface="Calibri"/>
              </a:rPr>
              <a:t>in a </a:t>
            </a:r>
            <a:r>
              <a:rPr sz="2600" spc="-5" dirty="0">
                <a:latin typeface="Times New Roman" pitchFamily="18" charset="0"/>
                <a:cs typeface="Calibri"/>
              </a:rPr>
              <a:t>margin </a:t>
            </a:r>
            <a:r>
              <a:rPr sz="2600" spc="-10" dirty="0">
                <a:latin typeface="Times New Roman" pitchFamily="18" charset="0"/>
                <a:cs typeface="Calibri"/>
              </a:rPr>
              <a:t>account </a:t>
            </a:r>
            <a:r>
              <a:rPr sz="2600" dirty="0">
                <a:latin typeface="Times New Roman" pitchFamily="18" charset="0"/>
                <a:cs typeface="Calibri"/>
              </a:rPr>
              <a:t>in </a:t>
            </a:r>
            <a:r>
              <a:rPr sz="2600" spc="-10" dirty="0">
                <a:latin typeface="Times New Roman" pitchFamily="18" charset="0"/>
                <a:cs typeface="Calibri"/>
              </a:rPr>
              <a:t>order </a:t>
            </a:r>
            <a:r>
              <a:rPr sz="2600" spc="-15" dirty="0">
                <a:latin typeface="Times New Roman" pitchFamily="18" charset="0"/>
                <a:cs typeface="Calibri"/>
              </a:rPr>
              <a:t>to </a:t>
            </a:r>
            <a:r>
              <a:rPr sz="2600" spc="-5" dirty="0">
                <a:latin typeface="Times New Roman" pitchFamily="18" charset="0"/>
                <a:cs typeface="Calibri"/>
              </a:rPr>
              <a:t>open </a:t>
            </a:r>
            <a:r>
              <a:rPr sz="2600" dirty="0">
                <a:latin typeface="Times New Roman" pitchFamily="18" charset="0"/>
                <a:cs typeface="Calibri"/>
              </a:rPr>
              <a:t>a </a:t>
            </a:r>
            <a:r>
              <a:rPr sz="2600" spc="-10" dirty="0">
                <a:latin typeface="Times New Roman" pitchFamily="18" charset="0"/>
                <a:cs typeface="Calibri"/>
              </a:rPr>
              <a:t>futures </a:t>
            </a:r>
            <a:r>
              <a:rPr sz="2600" spc="-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contract.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AD0D9"/>
              </a:buClr>
              <a:buFont typeface="Segoe UI Symbol"/>
              <a:buChar char="⚫"/>
            </a:pPr>
            <a:endParaRPr sz="3550">
              <a:latin typeface="Times New Roman" pitchFamily="18" charset="0"/>
              <a:cs typeface="Calibri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 pitchFamily="18" charset="0"/>
                <a:cs typeface="Calibri"/>
              </a:rPr>
              <a:t>It</a:t>
            </a:r>
            <a:r>
              <a:rPr sz="2600" spc="-2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ensures</a:t>
            </a:r>
            <a:r>
              <a:rPr sz="2600" spc="-40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performance</a:t>
            </a:r>
            <a:r>
              <a:rPr sz="2600" spc="-2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of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the</a:t>
            </a:r>
            <a:r>
              <a:rPr sz="2600" spc="-1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terms</a:t>
            </a:r>
            <a:r>
              <a:rPr sz="2600" spc="-3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of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the</a:t>
            </a:r>
            <a:r>
              <a:rPr sz="2600" spc="-1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contract.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AD0D9"/>
              </a:buClr>
              <a:buFont typeface="Segoe UI Symbol"/>
              <a:buChar char="⚫"/>
            </a:pPr>
            <a:endParaRPr sz="3550">
              <a:latin typeface="Times New Roman" pitchFamily="18" charset="0"/>
              <a:cs typeface="Calibri"/>
            </a:endParaRPr>
          </a:p>
          <a:p>
            <a:pPr marL="286385" marR="657860" indent="-274320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 pitchFamily="18" charset="0"/>
                <a:cs typeface="Calibri"/>
              </a:rPr>
              <a:t>Its aim is </a:t>
            </a:r>
            <a:r>
              <a:rPr sz="2600" spc="-15" dirty="0">
                <a:latin typeface="Times New Roman" pitchFamily="18" charset="0"/>
                <a:cs typeface="Calibri"/>
              </a:rPr>
              <a:t>to </a:t>
            </a:r>
            <a:r>
              <a:rPr sz="2600" dirty="0">
                <a:latin typeface="Times New Roman" pitchFamily="18" charset="0"/>
                <a:cs typeface="Calibri"/>
              </a:rPr>
              <a:t>minimise the risk </a:t>
            </a:r>
            <a:r>
              <a:rPr sz="2600" spc="-5" dirty="0">
                <a:latin typeface="Times New Roman" pitchFamily="18" charset="0"/>
                <a:cs typeface="Calibri"/>
              </a:rPr>
              <a:t>of </a:t>
            </a:r>
            <a:r>
              <a:rPr sz="2600" spc="-15" dirty="0">
                <a:latin typeface="Times New Roman" pitchFamily="18" charset="0"/>
                <a:cs typeface="Calibri"/>
              </a:rPr>
              <a:t>default </a:t>
            </a:r>
            <a:r>
              <a:rPr sz="2600" spc="-10" dirty="0">
                <a:latin typeface="Times New Roman" pitchFamily="18" charset="0"/>
                <a:cs typeface="Calibri"/>
              </a:rPr>
              <a:t>by </a:t>
            </a:r>
            <a:r>
              <a:rPr sz="2600" dirty="0">
                <a:latin typeface="Times New Roman" pitchFamily="18" charset="0"/>
                <a:cs typeface="Calibri"/>
              </a:rPr>
              <a:t>either </a:t>
            </a:r>
            <a:r>
              <a:rPr sz="2600" spc="-575" dirty="0">
                <a:latin typeface="Times New Roman" pitchFamily="18" charset="0"/>
                <a:cs typeface="Calibri"/>
              </a:rPr>
              <a:t> </a:t>
            </a:r>
            <a:r>
              <a:rPr sz="2600" spc="-20" dirty="0">
                <a:latin typeface="Times New Roman" pitchFamily="18" charset="0"/>
                <a:cs typeface="Calibri"/>
              </a:rPr>
              <a:t>counterparty.</a:t>
            </a:r>
            <a:endParaRPr sz="26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30" y="0"/>
            <a:ext cx="9146540" cy="6858000"/>
            <a:chOff x="-1030" y="0"/>
            <a:chExt cx="914654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46"/>
              <a:ext cx="9144000" cy="10274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0007" y="0"/>
              <a:ext cx="4743992" cy="6000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091760" cy="10214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1030" y="50926"/>
              <a:ext cx="9146173" cy="90474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515995" y="555701"/>
            <a:ext cx="2115185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dirty="0"/>
              <a:t>Ma</a:t>
            </a:r>
            <a:r>
              <a:rPr sz="4800" spc="-70" dirty="0"/>
              <a:t>r</a:t>
            </a:r>
            <a:r>
              <a:rPr sz="4800" dirty="0"/>
              <a:t>gins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35940" y="1537461"/>
            <a:ext cx="8004175" cy="52296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0"/>
              </a:spcBef>
              <a:buClr>
                <a:srgbClr val="0AD0D9"/>
              </a:buClr>
              <a:buSzPct val="93750"/>
              <a:buFont typeface="Segoe UI Symbol"/>
              <a:buChar char="⚫"/>
              <a:tabLst>
                <a:tab pos="287020" algn="l"/>
              </a:tabLst>
            </a:pPr>
            <a:r>
              <a:rPr sz="2400" dirty="0">
                <a:latin typeface="Times New Roman" pitchFamily="18" charset="0"/>
                <a:cs typeface="Calibri"/>
              </a:rPr>
              <a:t>Initial </a:t>
            </a:r>
            <a:r>
              <a:rPr sz="2400" spc="-10" dirty="0">
                <a:latin typeface="Times New Roman" pitchFamily="18" charset="0"/>
                <a:cs typeface="Calibri"/>
              </a:rPr>
              <a:t>Margin </a:t>
            </a:r>
            <a:r>
              <a:rPr sz="2400" dirty="0">
                <a:latin typeface="Times New Roman" pitchFamily="18" charset="0"/>
                <a:cs typeface="Calibri"/>
              </a:rPr>
              <a:t>- </a:t>
            </a:r>
            <a:r>
              <a:rPr sz="2400" spc="-5" dirty="0">
                <a:latin typeface="Times New Roman" pitchFamily="18" charset="0"/>
                <a:cs typeface="Calibri"/>
              </a:rPr>
              <a:t>Deposit </a:t>
            </a:r>
            <a:r>
              <a:rPr sz="2400" spc="-10" dirty="0">
                <a:latin typeface="Times New Roman" pitchFamily="18" charset="0"/>
                <a:cs typeface="Calibri"/>
              </a:rPr>
              <a:t>that </a:t>
            </a:r>
            <a:r>
              <a:rPr sz="2400" dirty="0">
                <a:latin typeface="Times New Roman" pitchFamily="18" charset="0"/>
                <a:cs typeface="Calibri"/>
              </a:rPr>
              <a:t>a </a:t>
            </a:r>
            <a:r>
              <a:rPr sz="2400" spc="-10" dirty="0">
                <a:latin typeface="Times New Roman" pitchFamily="18" charset="0"/>
                <a:cs typeface="Calibri"/>
              </a:rPr>
              <a:t>trader must </a:t>
            </a:r>
            <a:r>
              <a:rPr sz="2400" spc="-20" dirty="0">
                <a:latin typeface="Times New Roman" pitchFamily="18" charset="0"/>
                <a:cs typeface="Calibri"/>
              </a:rPr>
              <a:t>make </a:t>
            </a:r>
            <a:r>
              <a:rPr sz="2400" spc="-25" dirty="0">
                <a:latin typeface="Times New Roman" pitchFamily="18" charset="0"/>
                <a:cs typeface="Calibri"/>
              </a:rPr>
              <a:t>before </a:t>
            </a:r>
            <a:r>
              <a:rPr sz="2400" spc="-10" dirty="0">
                <a:latin typeface="Times New Roman" pitchFamily="18" charset="0"/>
                <a:cs typeface="Calibri"/>
              </a:rPr>
              <a:t>trading </a:t>
            </a:r>
            <a:r>
              <a:rPr sz="2400" spc="-530" dirty="0">
                <a:latin typeface="Times New Roman" pitchFamily="18" charset="0"/>
                <a:cs typeface="Calibri"/>
              </a:rPr>
              <a:t> </a:t>
            </a:r>
            <a:r>
              <a:rPr sz="2400" spc="-20" dirty="0">
                <a:latin typeface="Times New Roman" pitchFamily="18" charset="0"/>
                <a:cs typeface="Calibri"/>
              </a:rPr>
              <a:t>any</a:t>
            </a:r>
            <a:r>
              <a:rPr sz="2400" spc="-15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futures.</a:t>
            </a:r>
            <a:r>
              <a:rPr sz="2400" dirty="0">
                <a:latin typeface="Times New Roman" pitchFamily="18" charset="0"/>
                <a:cs typeface="Calibri"/>
              </a:rPr>
              <a:t> </a:t>
            </a:r>
            <a:r>
              <a:rPr sz="2400" spc="-25" dirty="0">
                <a:latin typeface="Times New Roman" pitchFamily="18" charset="0"/>
                <a:cs typeface="Calibri"/>
              </a:rPr>
              <a:t>Usually,</a:t>
            </a:r>
            <a:r>
              <a:rPr sz="240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10%</a:t>
            </a:r>
            <a:r>
              <a:rPr sz="2400" spc="-2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of </a:t>
            </a:r>
            <a:r>
              <a:rPr sz="2400" dirty="0">
                <a:latin typeface="Times New Roman" pitchFamily="18" charset="0"/>
                <a:cs typeface="Calibri"/>
              </a:rPr>
              <a:t>the</a:t>
            </a:r>
            <a:r>
              <a:rPr sz="2400" spc="-10" dirty="0">
                <a:latin typeface="Times New Roman" pitchFamily="18" charset="0"/>
                <a:cs typeface="Calibri"/>
              </a:rPr>
              <a:t> </a:t>
            </a:r>
            <a:r>
              <a:rPr sz="2400" spc="-15" dirty="0">
                <a:latin typeface="Times New Roman" pitchFamily="18" charset="0"/>
                <a:cs typeface="Calibri"/>
              </a:rPr>
              <a:t>contract</a:t>
            </a:r>
            <a:r>
              <a:rPr sz="2400" spc="-20" dirty="0">
                <a:latin typeface="Times New Roman" pitchFamily="18" charset="0"/>
                <a:cs typeface="Calibri"/>
              </a:rPr>
              <a:t> </a:t>
            </a:r>
            <a:r>
              <a:rPr sz="2400" spc="-15" dirty="0">
                <a:latin typeface="Times New Roman" pitchFamily="18" charset="0"/>
                <a:cs typeface="Calibri"/>
              </a:rPr>
              <a:t>size.</a:t>
            </a:r>
            <a:endParaRPr sz="24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Font typeface="Segoe UI Symbol"/>
              <a:buChar char="⚫"/>
            </a:pPr>
            <a:endParaRPr sz="3300">
              <a:latin typeface="Times New Roman" pitchFamily="18" charset="0"/>
              <a:cs typeface="Calibri"/>
            </a:endParaRPr>
          </a:p>
          <a:p>
            <a:pPr marL="286385" marR="218440" indent="-274320">
              <a:lnSpc>
                <a:spcPct val="100000"/>
              </a:lnSpc>
              <a:buClr>
                <a:srgbClr val="0AD0D9"/>
              </a:buClr>
              <a:buSzPct val="93750"/>
              <a:buFont typeface="Segoe UI Symbol"/>
              <a:buChar char="⚫"/>
              <a:tabLst>
                <a:tab pos="287020" algn="l"/>
              </a:tabLst>
            </a:pPr>
            <a:r>
              <a:rPr sz="2400" spc="-5" dirty="0">
                <a:latin typeface="Times New Roman" pitchFamily="18" charset="0"/>
                <a:cs typeface="Calibri"/>
              </a:rPr>
              <a:t>Maintenance </a:t>
            </a:r>
            <a:r>
              <a:rPr sz="2400" spc="-10" dirty="0">
                <a:latin typeface="Times New Roman" pitchFamily="18" charset="0"/>
                <a:cs typeface="Calibri"/>
              </a:rPr>
              <a:t>Margin </a:t>
            </a:r>
            <a:r>
              <a:rPr sz="2400" dirty="0">
                <a:latin typeface="Times New Roman" pitchFamily="18" charset="0"/>
                <a:cs typeface="Calibri"/>
              </a:rPr>
              <a:t>- When </a:t>
            </a:r>
            <a:r>
              <a:rPr sz="2400" spc="-5" dirty="0">
                <a:latin typeface="Times New Roman" pitchFamily="18" charset="0"/>
                <a:cs typeface="Calibri"/>
              </a:rPr>
              <a:t>margin reaches </a:t>
            </a:r>
            <a:r>
              <a:rPr sz="2400" dirty="0">
                <a:latin typeface="Times New Roman" pitchFamily="18" charset="0"/>
                <a:cs typeface="Calibri"/>
              </a:rPr>
              <a:t>a minimum </a:t>
            </a:r>
            <a:r>
              <a:rPr sz="2400" spc="5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maintenance </a:t>
            </a:r>
            <a:r>
              <a:rPr sz="2400" spc="-10" dirty="0">
                <a:latin typeface="Times New Roman" pitchFamily="18" charset="0"/>
                <a:cs typeface="Calibri"/>
              </a:rPr>
              <a:t>level, </a:t>
            </a:r>
            <a:r>
              <a:rPr sz="2400" dirty="0">
                <a:latin typeface="Times New Roman" pitchFamily="18" charset="0"/>
                <a:cs typeface="Calibri"/>
              </a:rPr>
              <a:t>the </a:t>
            </a:r>
            <a:r>
              <a:rPr sz="2400" spc="-10" dirty="0">
                <a:latin typeface="Times New Roman" pitchFamily="18" charset="0"/>
                <a:cs typeface="Calibri"/>
              </a:rPr>
              <a:t>trader </a:t>
            </a:r>
            <a:r>
              <a:rPr sz="2400" dirty="0">
                <a:latin typeface="Times New Roman" pitchFamily="18" charset="0"/>
                <a:cs typeface="Calibri"/>
              </a:rPr>
              <a:t>is </a:t>
            </a:r>
            <a:r>
              <a:rPr sz="2400" spc="-10" dirty="0">
                <a:latin typeface="Times New Roman" pitchFamily="18" charset="0"/>
                <a:cs typeface="Calibri"/>
              </a:rPr>
              <a:t>required </a:t>
            </a:r>
            <a:r>
              <a:rPr sz="2400" spc="-15" dirty="0">
                <a:latin typeface="Times New Roman" pitchFamily="18" charset="0"/>
                <a:cs typeface="Calibri"/>
              </a:rPr>
              <a:t>to </a:t>
            </a:r>
            <a:r>
              <a:rPr sz="2400" spc="-5" dirty="0">
                <a:latin typeface="Times New Roman" pitchFamily="18" charset="0"/>
                <a:cs typeface="Calibri"/>
              </a:rPr>
              <a:t>bring </a:t>
            </a:r>
            <a:r>
              <a:rPr sz="2400" dirty="0">
                <a:latin typeface="Times New Roman" pitchFamily="18" charset="0"/>
                <a:cs typeface="Calibri"/>
              </a:rPr>
              <a:t>the </a:t>
            </a:r>
            <a:r>
              <a:rPr sz="2400" spc="-5" dirty="0">
                <a:latin typeface="Times New Roman" pitchFamily="18" charset="0"/>
                <a:cs typeface="Calibri"/>
              </a:rPr>
              <a:t>margin </a:t>
            </a:r>
            <a:r>
              <a:rPr sz="2400" spc="-53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back </a:t>
            </a:r>
            <a:r>
              <a:rPr sz="2400" spc="-15" dirty="0">
                <a:latin typeface="Times New Roman" pitchFamily="18" charset="0"/>
                <a:cs typeface="Calibri"/>
              </a:rPr>
              <a:t>to </a:t>
            </a:r>
            <a:r>
              <a:rPr sz="2400" spc="-5" dirty="0">
                <a:latin typeface="Times New Roman" pitchFamily="18" charset="0"/>
                <a:cs typeface="Calibri"/>
              </a:rPr>
              <a:t>its </a:t>
            </a:r>
            <a:r>
              <a:rPr sz="2400" dirty="0">
                <a:latin typeface="Times New Roman" pitchFamily="18" charset="0"/>
                <a:cs typeface="Calibri"/>
              </a:rPr>
              <a:t>initial </a:t>
            </a:r>
            <a:r>
              <a:rPr sz="2400" spc="-10" dirty="0">
                <a:latin typeface="Times New Roman" pitchFamily="18" charset="0"/>
                <a:cs typeface="Calibri"/>
              </a:rPr>
              <a:t>level. </a:t>
            </a:r>
            <a:r>
              <a:rPr sz="2400" spc="-5" dirty="0">
                <a:latin typeface="Times New Roman" pitchFamily="18" charset="0"/>
                <a:cs typeface="Calibri"/>
              </a:rPr>
              <a:t>The maintenance margin </a:t>
            </a:r>
            <a:r>
              <a:rPr sz="2400" dirty="0">
                <a:latin typeface="Times New Roman" pitchFamily="18" charset="0"/>
                <a:cs typeface="Calibri"/>
              </a:rPr>
              <a:t>is </a:t>
            </a:r>
            <a:r>
              <a:rPr sz="2400" spc="-10" dirty="0">
                <a:latin typeface="Times New Roman" pitchFamily="18" charset="0"/>
                <a:cs typeface="Calibri"/>
              </a:rPr>
              <a:t>generally </a:t>
            </a:r>
            <a:r>
              <a:rPr sz="2400" spc="-5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about</a:t>
            </a:r>
            <a:r>
              <a:rPr sz="2400" spc="-25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75%</a:t>
            </a:r>
            <a:r>
              <a:rPr sz="2400" spc="-15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of </a:t>
            </a:r>
            <a:r>
              <a:rPr sz="2400" dirty="0">
                <a:latin typeface="Times New Roman" pitchFamily="18" charset="0"/>
                <a:cs typeface="Calibri"/>
              </a:rPr>
              <a:t>the initial</a:t>
            </a:r>
            <a:r>
              <a:rPr sz="2400" spc="-25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margin.</a:t>
            </a:r>
            <a:endParaRPr sz="24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Font typeface="Segoe UI Symbol"/>
              <a:buChar char="⚫"/>
            </a:pPr>
            <a:endParaRPr sz="3300">
              <a:latin typeface="Times New Roman" pitchFamily="18" charset="0"/>
              <a:cs typeface="Calibri"/>
            </a:endParaRPr>
          </a:p>
          <a:p>
            <a:pPr marL="286385" marR="668655" indent="-274320">
              <a:lnSpc>
                <a:spcPct val="100000"/>
              </a:lnSpc>
              <a:buClr>
                <a:srgbClr val="0AD0D9"/>
              </a:buClr>
              <a:buSzPct val="93750"/>
              <a:buFont typeface="Segoe UI Symbol"/>
              <a:buChar char="⚫"/>
              <a:tabLst>
                <a:tab pos="287020" algn="l"/>
              </a:tabLst>
            </a:pPr>
            <a:r>
              <a:rPr sz="2400" spc="-20" dirty="0">
                <a:latin typeface="Times New Roman" pitchFamily="18" charset="0"/>
                <a:cs typeface="Calibri"/>
              </a:rPr>
              <a:t>Variation </a:t>
            </a:r>
            <a:r>
              <a:rPr sz="2400" spc="-10" dirty="0">
                <a:latin typeface="Times New Roman" pitchFamily="18" charset="0"/>
                <a:cs typeface="Calibri"/>
              </a:rPr>
              <a:t>Margin </a:t>
            </a:r>
            <a:r>
              <a:rPr sz="2400" dirty="0">
                <a:latin typeface="Times New Roman" pitchFamily="18" charset="0"/>
                <a:cs typeface="Calibri"/>
              </a:rPr>
              <a:t>- Additional </a:t>
            </a:r>
            <a:r>
              <a:rPr sz="2400" spc="-5" dirty="0">
                <a:latin typeface="Times New Roman" pitchFamily="18" charset="0"/>
                <a:cs typeface="Calibri"/>
              </a:rPr>
              <a:t>margin </a:t>
            </a:r>
            <a:r>
              <a:rPr sz="2400" spc="-10" dirty="0">
                <a:latin typeface="Times New Roman" pitchFamily="18" charset="0"/>
                <a:cs typeface="Calibri"/>
              </a:rPr>
              <a:t>required </a:t>
            </a:r>
            <a:r>
              <a:rPr sz="2400" spc="-15" dirty="0">
                <a:latin typeface="Times New Roman" pitchFamily="18" charset="0"/>
                <a:cs typeface="Calibri"/>
              </a:rPr>
              <a:t>to </a:t>
            </a:r>
            <a:r>
              <a:rPr sz="2400" spc="-5" dirty="0">
                <a:latin typeface="Times New Roman" pitchFamily="18" charset="0"/>
                <a:cs typeface="Calibri"/>
              </a:rPr>
              <a:t>bring </a:t>
            </a:r>
            <a:r>
              <a:rPr sz="2400" dirty="0">
                <a:latin typeface="Times New Roman" pitchFamily="18" charset="0"/>
                <a:cs typeface="Calibri"/>
              </a:rPr>
              <a:t>an </a:t>
            </a:r>
            <a:r>
              <a:rPr sz="2400" spc="-530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account</a:t>
            </a:r>
            <a:r>
              <a:rPr sz="2400" spc="-35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up </a:t>
            </a:r>
            <a:r>
              <a:rPr sz="2400" spc="-20" dirty="0">
                <a:latin typeface="Times New Roman" pitchFamily="18" charset="0"/>
                <a:cs typeface="Calibri"/>
              </a:rPr>
              <a:t>to</a:t>
            </a:r>
            <a:r>
              <a:rPr sz="2400" spc="-15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the </a:t>
            </a:r>
            <a:r>
              <a:rPr sz="2400" spc="-10" dirty="0">
                <a:latin typeface="Times New Roman" pitchFamily="18" charset="0"/>
                <a:cs typeface="Calibri"/>
              </a:rPr>
              <a:t>required</a:t>
            </a:r>
            <a:r>
              <a:rPr sz="2400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level.</a:t>
            </a:r>
            <a:endParaRPr sz="24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Font typeface="Segoe UI Symbol"/>
              <a:buChar char="⚫"/>
            </a:pPr>
            <a:endParaRPr sz="3300">
              <a:latin typeface="Times New Roman" pitchFamily="18" charset="0"/>
              <a:cs typeface="Calibri"/>
            </a:endParaRPr>
          </a:p>
          <a:p>
            <a:pPr marL="286385" marR="948055" indent="-274320">
              <a:lnSpc>
                <a:spcPct val="100000"/>
              </a:lnSpc>
              <a:buClr>
                <a:srgbClr val="0AD0D9"/>
              </a:buClr>
              <a:buSzPct val="93750"/>
              <a:buFont typeface="Segoe UI Symbol"/>
              <a:buChar char="⚫"/>
              <a:tabLst>
                <a:tab pos="287020" algn="l"/>
              </a:tabLst>
            </a:pPr>
            <a:r>
              <a:rPr sz="2400" spc="-10" dirty="0">
                <a:latin typeface="Times New Roman" pitchFamily="18" charset="0"/>
                <a:cs typeface="Calibri"/>
              </a:rPr>
              <a:t>Margin </a:t>
            </a:r>
            <a:r>
              <a:rPr sz="2400" spc="-5" dirty="0">
                <a:latin typeface="Times New Roman" pitchFamily="18" charset="0"/>
                <a:cs typeface="Calibri"/>
              </a:rPr>
              <a:t>call </a:t>
            </a:r>
            <a:r>
              <a:rPr sz="2400" dirty="0">
                <a:latin typeface="Times New Roman" pitchFamily="18" charset="0"/>
                <a:cs typeface="Calibri"/>
              </a:rPr>
              <a:t>– If </a:t>
            </a:r>
            <a:r>
              <a:rPr sz="2400" spc="-10" dirty="0">
                <a:latin typeface="Times New Roman" pitchFamily="18" charset="0"/>
                <a:cs typeface="Calibri"/>
              </a:rPr>
              <a:t>amt </a:t>
            </a:r>
            <a:r>
              <a:rPr sz="2400" dirty="0">
                <a:latin typeface="Times New Roman" pitchFamily="18" charset="0"/>
                <a:cs typeface="Calibri"/>
              </a:rPr>
              <a:t>in the </a:t>
            </a:r>
            <a:r>
              <a:rPr sz="2400" spc="-5" dirty="0">
                <a:latin typeface="Times New Roman" pitchFamily="18" charset="0"/>
                <a:cs typeface="Calibri"/>
              </a:rPr>
              <a:t>margin </a:t>
            </a:r>
            <a:r>
              <a:rPr sz="2400" dirty="0">
                <a:latin typeface="Times New Roman" pitchFamily="18" charset="0"/>
                <a:cs typeface="Calibri"/>
              </a:rPr>
              <a:t>A/C </a:t>
            </a:r>
            <a:r>
              <a:rPr sz="2400" spc="-10" dirty="0">
                <a:latin typeface="Times New Roman" pitchFamily="18" charset="0"/>
                <a:cs typeface="Calibri"/>
              </a:rPr>
              <a:t>falls below </a:t>
            </a:r>
            <a:r>
              <a:rPr sz="2400" dirty="0">
                <a:latin typeface="Times New Roman" pitchFamily="18" charset="0"/>
                <a:cs typeface="Calibri"/>
              </a:rPr>
              <a:t>the </a:t>
            </a:r>
            <a:r>
              <a:rPr sz="2400" spc="5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maintenance</a:t>
            </a:r>
            <a:r>
              <a:rPr sz="2400" spc="-40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level,</a:t>
            </a:r>
            <a:r>
              <a:rPr sz="2400" spc="-5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a</a:t>
            </a:r>
            <a:r>
              <a:rPr sz="2400" spc="-1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margin</a:t>
            </a:r>
            <a:r>
              <a:rPr sz="2400" spc="-25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call</a:t>
            </a:r>
            <a:r>
              <a:rPr sz="2400" spc="-20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is</a:t>
            </a:r>
            <a:r>
              <a:rPr sz="2400" spc="-5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made</a:t>
            </a:r>
            <a:r>
              <a:rPr sz="2400" spc="-15" dirty="0">
                <a:latin typeface="Times New Roman" pitchFamily="18" charset="0"/>
                <a:cs typeface="Calibri"/>
              </a:rPr>
              <a:t> to</a:t>
            </a:r>
            <a:r>
              <a:rPr sz="2400" spc="-1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fill</a:t>
            </a:r>
            <a:r>
              <a:rPr sz="2400" spc="-15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the</a:t>
            </a:r>
            <a:r>
              <a:rPr sz="2400" spc="-5" dirty="0">
                <a:latin typeface="Times New Roman" pitchFamily="18" charset="0"/>
                <a:cs typeface="Calibri"/>
              </a:rPr>
              <a:t> </a:t>
            </a:r>
            <a:r>
              <a:rPr sz="2400" spc="-15" dirty="0">
                <a:latin typeface="Times New Roman" pitchFamily="18" charset="0"/>
                <a:cs typeface="Calibri"/>
              </a:rPr>
              <a:t>gap.</a:t>
            </a:r>
            <a:endParaRPr sz="24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5538" y="784606"/>
            <a:ext cx="4851400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Marking</a:t>
            </a:r>
            <a:r>
              <a:rPr spc="-75" dirty="0"/>
              <a:t> </a:t>
            </a:r>
            <a:r>
              <a:rPr spc="-25" dirty="0"/>
              <a:t>to</a:t>
            </a:r>
            <a:r>
              <a:rPr spc="-40" dirty="0"/>
              <a:t> </a:t>
            </a:r>
            <a:r>
              <a:rPr spc="-30" dirty="0"/>
              <a:t>Market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947418"/>
            <a:ext cx="7971155" cy="3117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5" dirty="0">
                <a:latin typeface="Times New Roman" pitchFamily="18" charset="0"/>
                <a:cs typeface="Calibri"/>
              </a:rPr>
              <a:t>This </a:t>
            </a:r>
            <a:r>
              <a:rPr sz="2600" dirty="0">
                <a:latin typeface="Times New Roman" pitchFamily="18" charset="0"/>
                <a:cs typeface="Calibri"/>
              </a:rPr>
              <a:t>is the </a:t>
            </a:r>
            <a:r>
              <a:rPr sz="2600" spc="-5" dirty="0">
                <a:latin typeface="Times New Roman" pitchFamily="18" charset="0"/>
                <a:cs typeface="Calibri"/>
              </a:rPr>
              <a:t>practice of periodically adjusting </a:t>
            </a:r>
            <a:r>
              <a:rPr sz="2600" dirty="0">
                <a:latin typeface="Times New Roman" pitchFamily="18" charset="0"/>
                <a:cs typeface="Calibri"/>
              </a:rPr>
              <a:t>the </a:t>
            </a:r>
            <a:r>
              <a:rPr sz="2600" spc="-5" dirty="0">
                <a:latin typeface="Times New Roman" pitchFamily="18" charset="0"/>
                <a:cs typeface="Calibri"/>
              </a:rPr>
              <a:t>margin </a:t>
            </a:r>
            <a:r>
              <a:rPr sz="2600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account by </a:t>
            </a:r>
            <a:r>
              <a:rPr sz="2600" dirty="0">
                <a:latin typeface="Times New Roman" pitchFamily="18" charset="0"/>
                <a:cs typeface="Calibri"/>
              </a:rPr>
              <a:t>adding </a:t>
            </a:r>
            <a:r>
              <a:rPr sz="2600" spc="-5" dirty="0">
                <a:latin typeface="Times New Roman" pitchFamily="18" charset="0"/>
                <a:cs typeface="Calibri"/>
              </a:rPr>
              <a:t>or subtracting funds based on changes </a:t>
            </a:r>
            <a:r>
              <a:rPr sz="2600" spc="-57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in</a:t>
            </a:r>
            <a:r>
              <a:rPr sz="2600" spc="-25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market</a:t>
            </a:r>
            <a:r>
              <a:rPr sz="2600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value</a:t>
            </a:r>
            <a:r>
              <a:rPr sz="2600" spc="-25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to</a:t>
            </a:r>
            <a:r>
              <a:rPr sz="2600" spc="-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reflect</a:t>
            </a:r>
            <a:r>
              <a:rPr sz="2600" spc="-2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the</a:t>
            </a:r>
            <a:r>
              <a:rPr sz="2600" spc="-20" dirty="0">
                <a:latin typeface="Times New Roman" pitchFamily="18" charset="0"/>
                <a:cs typeface="Calibri"/>
              </a:rPr>
              <a:t> investor’s </a:t>
            </a:r>
            <a:r>
              <a:rPr sz="2600" spc="-15" dirty="0">
                <a:latin typeface="Times New Roman" pitchFamily="18" charset="0"/>
                <a:cs typeface="Calibri"/>
              </a:rPr>
              <a:t>gain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or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loss.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AD0D9"/>
              </a:buClr>
              <a:buFont typeface="Segoe UI Symbol"/>
              <a:buChar char="⚫"/>
            </a:pPr>
            <a:endParaRPr sz="3550">
              <a:latin typeface="Times New Roman" pitchFamily="18" charset="0"/>
              <a:cs typeface="Calibri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5" dirty="0">
                <a:latin typeface="Times New Roman" pitchFamily="18" charset="0"/>
                <a:cs typeface="Calibri"/>
              </a:rPr>
              <a:t>This</a:t>
            </a:r>
            <a:r>
              <a:rPr sz="2600" spc="-3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leads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to</a:t>
            </a:r>
            <a:r>
              <a:rPr sz="260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changes</a:t>
            </a:r>
            <a:r>
              <a:rPr sz="2600" spc="-2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in</a:t>
            </a:r>
            <a:r>
              <a:rPr sz="2600" spc="-5" dirty="0">
                <a:latin typeface="Times New Roman" pitchFamily="18" charset="0"/>
                <a:cs typeface="Calibri"/>
              </a:rPr>
              <a:t> margin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amounts</a:t>
            </a:r>
            <a:r>
              <a:rPr sz="2600" spc="-5" dirty="0">
                <a:latin typeface="Times New Roman" pitchFamily="18" charset="0"/>
                <a:cs typeface="Calibri"/>
              </a:rPr>
              <a:t> </a:t>
            </a:r>
            <a:r>
              <a:rPr sz="2600" spc="-35" dirty="0">
                <a:latin typeface="Times New Roman" pitchFamily="18" charset="0"/>
                <a:cs typeface="Calibri"/>
              </a:rPr>
              <a:t>daily.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AD0D9"/>
              </a:buClr>
              <a:buFont typeface="Segoe UI Symbol"/>
              <a:buChar char="⚫"/>
            </a:pPr>
            <a:endParaRPr sz="3550">
              <a:latin typeface="Times New Roman" pitchFamily="18" charset="0"/>
              <a:cs typeface="Calibri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5" dirty="0">
                <a:latin typeface="Times New Roman" pitchFamily="18" charset="0"/>
                <a:cs typeface="Calibri"/>
              </a:rPr>
              <a:t>This</a:t>
            </a:r>
            <a:r>
              <a:rPr sz="2600" spc="-3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ensures</a:t>
            </a:r>
            <a:r>
              <a:rPr sz="2600" spc="-3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that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there</a:t>
            </a:r>
            <a:r>
              <a:rPr sz="2600" spc="-2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are</a:t>
            </a:r>
            <a:r>
              <a:rPr sz="2600" dirty="0">
                <a:latin typeface="Times New Roman" pitchFamily="18" charset="0"/>
                <a:cs typeface="Calibri"/>
              </a:rPr>
              <a:t> o</a:t>
            </a:r>
            <a:r>
              <a:rPr sz="2600" spc="-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defaults</a:t>
            </a:r>
            <a:r>
              <a:rPr sz="2600" spc="-2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by</a:t>
            </a:r>
            <a:r>
              <a:rPr sz="2600" spc="-1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the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parties.</a:t>
            </a:r>
            <a:endParaRPr sz="26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30" y="0"/>
            <a:ext cx="9146540" cy="6858000"/>
            <a:chOff x="-1030" y="0"/>
            <a:chExt cx="914654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46"/>
              <a:ext cx="9144000" cy="10274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0007" y="0"/>
              <a:ext cx="4743992" cy="6000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091760" cy="10214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1030" y="50926"/>
              <a:ext cx="9146173" cy="904748"/>
            </a:xfrm>
            <a:prstGeom prst="rect">
              <a:avLst/>
            </a:prstGeom>
          </p:spPr>
        </p:pic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16890" y="854836"/>
          <a:ext cx="8279765" cy="59298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62475"/>
                <a:gridCol w="2336800"/>
                <a:gridCol w="1280795"/>
                <a:gridCol w="99695"/>
              </a:tblGrid>
              <a:tr h="254507">
                <a:tc>
                  <a:txBody>
                    <a:bodyPr/>
                    <a:lstStyle/>
                    <a:p>
                      <a:pPr marL="506730">
                        <a:lnSpc>
                          <a:spcPts val="1670"/>
                        </a:lnSpc>
                      </a:pPr>
                      <a:r>
                        <a:rPr sz="2000" b="1" spc="-15" dirty="0">
                          <a:solidFill>
                            <a:srgbClr val="20B1C8"/>
                          </a:solidFill>
                          <a:latin typeface="Times New Roman" pitchFamily="18" charset="0"/>
                          <a:cs typeface="Calibri"/>
                        </a:rPr>
                        <a:t>COMPARISON</a:t>
                      </a:r>
                      <a:endParaRPr sz="20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0" marB="0">
                    <a:lnB w="28575">
                      <a:solidFill>
                        <a:srgbClr val="20B1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8210">
                        <a:lnSpc>
                          <a:spcPts val="1670"/>
                        </a:lnSpc>
                      </a:pPr>
                      <a:r>
                        <a:rPr sz="2000" b="1" spc="-20" dirty="0">
                          <a:solidFill>
                            <a:srgbClr val="20B1C8"/>
                          </a:solidFill>
                          <a:latin typeface="Times New Roman" pitchFamily="18" charset="0"/>
                          <a:cs typeface="Calibri"/>
                        </a:rPr>
                        <a:t>FORWARD</a:t>
                      </a:r>
                      <a:endParaRPr sz="20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0" marB="0">
                    <a:lnB w="28575">
                      <a:solidFill>
                        <a:srgbClr val="20B1C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ts val="1670"/>
                        </a:lnSpc>
                      </a:pPr>
                      <a:r>
                        <a:rPr sz="2000" b="1" dirty="0">
                          <a:solidFill>
                            <a:srgbClr val="20B1C8"/>
                          </a:solidFill>
                          <a:latin typeface="Times New Roman" pitchFamily="18" charset="0"/>
                          <a:cs typeface="Calibri"/>
                        </a:rPr>
                        <a:t>FUTUR</a:t>
                      </a:r>
                      <a:r>
                        <a:rPr sz="2000" b="1" spc="-30" dirty="0">
                          <a:solidFill>
                            <a:srgbClr val="20B1C8"/>
                          </a:solidFill>
                          <a:latin typeface="Times New Roman" pitchFamily="18" charset="0"/>
                          <a:cs typeface="Calibri"/>
                        </a:rPr>
                        <a:t>E</a:t>
                      </a:r>
                      <a:r>
                        <a:rPr sz="2000" b="1" dirty="0">
                          <a:solidFill>
                            <a:srgbClr val="20B1C8"/>
                          </a:solidFill>
                          <a:latin typeface="Times New Roman" pitchFamily="18" charset="0"/>
                          <a:cs typeface="Calibri"/>
                        </a:rPr>
                        <a:t>S</a:t>
                      </a:r>
                      <a:endParaRPr sz="20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0" marB="0">
                    <a:lnB w="28575">
                      <a:solidFill>
                        <a:srgbClr val="20B1C8"/>
                      </a:solidFill>
                      <a:prstDash val="solid"/>
                    </a:lnB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7673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174625" indent="-14351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175260" algn="l"/>
                        </a:tabLst>
                      </a:pPr>
                      <a:r>
                        <a:rPr sz="2000" b="1" spc="-35" dirty="0">
                          <a:latin typeface="Times New Roman" pitchFamily="18" charset="0"/>
                          <a:cs typeface="Calibri"/>
                        </a:rPr>
                        <a:t>Trade</a:t>
                      </a:r>
                      <a:r>
                        <a:rPr sz="2000" b="1" spc="5" dirty="0">
                          <a:latin typeface="Times New Roman" pitchFamily="18" charset="0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Times New Roman" pitchFamily="18" charset="0"/>
                          <a:cs typeface="Calibri"/>
                        </a:rPr>
                        <a:t>on</a:t>
                      </a:r>
                      <a:r>
                        <a:rPr sz="2000" b="1" spc="-20" dirty="0">
                          <a:latin typeface="Times New Roman" pitchFamily="18" charset="0"/>
                          <a:cs typeface="Calibri"/>
                        </a:rPr>
                        <a:t> </a:t>
                      </a:r>
                      <a:r>
                        <a:rPr sz="2000" b="1" spc="-15" dirty="0">
                          <a:latin typeface="Times New Roman" pitchFamily="18" charset="0"/>
                          <a:cs typeface="Calibri"/>
                        </a:rPr>
                        <a:t>organized</a:t>
                      </a:r>
                      <a:r>
                        <a:rPr sz="2000" b="1" spc="-5" dirty="0">
                          <a:latin typeface="Times New Roman" pitchFamily="18" charset="0"/>
                          <a:cs typeface="Calibri"/>
                        </a:rPr>
                        <a:t> </a:t>
                      </a:r>
                      <a:r>
                        <a:rPr sz="2000" b="1" spc="-15" dirty="0">
                          <a:latin typeface="Times New Roman" pitchFamily="18" charset="0"/>
                          <a:cs typeface="Calibri"/>
                        </a:rPr>
                        <a:t>exchanges</a:t>
                      </a:r>
                      <a:endParaRPr sz="20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0" marB="0">
                    <a:lnT w="28575">
                      <a:solidFill>
                        <a:srgbClr val="20B1C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138747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Times New Roman" pitchFamily="18" charset="0"/>
                          <a:cs typeface="Calibri"/>
                        </a:rPr>
                        <a:t>No</a:t>
                      </a:r>
                      <a:endParaRPr sz="20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0" marB="0">
                    <a:lnT w="28575">
                      <a:solidFill>
                        <a:srgbClr val="20B1C8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611505" marR="3175">
                        <a:lnSpc>
                          <a:spcPct val="100000"/>
                        </a:lnSpc>
                      </a:pPr>
                      <a:r>
                        <a:rPr sz="2000" b="1" spc="-55" dirty="0">
                          <a:latin typeface="Times New Roman" pitchFamily="18" charset="0"/>
                          <a:cs typeface="Calibri"/>
                        </a:rPr>
                        <a:t>Yes</a:t>
                      </a:r>
                      <a:endParaRPr sz="20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0" marB="0">
                    <a:lnT w="28575">
                      <a:solidFill>
                        <a:srgbClr val="20B1C8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609790">
                <a:tc>
                  <a:txBody>
                    <a:bodyPr/>
                    <a:lstStyle/>
                    <a:p>
                      <a:pPr marL="174625" indent="-143510">
                        <a:lnSpc>
                          <a:spcPct val="100000"/>
                        </a:lnSpc>
                        <a:spcBef>
                          <a:spcPts val="1055"/>
                        </a:spcBef>
                        <a:buFont typeface="Arial MT"/>
                        <a:buChar char="•"/>
                        <a:tabLst>
                          <a:tab pos="175260" algn="l"/>
                        </a:tabLst>
                      </a:pPr>
                      <a:r>
                        <a:rPr sz="2000" b="1" dirty="0">
                          <a:latin typeface="Times New Roman" pitchFamily="18" charset="0"/>
                          <a:cs typeface="Calibri"/>
                        </a:rPr>
                        <a:t>Use</a:t>
                      </a:r>
                      <a:r>
                        <a:rPr sz="2000" b="1" spc="-15" dirty="0">
                          <a:latin typeface="Times New Roman" pitchFamily="18" charset="0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Times New Roman" pitchFamily="18" charset="0"/>
                          <a:cs typeface="Calibri"/>
                        </a:rPr>
                        <a:t>standardized</a:t>
                      </a:r>
                      <a:r>
                        <a:rPr sz="2000" b="1" spc="-20" dirty="0">
                          <a:latin typeface="Times New Roman" pitchFamily="18" charset="0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Times New Roman" pitchFamily="18" charset="0"/>
                          <a:cs typeface="Calibri"/>
                        </a:rPr>
                        <a:t>contract</a:t>
                      </a:r>
                      <a:r>
                        <a:rPr sz="2000" b="1" spc="-20" dirty="0">
                          <a:latin typeface="Times New Roman" pitchFamily="18" charset="0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Times New Roman" pitchFamily="18" charset="0"/>
                          <a:cs typeface="Calibri"/>
                        </a:rPr>
                        <a:t>terms</a:t>
                      </a:r>
                      <a:endParaRPr sz="20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133985" marB="0"/>
                </a:tc>
                <a:tc>
                  <a:txBody>
                    <a:bodyPr/>
                    <a:lstStyle/>
                    <a:p>
                      <a:pPr marL="135636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dirty="0">
                          <a:latin typeface="Times New Roman" pitchFamily="18" charset="0"/>
                          <a:cs typeface="Calibri"/>
                        </a:rPr>
                        <a:t>No</a:t>
                      </a:r>
                      <a:endParaRPr sz="20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133985" marB="0"/>
                </a:tc>
                <a:tc>
                  <a:txBody>
                    <a:bodyPr/>
                    <a:lstStyle/>
                    <a:p>
                      <a:pPr marL="638810" marR="3175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55" dirty="0">
                          <a:latin typeface="Times New Roman" pitchFamily="18" charset="0"/>
                          <a:cs typeface="Calibri"/>
                        </a:rPr>
                        <a:t>Yes</a:t>
                      </a:r>
                      <a:endParaRPr sz="20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133985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756803">
                <a:tc>
                  <a:txBody>
                    <a:bodyPr/>
                    <a:lstStyle/>
                    <a:p>
                      <a:pPr marL="175260" marR="910590" indent="-175260">
                        <a:lnSpc>
                          <a:spcPct val="100000"/>
                        </a:lnSpc>
                        <a:spcBef>
                          <a:spcPts val="1055"/>
                        </a:spcBef>
                        <a:buFont typeface="Arial MT"/>
                        <a:buChar char="•"/>
                        <a:tabLst>
                          <a:tab pos="175260" algn="l"/>
                        </a:tabLst>
                      </a:pPr>
                      <a:r>
                        <a:rPr sz="2000" b="1" dirty="0">
                          <a:latin typeface="Times New Roman" pitchFamily="18" charset="0"/>
                          <a:cs typeface="Calibri"/>
                        </a:rPr>
                        <a:t>Use </a:t>
                      </a:r>
                      <a:r>
                        <a:rPr sz="2000" b="1" spc="-10" dirty="0">
                          <a:latin typeface="Times New Roman" pitchFamily="18" charset="0"/>
                          <a:cs typeface="Calibri"/>
                        </a:rPr>
                        <a:t>associate </a:t>
                      </a:r>
                      <a:r>
                        <a:rPr sz="2000" b="1" spc="-5" dirty="0">
                          <a:latin typeface="Times New Roman" pitchFamily="18" charset="0"/>
                          <a:cs typeface="Calibri"/>
                        </a:rPr>
                        <a:t>clearinghouses </a:t>
                      </a:r>
                      <a:r>
                        <a:rPr sz="2000" b="1" spc="-15" dirty="0">
                          <a:latin typeface="Times New Roman" pitchFamily="18" charset="0"/>
                          <a:cs typeface="Calibri"/>
                        </a:rPr>
                        <a:t>to </a:t>
                      </a:r>
                      <a:r>
                        <a:rPr sz="2000" b="1" spc="-10" dirty="0">
                          <a:latin typeface="Times New Roman" pitchFamily="18" charset="0"/>
                          <a:cs typeface="Calibri"/>
                        </a:rPr>
                        <a:t> </a:t>
                      </a:r>
                      <a:r>
                        <a:rPr sz="2000" b="1" spc="-15" dirty="0">
                          <a:latin typeface="Times New Roman" pitchFamily="18" charset="0"/>
                          <a:cs typeface="Calibri"/>
                        </a:rPr>
                        <a:t>guarantee</a:t>
                      </a:r>
                      <a:r>
                        <a:rPr sz="2000" b="1" spc="-5" dirty="0">
                          <a:latin typeface="Times New Roman" pitchFamily="18" charset="0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Times New Roman" pitchFamily="18" charset="0"/>
                          <a:cs typeface="Calibri"/>
                        </a:rPr>
                        <a:t>contract</a:t>
                      </a:r>
                      <a:r>
                        <a:rPr sz="2000" b="1" spc="-35" dirty="0">
                          <a:latin typeface="Times New Roman" pitchFamily="18" charset="0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latin typeface="Times New Roman" pitchFamily="18" charset="0"/>
                          <a:cs typeface="Calibri"/>
                        </a:rPr>
                        <a:t>fulfillment</a:t>
                      </a:r>
                      <a:endParaRPr sz="20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133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363980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2000" b="1" dirty="0">
                          <a:latin typeface="Times New Roman" pitchFamily="18" charset="0"/>
                          <a:cs typeface="Calibri"/>
                        </a:rPr>
                        <a:t>No</a:t>
                      </a:r>
                      <a:endParaRPr sz="20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702310" marR="3175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2000" b="1" spc="-55" dirty="0">
                          <a:latin typeface="Times New Roman" pitchFamily="18" charset="0"/>
                          <a:cs typeface="Calibri"/>
                        </a:rPr>
                        <a:t>Yes</a:t>
                      </a:r>
                      <a:endParaRPr sz="20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marL="174625" indent="-14351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175260" algn="l"/>
                        </a:tabLst>
                      </a:pPr>
                      <a:r>
                        <a:rPr sz="2000" b="1" spc="-10" dirty="0">
                          <a:latin typeface="Times New Roman" pitchFamily="18" charset="0"/>
                          <a:cs typeface="Calibri"/>
                        </a:rPr>
                        <a:t>Require</a:t>
                      </a:r>
                      <a:r>
                        <a:rPr sz="2000" b="1" spc="-15" dirty="0">
                          <a:latin typeface="Times New Roman" pitchFamily="18" charset="0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Times New Roman" pitchFamily="18" charset="0"/>
                          <a:cs typeface="Calibri"/>
                        </a:rPr>
                        <a:t>margin payments</a:t>
                      </a:r>
                      <a:r>
                        <a:rPr sz="2000" b="1" dirty="0">
                          <a:latin typeface="Times New Roman" pitchFamily="18" charset="0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latin typeface="Times New Roman" pitchFamily="18" charset="0"/>
                          <a:cs typeface="Calibri"/>
                        </a:rPr>
                        <a:t>and </a:t>
                      </a:r>
                      <a:r>
                        <a:rPr sz="2000" b="1" dirty="0">
                          <a:latin typeface="Times New Roman" pitchFamily="18" charset="0"/>
                          <a:cs typeface="Calibri"/>
                        </a:rPr>
                        <a:t>daily</a:t>
                      </a:r>
                      <a:endParaRPr sz="20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62840">
                <a:tc>
                  <a:txBody>
                    <a:bodyPr/>
                    <a:lstStyle/>
                    <a:p>
                      <a:pPr marL="487045">
                        <a:lnSpc>
                          <a:spcPts val="2300"/>
                        </a:lnSpc>
                      </a:pPr>
                      <a:r>
                        <a:rPr sz="2000" b="1" spc="-5" dirty="0">
                          <a:latin typeface="Times New Roman" pitchFamily="18" charset="0"/>
                          <a:cs typeface="Calibri"/>
                        </a:rPr>
                        <a:t>settlements</a:t>
                      </a:r>
                      <a:endParaRPr sz="20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45565">
                        <a:lnSpc>
                          <a:spcPts val="2300"/>
                        </a:lnSpc>
                      </a:pPr>
                      <a:r>
                        <a:rPr sz="2000" b="1" dirty="0">
                          <a:latin typeface="Times New Roman" pitchFamily="18" charset="0"/>
                          <a:cs typeface="Calibri"/>
                        </a:rPr>
                        <a:t>No</a:t>
                      </a:r>
                      <a:endParaRPr sz="20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83895">
                        <a:lnSpc>
                          <a:spcPts val="2300"/>
                        </a:lnSpc>
                      </a:pPr>
                      <a:r>
                        <a:rPr sz="2000" b="1" spc="-55" dirty="0">
                          <a:latin typeface="Times New Roman" pitchFamily="18" charset="0"/>
                          <a:cs typeface="Calibri"/>
                        </a:rPr>
                        <a:t>Yes</a:t>
                      </a:r>
                      <a:endParaRPr sz="20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609600">
                <a:tc>
                  <a:txBody>
                    <a:bodyPr/>
                    <a:lstStyle/>
                    <a:p>
                      <a:pPr marL="174625" indent="-143510">
                        <a:lnSpc>
                          <a:spcPct val="100000"/>
                        </a:lnSpc>
                        <a:spcBef>
                          <a:spcPts val="1055"/>
                        </a:spcBef>
                        <a:buFont typeface="Arial MT"/>
                        <a:buChar char="•"/>
                        <a:tabLst>
                          <a:tab pos="175260" algn="l"/>
                        </a:tabLst>
                      </a:pPr>
                      <a:r>
                        <a:rPr sz="2000" b="1" spc="-15" dirty="0">
                          <a:latin typeface="Times New Roman" pitchFamily="18" charset="0"/>
                          <a:cs typeface="Calibri"/>
                        </a:rPr>
                        <a:t>Markets </a:t>
                      </a:r>
                      <a:r>
                        <a:rPr sz="2000" b="1" spc="-10" dirty="0">
                          <a:latin typeface="Times New Roman" pitchFamily="18" charset="0"/>
                          <a:cs typeface="Calibri"/>
                        </a:rPr>
                        <a:t>are</a:t>
                      </a:r>
                      <a:r>
                        <a:rPr sz="2000" b="1" spc="-5" dirty="0">
                          <a:latin typeface="Times New Roman" pitchFamily="18" charset="0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latin typeface="Times New Roman" pitchFamily="18" charset="0"/>
                          <a:cs typeface="Calibri"/>
                        </a:rPr>
                        <a:t>transparent</a:t>
                      </a:r>
                      <a:endParaRPr sz="20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133985" marB="0"/>
                </a:tc>
                <a:tc>
                  <a:txBody>
                    <a:bodyPr/>
                    <a:lstStyle/>
                    <a:p>
                      <a:pPr marL="137414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dirty="0">
                          <a:latin typeface="Times New Roman" pitchFamily="18" charset="0"/>
                          <a:cs typeface="Calibri"/>
                        </a:rPr>
                        <a:t>No</a:t>
                      </a:r>
                      <a:endParaRPr sz="20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133985" marB="0"/>
                </a:tc>
                <a:tc gridSpan="2">
                  <a:txBody>
                    <a:bodyPr/>
                    <a:lstStyle/>
                    <a:p>
                      <a:pPr marL="71247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55" dirty="0">
                          <a:latin typeface="Times New Roman" pitchFamily="18" charset="0"/>
                          <a:cs typeface="Calibri"/>
                        </a:rPr>
                        <a:t>Yes</a:t>
                      </a:r>
                      <a:endParaRPr sz="20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13398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609765">
                <a:tc>
                  <a:txBody>
                    <a:bodyPr/>
                    <a:lstStyle/>
                    <a:p>
                      <a:pPr marL="174625" indent="-143510">
                        <a:lnSpc>
                          <a:spcPct val="100000"/>
                        </a:lnSpc>
                        <a:spcBef>
                          <a:spcPts val="1055"/>
                        </a:spcBef>
                        <a:buFont typeface="Arial MT"/>
                        <a:buChar char="•"/>
                        <a:tabLst>
                          <a:tab pos="175260" algn="l"/>
                        </a:tabLst>
                      </a:pPr>
                      <a:r>
                        <a:rPr sz="2000" b="1" spc="-15" dirty="0">
                          <a:latin typeface="Times New Roman" pitchFamily="18" charset="0"/>
                          <a:cs typeface="Calibri"/>
                        </a:rPr>
                        <a:t>Marked</a:t>
                      </a:r>
                      <a:r>
                        <a:rPr sz="2000" b="1" dirty="0">
                          <a:latin typeface="Times New Roman" pitchFamily="18" charset="0"/>
                          <a:cs typeface="Calibri"/>
                        </a:rPr>
                        <a:t> </a:t>
                      </a:r>
                      <a:r>
                        <a:rPr sz="2000" b="1" spc="-15" dirty="0">
                          <a:latin typeface="Times New Roman" pitchFamily="18" charset="0"/>
                          <a:cs typeface="Calibri"/>
                        </a:rPr>
                        <a:t>to</a:t>
                      </a:r>
                      <a:r>
                        <a:rPr sz="2000" b="1" spc="-25" dirty="0">
                          <a:latin typeface="Times New Roman" pitchFamily="18" charset="0"/>
                          <a:cs typeface="Calibri"/>
                        </a:rPr>
                        <a:t> </a:t>
                      </a:r>
                      <a:r>
                        <a:rPr sz="2000" b="1" spc="-15" dirty="0">
                          <a:latin typeface="Times New Roman" pitchFamily="18" charset="0"/>
                          <a:cs typeface="Calibri"/>
                        </a:rPr>
                        <a:t>market </a:t>
                      </a:r>
                      <a:r>
                        <a:rPr sz="2000" b="1" dirty="0">
                          <a:latin typeface="Times New Roman" pitchFamily="18" charset="0"/>
                          <a:cs typeface="Calibri"/>
                        </a:rPr>
                        <a:t>daily</a:t>
                      </a:r>
                      <a:endParaRPr sz="20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133985" marB="0"/>
                </a:tc>
                <a:tc>
                  <a:txBody>
                    <a:bodyPr/>
                    <a:lstStyle/>
                    <a:p>
                      <a:pPr marL="139573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dirty="0">
                          <a:latin typeface="Times New Roman" pitchFamily="18" charset="0"/>
                          <a:cs typeface="Calibri"/>
                        </a:rPr>
                        <a:t>No</a:t>
                      </a:r>
                      <a:endParaRPr sz="20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133985" marB="0"/>
                </a:tc>
                <a:tc gridSpan="2">
                  <a:txBody>
                    <a:bodyPr/>
                    <a:lstStyle/>
                    <a:p>
                      <a:pPr marL="734695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55" dirty="0">
                          <a:latin typeface="Times New Roman" pitchFamily="18" charset="0"/>
                          <a:cs typeface="Calibri"/>
                        </a:rPr>
                        <a:t>Yes</a:t>
                      </a:r>
                      <a:endParaRPr sz="20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13398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609765">
                <a:tc>
                  <a:txBody>
                    <a:bodyPr/>
                    <a:lstStyle/>
                    <a:p>
                      <a:pPr marL="174625" indent="-143510">
                        <a:lnSpc>
                          <a:spcPct val="100000"/>
                        </a:lnSpc>
                        <a:spcBef>
                          <a:spcPts val="1055"/>
                        </a:spcBef>
                        <a:buFont typeface="Arial MT"/>
                        <a:buChar char="•"/>
                        <a:tabLst>
                          <a:tab pos="175260" algn="l"/>
                        </a:tabLst>
                      </a:pPr>
                      <a:r>
                        <a:rPr sz="2000" b="1" spc="-5" dirty="0">
                          <a:latin typeface="Times New Roman" pitchFamily="18" charset="0"/>
                          <a:cs typeface="Calibri"/>
                        </a:rPr>
                        <a:t>Closed</a:t>
                      </a:r>
                      <a:r>
                        <a:rPr sz="2000" b="1" spc="-15" dirty="0">
                          <a:latin typeface="Times New Roman" pitchFamily="18" charset="0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Times New Roman" pitchFamily="18" charset="0"/>
                          <a:cs typeface="Calibri"/>
                        </a:rPr>
                        <a:t>prior</a:t>
                      </a:r>
                      <a:r>
                        <a:rPr sz="2000" b="1" spc="-25" dirty="0">
                          <a:latin typeface="Times New Roman" pitchFamily="18" charset="0"/>
                          <a:cs typeface="Calibri"/>
                        </a:rPr>
                        <a:t> </a:t>
                      </a:r>
                      <a:r>
                        <a:rPr sz="2000" b="1" spc="-15" dirty="0">
                          <a:latin typeface="Times New Roman" pitchFamily="18" charset="0"/>
                          <a:cs typeface="Calibri"/>
                        </a:rPr>
                        <a:t>to</a:t>
                      </a:r>
                      <a:r>
                        <a:rPr sz="2000" b="1" spc="-20" dirty="0">
                          <a:latin typeface="Times New Roman" pitchFamily="18" charset="0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latin typeface="Times New Roman" pitchFamily="18" charset="0"/>
                          <a:cs typeface="Calibri"/>
                        </a:rPr>
                        <a:t>delivery</a:t>
                      </a:r>
                      <a:endParaRPr sz="20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133985" marB="0"/>
                </a:tc>
                <a:tc>
                  <a:txBody>
                    <a:bodyPr/>
                    <a:lstStyle/>
                    <a:p>
                      <a:pPr marL="1383665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dirty="0">
                          <a:latin typeface="Times New Roman" pitchFamily="18" charset="0"/>
                          <a:cs typeface="Calibri"/>
                        </a:rPr>
                        <a:t>No</a:t>
                      </a:r>
                      <a:endParaRPr sz="20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133985" marB="0"/>
                </a:tc>
                <a:tc gridSpan="2">
                  <a:txBody>
                    <a:bodyPr/>
                    <a:lstStyle/>
                    <a:p>
                      <a:pPr marL="607695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5" dirty="0">
                          <a:latin typeface="Times New Roman" pitchFamily="18" charset="0"/>
                          <a:cs typeface="Calibri"/>
                        </a:rPr>
                        <a:t>Mostly</a:t>
                      </a:r>
                      <a:endParaRPr sz="20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13398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51813">
                <a:tc>
                  <a:txBody>
                    <a:bodyPr/>
                    <a:lstStyle/>
                    <a:p>
                      <a:pPr marL="174625" indent="-143510">
                        <a:lnSpc>
                          <a:spcPct val="100000"/>
                        </a:lnSpc>
                        <a:spcBef>
                          <a:spcPts val="1055"/>
                        </a:spcBef>
                        <a:buFont typeface="Arial MT"/>
                        <a:buChar char="•"/>
                        <a:tabLst>
                          <a:tab pos="175260" algn="l"/>
                        </a:tabLst>
                      </a:pPr>
                      <a:r>
                        <a:rPr sz="2000" b="1" spc="-5" dirty="0">
                          <a:latin typeface="Times New Roman" pitchFamily="18" charset="0"/>
                          <a:cs typeface="Calibri"/>
                        </a:rPr>
                        <a:t>Profits</a:t>
                      </a:r>
                      <a:r>
                        <a:rPr sz="2000" b="1" spc="-30" dirty="0">
                          <a:latin typeface="Times New Roman" pitchFamily="18" charset="0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Times New Roman" pitchFamily="18" charset="0"/>
                          <a:cs typeface="Calibri"/>
                        </a:rPr>
                        <a:t>or</a:t>
                      </a:r>
                      <a:r>
                        <a:rPr sz="2000" b="1" spc="-10" dirty="0">
                          <a:latin typeface="Times New Roman" pitchFamily="18" charset="0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Times New Roman" pitchFamily="18" charset="0"/>
                          <a:cs typeface="Calibri"/>
                        </a:rPr>
                        <a:t>losses</a:t>
                      </a:r>
                      <a:r>
                        <a:rPr sz="2000" b="1" spc="-25" dirty="0">
                          <a:latin typeface="Times New Roman" pitchFamily="18" charset="0"/>
                          <a:cs typeface="Calibri"/>
                        </a:rPr>
                        <a:t> </a:t>
                      </a:r>
                      <a:r>
                        <a:rPr sz="2000" b="1" spc="-5" dirty="0">
                          <a:latin typeface="Times New Roman" pitchFamily="18" charset="0"/>
                          <a:cs typeface="Calibri"/>
                        </a:rPr>
                        <a:t>realised</a:t>
                      </a:r>
                      <a:r>
                        <a:rPr sz="2000" b="1" spc="-15" dirty="0">
                          <a:latin typeface="Times New Roman" pitchFamily="18" charset="0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Times New Roman" pitchFamily="18" charset="0"/>
                          <a:cs typeface="Calibri"/>
                        </a:rPr>
                        <a:t>daily</a:t>
                      </a:r>
                      <a:endParaRPr sz="20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133985" marB="0"/>
                </a:tc>
                <a:tc>
                  <a:txBody>
                    <a:bodyPr/>
                    <a:lstStyle/>
                    <a:p>
                      <a:pPr marL="1359535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dirty="0">
                          <a:latin typeface="Times New Roman" pitchFamily="18" charset="0"/>
                          <a:cs typeface="Calibri"/>
                        </a:rPr>
                        <a:t>No</a:t>
                      </a:r>
                      <a:endParaRPr sz="20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133985" marB="0"/>
                </a:tc>
                <a:tc gridSpan="2">
                  <a:txBody>
                    <a:bodyPr/>
                    <a:lstStyle/>
                    <a:p>
                      <a:pPr marL="754380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55" dirty="0">
                          <a:latin typeface="Times New Roman" pitchFamily="18" charset="0"/>
                          <a:cs typeface="Calibri"/>
                        </a:rPr>
                        <a:t>Yes</a:t>
                      </a:r>
                      <a:endParaRPr sz="2000">
                        <a:latin typeface="Times New Roman" pitchFamily="18" charset="0"/>
                        <a:cs typeface="Calibri"/>
                      </a:endParaRPr>
                    </a:p>
                  </a:txBody>
                  <a:tcPr marL="0" marR="0" marT="13398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30" y="0"/>
            <a:ext cx="9146540" cy="6858000"/>
            <a:chOff x="-1030" y="0"/>
            <a:chExt cx="914654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46"/>
              <a:ext cx="9144000" cy="10274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0007" y="0"/>
              <a:ext cx="4743992" cy="6000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091760" cy="10214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1030" y="50926"/>
              <a:ext cx="9146173" cy="90474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134870" y="784606"/>
            <a:ext cx="4874895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What</a:t>
            </a:r>
            <a:r>
              <a:rPr spc="-60" dirty="0"/>
              <a:t> </a:t>
            </a:r>
            <a:r>
              <a:rPr spc="-25" dirty="0"/>
              <a:t>are</a:t>
            </a:r>
            <a:r>
              <a:rPr spc="-55" dirty="0"/>
              <a:t> </a:t>
            </a:r>
            <a:r>
              <a:rPr spc="-5" dirty="0"/>
              <a:t>Options?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35940" y="1945893"/>
            <a:ext cx="7831455" cy="268727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4642"/>
              <a:buFont typeface="Segoe UI Symbol"/>
              <a:buChar char="⚫"/>
              <a:tabLst>
                <a:tab pos="287020" algn="l"/>
              </a:tabLst>
            </a:pPr>
            <a:r>
              <a:rPr sz="2800" spc="-15" dirty="0">
                <a:latin typeface="Times New Roman" pitchFamily="18" charset="0"/>
                <a:cs typeface="Calibri"/>
              </a:rPr>
              <a:t>Contracts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that</a:t>
            </a:r>
            <a:r>
              <a:rPr sz="2800" spc="-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give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the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holder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the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option</a:t>
            </a:r>
            <a:r>
              <a:rPr sz="2800" spc="20" dirty="0">
                <a:latin typeface="Times New Roman" pitchFamily="18" charset="0"/>
                <a:cs typeface="Calibri"/>
              </a:rPr>
              <a:t> </a:t>
            </a:r>
            <a:r>
              <a:rPr sz="2800" spc="-20" dirty="0">
                <a:latin typeface="Times New Roman" pitchFamily="18" charset="0"/>
                <a:cs typeface="Calibri"/>
              </a:rPr>
              <a:t>to</a:t>
            </a:r>
            <a:r>
              <a:rPr sz="2800" spc="-5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buy/sell </a:t>
            </a:r>
            <a:r>
              <a:rPr sz="2800" spc="-62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specified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quantity</a:t>
            </a:r>
            <a:r>
              <a:rPr sz="2800" spc="3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of the </a:t>
            </a:r>
            <a:r>
              <a:rPr sz="2800" spc="-10" dirty="0">
                <a:latin typeface="Times New Roman" pitchFamily="18" charset="0"/>
                <a:cs typeface="Calibri"/>
              </a:rPr>
              <a:t>underlying</a:t>
            </a:r>
            <a:r>
              <a:rPr sz="2800" spc="5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assets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at </a:t>
            </a:r>
            <a:r>
              <a:rPr sz="2800" spc="-5" dirty="0">
                <a:latin typeface="Times New Roman" pitchFamily="18" charset="0"/>
                <a:cs typeface="Calibri"/>
              </a:rPr>
              <a:t>a 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particular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price</a:t>
            </a:r>
            <a:r>
              <a:rPr sz="2800" spc="2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on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or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30" dirty="0">
                <a:latin typeface="Times New Roman" pitchFamily="18" charset="0"/>
                <a:cs typeface="Calibri"/>
              </a:rPr>
              <a:t>before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a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specified</a:t>
            </a:r>
            <a:r>
              <a:rPr sz="2800" spc="2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time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period.</a:t>
            </a:r>
            <a:endParaRPr sz="2800">
              <a:latin typeface="Times New Roman" pitchFamily="18" charset="0"/>
              <a:cs typeface="Calibri"/>
            </a:endParaRPr>
          </a:p>
          <a:p>
            <a:pPr marL="286385" marR="412115" indent="-274320" algn="just">
              <a:lnSpc>
                <a:spcPct val="100000"/>
              </a:lnSpc>
              <a:spcBef>
                <a:spcPts val="675"/>
              </a:spcBef>
              <a:buClr>
                <a:srgbClr val="0AD0D9"/>
              </a:buClr>
              <a:buSzPct val="94642"/>
              <a:buFont typeface="Segoe UI Symbol"/>
              <a:buChar char="⚫"/>
              <a:tabLst>
                <a:tab pos="287020" algn="l"/>
              </a:tabLst>
            </a:pPr>
            <a:r>
              <a:rPr sz="2800" spc="-10" dirty="0">
                <a:latin typeface="Times New Roman" pitchFamily="18" charset="0"/>
                <a:cs typeface="Calibri"/>
              </a:rPr>
              <a:t>The </a:t>
            </a:r>
            <a:r>
              <a:rPr sz="2800" spc="-20" dirty="0">
                <a:latin typeface="Times New Roman" pitchFamily="18" charset="0"/>
                <a:cs typeface="Calibri"/>
              </a:rPr>
              <a:t>word “option” </a:t>
            </a:r>
            <a:r>
              <a:rPr sz="2800" spc="-5" dirty="0">
                <a:latin typeface="Times New Roman" pitchFamily="18" charset="0"/>
                <a:cs typeface="Calibri"/>
              </a:rPr>
              <a:t>means </a:t>
            </a:r>
            <a:r>
              <a:rPr sz="2800" spc="-10" dirty="0">
                <a:latin typeface="Times New Roman" pitchFamily="18" charset="0"/>
                <a:cs typeface="Calibri"/>
              </a:rPr>
              <a:t>that </a:t>
            </a:r>
            <a:r>
              <a:rPr sz="2800" spc="-5" dirty="0">
                <a:latin typeface="Times New Roman" pitchFamily="18" charset="0"/>
                <a:cs typeface="Calibri"/>
              </a:rPr>
              <a:t>the </a:t>
            </a:r>
            <a:r>
              <a:rPr sz="2800" spc="-10" dirty="0">
                <a:latin typeface="Times New Roman" pitchFamily="18" charset="0"/>
                <a:cs typeface="Calibri"/>
              </a:rPr>
              <a:t>holder has </a:t>
            </a:r>
            <a:r>
              <a:rPr sz="2800" spc="-5" dirty="0">
                <a:latin typeface="Times New Roman" pitchFamily="18" charset="0"/>
                <a:cs typeface="Calibri"/>
              </a:rPr>
              <a:t>the </a:t>
            </a:r>
            <a:r>
              <a:rPr sz="2800" spc="-62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right </a:t>
            </a:r>
            <a:r>
              <a:rPr sz="2800" spc="-5" dirty="0">
                <a:latin typeface="Times New Roman" pitchFamily="18" charset="0"/>
                <a:cs typeface="Calibri"/>
              </a:rPr>
              <a:t>but not the </a:t>
            </a:r>
            <a:r>
              <a:rPr sz="2800" spc="-15" dirty="0">
                <a:latin typeface="Times New Roman" pitchFamily="18" charset="0"/>
                <a:cs typeface="Calibri"/>
              </a:rPr>
              <a:t>obligation </a:t>
            </a:r>
            <a:r>
              <a:rPr sz="2800" spc="-20" dirty="0">
                <a:latin typeface="Times New Roman" pitchFamily="18" charset="0"/>
                <a:cs typeface="Calibri"/>
              </a:rPr>
              <a:t>to </a:t>
            </a:r>
            <a:r>
              <a:rPr sz="2800" spc="-15" dirty="0">
                <a:latin typeface="Times New Roman" pitchFamily="18" charset="0"/>
                <a:cs typeface="Calibri"/>
              </a:rPr>
              <a:t>buy/sell </a:t>
            </a:r>
            <a:r>
              <a:rPr sz="2800" spc="-10" dirty="0">
                <a:latin typeface="Times New Roman" pitchFamily="18" charset="0"/>
                <a:cs typeface="Calibri"/>
              </a:rPr>
              <a:t>underlying </a:t>
            </a:r>
            <a:r>
              <a:rPr sz="2800" spc="-62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assets.</a:t>
            </a:r>
            <a:endParaRPr sz="28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6142" y="771871"/>
            <a:ext cx="4332605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-50" dirty="0"/>
              <a:t>Types</a:t>
            </a:r>
            <a:r>
              <a:rPr sz="4800" spc="-65" dirty="0"/>
              <a:t> </a:t>
            </a:r>
            <a:r>
              <a:rPr sz="4800" spc="-5" dirty="0"/>
              <a:t>of</a:t>
            </a:r>
            <a:r>
              <a:rPr sz="4800" spc="-30" dirty="0"/>
              <a:t> </a:t>
            </a:r>
            <a:r>
              <a:rPr sz="4800" spc="-5" dirty="0"/>
              <a:t>Options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859559"/>
            <a:ext cx="8013065" cy="4156907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75"/>
              </a:spcBef>
              <a:buClr>
                <a:srgbClr val="0AD0D9"/>
              </a:buClr>
              <a:buSzPct val="94642"/>
              <a:buFont typeface="Segoe UI Symbol"/>
              <a:buChar char="⚫"/>
              <a:tabLst>
                <a:tab pos="287020" algn="l"/>
              </a:tabLst>
            </a:pPr>
            <a:r>
              <a:rPr sz="2800" spc="-10" dirty="0">
                <a:latin typeface="Times New Roman" pitchFamily="18" charset="0"/>
                <a:cs typeface="Calibri"/>
              </a:rPr>
              <a:t>Options</a:t>
            </a:r>
            <a:r>
              <a:rPr sz="2800" spc="20" dirty="0">
                <a:latin typeface="Times New Roman" pitchFamily="18" charset="0"/>
                <a:cs typeface="Calibri"/>
              </a:rPr>
              <a:t> </a:t>
            </a:r>
            <a:r>
              <a:rPr sz="2800" spc="-20" dirty="0">
                <a:latin typeface="Times New Roman" pitchFamily="18" charset="0"/>
                <a:cs typeface="Calibri"/>
              </a:rPr>
              <a:t>are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of </a:t>
            </a:r>
            <a:r>
              <a:rPr sz="2800" spc="-15" dirty="0">
                <a:latin typeface="Times New Roman" pitchFamily="18" charset="0"/>
                <a:cs typeface="Calibri"/>
              </a:rPr>
              <a:t>two</a:t>
            </a:r>
            <a:r>
              <a:rPr sz="2800" spc="-5" dirty="0">
                <a:latin typeface="Times New Roman" pitchFamily="18" charset="0"/>
                <a:cs typeface="Calibri"/>
              </a:rPr>
              <a:t> types</a:t>
            </a:r>
            <a:r>
              <a:rPr sz="2800" spc="3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–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call </a:t>
            </a:r>
            <a:r>
              <a:rPr sz="2800" spc="-5" dirty="0">
                <a:latin typeface="Times New Roman" pitchFamily="18" charset="0"/>
                <a:cs typeface="Calibri"/>
              </a:rPr>
              <a:t>and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put.</a:t>
            </a:r>
            <a:endParaRPr sz="2800">
              <a:latin typeface="Times New Roman" pitchFamily="18" charset="0"/>
              <a:cs typeface="Calibri"/>
            </a:endParaRPr>
          </a:p>
          <a:p>
            <a:pPr marL="286385" marR="300990" indent="-274320">
              <a:lnSpc>
                <a:spcPct val="100000"/>
              </a:lnSpc>
              <a:spcBef>
                <a:spcPts val="675"/>
              </a:spcBef>
              <a:buClr>
                <a:srgbClr val="0AD0D9"/>
              </a:buClr>
              <a:buSzPct val="94642"/>
              <a:buFont typeface="Segoe UI Symbol"/>
              <a:buChar char="⚫"/>
              <a:tabLst>
                <a:tab pos="287020" algn="l"/>
              </a:tabLst>
            </a:pPr>
            <a:r>
              <a:rPr sz="2800" spc="-10" dirty="0">
                <a:latin typeface="Times New Roman" pitchFamily="18" charset="0"/>
                <a:cs typeface="Calibri"/>
              </a:rPr>
              <a:t>Call</a:t>
            </a:r>
            <a:r>
              <a:rPr sz="2800" spc="-1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option</a:t>
            </a:r>
            <a:r>
              <a:rPr sz="2800" spc="1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give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the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buyer</a:t>
            </a:r>
            <a:r>
              <a:rPr sz="2800" spc="2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the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right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but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not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the 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obligation</a:t>
            </a:r>
            <a:r>
              <a:rPr sz="2800" spc="-10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to</a:t>
            </a:r>
            <a:r>
              <a:rPr sz="2800" spc="-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buy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a </a:t>
            </a:r>
            <a:r>
              <a:rPr sz="2800" spc="-10" dirty="0">
                <a:latin typeface="Times New Roman" pitchFamily="18" charset="0"/>
                <a:cs typeface="Calibri"/>
              </a:rPr>
              <a:t>given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quantity</a:t>
            </a:r>
            <a:r>
              <a:rPr sz="2800" spc="3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of the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underlying </a:t>
            </a:r>
            <a:r>
              <a:rPr sz="2800" spc="-61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asset, </a:t>
            </a:r>
            <a:r>
              <a:rPr sz="2800" spc="-15" dirty="0">
                <a:latin typeface="Times New Roman" pitchFamily="18" charset="0"/>
                <a:cs typeface="Calibri"/>
              </a:rPr>
              <a:t>at</a:t>
            </a:r>
            <a:r>
              <a:rPr sz="2800" spc="-1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a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given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price</a:t>
            </a:r>
            <a:r>
              <a:rPr sz="2800" spc="1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on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or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30" dirty="0">
                <a:latin typeface="Times New Roman" pitchFamily="18" charset="0"/>
                <a:cs typeface="Calibri"/>
              </a:rPr>
              <a:t>before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a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particular</a:t>
            </a:r>
            <a:r>
              <a:rPr sz="2800" spc="20" dirty="0">
                <a:latin typeface="Times New Roman" pitchFamily="18" charset="0"/>
                <a:cs typeface="Calibri"/>
              </a:rPr>
              <a:t> </a:t>
            </a:r>
            <a:r>
              <a:rPr sz="2800" spc="-20" dirty="0">
                <a:latin typeface="Times New Roman" pitchFamily="18" charset="0"/>
                <a:cs typeface="Calibri"/>
              </a:rPr>
              <a:t>date </a:t>
            </a:r>
            <a:r>
              <a:rPr sz="2800" spc="-615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by</a:t>
            </a:r>
            <a:r>
              <a:rPr sz="2800" spc="-5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paying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a </a:t>
            </a:r>
            <a:r>
              <a:rPr sz="2800" spc="-15" dirty="0">
                <a:latin typeface="Times New Roman" pitchFamily="18" charset="0"/>
                <a:cs typeface="Calibri"/>
              </a:rPr>
              <a:t>premium.</a:t>
            </a:r>
            <a:endParaRPr sz="2800">
              <a:latin typeface="Times New Roman" pitchFamily="18" charset="0"/>
              <a:cs typeface="Calibri"/>
            </a:endParaRPr>
          </a:p>
          <a:p>
            <a:pPr marL="286385" marR="5080" indent="-274320">
              <a:lnSpc>
                <a:spcPct val="100000"/>
              </a:lnSpc>
              <a:spcBef>
                <a:spcPts val="675"/>
              </a:spcBef>
              <a:buClr>
                <a:srgbClr val="0AD0D9"/>
              </a:buClr>
              <a:buSzPct val="94642"/>
              <a:buFont typeface="Segoe UI Symbol"/>
              <a:buChar char="⚫"/>
              <a:tabLst>
                <a:tab pos="365760" algn="l"/>
                <a:tab pos="366395" algn="l"/>
              </a:tabLst>
            </a:pPr>
            <a:r>
              <a:rPr dirty="0">
                <a:latin typeface="Times New Roman" pitchFamily="18" charset="0"/>
              </a:rPr>
              <a:t>	</a:t>
            </a:r>
            <a:r>
              <a:rPr sz="2800" spc="-5" dirty="0">
                <a:latin typeface="Times New Roman" pitchFamily="18" charset="0"/>
                <a:cs typeface="Calibri"/>
              </a:rPr>
              <a:t>Puts</a:t>
            </a:r>
            <a:r>
              <a:rPr sz="2800" spc="3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give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the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buyer</a:t>
            </a:r>
            <a:r>
              <a:rPr sz="2800" spc="2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the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right,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but</a:t>
            </a:r>
            <a:r>
              <a:rPr sz="2800" spc="1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not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obligation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20" dirty="0">
                <a:latin typeface="Times New Roman" pitchFamily="18" charset="0"/>
                <a:cs typeface="Calibri"/>
              </a:rPr>
              <a:t>to </a:t>
            </a:r>
            <a:r>
              <a:rPr sz="2800" spc="-1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sell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a </a:t>
            </a:r>
            <a:r>
              <a:rPr sz="2800" spc="-15" dirty="0">
                <a:latin typeface="Times New Roman" pitchFamily="18" charset="0"/>
                <a:cs typeface="Calibri"/>
              </a:rPr>
              <a:t>given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quantity</a:t>
            </a:r>
            <a:r>
              <a:rPr sz="2800" spc="3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of the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underlying</a:t>
            </a:r>
            <a:r>
              <a:rPr sz="2800" spc="3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asset</a:t>
            </a:r>
            <a:r>
              <a:rPr sz="2800" spc="15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at</a:t>
            </a:r>
            <a:r>
              <a:rPr sz="2800" spc="-1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a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given </a:t>
            </a:r>
            <a:r>
              <a:rPr sz="2800" spc="-62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price on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or </a:t>
            </a:r>
            <a:r>
              <a:rPr sz="2800" spc="-30" dirty="0">
                <a:latin typeface="Times New Roman" pitchFamily="18" charset="0"/>
                <a:cs typeface="Calibri"/>
              </a:rPr>
              <a:t>before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a particular</a:t>
            </a:r>
            <a:r>
              <a:rPr sz="2800" spc="20" dirty="0">
                <a:latin typeface="Times New Roman" pitchFamily="18" charset="0"/>
                <a:cs typeface="Calibri"/>
              </a:rPr>
              <a:t> </a:t>
            </a:r>
            <a:r>
              <a:rPr sz="2800" spc="-20" dirty="0">
                <a:latin typeface="Times New Roman" pitchFamily="18" charset="0"/>
                <a:cs typeface="Calibri"/>
              </a:rPr>
              <a:t>date</a:t>
            </a:r>
            <a:r>
              <a:rPr sz="2800" spc="-15" dirty="0">
                <a:latin typeface="Times New Roman" pitchFamily="18" charset="0"/>
                <a:cs typeface="Calibri"/>
              </a:rPr>
              <a:t> by</a:t>
            </a:r>
            <a:r>
              <a:rPr sz="2800" spc="15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paying</a:t>
            </a:r>
            <a:r>
              <a:rPr sz="2800" spc="-5" dirty="0">
                <a:latin typeface="Times New Roman" pitchFamily="18" charset="0"/>
                <a:cs typeface="Calibri"/>
              </a:rPr>
              <a:t> a 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premium.</a:t>
            </a:r>
            <a:endParaRPr sz="28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30" y="0"/>
            <a:ext cx="9146540" cy="6858000"/>
            <a:chOff x="-1030" y="0"/>
            <a:chExt cx="914654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46"/>
              <a:ext cx="9144000" cy="10274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0007" y="0"/>
              <a:ext cx="4743992" cy="6000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091760" cy="10214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1030" y="50926"/>
              <a:ext cx="9146173" cy="90474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93266" y="784606"/>
            <a:ext cx="6158230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-50" dirty="0"/>
              <a:t>Types</a:t>
            </a:r>
            <a:r>
              <a:rPr sz="4800" spc="-55" dirty="0"/>
              <a:t> </a:t>
            </a:r>
            <a:r>
              <a:rPr sz="4800" spc="-5" dirty="0"/>
              <a:t>of</a:t>
            </a:r>
            <a:r>
              <a:rPr sz="4800" spc="-20" dirty="0"/>
              <a:t> </a:t>
            </a:r>
            <a:r>
              <a:rPr sz="4800" spc="-5" dirty="0"/>
              <a:t>Options</a:t>
            </a:r>
            <a:r>
              <a:rPr sz="4800" spc="-35" dirty="0"/>
              <a:t> </a:t>
            </a:r>
            <a:r>
              <a:rPr sz="4800" spc="-15" dirty="0"/>
              <a:t>(cont.)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35940" y="1945893"/>
            <a:ext cx="8028940" cy="32079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4642"/>
              <a:buFont typeface="Segoe UI Symbol"/>
              <a:buChar char="⚫"/>
              <a:tabLst>
                <a:tab pos="287020" algn="l"/>
              </a:tabLst>
            </a:pPr>
            <a:r>
              <a:rPr sz="2800" spc="-10" dirty="0">
                <a:latin typeface="Times New Roman" pitchFamily="18" charset="0"/>
                <a:cs typeface="Calibri"/>
              </a:rPr>
              <a:t>The</a:t>
            </a:r>
            <a:r>
              <a:rPr sz="2800" spc="-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other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two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types</a:t>
            </a:r>
            <a:r>
              <a:rPr sz="2800" spc="20" dirty="0">
                <a:latin typeface="Times New Roman" pitchFamily="18" charset="0"/>
                <a:cs typeface="Calibri"/>
              </a:rPr>
              <a:t> </a:t>
            </a:r>
            <a:r>
              <a:rPr sz="2800" spc="-20" dirty="0">
                <a:latin typeface="Times New Roman" pitchFamily="18" charset="0"/>
                <a:cs typeface="Calibri"/>
              </a:rPr>
              <a:t>are</a:t>
            </a:r>
            <a:r>
              <a:rPr sz="2800" spc="1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–</a:t>
            </a:r>
            <a:r>
              <a:rPr sz="2800" spc="15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European</a:t>
            </a:r>
            <a:r>
              <a:rPr sz="2800" spc="25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style</a:t>
            </a:r>
            <a:r>
              <a:rPr sz="2800" spc="2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options</a:t>
            </a:r>
            <a:r>
              <a:rPr sz="2800" spc="3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and </a:t>
            </a:r>
            <a:r>
              <a:rPr sz="2800" spc="-62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American </a:t>
            </a:r>
            <a:r>
              <a:rPr sz="2800" spc="-15" dirty="0">
                <a:latin typeface="Times New Roman" pitchFamily="18" charset="0"/>
                <a:cs typeface="Calibri"/>
              </a:rPr>
              <a:t>style</a:t>
            </a:r>
            <a:r>
              <a:rPr sz="2800" spc="2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options.</a:t>
            </a:r>
            <a:endParaRPr sz="2800">
              <a:latin typeface="Times New Roman" pitchFamily="18" charset="0"/>
              <a:cs typeface="Calibri"/>
            </a:endParaRPr>
          </a:p>
          <a:p>
            <a:pPr marL="286385" marR="85090" indent="-274320">
              <a:lnSpc>
                <a:spcPct val="100000"/>
              </a:lnSpc>
              <a:spcBef>
                <a:spcPts val="675"/>
              </a:spcBef>
              <a:buClr>
                <a:srgbClr val="0AD0D9"/>
              </a:buClr>
              <a:buSzPct val="94642"/>
              <a:buFont typeface="Segoe UI Symbol"/>
              <a:buChar char="⚫"/>
              <a:tabLst>
                <a:tab pos="287020" algn="l"/>
              </a:tabLst>
            </a:pPr>
            <a:r>
              <a:rPr sz="2800" spc="-15" dirty="0">
                <a:latin typeface="Times New Roman" pitchFamily="18" charset="0"/>
                <a:cs typeface="Calibri"/>
              </a:rPr>
              <a:t>European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style</a:t>
            </a:r>
            <a:r>
              <a:rPr sz="2800" spc="1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options</a:t>
            </a:r>
            <a:r>
              <a:rPr sz="2800" spc="3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can</a:t>
            </a:r>
            <a:r>
              <a:rPr sz="2800" spc="-5" dirty="0">
                <a:latin typeface="Times New Roman" pitchFamily="18" charset="0"/>
                <a:cs typeface="Calibri"/>
              </a:rPr>
              <a:t> be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20" dirty="0">
                <a:latin typeface="Times New Roman" pitchFamily="18" charset="0"/>
                <a:cs typeface="Calibri"/>
              </a:rPr>
              <a:t>exercised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only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on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the 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maturity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20" dirty="0">
                <a:latin typeface="Times New Roman" pitchFamily="18" charset="0"/>
                <a:cs typeface="Calibri"/>
              </a:rPr>
              <a:t>date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of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the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option,</a:t>
            </a:r>
            <a:r>
              <a:rPr sz="2800" spc="2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also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known</a:t>
            </a:r>
            <a:r>
              <a:rPr sz="2800" spc="1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as</a:t>
            </a:r>
            <a:r>
              <a:rPr sz="2800" spc="2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the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expiry </a:t>
            </a:r>
            <a:r>
              <a:rPr sz="2800" spc="-620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date.</a:t>
            </a:r>
            <a:endParaRPr sz="2800">
              <a:latin typeface="Times New Roman" pitchFamily="18" charset="0"/>
              <a:cs typeface="Calibri"/>
            </a:endParaRPr>
          </a:p>
          <a:p>
            <a:pPr marL="286385" marR="282575" indent="-274320">
              <a:lnSpc>
                <a:spcPct val="100000"/>
              </a:lnSpc>
              <a:spcBef>
                <a:spcPts val="675"/>
              </a:spcBef>
              <a:buClr>
                <a:srgbClr val="0AD0D9"/>
              </a:buClr>
              <a:buSzPct val="94642"/>
              <a:buFont typeface="Segoe UI Symbol"/>
              <a:buChar char="⚫"/>
              <a:tabLst>
                <a:tab pos="287020" algn="l"/>
              </a:tabLst>
            </a:pPr>
            <a:r>
              <a:rPr sz="2800" spc="-10" dirty="0">
                <a:latin typeface="Times New Roman" pitchFamily="18" charset="0"/>
                <a:cs typeface="Calibri"/>
              </a:rPr>
              <a:t>American</a:t>
            </a:r>
            <a:r>
              <a:rPr sz="2800" spc="-5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style</a:t>
            </a:r>
            <a:r>
              <a:rPr sz="2800" spc="2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options</a:t>
            </a:r>
            <a:r>
              <a:rPr sz="2800" spc="2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can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be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20" dirty="0">
                <a:latin typeface="Times New Roman" pitchFamily="18" charset="0"/>
                <a:cs typeface="Calibri"/>
              </a:rPr>
              <a:t>exercised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at</a:t>
            </a:r>
            <a:r>
              <a:rPr sz="2800" spc="-5" dirty="0">
                <a:latin typeface="Times New Roman" pitchFamily="18" charset="0"/>
                <a:cs typeface="Calibri"/>
              </a:rPr>
              <a:t> </a:t>
            </a:r>
            <a:r>
              <a:rPr sz="2800" spc="-20" dirty="0">
                <a:latin typeface="Times New Roman" pitchFamily="18" charset="0"/>
                <a:cs typeface="Calibri"/>
              </a:rPr>
              <a:t>any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time </a:t>
            </a:r>
            <a:r>
              <a:rPr sz="2800" spc="-620" dirty="0">
                <a:latin typeface="Times New Roman" pitchFamily="18" charset="0"/>
                <a:cs typeface="Calibri"/>
              </a:rPr>
              <a:t> </a:t>
            </a:r>
            <a:r>
              <a:rPr sz="2800" spc="-30" dirty="0">
                <a:latin typeface="Times New Roman" pitchFamily="18" charset="0"/>
                <a:cs typeface="Calibri"/>
              </a:rPr>
              <a:t>before</a:t>
            </a:r>
            <a:r>
              <a:rPr sz="2800" spc="-5" dirty="0">
                <a:latin typeface="Times New Roman" pitchFamily="18" charset="0"/>
                <a:cs typeface="Calibri"/>
              </a:rPr>
              <a:t> and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on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the </a:t>
            </a:r>
            <a:r>
              <a:rPr sz="2800" spc="-15" dirty="0">
                <a:latin typeface="Times New Roman" pitchFamily="18" charset="0"/>
                <a:cs typeface="Calibri"/>
              </a:rPr>
              <a:t>expiry</a:t>
            </a:r>
            <a:r>
              <a:rPr sz="2800" spc="25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date.</a:t>
            </a:r>
            <a:endParaRPr sz="28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30" y="0"/>
            <a:ext cx="9146540" cy="6858000"/>
            <a:chOff x="-1030" y="0"/>
            <a:chExt cx="914654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46"/>
              <a:ext cx="9144000" cy="10274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0007" y="0"/>
              <a:ext cx="4743992" cy="6000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091760" cy="10214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1030" y="50926"/>
              <a:ext cx="9146173" cy="90474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816354" y="555701"/>
            <a:ext cx="5205095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-5" dirty="0"/>
              <a:t>Call</a:t>
            </a:r>
            <a:r>
              <a:rPr sz="4800" spc="-65" dirty="0"/>
              <a:t> </a:t>
            </a:r>
            <a:r>
              <a:rPr sz="4800" spc="-5" dirty="0"/>
              <a:t>Option</a:t>
            </a:r>
            <a:r>
              <a:rPr sz="4800" spc="-25" dirty="0"/>
              <a:t> </a:t>
            </a:r>
            <a:r>
              <a:rPr sz="4800" spc="-15" dirty="0"/>
              <a:t>Example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3134867" y="1851660"/>
            <a:ext cx="3180715" cy="2407920"/>
            <a:chOff x="3134867" y="1851660"/>
            <a:chExt cx="3180715" cy="240792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51631" y="1876044"/>
              <a:ext cx="3069336" cy="23835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34867" y="1851660"/>
              <a:ext cx="3180587" cy="23256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00399" y="1905000"/>
              <a:ext cx="2971800" cy="22860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200399" y="1905000"/>
              <a:ext cx="2971800" cy="2286000"/>
            </a:xfrm>
            <a:custGeom>
              <a:avLst/>
              <a:gdLst/>
              <a:ahLst/>
              <a:cxnLst/>
              <a:rect l="l" t="t" r="r" b="b"/>
              <a:pathLst>
                <a:path w="2971800" h="2286000">
                  <a:moveTo>
                    <a:pt x="0" y="2286000"/>
                  </a:moveTo>
                  <a:lnTo>
                    <a:pt x="2971800" y="2286000"/>
                  </a:lnTo>
                  <a:lnTo>
                    <a:pt x="2971800" y="0"/>
                  </a:lnTo>
                  <a:lnTo>
                    <a:pt x="0" y="0"/>
                  </a:lnTo>
                  <a:lnTo>
                    <a:pt x="0" y="2286000"/>
                  </a:lnTo>
                  <a:close/>
                </a:path>
              </a:pathLst>
            </a:custGeom>
            <a:ln w="12700">
              <a:solidFill>
                <a:srgbClr val="009CD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379470" y="1945893"/>
            <a:ext cx="261493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imes New Roman" pitchFamily="18" charset="0"/>
                <a:cs typeface="Calibri"/>
              </a:rPr>
              <a:t>Right</a:t>
            </a:r>
            <a:r>
              <a:rPr sz="2800" spc="-20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to </a:t>
            </a:r>
            <a:r>
              <a:rPr sz="2800" spc="-10" dirty="0">
                <a:latin typeface="Times New Roman" pitchFamily="18" charset="0"/>
                <a:cs typeface="Calibri"/>
              </a:rPr>
              <a:t>buy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100 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Reliance </a:t>
            </a:r>
            <a:r>
              <a:rPr sz="2800" spc="-15" dirty="0">
                <a:latin typeface="Times New Roman" pitchFamily="18" charset="0"/>
                <a:cs typeface="Calibri"/>
              </a:rPr>
              <a:t>shares at </a:t>
            </a:r>
            <a:r>
              <a:rPr sz="2800" spc="-62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a</a:t>
            </a:r>
            <a:r>
              <a:rPr sz="2800" spc="-1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price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of</a:t>
            </a:r>
            <a:r>
              <a:rPr sz="2800" spc="-1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Rs.300</a:t>
            </a:r>
            <a:endParaRPr sz="2800">
              <a:latin typeface="Times New Roman" pitchFamily="18" charset="0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78529" y="3226435"/>
            <a:ext cx="241617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14680" marR="5080" indent="-60198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imes New Roman" pitchFamily="18" charset="0"/>
                <a:cs typeface="Calibri"/>
              </a:rPr>
              <a:t>per</a:t>
            </a:r>
            <a:r>
              <a:rPr sz="2800" spc="-30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share</a:t>
            </a:r>
            <a:r>
              <a:rPr sz="2800" spc="-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after</a:t>
            </a:r>
            <a:r>
              <a:rPr sz="2800" spc="-4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3 </a:t>
            </a:r>
            <a:r>
              <a:rPr sz="2800" spc="-62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months.</a:t>
            </a:r>
            <a:endParaRPr sz="2800">
              <a:latin typeface="Times New Roman" pitchFamily="18" charset="0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84575" y="1458213"/>
            <a:ext cx="194119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Times New Roman" pitchFamily="18" charset="0"/>
                <a:cs typeface="Calibri"/>
              </a:rPr>
              <a:t>CALL</a:t>
            </a:r>
            <a:r>
              <a:rPr sz="2000" spc="-75" dirty="0">
                <a:latin typeface="Times New Roman" pitchFamily="18" charset="0"/>
                <a:cs typeface="Calibri"/>
              </a:rPr>
              <a:t> </a:t>
            </a:r>
            <a:r>
              <a:rPr sz="2000" spc="-10" dirty="0">
                <a:latin typeface="Times New Roman" pitchFamily="18" charset="0"/>
                <a:cs typeface="Calibri"/>
              </a:rPr>
              <a:t>OPTION</a:t>
            </a:r>
            <a:endParaRPr sz="2000">
              <a:latin typeface="Times New Roman" pitchFamily="18" charset="0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245100" y="3035300"/>
            <a:ext cx="1930400" cy="1016000"/>
            <a:chOff x="5245100" y="3035300"/>
            <a:chExt cx="1930400" cy="1016000"/>
          </a:xfrm>
        </p:grpSpPr>
        <p:sp>
          <p:nvSpPr>
            <p:cNvPr id="18" name="object 18"/>
            <p:cNvSpPr/>
            <p:nvPr/>
          </p:nvSpPr>
          <p:spPr>
            <a:xfrm>
              <a:off x="5867400" y="3048000"/>
              <a:ext cx="1143000" cy="76200"/>
            </a:xfrm>
            <a:custGeom>
              <a:avLst/>
              <a:gdLst/>
              <a:ahLst/>
              <a:cxnLst/>
              <a:rect l="l" t="t" r="r" b="b"/>
              <a:pathLst>
                <a:path w="1143000" h="76200">
                  <a:moveTo>
                    <a:pt x="1104900" y="0"/>
                  </a:moveTo>
                  <a:lnTo>
                    <a:pt x="1104900" y="19050"/>
                  </a:lnTo>
                  <a:lnTo>
                    <a:pt x="0" y="19050"/>
                  </a:lnTo>
                  <a:lnTo>
                    <a:pt x="0" y="57150"/>
                  </a:lnTo>
                  <a:lnTo>
                    <a:pt x="1104900" y="57150"/>
                  </a:lnTo>
                  <a:lnTo>
                    <a:pt x="1104900" y="76200"/>
                  </a:lnTo>
                  <a:lnTo>
                    <a:pt x="1143000" y="38100"/>
                  </a:lnTo>
                  <a:lnTo>
                    <a:pt x="11049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5867400" y="3048000"/>
              <a:ext cx="1143000" cy="76200"/>
            </a:xfrm>
            <a:custGeom>
              <a:avLst/>
              <a:gdLst/>
              <a:ahLst/>
              <a:cxnLst/>
              <a:rect l="l" t="t" r="r" b="b"/>
              <a:pathLst>
                <a:path w="1143000" h="76200">
                  <a:moveTo>
                    <a:pt x="0" y="19050"/>
                  </a:moveTo>
                  <a:lnTo>
                    <a:pt x="1104900" y="19050"/>
                  </a:lnTo>
                  <a:lnTo>
                    <a:pt x="1104900" y="0"/>
                  </a:lnTo>
                  <a:lnTo>
                    <a:pt x="1143000" y="38100"/>
                  </a:lnTo>
                  <a:lnTo>
                    <a:pt x="1104900" y="76200"/>
                  </a:lnTo>
                  <a:lnTo>
                    <a:pt x="1104900" y="57150"/>
                  </a:lnTo>
                  <a:lnTo>
                    <a:pt x="0" y="57150"/>
                  </a:lnTo>
                  <a:lnTo>
                    <a:pt x="0" y="19050"/>
                  </a:lnTo>
                  <a:close/>
                </a:path>
              </a:pathLst>
            </a:custGeom>
            <a:ln w="2540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5257800" y="3962400"/>
              <a:ext cx="1905000" cy="76200"/>
            </a:xfrm>
            <a:custGeom>
              <a:avLst/>
              <a:gdLst/>
              <a:ahLst/>
              <a:cxnLst/>
              <a:rect l="l" t="t" r="r" b="b"/>
              <a:pathLst>
                <a:path w="1905000" h="76200">
                  <a:moveTo>
                    <a:pt x="1866900" y="0"/>
                  </a:moveTo>
                  <a:lnTo>
                    <a:pt x="1866900" y="19050"/>
                  </a:lnTo>
                  <a:lnTo>
                    <a:pt x="0" y="19050"/>
                  </a:lnTo>
                  <a:lnTo>
                    <a:pt x="0" y="57150"/>
                  </a:lnTo>
                  <a:lnTo>
                    <a:pt x="1866900" y="57150"/>
                  </a:lnTo>
                  <a:lnTo>
                    <a:pt x="1866900" y="76200"/>
                  </a:lnTo>
                  <a:lnTo>
                    <a:pt x="1905000" y="38100"/>
                  </a:lnTo>
                  <a:lnTo>
                    <a:pt x="18669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5257800" y="3962400"/>
              <a:ext cx="1905000" cy="76200"/>
            </a:xfrm>
            <a:custGeom>
              <a:avLst/>
              <a:gdLst/>
              <a:ahLst/>
              <a:cxnLst/>
              <a:rect l="l" t="t" r="r" b="b"/>
              <a:pathLst>
                <a:path w="1905000" h="76200">
                  <a:moveTo>
                    <a:pt x="0" y="19050"/>
                  </a:moveTo>
                  <a:lnTo>
                    <a:pt x="1866900" y="19050"/>
                  </a:lnTo>
                  <a:lnTo>
                    <a:pt x="1866900" y="0"/>
                  </a:lnTo>
                  <a:lnTo>
                    <a:pt x="1905000" y="38100"/>
                  </a:lnTo>
                  <a:lnTo>
                    <a:pt x="1866900" y="76200"/>
                  </a:lnTo>
                  <a:lnTo>
                    <a:pt x="1866900" y="57150"/>
                  </a:lnTo>
                  <a:lnTo>
                    <a:pt x="0" y="57150"/>
                  </a:lnTo>
                  <a:lnTo>
                    <a:pt x="0" y="19050"/>
                  </a:lnTo>
                  <a:close/>
                </a:path>
              </a:pathLst>
            </a:custGeom>
            <a:ln w="2540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166609" y="2525394"/>
            <a:ext cx="1469390" cy="8124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1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Strike</a:t>
            </a:r>
            <a:r>
              <a:rPr sz="2400" b="1" spc="-7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Pric</a:t>
            </a:r>
            <a:r>
              <a:rPr sz="2800" b="1" spc="-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e</a:t>
            </a:r>
            <a:endParaRPr sz="2800">
              <a:latin typeface="Times New Roman" pitchFamily="18" charset="0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3540" y="1842261"/>
            <a:ext cx="152654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Premium </a:t>
            </a:r>
            <a:r>
              <a:rPr sz="2400" b="1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= </a:t>
            </a:r>
            <a:r>
              <a:rPr sz="2400" b="1" spc="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Rs.2</a:t>
            </a:r>
            <a:r>
              <a:rPr sz="2400" b="1" spc="-1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5</a:t>
            </a:r>
            <a:r>
              <a:rPr sz="2400" b="1" spc="-60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/</a:t>
            </a:r>
            <a:r>
              <a:rPr sz="2400" b="1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sha</a:t>
            </a:r>
            <a:r>
              <a:rPr sz="2400" b="1" spc="-30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r</a:t>
            </a:r>
            <a:r>
              <a:rPr sz="2400" b="1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e</a:t>
            </a:r>
            <a:endParaRPr sz="2400">
              <a:latin typeface="Times New Roman" pitchFamily="18" charset="0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3540" y="2939922"/>
            <a:ext cx="213804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Amt </a:t>
            </a:r>
            <a:r>
              <a:rPr sz="2400" b="1" spc="-1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to </a:t>
            </a:r>
            <a:r>
              <a:rPr sz="2400" b="1" spc="-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buy Call </a:t>
            </a:r>
            <a:r>
              <a:rPr sz="2400" b="1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option</a:t>
            </a:r>
            <a:r>
              <a:rPr sz="2400" b="1" spc="-60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=</a:t>
            </a:r>
            <a:r>
              <a:rPr sz="2400" b="1" spc="-40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Rs.2500</a:t>
            </a:r>
            <a:endParaRPr sz="2400">
              <a:latin typeface="Times New Roman" pitchFamily="18" charset="0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80428" y="1616709"/>
            <a:ext cx="234505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Current</a:t>
            </a:r>
            <a:r>
              <a:rPr sz="2000" b="1" spc="-30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Price</a:t>
            </a:r>
            <a:r>
              <a:rPr sz="2000" b="1" spc="-3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=</a:t>
            </a:r>
            <a:r>
              <a:rPr sz="2000" b="1" spc="-1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Rs.250</a:t>
            </a:r>
            <a:endParaRPr sz="2000">
              <a:latin typeface="Times New Roman" pitchFamily="18" charset="0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5940" y="4512945"/>
            <a:ext cx="2962910" cy="185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Suppose </a:t>
            </a:r>
            <a:r>
              <a:rPr sz="2000" b="1" spc="-1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after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a </a:t>
            </a:r>
            <a:r>
              <a:rPr sz="2000" b="1" spc="-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month,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spc="-1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Market</a:t>
            </a:r>
            <a:r>
              <a:rPr sz="2000" b="1" spc="-2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price</a:t>
            </a:r>
            <a:r>
              <a:rPr sz="2000" b="1" spc="-2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is</a:t>
            </a:r>
            <a:r>
              <a:rPr sz="2000" b="1" spc="-1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Rs.400,</a:t>
            </a:r>
            <a:r>
              <a:rPr sz="2000" b="1" spc="-4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then </a:t>
            </a:r>
            <a:r>
              <a:rPr sz="2000" b="1" spc="-434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the option is </a:t>
            </a:r>
            <a:r>
              <a:rPr sz="2000" b="1" spc="-1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exercised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i.e. </a:t>
            </a:r>
            <a:r>
              <a:rPr sz="2000" b="1" spc="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the</a:t>
            </a:r>
            <a:r>
              <a:rPr sz="2000" b="1" spc="-2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spc="-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shares</a:t>
            </a:r>
            <a:r>
              <a:rPr sz="2000" b="1" spc="-1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spc="-1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are</a:t>
            </a:r>
            <a:r>
              <a:rPr sz="2000" b="1" spc="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spc="-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bought.</a:t>
            </a:r>
            <a:endParaRPr sz="2000">
              <a:latin typeface="Times New Roman" pitchFamily="18" charset="0"/>
              <a:cs typeface="Calibri"/>
            </a:endParaRPr>
          </a:p>
          <a:p>
            <a:pPr marL="12700" marR="245110">
              <a:lnSpc>
                <a:spcPct val="100000"/>
              </a:lnSpc>
              <a:spcBef>
                <a:spcPts val="5"/>
              </a:spcBef>
            </a:pPr>
            <a:r>
              <a:rPr sz="2000" b="1" spc="-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Net</a:t>
            </a:r>
            <a:r>
              <a:rPr sz="2000" b="1" spc="-5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spc="-1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gain</a:t>
            </a:r>
            <a:r>
              <a:rPr sz="2000" b="1" spc="-2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=</a:t>
            </a:r>
            <a:r>
              <a:rPr sz="2000" b="1" spc="-2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40,000-30,000- </a:t>
            </a:r>
            <a:r>
              <a:rPr sz="2000" b="1" spc="-434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2500</a:t>
            </a:r>
            <a:r>
              <a:rPr sz="2000" b="1" spc="-4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=</a:t>
            </a:r>
            <a:r>
              <a:rPr sz="2000" b="1" spc="-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Rs.7500</a:t>
            </a:r>
            <a:endParaRPr sz="2000">
              <a:latin typeface="Times New Roman" pitchFamily="18" charset="0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37428" y="4741545"/>
            <a:ext cx="3519804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Suppose </a:t>
            </a:r>
            <a:r>
              <a:rPr sz="2000" b="1" spc="-1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after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a </a:t>
            </a:r>
            <a:r>
              <a:rPr sz="2000" b="1" spc="-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month, </a:t>
            </a:r>
            <a:r>
              <a:rPr sz="2000" b="1" spc="-1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market </a:t>
            </a:r>
            <a:r>
              <a:rPr sz="2000" b="1" spc="-1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price</a:t>
            </a:r>
            <a:r>
              <a:rPr sz="2000" b="1" spc="-3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is</a:t>
            </a:r>
            <a:r>
              <a:rPr sz="2000" b="1" spc="-1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Rs.200,</a:t>
            </a:r>
            <a:r>
              <a:rPr sz="2000" b="1" spc="-4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then</a:t>
            </a:r>
            <a:r>
              <a:rPr sz="2000" b="1" spc="-2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the</a:t>
            </a:r>
            <a:r>
              <a:rPr sz="2000" b="1" spc="-1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option</a:t>
            </a:r>
            <a:r>
              <a:rPr sz="2000" b="1" spc="-3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is </a:t>
            </a:r>
            <a:r>
              <a:rPr sz="2000" b="1" spc="-44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not</a:t>
            </a:r>
            <a:r>
              <a:rPr sz="2000" b="1" spc="-3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spc="-1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exercised.</a:t>
            </a:r>
            <a:endParaRPr sz="2000">
              <a:latin typeface="Times New Roman" pitchFamily="18" charset="0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-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Net</a:t>
            </a:r>
            <a:r>
              <a:rPr sz="2000" b="1" spc="-4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Loss</a:t>
            </a:r>
            <a:r>
              <a:rPr sz="2000" b="1" spc="-1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=</a:t>
            </a:r>
            <a:r>
              <a:rPr sz="2000" b="1" spc="-2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spc="-1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Premium</a:t>
            </a:r>
            <a:r>
              <a:rPr sz="2000" b="1" spc="-2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spc="-1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amt</a:t>
            </a:r>
            <a:endParaRPr sz="2000">
              <a:latin typeface="Times New Roman" pitchFamily="18" charset="0"/>
              <a:cs typeface="Calibri"/>
            </a:endParaRPr>
          </a:p>
          <a:p>
            <a:pPr marL="925194">
              <a:lnSpc>
                <a:spcPct val="100000"/>
              </a:lnSpc>
            </a:pP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=</a:t>
            </a:r>
            <a:r>
              <a:rPr sz="2000" b="1" spc="-3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Rs.2500</a:t>
            </a:r>
            <a:endParaRPr sz="2000">
              <a:latin typeface="Times New Roman" pitchFamily="18" charset="0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95208" y="3671392"/>
            <a:ext cx="106299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Expiry</a:t>
            </a:r>
            <a:endParaRPr sz="2400">
              <a:latin typeface="Times New Roman" pitchFamily="18" charset="0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date</a:t>
            </a:r>
            <a:endParaRPr sz="24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30" y="0"/>
            <a:ext cx="9146540" cy="6858000"/>
            <a:chOff x="-1030" y="0"/>
            <a:chExt cx="914654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46"/>
              <a:ext cx="9144000" cy="10274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0007" y="0"/>
              <a:ext cx="4743992" cy="6000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091760" cy="10214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1030" y="50926"/>
              <a:ext cx="9146173" cy="90474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99233" y="631901"/>
            <a:ext cx="5147945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dirty="0"/>
              <a:t>Put</a:t>
            </a:r>
            <a:r>
              <a:rPr sz="4800" spc="-40" dirty="0"/>
              <a:t> </a:t>
            </a:r>
            <a:r>
              <a:rPr sz="4800" spc="-5" dirty="0"/>
              <a:t>Option</a:t>
            </a:r>
            <a:r>
              <a:rPr sz="4800" spc="-45" dirty="0"/>
              <a:t> </a:t>
            </a:r>
            <a:r>
              <a:rPr sz="4800" spc="-15" dirty="0"/>
              <a:t>Example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3134867" y="1851660"/>
            <a:ext cx="3180715" cy="2407920"/>
            <a:chOff x="3134867" y="1851660"/>
            <a:chExt cx="3180715" cy="240792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51631" y="1876044"/>
              <a:ext cx="3069336" cy="23835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34867" y="1851660"/>
              <a:ext cx="3180587" cy="23256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00399" y="1905000"/>
              <a:ext cx="2971800" cy="22860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200399" y="1905000"/>
              <a:ext cx="2971800" cy="2286000"/>
            </a:xfrm>
            <a:custGeom>
              <a:avLst/>
              <a:gdLst/>
              <a:ahLst/>
              <a:cxnLst/>
              <a:rect l="l" t="t" r="r" b="b"/>
              <a:pathLst>
                <a:path w="2971800" h="2286000">
                  <a:moveTo>
                    <a:pt x="0" y="2286000"/>
                  </a:moveTo>
                  <a:lnTo>
                    <a:pt x="2971800" y="2286000"/>
                  </a:lnTo>
                  <a:lnTo>
                    <a:pt x="2971800" y="0"/>
                  </a:lnTo>
                  <a:lnTo>
                    <a:pt x="0" y="0"/>
                  </a:lnTo>
                  <a:lnTo>
                    <a:pt x="0" y="2286000"/>
                  </a:lnTo>
                  <a:close/>
                </a:path>
              </a:pathLst>
            </a:custGeom>
            <a:ln w="12700">
              <a:solidFill>
                <a:srgbClr val="009CD9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379470" y="1945893"/>
            <a:ext cx="261493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imes New Roman" pitchFamily="18" charset="0"/>
                <a:cs typeface="Calibri"/>
              </a:rPr>
              <a:t>Right </a:t>
            </a:r>
            <a:r>
              <a:rPr sz="2800" spc="-15" dirty="0">
                <a:latin typeface="Times New Roman" pitchFamily="18" charset="0"/>
                <a:cs typeface="Calibri"/>
              </a:rPr>
              <a:t>to </a:t>
            </a:r>
            <a:r>
              <a:rPr sz="2800" spc="-10" dirty="0">
                <a:latin typeface="Times New Roman" pitchFamily="18" charset="0"/>
                <a:cs typeface="Calibri"/>
              </a:rPr>
              <a:t>sell </a:t>
            </a:r>
            <a:r>
              <a:rPr sz="2800" spc="-5" dirty="0">
                <a:latin typeface="Times New Roman" pitchFamily="18" charset="0"/>
                <a:cs typeface="Calibri"/>
              </a:rPr>
              <a:t>100 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Reliance </a:t>
            </a:r>
            <a:r>
              <a:rPr sz="2800" spc="-15" dirty="0">
                <a:latin typeface="Times New Roman" pitchFamily="18" charset="0"/>
                <a:cs typeface="Calibri"/>
              </a:rPr>
              <a:t>shares at </a:t>
            </a:r>
            <a:r>
              <a:rPr sz="2800" spc="-62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a</a:t>
            </a:r>
            <a:r>
              <a:rPr sz="2800" spc="-1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price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of</a:t>
            </a:r>
            <a:r>
              <a:rPr sz="2800" spc="-1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Rs.300</a:t>
            </a:r>
            <a:endParaRPr sz="2800">
              <a:latin typeface="Times New Roman" pitchFamily="18" charset="0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78529" y="3226435"/>
            <a:ext cx="241617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14680" marR="5080" indent="-60198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imes New Roman" pitchFamily="18" charset="0"/>
                <a:cs typeface="Calibri"/>
              </a:rPr>
              <a:t>per</a:t>
            </a:r>
            <a:r>
              <a:rPr sz="2800" spc="-30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share</a:t>
            </a:r>
            <a:r>
              <a:rPr sz="2800" spc="-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after</a:t>
            </a:r>
            <a:r>
              <a:rPr sz="2800" spc="-4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3 </a:t>
            </a:r>
            <a:r>
              <a:rPr sz="2800" spc="-62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months.</a:t>
            </a:r>
            <a:endParaRPr sz="2800">
              <a:latin typeface="Times New Roman" pitchFamily="18" charset="0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84575" y="1458213"/>
            <a:ext cx="183388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Times New Roman" pitchFamily="18" charset="0"/>
                <a:cs typeface="Calibri"/>
              </a:rPr>
              <a:t>PUT</a:t>
            </a:r>
            <a:r>
              <a:rPr sz="2000" spc="-75" dirty="0">
                <a:latin typeface="Times New Roman" pitchFamily="18" charset="0"/>
                <a:cs typeface="Calibri"/>
              </a:rPr>
              <a:t> </a:t>
            </a:r>
            <a:r>
              <a:rPr sz="2000" spc="-10" dirty="0">
                <a:latin typeface="Times New Roman" pitchFamily="18" charset="0"/>
                <a:cs typeface="Calibri"/>
              </a:rPr>
              <a:t>OPTION</a:t>
            </a:r>
            <a:endParaRPr sz="2000">
              <a:latin typeface="Times New Roman" pitchFamily="18" charset="0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245100" y="3035300"/>
            <a:ext cx="1930400" cy="1016000"/>
            <a:chOff x="5245100" y="3035300"/>
            <a:chExt cx="1930400" cy="1016000"/>
          </a:xfrm>
        </p:grpSpPr>
        <p:sp>
          <p:nvSpPr>
            <p:cNvPr id="18" name="object 18"/>
            <p:cNvSpPr/>
            <p:nvPr/>
          </p:nvSpPr>
          <p:spPr>
            <a:xfrm>
              <a:off x="5867400" y="3048000"/>
              <a:ext cx="1143000" cy="76200"/>
            </a:xfrm>
            <a:custGeom>
              <a:avLst/>
              <a:gdLst/>
              <a:ahLst/>
              <a:cxnLst/>
              <a:rect l="l" t="t" r="r" b="b"/>
              <a:pathLst>
                <a:path w="1143000" h="76200">
                  <a:moveTo>
                    <a:pt x="1104900" y="0"/>
                  </a:moveTo>
                  <a:lnTo>
                    <a:pt x="1104900" y="19050"/>
                  </a:lnTo>
                  <a:lnTo>
                    <a:pt x="0" y="19050"/>
                  </a:lnTo>
                  <a:lnTo>
                    <a:pt x="0" y="57150"/>
                  </a:lnTo>
                  <a:lnTo>
                    <a:pt x="1104900" y="57150"/>
                  </a:lnTo>
                  <a:lnTo>
                    <a:pt x="1104900" y="76200"/>
                  </a:lnTo>
                  <a:lnTo>
                    <a:pt x="1143000" y="38100"/>
                  </a:lnTo>
                  <a:lnTo>
                    <a:pt x="11049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5867400" y="3048000"/>
              <a:ext cx="1143000" cy="76200"/>
            </a:xfrm>
            <a:custGeom>
              <a:avLst/>
              <a:gdLst/>
              <a:ahLst/>
              <a:cxnLst/>
              <a:rect l="l" t="t" r="r" b="b"/>
              <a:pathLst>
                <a:path w="1143000" h="76200">
                  <a:moveTo>
                    <a:pt x="0" y="19050"/>
                  </a:moveTo>
                  <a:lnTo>
                    <a:pt x="1104900" y="19050"/>
                  </a:lnTo>
                  <a:lnTo>
                    <a:pt x="1104900" y="0"/>
                  </a:lnTo>
                  <a:lnTo>
                    <a:pt x="1143000" y="38100"/>
                  </a:lnTo>
                  <a:lnTo>
                    <a:pt x="1104900" y="76200"/>
                  </a:lnTo>
                  <a:lnTo>
                    <a:pt x="1104900" y="57150"/>
                  </a:lnTo>
                  <a:lnTo>
                    <a:pt x="0" y="57150"/>
                  </a:lnTo>
                  <a:lnTo>
                    <a:pt x="0" y="19050"/>
                  </a:lnTo>
                  <a:close/>
                </a:path>
              </a:pathLst>
            </a:custGeom>
            <a:ln w="2540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5257800" y="3962400"/>
              <a:ext cx="1905000" cy="76200"/>
            </a:xfrm>
            <a:custGeom>
              <a:avLst/>
              <a:gdLst/>
              <a:ahLst/>
              <a:cxnLst/>
              <a:rect l="l" t="t" r="r" b="b"/>
              <a:pathLst>
                <a:path w="1905000" h="76200">
                  <a:moveTo>
                    <a:pt x="1866900" y="0"/>
                  </a:moveTo>
                  <a:lnTo>
                    <a:pt x="1866900" y="19050"/>
                  </a:lnTo>
                  <a:lnTo>
                    <a:pt x="0" y="19050"/>
                  </a:lnTo>
                  <a:lnTo>
                    <a:pt x="0" y="57150"/>
                  </a:lnTo>
                  <a:lnTo>
                    <a:pt x="1866900" y="57150"/>
                  </a:lnTo>
                  <a:lnTo>
                    <a:pt x="1866900" y="76200"/>
                  </a:lnTo>
                  <a:lnTo>
                    <a:pt x="1905000" y="38100"/>
                  </a:lnTo>
                  <a:lnTo>
                    <a:pt x="18669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5257800" y="3962400"/>
              <a:ext cx="1905000" cy="76200"/>
            </a:xfrm>
            <a:custGeom>
              <a:avLst/>
              <a:gdLst/>
              <a:ahLst/>
              <a:cxnLst/>
              <a:rect l="l" t="t" r="r" b="b"/>
              <a:pathLst>
                <a:path w="1905000" h="76200">
                  <a:moveTo>
                    <a:pt x="0" y="19050"/>
                  </a:moveTo>
                  <a:lnTo>
                    <a:pt x="1866900" y="19050"/>
                  </a:lnTo>
                  <a:lnTo>
                    <a:pt x="1866900" y="0"/>
                  </a:lnTo>
                  <a:lnTo>
                    <a:pt x="1905000" y="38100"/>
                  </a:lnTo>
                  <a:lnTo>
                    <a:pt x="1866900" y="76200"/>
                  </a:lnTo>
                  <a:lnTo>
                    <a:pt x="1866900" y="57150"/>
                  </a:lnTo>
                  <a:lnTo>
                    <a:pt x="0" y="57150"/>
                  </a:lnTo>
                  <a:lnTo>
                    <a:pt x="0" y="19050"/>
                  </a:lnTo>
                  <a:close/>
                </a:path>
              </a:pathLst>
            </a:custGeom>
            <a:ln w="2540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166609" y="2525394"/>
            <a:ext cx="1469390" cy="8124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b="1" spc="-1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Strike</a:t>
            </a:r>
            <a:r>
              <a:rPr sz="2400" b="1" spc="-7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Pric</a:t>
            </a:r>
            <a:r>
              <a:rPr sz="2800" b="1" spc="-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e</a:t>
            </a:r>
            <a:endParaRPr sz="2800">
              <a:latin typeface="Times New Roman" pitchFamily="18" charset="0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3540" y="1842261"/>
            <a:ext cx="152654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Premium </a:t>
            </a:r>
            <a:r>
              <a:rPr sz="2400" b="1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= </a:t>
            </a:r>
            <a:r>
              <a:rPr sz="2400" b="1" spc="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Rs.2</a:t>
            </a:r>
            <a:r>
              <a:rPr sz="2400" b="1" spc="-1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5</a:t>
            </a:r>
            <a:r>
              <a:rPr sz="2400" b="1" spc="-60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/</a:t>
            </a:r>
            <a:r>
              <a:rPr sz="2400" b="1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sha</a:t>
            </a:r>
            <a:r>
              <a:rPr sz="2400" b="1" spc="-30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r</a:t>
            </a:r>
            <a:r>
              <a:rPr sz="2400" b="1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e</a:t>
            </a:r>
            <a:endParaRPr sz="2400">
              <a:latin typeface="Times New Roman" pitchFamily="18" charset="0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3540" y="2939922"/>
            <a:ext cx="213804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Amt </a:t>
            </a:r>
            <a:r>
              <a:rPr sz="2400" b="1" spc="-1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to </a:t>
            </a:r>
            <a:r>
              <a:rPr sz="2400" b="1" spc="-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buy Call </a:t>
            </a:r>
            <a:r>
              <a:rPr sz="2400" b="1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option</a:t>
            </a:r>
            <a:r>
              <a:rPr sz="2400" b="1" spc="-60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=</a:t>
            </a:r>
            <a:r>
              <a:rPr sz="2400" b="1" spc="-40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Rs.2500</a:t>
            </a:r>
            <a:endParaRPr sz="2400">
              <a:latin typeface="Times New Roman" pitchFamily="18" charset="0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80428" y="1616709"/>
            <a:ext cx="234505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Current</a:t>
            </a:r>
            <a:r>
              <a:rPr sz="2000" b="1" spc="-30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spc="-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Price</a:t>
            </a:r>
            <a:r>
              <a:rPr sz="2000" b="1" spc="-3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=</a:t>
            </a:r>
            <a:r>
              <a:rPr sz="2000" b="1" spc="-1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Rs.250</a:t>
            </a:r>
            <a:endParaRPr sz="2000">
              <a:latin typeface="Times New Roman" pitchFamily="18" charset="0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5940" y="4512945"/>
            <a:ext cx="2962910" cy="185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Suppose </a:t>
            </a:r>
            <a:r>
              <a:rPr sz="2000" b="1" spc="-1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after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a </a:t>
            </a:r>
            <a:r>
              <a:rPr sz="2000" b="1" spc="-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month,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spc="-1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Market</a:t>
            </a:r>
            <a:r>
              <a:rPr sz="2000" b="1" spc="-2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price</a:t>
            </a:r>
            <a:r>
              <a:rPr sz="2000" b="1" spc="-2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is</a:t>
            </a:r>
            <a:r>
              <a:rPr sz="2000" b="1" spc="-1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Rs.200,</a:t>
            </a:r>
            <a:r>
              <a:rPr sz="2000" b="1" spc="-4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then </a:t>
            </a:r>
            <a:r>
              <a:rPr sz="2000" b="1" spc="-434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the option is </a:t>
            </a:r>
            <a:r>
              <a:rPr sz="2000" b="1" spc="-1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exercised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i.e. </a:t>
            </a:r>
            <a:r>
              <a:rPr sz="2000" b="1" spc="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the</a:t>
            </a:r>
            <a:r>
              <a:rPr sz="2000" b="1" spc="-2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spc="-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shares</a:t>
            </a:r>
            <a:r>
              <a:rPr sz="2000" b="1" spc="-1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spc="-1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are</a:t>
            </a:r>
            <a:r>
              <a:rPr sz="2000" b="1" spc="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sold.</a:t>
            </a:r>
            <a:endParaRPr sz="2000">
              <a:latin typeface="Times New Roman" pitchFamily="18" charset="0"/>
              <a:cs typeface="Calibri"/>
            </a:endParaRPr>
          </a:p>
          <a:p>
            <a:pPr marL="12700" marR="245110">
              <a:lnSpc>
                <a:spcPct val="100000"/>
              </a:lnSpc>
              <a:spcBef>
                <a:spcPts val="5"/>
              </a:spcBef>
            </a:pPr>
            <a:r>
              <a:rPr sz="2000" b="1" spc="-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Net</a:t>
            </a:r>
            <a:r>
              <a:rPr sz="2000" b="1" spc="-5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spc="-1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gain</a:t>
            </a:r>
            <a:r>
              <a:rPr sz="2000" b="1" spc="-2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=</a:t>
            </a:r>
            <a:r>
              <a:rPr sz="2000" b="1" spc="-2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30,000-20,000- </a:t>
            </a:r>
            <a:r>
              <a:rPr sz="2000" b="1" spc="-434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2500</a:t>
            </a:r>
            <a:r>
              <a:rPr sz="2000" b="1" spc="-4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=</a:t>
            </a:r>
            <a:r>
              <a:rPr sz="2000" b="1" spc="-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Rs.7500</a:t>
            </a:r>
            <a:endParaRPr sz="2000">
              <a:latin typeface="Times New Roman" pitchFamily="18" charset="0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37428" y="4741545"/>
            <a:ext cx="3519804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Suppose </a:t>
            </a:r>
            <a:r>
              <a:rPr sz="2000" b="1" spc="-1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after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a </a:t>
            </a:r>
            <a:r>
              <a:rPr sz="2000" b="1" spc="-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month, </a:t>
            </a:r>
            <a:r>
              <a:rPr sz="2000" b="1" spc="-1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market </a:t>
            </a:r>
            <a:r>
              <a:rPr sz="2000" b="1" spc="-1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price</a:t>
            </a:r>
            <a:r>
              <a:rPr sz="2000" b="1" spc="-3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is</a:t>
            </a:r>
            <a:r>
              <a:rPr sz="2000" b="1" spc="-1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Rs.300,</a:t>
            </a:r>
            <a:r>
              <a:rPr sz="2000" b="1" spc="-4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then</a:t>
            </a:r>
            <a:r>
              <a:rPr sz="2000" b="1" spc="-2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the</a:t>
            </a:r>
            <a:r>
              <a:rPr sz="2000" b="1" spc="-1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option</a:t>
            </a:r>
            <a:r>
              <a:rPr sz="2000" b="1" spc="-3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is </a:t>
            </a:r>
            <a:r>
              <a:rPr sz="2000" b="1" spc="-44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not</a:t>
            </a:r>
            <a:r>
              <a:rPr sz="2000" b="1" spc="-3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spc="-1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exercised.</a:t>
            </a:r>
            <a:endParaRPr sz="2000">
              <a:latin typeface="Times New Roman" pitchFamily="18" charset="0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-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Net</a:t>
            </a:r>
            <a:r>
              <a:rPr sz="2000" b="1" spc="-4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Loss</a:t>
            </a:r>
            <a:r>
              <a:rPr sz="2000" b="1" spc="-1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=</a:t>
            </a:r>
            <a:r>
              <a:rPr sz="2000" b="1" spc="-2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spc="-1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Premium</a:t>
            </a:r>
            <a:r>
              <a:rPr sz="2000" b="1" spc="-2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spc="-10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amt</a:t>
            </a:r>
            <a:endParaRPr sz="2000">
              <a:latin typeface="Times New Roman" pitchFamily="18" charset="0"/>
              <a:cs typeface="Calibri"/>
            </a:endParaRPr>
          </a:p>
          <a:p>
            <a:pPr marL="925194">
              <a:lnSpc>
                <a:spcPct val="100000"/>
              </a:lnSpc>
            </a:pP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=</a:t>
            </a:r>
            <a:r>
              <a:rPr sz="2000" b="1" spc="-35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 </a:t>
            </a:r>
            <a:r>
              <a:rPr sz="2000" b="1" dirty="0">
                <a:solidFill>
                  <a:srgbClr val="083762"/>
                </a:solidFill>
                <a:latin typeface="Times New Roman" pitchFamily="18" charset="0"/>
                <a:cs typeface="Calibri"/>
              </a:rPr>
              <a:t>Rs.2500</a:t>
            </a:r>
            <a:endParaRPr sz="2000">
              <a:latin typeface="Times New Roman" pitchFamily="18" charset="0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95208" y="3671392"/>
            <a:ext cx="113919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Expiry</a:t>
            </a:r>
            <a:endParaRPr sz="2400">
              <a:latin typeface="Times New Roman" pitchFamily="18" charset="0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FF0000"/>
                </a:solidFill>
                <a:latin typeface="Times New Roman" pitchFamily="18" charset="0"/>
                <a:cs typeface="Calibri"/>
              </a:rPr>
              <a:t>date</a:t>
            </a:r>
            <a:endParaRPr sz="24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30" y="0"/>
            <a:ext cx="9146540" cy="6858000"/>
            <a:chOff x="-1030" y="0"/>
            <a:chExt cx="914654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46"/>
              <a:ext cx="9144000" cy="10274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0007" y="0"/>
              <a:ext cx="4743992" cy="6000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091760" cy="10214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1030" y="50926"/>
              <a:ext cx="9146173" cy="90474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028189" y="784606"/>
            <a:ext cx="5087620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Features</a:t>
            </a:r>
            <a:r>
              <a:rPr spc="-70" dirty="0"/>
              <a:t> </a:t>
            </a:r>
            <a:r>
              <a:rPr spc="-5" dirty="0"/>
              <a:t>of</a:t>
            </a:r>
            <a:r>
              <a:rPr spc="-30" dirty="0"/>
              <a:t> </a:t>
            </a:r>
            <a:r>
              <a:rPr spc="-5" dirty="0"/>
              <a:t>Options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35940" y="1875408"/>
            <a:ext cx="8004175" cy="4087657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675"/>
              </a:spcBef>
              <a:buClr>
                <a:srgbClr val="0AD0D9"/>
              </a:buClr>
              <a:buSzPct val="93750"/>
              <a:buFont typeface="Segoe UI Symbol"/>
              <a:buChar char="⚫"/>
              <a:tabLst>
                <a:tab pos="287020" algn="l"/>
              </a:tabLst>
            </a:pPr>
            <a:r>
              <a:rPr sz="2400" dirty="0">
                <a:latin typeface="Times New Roman" pitchFamily="18" charset="0"/>
                <a:cs typeface="Calibri"/>
              </a:rPr>
              <a:t>A</a:t>
            </a:r>
            <a:r>
              <a:rPr sz="2400" spc="-30" dirty="0">
                <a:latin typeface="Times New Roman" pitchFamily="18" charset="0"/>
                <a:cs typeface="Calibri"/>
              </a:rPr>
              <a:t> </a:t>
            </a:r>
            <a:r>
              <a:rPr sz="2400" spc="-15" dirty="0">
                <a:latin typeface="Times New Roman" pitchFamily="18" charset="0"/>
                <a:cs typeface="Calibri"/>
              </a:rPr>
              <a:t>fixed</a:t>
            </a:r>
            <a:r>
              <a:rPr sz="240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maturity</a:t>
            </a:r>
            <a:r>
              <a:rPr sz="2400" spc="-25" dirty="0">
                <a:latin typeface="Times New Roman" pitchFamily="18" charset="0"/>
                <a:cs typeface="Calibri"/>
              </a:rPr>
              <a:t> </a:t>
            </a:r>
            <a:r>
              <a:rPr sz="2400" spc="-15" dirty="0">
                <a:latin typeface="Times New Roman" pitchFamily="18" charset="0"/>
                <a:cs typeface="Calibri"/>
              </a:rPr>
              <a:t>date</a:t>
            </a:r>
            <a:r>
              <a:rPr sz="2400" spc="-1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on which</a:t>
            </a:r>
            <a:r>
              <a:rPr sz="2400" dirty="0">
                <a:latin typeface="Times New Roman" pitchFamily="18" charset="0"/>
                <a:cs typeface="Calibri"/>
              </a:rPr>
              <a:t> they</a:t>
            </a:r>
            <a:r>
              <a:rPr sz="2400" spc="-15" dirty="0">
                <a:latin typeface="Times New Roman" pitchFamily="18" charset="0"/>
                <a:cs typeface="Calibri"/>
              </a:rPr>
              <a:t> expire. </a:t>
            </a:r>
            <a:r>
              <a:rPr sz="2400" dirty="0">
                <a:latin typeface="Times New Roman" pitchFamily="18" charset="0"/>
                <a:cs typeface="Calibri"/>
              </a:rPr>
              <a:t>(Expiry</a:t>
            </a:r>
            <a:r>
              <a:rPr sz="2400" spc="-20" dirty="0">
                <a:latin typeface="Times New Roman" pitchFamily="18" charset="0"/>
                <a:cs typeface="Calibri"/>
              </a:rPr>
              <a:t> </a:t>
            </a:r>
            <a:r>
              <a:rPr sz="2400" spc="-15" dirty="0">
                <a:latin typeface="Times New Roman" pitchFamily="18" charset="0"/>
                <a:cs typeface="Calibri"/>
              </a:rPr>
              <a:t>date)</a:t>
            </a:r>
            <a:endParaRPr sz="2400">
              <a:latin typeface="Times New Roman" pitchFamily="18" charset="0"/>
              <a:cs typeface="Calibri"/>
            </a:endParaRPr>
          </a:p>
          <a:p>
            <a:pPr marL="286385" marR="5080" indent="-274320">
              <a:lnSpc>
                <a:spcPct val="100000"/>
              </a:lnSpc>
              <a:spcBef>
                <a:spcPts val="580"/>
              </a:spcBef>
              <a:buClr>
                <a:srgbClr val="0AD0D9"/>
              </a:buClr>
              <a:buSzPct val="93750"/>
              <a:buFont typeface="Segoe UI Symbol"/>
              <a:buChar char="⚫"/>
              <a:tabLst>
                <a:tab pos="287020" algn="l"/>
              </a:tabLst>
            </a:pPr>
            <a:r>
              <a:rPr sz="2400" spc="-5" dirty="0">
                <a:latin typeface="Times New Roman" pitchFamily="18" charset="0"/>
                <a:cs typeface="Calibri"/>
              </a:rPr>
              <a:t>The</a:t>
            </a:r>
            <a:r>
              <a:rPr sz="2400" spc="-15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price</a:t>
            </a:r>
            <a:r>
              <a:rPr sz="2400" spc="-15" dirty="0">
                <a:latin typeface="Times New Roman" pitchFamily="18" charset="0"/>
                <a:cs typeface="Calibri"/>
              </a:rPr>
              <a:t> at</a:t>
            </a:r>
            <a:r>
              <a:rPr sz="2400" spc="-20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which</a:t>
            </a:r>
            <a:r>
              <a:rPr sz="2400" spc="-15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the</a:t>
            </a:r>
            <a:r>
              <a:rPr sz="2400" spc="-5" dirty="0">
                <a:latin typeface="Times New Roman" pitchFamily="18" charset="0"/>
                <a:cs typeface="Calibri"/>
              </a:rPr>
              <a:t> option is</a:t>
            </a:r>
            <a:r>
              <a:rPr sz="2400" spc="-15" dirty="0">
                <a:latin typeface="Times New Roman" pitchFamily="18" charset="0"/>
                <a:cs typeface="Calibri"/>
              </a:rPr>
              <a:t> exercised</a:t>
            </a:r>
            <a:r>
              <a:rPr sz="2400" spc="-30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is</a:t>
            </a:r>
            <a:r>
              <a:rPr sz="2400" spc="-5" dirty="0">
                <a:latin typeface="Times New Roman" pitchFamily="18" charset="0"/>
                <a:cs typeface="Calibri"/>
              </a:rPr>
              <a:t> called</a:t>
            </a:r>
            <a:r>
              <a:rPr sz="2400" spc="-25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the</a:t>
            </a:r>
            <a:r>
              <a:rPr sz="2400" spc="-5" dirty="0">
                <a:latin typeface="Times New Roman" pitchFamily="18" charset="0"/>
                <a:cs typeface="Calibri"/>
              </a:rPr>
              <a:t> </a:t>
            </a:r>
            <a:r>
              <a:rPr sz="2400" spc="-15" dirty="0">
                <a:latin typeface="Times New Roman" pitchFamily="18" charset="0"/>
                <a:cs typeface="Calibri"/>
              </a:rPr>
              <a:t>exercise </a:t>
            </a:r>
            <a:r>
              <a:rPr sz="2400" spc="-53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price</a:t>
            </a:r>
            <a:r>
              <a:rPr sz="2400" spc="-25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or </a:t>
            </a:r>
            <a:r>
              <a:rPr sz="2400" spc="-20" dirty="0">
                <a:latin typeface="Times New Roman" pitchFamily="18" charset="0"/>
                <a:cs typeface="Calibri"/>
              </a:rPr>
              <a:t>strike </a:t>
            </a:r>
            <a:r>
              <a:rPr sz="2400" spc="-5" dirty="0">
                <a:latin typeface="Times New Roman" pitchFamily="18" charset="0"/>
                <a:cs typeface="Calibri"/>
              </a:rPr>
              <a:t>price.</a:t>
            </a:r>
            <a:endParaRPr sz="2400">
              <a:latin typeface="Times New Roman" pitchFamily="18" charset="0"/>
              <a:cs typeface="Calibri"/>
            </a:endParaRPr>
          </a:p>
          <a:p>
            <a:pPr marL="286385" marR="177165" indent="-274320">
              <a:lnSpc>
                <a:spcPct val="100000"/>
              </a:lnSpc>
              <a:spcBef>
                <a:spcPts val="580"/>
              </a:spcBef>
              <a:buClr>
                <a:srgbClr val="0AD0D9"/>
              </a:buClr>
              <a:buSzPct val="93750"/>
              <a:buFont typeface="Segoe UI Symbol"/>
              <a:buChar char="⚫"/>
              <a:tabLst>
                <a:tab pos="287020" algn="l"/>
              </a:tabLst>
            </a:pPr>
            <a:r>
              <a:rPr sz="2400" spc="-5" dirty="0">
                <a:latin typeface="Times New Roman" pitchFamily="18" charset="0"/>
                <a:cs typeface="Calibri"/>
              </a:rPr>
              <a:t>The </a:t>
            </a:r>
            <a:r>
              <a:rPr sz="2400" spc="-10" dirty="0">
                <a:latin typeface="Times New Roman" pitchFamily="18" charset="0"/>
                <a:cs typeface="Calibri"/>
              </a:rPr>
              <a:t>person </a:t>
            </a:r>
            <a:r>
              <a:rPr sz="2400" dirty="0">
                <a:latin typeface="Times New Roman" pitchFamily="18" charset="0"/>
                <a:cs typeface="Calibri"/>
              </a:rPr>
              <a:t>who </a:t>
            </a:r>
            <a:r>
              <a:rPr sz="2400" spc="-10" dirty="0">
                <a:latin typeface="Times New Roman" pitchFamily="18" charset="0"/>
                <a:cs typeface="Calibri"/>
              </a:rPr>
              <a:t>writes </a:t>
            </a:r>
            <a:r>
              <a:rPr sz="2400" dirty="0">
                <a:latin typeface="Times New Roman" pitchFamily="18" charset="0"/>
                <a:cs typeface="Calibri"/>
              </a:rPr>
              <a:t>the </a:t>
            </a:r>
            <a:r>
              <a:rPr sz="2400" spc="-5" dirty="0">
                <a:latin typeface="Times New Roman" pitchFamily="18" charset="0"/>
                <a:cs typeface="Calibri"/>
              </a:rPr>
              <a:t>option </a:t>
            </a:r>
            <a:r>
              <a:rPr sz="2400" dirty="0">
                <a:latin typeface="Times New Roman" pitchFamily="18" charset="0"/>
                <a:cs typeface="Calibri"/>
              </a:rPr>
              <a:t>and is the </a:t>
            </a:r>
            <a:r>
              <a:rPr sz="2400" spc="-5" dirty="0">
                <a:latin typeface="Times New Roman" pitchFamily="18" charset="0"/>
                <a:cs typeface="Calibri"/>
              </a:rPr>
              <a:t>seller </a:t>
            </a:r>
            <a:r>
              <a:rPr sz="2400" dirty="0">
                <a:latin typeface="Times New Roman" pitchFamily="18" charset="0"/>
                <a:cs typeface="Calibri"/>
              </a:rPr>
              <a:t>is </a:t>
            </a:r>
            <a:r>
              <a:rPr sz="2400" spc="-20" dirty="0">
                <a:latin typeface="Times New Roman" pitchFamily="18" charset="0"/>
                <a:cs typeface="Calibri"/>
              </a:rPr>
              <a:t>referred </a:t>
            </a:r>
            <a:r>
              <a:rPr sz="2400" spc="-530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as the </a:t>
            </a:r>
            <a:r>
              <a:rPr sz="2400" spc="-20" dirty="0">
                <a:latin typeface="Times New Roman" pitchFamily="18" charset="0"/>
                <a:cs typeface="Calibri"/>
              </a:rPr>
              <a:t>“option writer”, </a:t>
            </a:r>
            <a:r>
              <a:rPr sz="2400" dirty="0">
                <a:latin typeface="Times New Roman" pitchFamily="18" charset="0"/>
                <a:cs typeface="Calibri"/>
              </a:rPr>
              <a:t>and who </a:t>
            </a:r>
            <a:r>
              <a:rPr sz="2400" spc="-5" dirty="0">
                <a:latin typeface="Times New Roman" pitchFamily="18" charset="0"/>
                <a:cs typeface="Calibri"/>
              </a:rPr>
              <a:t>holds </a:t>
            </a:r>
            <a:r>
              <a:rPr sz="2400" dirty="0">
                <a:latin typeface="Times New Roman" pitchFamily="18" charset="0"/>
                <a:cs typeface="Calibri"/>
              </a:rPr>
              <a:t>the </a:t>
            </a:r>
            <a:r>
              <a:rPr sz="2400" spc="-5" dirty="0">
                <a:latin typeface="Times New Roman" pitchFamily="18" charset="0"/>
                <a:cs typeface="Calibri"/>
              </a:rPr>
              <a:t>option </a:t>
            </a:r>
            <a:r>
              <a:rPr sz="2400" dirty="0">
                <a:latin typeface="Times New Roman" pitchFamily="18" charset="0"/>
                <a:cs typeface="Calibri"/>
              </a:rPr>
              <a:t>and is the </a:t>
            </a:r>
            <a:r>
              <a:rPr sz="2400" spc="5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buyer</a:t>
            </a:r>
            <a:r>
              <a:rPr sz="2400" spc="-25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is </a:t>
            </a:r>
            <a:r>
              <a:rPr sz="2400" spc="-5" dirty="0">
                <a:latin typeface="Times New Roman" pitchFamily="18" charset="0"/>
                <a:cs typeface="Calibri"/>
              </a:rPr>
              <a:t>called</a:t>
            </a:r>
            <a:r>
              <a:rPr sz="2400" spc="-20" dirty="0">
                <a:latin typeface="Times New Roman" pitchFamily="18" charset="0"/>
                <a:cs typeface="Calibri"/>
              </a:rPr>
              <a:t> “option</a:t>
            </a:r>
            <a:r>
              <a:rPr sz="2400" dirty="0">
                <a:latin typeface="Times New Roman" pitchFamily="18" charset="0"/>
                <a:cs typeface="Calibri"/>
              </a:rPr>
              <a:t> </a:t>
            </a:r>
            <a:r>
              <a:rPr sz="2400" spc="-20" dirty="0">
                <a:latin typeface="Times New Roman" pitchFamily="18" charset="0"/>
                <a:cs typeface="Calibri"/>
              </a:rPr>
              <a:t>holder”.</a:t>
            </a:r>
            <a:endParaRPr sz="2400">
              <a:latin typeface="Times New Roman" pitchFamily="18" charset="0"/>
              <a:cs typeface="Calibri"/>
            </a:endParaRPr>
          </a:p>
          <a:p>
            <a:pPr marL="286385" marR="277495" indent="-274320">
              <a:lnSpc>
                <a:spcPct val="100000"/>
              </a:lnSpc>
              <a:spcBef>
                <a:spcPts val="575"/>
              </a:spcBef>
              <a:buClr>
                <a:srgbClr val="0AD0D9"/>
              </a:buClr>
              <a:buSzPct val="93750"/>
              <a:buFont typeface="Segoe UI Symbol"/>
              <a:buChar char="⚫"/>
              <a:tabLst>
                <a:tab pos="287020" algn="l"/>
              </a:tabLst>
            </a:pPr>
            <a:r>
              <a:rPr sz="2400" spc="-5" dirty="0">
                <a:latin typeface="Times New Roman" pitchFamily="18" charset="0"/>
                <a:cs typeface="Calibri"/>
              </a:rPr>
              <a:t>The </a:t>
            </a:r>
            <a:r>
              <a:rPr sz="2400" spc="-10" dirty="0">
                <a:latin typeface="Times New Roman" pitchFamily="18" charset="0"/>
                <a:cs typeface="Calibri"/>
              </a:rPr>
              <a:t>premium </a:t>
            </a:r>
            <a:r>
              <a:rPr sz="2400" dirty="0">
                <a:latin typeface="Times New Roman" pitchFamily="18" charset="0"/>
                <a:cs typeface="Calibri"/>
              </a:rPr>
              <a:t>is the </a:t>
            </a:r>
            <a:r>
              <a:rPr sz="2400" spc="-5" dirty="0">
                <a:latin typeface="Times New Roman" pitchFamily="18" charset="0"/>
                <a:cs typeface="Calibri"/>
              </a:rPr>
              <a:t>price paid </a:t>
            </a:r>
            <a:r>
              <a:rPr sz="2400" spc="-20" dirty="0">
                <a:latin typeface="Times New Roman" pitchFamily="18" charset="0"/>
                <a:cs typeface="Calibri"/>
              </a:rPr>
              <a:t>for </a:t>
            </a:r>
            <a:r>
              <a:rPr sz="2400" dirty="0">
                <a:latin typeface="Times New Roman" pitchFamily="18" charset="0"/>
                <a:cs typeface="Calibri"/>
              </a:rPr>
              <a:t>the </a:t>
            </a:r>
            <a:r>
              <a:rPr sz="2400" spc="-5" dirty="0">
                <a:latin typeface="Times New Roman" pitchFamily="18" charset="0"/>
                <a:cs typeface="Calibri"/>
              </a:rPr>
              <a:t>option </a:t>
            </a:r>
            <a:r>
              <a:rPr sz="2400" spc="-15" dirty="0">
                <a:latin typeface="Times New Roman" pitchFamily="18" charset="0"/>
                <a:cs typeface="Calibri"/>
              </a:rPr>
              <a:t>by </a:t>
            </a:r>
            <a:r>
              <a:rPr sz="2400" dirty="0">
                <a:latin typeface="Times New Roman" pitchFamily="18" charset="0"/>
                <a:cs typeface="Calibri"/>
              </a:rPr>
              <a:t>the </a:t>
            </a:r>
            <a:r>
              <a:rPr sz="2400" spc="-10" dirty="0">
                <a:latin typeface="Times New Roman" pitchFamily="18" charset="0"/>
                <a:cs typeface="Calibri"/>
              </a:rPr>
              <a:t>buyer to </a:t>
            </a:r>
            <a:r>
              <a:rPr sz="2400" spc="-530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the</a:t>
            </a:r>
            <a:r>
              <a:rPr sz="2400" spc="-15" dirty="0">
                <a:latin typeface="Times New Roman" pitchFamily="18" charset="0"/>
                <a:cs typeface="Calibri"/>
              </a:rPr>
              <a:t> </a:t>
            </a:r>
            <a:r>
              <a:rPr sz="2400" spc="-40" dirty="0">
                <a:latin typeface="Times New Roman" pitchFamily="18" charset="0"/>
                <a:cs typeface="Calibri"/>
              </a:rPr>
              <a:t>seller.</a:t>
            </a:r>
            <a:endParaRPr sz="2400">
              <a:latin typeface="Times New Roman" pitchFamily="18" charset="0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580"/>
              </a:spcBef>
              <a:buClr>
                <a:srgbClr val="0AD0D9"/>
              </a:buClr>
              <a:buSzPct val="93750"/>
              <a:buFont typeface="Segoe UI Symbol"/>
              <a:buChar char="⚫"/>
              <a:tabLst>
                <a:tab pos="287020" algn="l"/>
              </a:tabLst>
            </a:pPr>
            <a:r>
              <a:rPr sz="2400" dirty="0">
                <a:latin typeface="Times New Roman" pitchFamily="18" charset="0"/>
                <a:cs typeface="Calibri"/>
              </a:rPr>
              <a:t>A</a:t>
            </a:r>
            <a:r>
              <a:rPr sz="2400" spc="-30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clearing</a:t>
            </a:r>
            <a:r>
              <a:rPr sz="2400" spc="-25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house </a:t>
            </a:r>
            <a:r>
              <a:rPr sz="2400" dirty="0">
                <a:latin typeface="Times New Roman" pitchFamily="18" charset="0"/>
                <a:cs typeface="Calibri"/>
              </a:rPr>
              <a:t>is</a:t>
            </a:r>
            <a:r>
              <a:rPr sz="2400" spc="-15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interposed</a:t>
            </a:r>
            <a:r>
              <a:rPr sz="2400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between </a:t>
            </a:r>
            <a:r>
              <a:rPr sz="2400" dirty="0">
                <a:latin typeface="Times New Roman" pitchFamily="18" charset="0"/>
                <a:cs typeface="Calibri"/>
              </a:rPr>
              <a:t>the </a:t>
            </a:r>
            <a:r>
              <a:rPr sz="2400" spc="-5" dirty="0">
                <a:latin typeface="Times New Roman" pitchFamily="18" charset="0"/>
                <a:cs typeface="Calibri"/>
              </a:rPr>
              <a:t>writer</a:t>
            </a:r>
            <a:r>
              <a:rPr sz="2400" spc="-25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and the</a:t>
            </a:r>
            <a:endParaRPr sz="2400">
              <a:latin typeface="Times New Roman" pitchFamily="18" charset="0"/>
              <a:cs typeface="Calibri"/>
            </a:endParaRPr>
          </a:p>
          <a:p>
            <a:pPr marL="286385">
              <a:lnSpc>
                <a:spcPct val="100000"/>
              </a:lnSpc>
            </a:pPr>
            <a:r>
              <a:rPr sz="2400" spc="-10" dirty="0">
                <a:latin typeface="Times New Roman" pitchFamily="18" charset="0"/>
                <a:cs typeface="Calibri"/>
              </a:rPr>
              <a:t>buyer</a:t>
            </a:r>
            <a:r>
              <a:rPr sz="2400" spc="-25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which</a:t>
            </a:r>
            <a:r>
              <a:rPr sz="2400" spc="-10" dirty="0">
                <a:latin typeface="Times New Roman" pitchFamily="18" charset="0"/>
                <a:cs typeface="Calibri"/>
              </a:rPr>
              <a:t> guarantees</a:t>
            </a:r>
            <a:r>
              <a:rPr sz="2400" spc="-25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performance </a:t>
            </a:r>
            <a:r>
              <a:rPr sz="2400" spc="-5" dirty="0">
                <a:latin typeface="Times New Roman" pitchFamily="18" charset="0"/>
                <a:cs typeface="Calibri"/>
              </a:rPr>
              <a:t>of </a:t>
            </a:r>
            <a:r>
              <a:rPr sz="2400" dirty="0">
                <a:latin typeface="Times New Roman" pitchFamily="18" charset="0"/>
                <a:cs typeface="Calibri"/>
              </a:rPr>
              <a:t>the</a:t>
            </a:r>
            <a:r>
              <a:rPr sz="2400" spc="-15" dirty="0">
                <a:latin typeface="Times New Roman" pitchFamily="18" charset="0"/>
                <a:cs typeface="Calibri"/>
              </a:rPr>
              <a:t> contract.</a:t>
            </a:r>
            <a:endParaRPr sz="24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30" y="0"/>
            <a:ext cx="9146540" cy="6858000"/>
            <a:chOff x="-1030" y="0"/>
            <a:chExt cx="914654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46"/>
              <a:ext cx="9144000" cy="10274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0007" y="0"/>
              <a:ext cx="4743992" cy="6000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091760" cy="10214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1030" y="50926"/>
              <a:ext cx="9146173" cy="90474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884933" y="708406"/>
            <a:ext cx="5377815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spc="-5" dirty="0"/>
              <a:t>Options</a:t>
            </a:r>
            <a:r>
              <a:rPr sz="4800" spc="-95" dirty="0"/>
              <a:t> </a:t>
            </a:r>
            <a:r>
              <a:rPr sz="4800" spc="-40" dirty="0"/>
              <a:t>Terminology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35940" y="1859559"/>
            <a:ext cx="7993380" cy="4166235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39"/>
              </a:spcBef>
              <a:buClr>
                <a:srgbClr val="0AD0D9"/>
              </a:buClr>
              <a:buSzPct val="94642"/>
              <a:buFont typeface="Segoe UI Symbol"/>
              <a:buChar char="⚫"/>
              <a:tabLst>
                <a:tab pos="287020" algn="l"/>
              </a:tabLst>
            </a:pPr>
            <a:r>
              <a:rPr sz="2800" spc="-10" dirty="0">
                <a:latin typeface="Times New Roman" pitchFamily="18" charset="0"/>
                <a:cs typeface="Calibri"/>
              </a:rPr>
              <a:t>Underlying:</a:t>
            </a:r>
            <a:r>
              <a:rPr sz="2800" spc="1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Specific</a:t>
            </a:r>
            <a:r>
              <a:rPr sz="2800" spc="2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security</a:t>
            </a:r>
            <a:r>
              <a:rPr sz="2800" spc="2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or asset.</a:t>
            </a:r>
            <a:endParaRPr sz="2800">
              <a:latin typeface="Times New Roman" pitchFamily="18" charset="0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335"/>
              </a:spcBef>
              <a:buClr>
                <a:srgbClr val="0AD0D9"/>
              </a:buClr>
              <a:buSzPct val="94642"/>
              <a:buFont typeface="Segoe UI Symbol"/>
              <a:buChar char="⚫"/>
              <a:tabLst>
                <a:tab pos="287020" algn="l"/>
              </a:tabLst>
            </a:pPr>
            <a:r>
              <a:rPr sz="2800" spc="-10" dirty="0">
                <a:latin typeface="Times New Roman" pitchFamily="18" charset="0"/>
                <a:cs typeface="Calibri"/>
              </a:rPr>
              <a:t>Option </a:t>
            </a:r>
            <a:r>
              <a:rPr sz="2800" spc="-15" dirty="0">
                <a:latin typeface="Times New Roman" pitchFamily="18" charset="0"/>
                <a:cs typeface="Calibri"/>
              </a:rPr>
              <a:t>premium:</a:t>
            </a:r>
            <a:r>
              <a:rPr sz="2800" spc="3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Price </a:t>
            </a:r>
            <a:r>
              <a:rPr sz="2800" spc="-10" dirty="0">
                <a:latin typeface="Times New Roman" pitchFamily="18" charset="0"/>
                <a:cs typeface="Calibri"/>
              </a:rPr>
              <a:t>paid.</a:t>
            </a:r>
            <a:endParaRPr sz="2800">
              <a:latin typeface="Times New Roman" pitchFamily="18" charset="0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340"/>
              </a:spcBef>
              <a:buClr>
                <a:srgbClr val="0AD0D9"/>
              </a:buClr>
              <a:buSzPct val="94642"/>
              <a:buFont typeface="Segoe UI Symbol"/>
              <a:buChar char="⚫"/>
              <a:tabLst>
                <a:tab pos="287020" algn="l"/>
              </a:tabLst>
            </a:pPr>
            <a:r>
              <a:rPr sz="2800" spc="-25" dirty="0">
                <a:latin typeface="Times New Roman" pitchFamily="18" charset="0"/>
                <a:cs typeface="Calibri"/>
              </a:rPr>
              <a:t>Strike</a:t>
            </a:r>
            <a:r>
              <a:rPr sz="2800" spc="-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price:</a:t>
            </a:r>
            <a:r>
              <a:rPr sz="2800" spc="1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Pre-decided</a:t>
            </a:r>
            <a:r>
              <a:rPr sz="2800" spc="4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price.</a:t>
            </a:r>
            <a:endParaRPr sz="2800">
              <a:latin typeface="Times New Roman" pitchFamily="18" charset="0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335"/>
              </a:spcBef>
              <a:buClr>
                <a:srgbClr val="0AD0D9"/>
              </a:buClr>
              <a:buSzPct val="94642"/>
              <a:buFont typeface="Segoe UI Symbol"/>
              <a:buChar char="⚫"/>
              <a:tabLst>
                <a:tab pos="287020" algn="l"/>
              </a:tabLst>
            </a:pPr>
            <a:r>
              <a:rPr sz="2800" spc="-15" dirty="0">
                <a:latin typeface="Times New Roman" pitchFamily="18" charset="0"/>
                <a:cs typeface="Calibri"/>
              </a:rPr>
              <a:t>Expiration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date: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20" dirty="0">
                <a:latin typeface="Times New Roman" pitchFamily="18" charset="0"/>
                <a:cs typeface="Calibri"/>
              </a:rPr>
              <a:t>Date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on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which</a:t>
            </a:r>
            <a:r>
              <a:rPr sz="2800" spc="2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option</a:t>
            </a:r>
            <a:r>
              <a:rPr sz="2800" spc="15" dirty="0">
                <a:latin typeface="Times New Roman" pitchFamily="18" charset="0"/>
                <a:cs typeface="Calibri"/>
              </a:rPr>
              <a:t> </a:t>
            </a:r>
            <a:r>
              <a:rPr sz="2800" spc="-20" dirty="0">
                <a:latin typeface="Times New Roman" pitchFamily="18" charset="0"/>
                <a:cs typeface="Calibri"/>
              </a:rPr>
              <a:t>expires.</a:t>
            </a:r>
            <a:endParaRPr sz="2800">
              <a:latin typeface="Times New Roman" pitchFamily="18" charset="0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335"/>
              </a:spcBef>
              <a:buClr>
                <a:srgbClr val="0AD0D9"/>
              </a:buClr>
              <a:buSzPct val="94642"/>
              <a:buFont typeface="Segoe UI Symbol"/>
              <a:buChar char="⚫"/>
              <a:tabLst>
                <a:tab pos="287020" algn="l"/>
              </a:tabLst>
            </a:pPr>
            <a:r>
              <a:rPr sz="2800" spc="-20" dirty="0">
                <a:latin typeface="Times New Roman" pitchFamily="18" charset="0"/>
                <a:cs typeface="Calibri"/>
              </a:rPr>
              <a:t>Exercise</a:t>
            </a:r>
            <a:r>
              <a:rPr sz="2800" spc="-40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date:</a:t>
            </a:r>
            <a:r>
              <a:rPr sz="2800" spc="-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Option</a:t>
            </a:r>
            <a:r>
              <a:rPr sz="2800" spc="2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is</a:t>
            </a:r>
            <a:r>
              <a:rPr sz="2800" spc="-10" dirty="0">
                <a:latin typeface="Times New Roman" pitchFamily="18" charset="0"/>
                <a:cs typeface="Calibri"/>
              </a:rPr>
              <a:t> </a:t>
            </a:r>
            <a:r>
              <a:rPr sz="2800" spc="-20" dirty="0">
                <a:latin typeface="Times New Roman" pitchFamily="18" charset="0"/>
                <a:cs typeface="Calibri"/>
              </a:rPr>
              <a:t>exercised.</a:t>
            </a:r>
            <a:endParaRPr sz="2800">
              <a:latin typeface="Times New Roman" pitchFamily="18" charset="0"/>
              <a:cs typeface="Calibri"/>
            </a:endParaRPr>
          </a:p>
          <a:p>
            <a:pPr marL="286385" marR="5080" indent="-274320">
              <a:lnSpc>
                <a:spcPts val="3020"/>
              </a:lnSpc>
              <a:spcBef>
                <a:spcPts val="720"/>
              </a:spcBef>
              <a:buClr>
                <a:srgbClr val="0AD0D9"/>
              </a:buClr>
              <a:buSzPct val="94642"/>
              <a:buFont typeface="Segoe UI Symbol"/>
              <a:buChar char="⚫"/>
              <a:tabLst>
                <a:tab pos="287020" algn="l"/>
              </a:tabLst>
            </a:pPr>
            <a:r>
              <a:rPr sz="2800" spc="-10" dirty="0">
                <a:latin typeface="Times New Roman" pitchFamily="18" charset="0"/>
                <a:cs typeface="Calibri"/>
              </a:rPr>
              <a:t>Open</a:t>
            </a:r>
            <a:r>
              <a:rPr sz="2800" spc="-5" dirty="0">
                <a:latin typeface="Times New Roman" pitchFamily="18" charset="0"/>
                <a:cs typeface="Calibri"/>
              </a:rPr>
              <a:t> </a:t>
            </a:r>
            <a:r>
              <a:rPr sz="2800" spc="-20" dirty="0">
                <a:latin typeface="Times New Roman" pitchFamily="18" charset="0"/>
                <a:cs typeface="Calibri"/>
              </a:rPr>
              <a:t>interest: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60" dirty="0">
                <a:latin typeface="Times New Roman" pitchFamily="18" charset="0"/>
                <a:cs typeface="Calibri"/>
              </a:rPr>
              <a:t>Total</a:t>
            </a:r>
            <a:r>
              <a:rPr sz="2800" spc="-10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numbers</a:t>
            </a:r>
            <a:r>
              <a:rPr sz="2800" spc="4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of</a:t>
            </a:r>
            <a:r>
              <a:rPr sz="2800" spc="-10" dirty="0">
                <a:latin typeface="Times New Roman" pitchFamily="18" charset="0"/>
                <a:cs typeface="Calibri"/>
              </a:rPr>
              <a:t> option</a:t>
            </a:r>
            <a:r>
              <a:rPr sz="2800" spc="15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contracts</a:t>
            </a:r>
            <a:r>
              <a:rPr sz="2800" spc="1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that </a:t>
            </a:r>
            <a:r>
              <a:rPr sz="2800" spc="-615" dirty="0">
                <a:latin typeface="Times New Roman" pitchFamily="18" charset="0"/>
                <a:cs typeface="Calibri"/>
              </a:rPr>
              <a:t> </a:t>
            </a:r>
            <a:r>
              <a:rPr sz="2800" spc="-25" dirty="0">
                <a:latin typeface="Times New Roman" pitchFamily="18" charset="0"/>
                <a:cs typeface="Calibri"/>
              </a:rPr>
              <a:t>have</a:t>
            </a:r>
            <a:r>
              <a:rPr sz="2800" spc="-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not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20" dirty="0">
                <a:latin typeface="Times New Roman" pitchFamily="18" charset="0"/>
                <a:cs typeface="Calibri"/>
              </a:rPr>
              <a:t>yet</a:t>
            </a:r>
            <a:r>
              <a:rPr sz="2800" spc="-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been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20" dirty="0">
                <a:latin typeface="Times New Roman" pitchFamily="18" charset="0"/>
                <a:cs typeface="Calibri"/>
              </a:rPr>
              <a:t>expired.</a:t>
            </a:r>
            <a:endParaRPr sz="2800">
              <a:latin typeface="Times New Roman" pitchFamily="18" charset="0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300"/>
              </a:spcBef>
              <a:buClr>
                <a:srgbClr val="0AD0D9"/>
              </a:buClr>
              <a:buSzPct val="94642"/>
              <a:buFont typeface="Segoe UI Symbol"/>
              <a:buChar char="⚫"/>
              <a:tabLst>
                <a:tab pos="287020" algn="l"/>
              </a:tabLst>
            </a:pPr>
            <a:r>
              <a:rPr sz="2800" spc="-10" dirty="0">
                <a:latin typeface="Times New Roman" pitchFamily="18" charset="0"/>
                <a:cs typeface="Calibri"/>
              </a:rPr>
              <a:t>Option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holder:</a:t>
            </a:r>
            <a:r>
              <a:rPr sz="2800" spc="2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One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who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20" dirty="0">
                <a:latin typeface="Times New Roman" pitchFamily="18" charset="0"/>
                <a:cs typeface="Calibri"/>
              </a:rPr>
              <a:t>buys</a:t>
            </a:r>
            <a:r>
              <a:rPr sz="2800" spc="3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option.</a:t>
            </a:r>
            <a:endParaRPr sz="2800">
              <a:latin typeface="Times New Roman" pitchFamily="18" charset="0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335"/>
              </a:spcBef>
              <a:buClr>
                <a:srgbClr val="0AD0D9"/>
              </a:buClr>
              <a:buSzPct val="94642"/>
              <a:buFont typeface="Segoe UI Symbol"/>
              <a:buChar char="⚫"/>
              <a:tabLst>
                <a:tab pos="287020" algn="l"/>
              </a:tabLst>
            </a:pPr>
            <a:r>
              <a:rPr sz="2800" spc="-10" dirty="0">
                <a:latin typeface="Times New Roman" pitchFamily="18" charset="0"/>
                <a:cs typeface="Calibri"/>
              </a:rPr>
              <a:t>Option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writer:</a:t>
            </a:r>
            <a:r>
              <a:rPr sz="2800" spc="-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One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who</a:t>
            </a:r>
            <a:r>
              <a:rPr sz="2800" spc="2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sells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option.</a:t>
            </a:r>
            <a:endParaRPr sz="28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108" y="784606"/>
            <a:ext cx="720470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Options</a:t>
            </a:r>
            <a:r>
              <a:rPr sz="4400" spc="-45" dirty="0"/>
              <a:t> </a:t>
            </a:r>
            <a:r>
              <a:rPr sz="4400" spc="-40" dirty="0"/>
              <a:t>Terminology</a:t>
            </a:r>
            <a:r>
              <a:rPr sz="4400" spc="-10" dirty="0"/>
              <a:t> </a:t>
            </a:r>
            <a:r>
              <a:rPr sz="4400" spc="-2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945893"/>
            <a:ext cx="7917180" cy="32079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1240155" indent="-27432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4642"/>
              <a:buFont typeface="Segoe UI Symbol"/>
              <a:buChar char="⚫"/>
              <a:tabLst>
                <a:tab pos="287020" algn="l"/>
              </a:tabLst>
            </a:pPr>
            <a:r>
              <a:rPr sz="2800" spc="-10" dirty="0">
                <a:latin typeface="Times New Roman" pitchFamily="18" charset="0"/>
                <a:cs typeface="Calibri"/>
              </a:rPr>
              <a:t>Option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class:</a:t>
            </a:r>
            <a:r>
              <a:rPr sz="2800" spc="2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All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20" dirty="0">
                <a:latin typeface="Times New Roman" pitchFamily="18" charset="0"/>
                <a:cs typeface="Calibri"/>
              </a:rPr>
              <a:t>listed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options</a:t>
            </a:r>
            <a:r>
              <a:rPr sz="2800" spc="3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of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a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type</a:t>
            </a:r>
            <a:r>
              <a:rPr sz="2800" spc="1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on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a </a:t>
            </a:r>
            <a:r>
              <a:rPr sz="2800" spc="-62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particular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instrument.</a:t>
            </a:r>
            <a:endParaRPr sz="2800">
              <a:latin typeface="Times New Roman" pitchFamily="18" charset="0"/>
              <a:cs typeface="Calibri"/>
            </a:endParaRPr>
          </a:p>
          <a:p>
            <a:pPr marL="286385" marR="5080" indent="-274320">
              <a:lnSpc>
                <a:spcPct val="100000"/>
              </a:lnSpc>
              <a:spcBef>
                <a:spcPts val="675"/>
              </a:spcBef>
              <a:buClr>
                <a:srgbClr val="0AD0D9"/>
              </a:buClr>
              <a:buSzPct val="94642"/>
              <a:buFont typeface="Segoe UI Symbol"/>
              <a:buChar char="⚫"/>
              <a:tabLst>
                <a:tab pos="287020" algn="l"/>
              </a:tabLst>
            </a:pPr>
            <a:r>
              <a:rPr sz="2800" spc="-10" dirty="0">
                <a:latin typeface="Times New Roman" pitchFamily="18" charset="0"/>
                <a:cs typeface="Calibri"/>
              </a:rPr>
              <a:t>Option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series:</a:t>
            </a:r>
            <a:r>
              <a:rPr sz="2800" spc="2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A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series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that</a:t>
            </a:r>
            <a:r>
              <a:rPr sz="2800" spc="15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consists</a:t>
            </a:r>
            <a:r>
              <a:rPr sz="2800" spc="5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of</a:t>
            </a:r>
            <a:r>
              <a:rPr sz="2800" dirty="0">
                <a:latin typeface="Times New Roman" pitchFamily="18" charset="0"/>
                <a:cs typeface="Calibri"/>
              </a:rPr>
              <a:t> all</a:t>
            </a:r>
            <a:r>
              <a:rPr sz="2800" spc="-10" dirty="0">
                <a:latin typeface="Times New Roman" pitchFamily="18" charset="0"/>
                <a:cs typeface="Calibri"/>
              </a:rPr>
              <a:t> the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options </a:t>
            </a:r>
            <a:r>
              <a:rPr sz="2800" spc="-62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of a</a:t>
            </a:r>
            <a:r>
              <a:rPr sz="2800" spc="-10" dirty="0">
                <a:latin typeface="Times New Roman" pitchFamily="18" charset="0"/>
                <a:cs typeface="Calibri"/>
              </a:rPr>
              <a:t> given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class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with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the </a:t>
            </a:r>
            <a:r>
              <a:rPr sz="2800" spc="-10" dirty="0">
                <a:latin typeface="Times New Roman" pitchFamily="18" charset="0"/>
                <a:cs typeface="Calibri"/>
              </a:rPr>
              <a:t>same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expiry</a:t>
            </a:r>
            <a:r>
              <a:rPr sz="2800" spc="25" dirty="0">
                <a:latin typeface="Times New Roman" pitchFamily="18" charset="0"/>
                <a:cs typeface="Calibri"/>
              </a:rPr>
              <a:t> </a:t>
            </a:r>
            <a:r>
              <a:rPr sz="2800" spc="-20" dirty="0">
                <a:latin typeface="Times New Roman" pitchFamily="18" charset="0"/>
                <a:cs typeface="Calibri"/>
              </a:rPr>
              <a:t>date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and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25" dirty="0">
                <a:latin typeface="Times New Roman" pitchFamily="18" charset="0"/>
                <a:cs typeface="Calibri"/>
              </a:rPr>
              <a:t>strike </a:t>
            </a:r>
            <a:r>
              <a:rPr sz="2800" spc="-2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price.</a:t>
            </a:r>
            <a:endParaRPr sz="2800">
              <a:latin typeface="Times New Roman" pitchFamily="18" charset="0"/>
              <a:cs typeface="Calibri"/>
            </a:endParaRPr>
          </a:p>
          <a:p>
            <a:pPr marL="286385" marR="207645" indent="-274320">
              <a:lnSpc>
                <a:spcPct val="100000"/>
              </a:lnSpc>
              <a:spcBef>
                <a:spcPts val="675"/>
              </a:spcBef>
              <a:buClr>
                <a:srgbClr val="0AD0D9"/>
              </a:buClr>
              <a:buSzPct val="94642"/>
              <a:buFont typeface="Segoe UI Symbol"/>
              <a:buChar char="⚫"/>
              <a:tabLst>
                <a:tab pos="287020" algn="l"/>
              </a:tabLst>
            </a:pPr>
            <a:r>
              <a:rPr sz="2800" spc="-10" dirty="0">
                <a:latin typeface="Times New Roman" pitchFamily="18" charset="0"/>
                <a:cs typeface="Calibri"/>
              </a:rPr>
              <a:t>Put-call</a:t>
            </a:r>
            <a:r>
              <a:rPr sz="2800" spc="15" dirty="0">
                <a:latin typeface="Times New Roman" pitchFamily="18" charset="0"/>
                <a:cs typeface="Calibri"/>
              </a:rPr>
              <a:t> </a:t>
            </a:r>
            <a:r>
              <a:rPr sz="2800" spc="-20" dirty="0">
                <a:latin typeface="Times New Roman" pitchFamily="18" charset="0"/>
                <a:cs typeface="Calibri"/>
              </a:rPr>
              <a:t>ratio:</a:t>
            </a:r>
            <a:r>
              <a:rPr sz="2800" spc="-1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The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20" dirty="0">
                <a:latin typeface="Times New Roman" pitchFamily="18" charset="0"/>
                <a:cs typeface="Calibri"/>
              </a:rPr>
              <a:t>ratio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of </a:t>
            </a:r>
            <a:r>
              <a:rPr sz="2800" spc="-10" dirty="0">
                <a:latin typeface="Times New Roman" pitchFamily="18" charset="0"/>
                <a:cs typeface="Calibri"/>
              </a:rPr>
              <a:t>puts</a:t>
            </a:r>
            <a:r>
              <a:rPr sz="2800" spc="35" dirty="0">
                <a:latin typeface="Times New Roman" pitchFamily="18" charset="0"/>
                <a:cs typeface="Calibri"/>
              </a:rPr>
              <a:t> </a:t>
            </a:r>
            <a:r>
              <a:rPr sz="2800" spc="-20" dirty="0">
                <a:latin typeface="Times New Roman" pitchFamily="18" charset="0"/>
                <a:cs typeface="Calibri"/>
              </a:rPr>
              <a:t>to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the</a:t>
            </a:r>
            <a:r>
              <a:rPr sz="2800" spc="1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calls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traded</a:t>
            </a:r>
            <a:r>
              <a:rPr sz="2800" spc="2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in </a:t>
            </a:r>
            <a:r>
              <a:rPr sz="2800" spc="-61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the</a:t>
            </a:r>
            <a:r>
              <a:rPr sz="2800" spc="-10" dirty="0">
                <a:latin typeface="Times New Roman" pitchFamily="18" charset="0"/>
                <a:cs typeface="Calibri"/>
              </a:rPr>
              <a:t> </a:t>
            </a:r>
            <a:r>
              <a:rPr sz="2800" spc="-20" dirty="0">
                <a:latin typeface="Times New Roman" pitchFamily="18" charset="0"/>
                <a:cs typeface="Calibri"/>
              </a:rPr>
              <a:t>market.</a:t>
            </a:r>
            <a:endParaRPr sz="28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30" y="0"/>
            <a:ext cx="9146540" cy="6858000"/>
            <a:chOff x="-1030" y="0"/>
            <a:chExt cx="914654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46"/>
              <a:ext cx="9144000" cy="10274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00007" y="0"/>
              <a:ext cx="4743992" cy="6000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9091760" cy="10214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-1030" y="50926"/>
              <a:ext cx="9146173" cy="90474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200708" y="555701"/>
            <a:ext cx="720280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Options</a:t>
            </a:r>
            <a:r>
              <a:rPr sz="4400" spc="-65" dirty="0"/>
              <a:t> </a:t>
            </a:r>
            <a:r>
              <a:rPr sz="4400" spc="-40" dirty="0"/>
              <a:t>Terminology</a:t>
            </a:r>
            <a:r>
              <a:rPr sz="4400" spc="-50" dirty="0"/>
              <a:t> </a:t>
            </a:r>
            <a:r>
              <a:rPr sz="4400" spc="-15" dirty="0"/>
              <a:t>(cont.)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12140" y="1382013"/>
            <a:ext cx="7757795" cy="17357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95"/>
              </a:spcBef>
              <a:buClr>
                <a:srgbClr val="0AD0D9"/>
              </a:buClr>
              <a:buSzPct val="94642"/>
              <a:buFont typeface="Segoe UI Symbol"/>
              <a:buChar char="⚫"/>
              <a:tabLst>
                <a:tab pos="287020" algn="l"/>
              </a:tabLst>
            </a:pPr>
            <a:r>
              <a:rPr sz="2800" spc="-10" dirty="0">
                <a:latin typeface="Times New Roman" pitchFamily="18" charset="0"/>
                <a:cs typeface="Calibri"/>
              </a:rPr>
              <a:t>Moneyness:</a:t>
            </a:r>
            <a:r>
              <a:rPr sz="2800" spc="2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Concept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that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35" dirty="0">
                <a:latin typeface="Times New Roman" pitchFamily="18" charset="0"/>
                <a:cs typeface="Calibri"/>
              </a:rPr>
              <a:t>refers</a:t>
            </a:r>
            <a:r>
              <a:rPr sz="2800" spc="-10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to</a:t>
            </a:r>
            <a:r>
              <a:rPr sz="2800" spc="-5" dirty="0">
                <a:latin typeface="Times New Roman" pitchFamily="18" charset="0"/>
                <a:cs typeface="Calibri"/>
              </a:rPr>
              <a:t> the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potential </a:t>
            </a:r>
            <a:r>
              <a:rPr sz="2800" spc="-5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profit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or loss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20" dirty="0">
                <a:latin typeface="Times New Roman" pitchFamily="18" charset="0"/>
                <a:cs typeface="Calibri"/>
              </a:rPr>
              <a:t>from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the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25" dirty="0">
                <a:latin typeface="Times New Roman" pitchFamily="18" charset="0"/>
                <a:cs typeface="Calibri"/>
              </a:rPr>
              <a:t>exercise</a:t>
            </a:r>
            <a:r>
              <a:rPr sz="2800" spc="-5" dirty="0">
                <a:latin typeface="Times New Roman" pitchFamily="18" charset="0"/>
                <a:cs typeface="Calibri"/>
              </a:rPr>
              <a:t> of the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option.</a:t>
            </a:r>
            <a:r>
              <a:rPr sz="2800" spc="2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An 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option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maybe</a:t>
            </a:r>
            <a:r>
              <a:rPr sz="280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in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the </a:t>
            </a:r>
            <a:r>
              <a:rPr sz="2800" spc="-45" dirty="0">
                <a:latin typeface="Times New Roman" pitchFamily="18" charset="0"/>
                <a:cs typeface="Calibri"/>
              </a:rPr>
              <a:t>money,</a:t>
            </a:r>
            <a:r>
              <a:rPr sz="2800" spc="2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out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of the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45" dirty="0">
                <a:latin typeface="Times New Roman" pitchFamily="18" charset="0"/>
                <a:cs typeface="Calibri"/>
              </a:rPr>
              <a:t>money,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or </a:t>
            </a:r>
            <a:r>
              <a:rPr sz="2800" spc="-15" dirty="0">
                <a:latin typeface="Times New Roman" pitchFamily="18" charset="0"/>
                <a:cs typeface="Calibri"/>
              </a:rPr>
              <a:t>at </a:t>
            </a:r>
            <a:r>
              <a:rPr sz="2800" spc="-615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the</a:t>
            </a:r>
            <a:r>
              <a:rPr sz="2800" spc="-10" dirty="0">
                <a:latin typeface="Times New Roman" pitchFamily="18" charset="0"/>
                <a:cs typeface="Calibri"/>
              </a:rPr>
              <a:t> </a:t>
            </a:r>
            <a:r>
              <a:rPr sz="2800" spc="-40" dirty="0">
                <a:latin typeface="Times New Roman" pitchFamily="18" charset="0"/>
                <a:cs typeface="Calibri"/>
              </a:rPr>
              <a:t>money.</a:t>
            </a:r>
            <a:endParaRPr sz="2800">
              <a:latin typeface="Times New Roman" pitchFamily="18" charset="0"/>
              <a:cs typeface="Calibri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908050" y="3117850"/>
          <a:ext cx="7696200" cy="3383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2625"/>
                <a:gridCol w="2771775"/>
                <a:gridCol w="2743200"/>
                <a:gridCol w="228600"/>
              </a:tblGrid>
              <a:tr h="48425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1620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20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20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money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Call</a:t>
                      </a:r>
                      <a:r>
                        <a:rPr sz="24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Option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5" dirty="0">
                          <a:latin typeface="Arial MT"/>
                          <a:cs typeface="Arial MT"/>
                        </a:rPr>
                        <a:t>Put</a:t>
                      </a:r>
                      <a:r>
                        <a:rPr sz="24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400" dirty="0">
                          <a:latin typeface="Arial MT"/>
                          <a:cs typeface="Arial MT"/>
                        </a:rPr>
                        <a:t>Option</a:t>
                      </a:r>
                      <a:endParaRPr sz="24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6354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63436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Spot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price</a:t>
                      </a:r>
                      <a:r>
                        <a:rPr sz="20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&gt;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strike </a:t>
                      </a:r>
                      <a:r>
                        <a:rPr sz="2000" spc="-5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price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60515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Spot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price</a:t>
                      </a:r>
                      <a:r>
                        <a:rPr sz="20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&lt;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strike </a:t>
                      </a:r>
                      <a:r>
                        <a:rPr sz="2000" spc="-5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price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94870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At</a:t>
                      </a:r>
                      <a:r>
                        <a:rPr sz="20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20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money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76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 marR="63436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Spot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price</a:t>
                      </a:r>
                      <a:r>
                        <a:rPr sz="20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=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strike </a:t>
                      </a:r>
                      <a:r>
                        <a:rPr sz="2000" spc="-5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price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123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 marR="60515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Spot</a:t>
                      </a:r>
                      <a:r>
                        <a:rPr sz="20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price</a:t>
                      </a:r>
                      <a:r>
                        <a:rPr sz="20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=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strike </a:t>
                      </a:r>
                      <a:r>
                        <a:rPr sz="2000" spc="-5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price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1123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7049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91440" marR="74168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Out</a:t>
                      </a:r>
                      <a:r>
                        <a:rPr sz="2000" spc="-8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2000" spc="-6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the </a:t>
                      </a:r>
                      <a:r>
                        <a:rPr sz="2000" spc="-5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money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Spot</a:t>
                      </a:r>
                      <a:r>
                        <a:rPr sz="20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price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&lt;</a:t>
                      </a:r>
                      <a:r>
                        <a:rPr sz="2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strike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price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200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Spot</a:t>
                      </a:r>
                      <a:r>
                        <a:rPr sz="20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price</a:t>
                      </a:r>
                      <a:r>
                        <a:rPr sz="20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&gt;</a:t>
                      </a:r>
                      <a:r>
                        <a:rPr sz="20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2000" dirty="0">
                          <a:latin typeface="Arial MT"/>
                          <a:cs typeface="Arial MT"/>
                        </a:rPr>
                        <a:t>strike</a:t>
                      </a:r>
                      <a:endParaRPr sz="2000">
                        <a:latin typeface="Arial MT"/>
                        <a:cs typeface="Arial MT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Arial MT"/>
                          <a:cs typeface="Arial MT"/>
                        </a:rPr>
                        <a:t>price</a:t>
                      </a:r>
                      <a:endParaRPr sz="2000">
                        <a:latin typeface="Arial MT"/>
                        <a:cs typeface="Arial MT"/>
                      </a:endParaRPr>
                    </a:p>
                  </a:txBody>
                  <a:tcPr marL="0" marR="0" marT="200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7162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00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000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3073" y="708406"/>
            <a:ext cx="46609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What</a:t>
            </a:r>
            <a:r>
              <a:rPr sz="4400" spc="-55" dirty="0"/>
              <a:t> </a:t>
            </a:r>
            <a:r>
              <a:rPr sz="4400" spc="-25" dirty="0"/>
              <a:t>are</a:t>
            </a:r>
            <a:r>
              <a:rPr sz="4400" spc="-55" dirty="0"/>
              <a:t> </a:t>
            </a:r>
            <a:r>
              <a:rPr sz="4400" spc="-45" dirty="0"/>
              <a:t>SWAPS?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011426"/>
            <a:ext cx="7713980" cy="3117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 pitchFamily="18" charset="0"/>
                <a:cs typeface="Calibri"/>
              </a:rPr>
              <a:t>In a </a:t>
            </a:r>
            <a:r>
              <a:rPr sz="2600" spc="-10" dirty="0">
                <a:latin typeface="Times New Roman" pitchFamily="18" charset="0"/>
                <a:cs typeface="Calibri"/>
              </a:rPr>
              <a:t>swap, two </a:t>
            </a:r>
            <a:r>
              <a:rPr sz="2600" spc="-15" dirty="0">
                <a:latin typeface="Times New Roman" pitchFamily="18" charset="0"/>
                <a:cs typeface="Calibri"/>
              </a:rPr>
              <a:t>counter </a:t>
            </a:r>
            <a:r>
              <a:rPr sz="2600" spc="-5" dirty="0">
                <a:latin typeface="Times New Roman" pitchFamily="18" charset="0"/>
                <a:cs typeface="Calibri"/>
              </a:rPr>
              <a:t>parties </a:t>
            </a:r>
            <a:r>
              <a:rPr sz="2600" spc="-10" dirty="0">
                <a:latin typeface="Times New Roman" pitchFamily="18" charset="0"/>
                <a:cs typeface="Calibri"/>
              </a:rPr>
              <a:t>agree </a:t>
            </a:r>
            <a:r>
              <a:rPr sz="2600" spc="-15" dirty="0">
                <a:latin typeface="Times New Roman" pitchFamily="18" charset="0"/>
                <a:cs typeface="Calibri"/>
              </a:rPr>
              <a:t>to </a:t>
            </a:r>
            <a:r>
              <a:rPr sz="2600" spc="-10" dirty="0">
                <a:latin typeface="Times New Roman" pitchFamily="18" charset="0"/>
                <a:cs typeface="Calibri"/>
              </a:rPr>
              <a:t>enter into </a:t>
            </a:r>
            <a:r>
              <a:rPr sz="2600" dirty="0">
                <a:latin typeface="Times New Roman" pitchFamily="18" charset="0"/>
                <a:cs typeface="Calibri"/>
              </a:rPr>
              <a:t>a 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contractual agreement </a:t>
            </a:r>
            <a:r>
              <a:rPr sz="2600" spc="-5" dirty="0">
                <a:latin typeface="Times New Roman" pitchFamily="18" charset="0"/>
                <a:cs typeface="Calibri"/>
              </a:rPr>
              <a:t>wherein they </a:t>
            </a:r>
            <a:r>
              <a:rPr sz="2600" spc="-10" dirty="0">
                <a:latin typeface="Times New Roman" pitchFamily="18" charset="0"/>
                <a:cs typeface="Calibri"/>
              </a:rPr>
              <a:t>agree </a:t>
            </a:r>
            <a:r>
              <a:rPr sz="2600" spc="-15" dirty="0">
                <a:latin typeface="Times New Roman" pitchFamily="18" charset="0"/>
                <a:cs typeface="Calibri"/>
              </a:rPr>
              <a:t>to exchange </a:t>
            </a:r>
            <a:r>
              <a:rPr sz="2600" spc="-57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cash</a:t>
            </a:r>
            <a:r>
              <a:rPr sz="2600" spc="-30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flows</a:t>
            </a:r>
            <a:r>
              <a:rPr sz="2600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at</a:t>
            </a:r>
            <a:r>
              <a:rPr sz="260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periodic </a:t>
            </a:r>
            <a:r>
              <a:rPr sz="2600" spc="-10" dirty="0">
                <a:latin typeface="Times New Roman" pitchFamily="18" charset="0"/>
                <a:cs typeface="Calibri"/>
              </a:rPr>
              <a:t>intervals.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AD0D9"/>
              </a:buClr>
              <a:buFont typeface="Segoe UI Symbol"/>
              <a:buChar char="⚫"/>
            </a:pPr>
            <a:endParaRPr sz="3550">
              <a:latin typeface="Times New Roman" pitchFamily="18" charset="0"/>
              <a:cs typeface="Calibri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5" dirty="0">
                <a:latin typeface="Times New Roman" pitchFamily="18" charset="0"/>
                <a:cs typeface="Calibri"/>
              </a:rPr>
              <a:t>Most</a:t>
            </a:r>
            <a:r>
              <a:rPr sz="2600" spc="-2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swaps</a:t>
            </a:r>
            <a:r>
              <a:rPr sz="2600" spc="-2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are</a:t>
            </a:r>
            <a:r>
              <a:rPr sz="2600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traded</a:t>
            </a:r>
            <a:r>
              <a:rPr sz="2600" spc="-30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“Over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The</a:t>
            </a:r>
            <a:r>
              <a:rPr sz="2600" spc="-25" dirty="0">
                <a:latin typeface="Times New Roman" pitchFamily="18" charset="0"/>
                <a:cs typeface="Calibri"/>
              </a:rPr>
              <a:t> Counter”.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AD0D9"/>
              </a:buClr>
              <a:buFont typeface="Segoe UI Symbol"/>
              <a:buChar char="⚫"/>
            </a:pPr>
            <a:endParaRPr sz="3550">
              <a:latin typeface="Times New Roman" pitchFamily="18" charset="0"/>
              <a:cs typeface="Calibri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5" dirty="0">
                <a:latin typeface="Times New Roman" pitchFamily="18" charset="0"/>
                <a:cs typeface="Calibri"/>
              </a:rPr>
              <a:t>Some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are </a:t>
            </a:r>
            <a:r>
              <a:rPr sz="2600" dirty="0">
                <a:latin typeface="Times New Roman" pitchFamily="18" charset="0"/>
                <a:cs typeface="Calibri"/>
              </a:rPr>
              <a:t>also </a:t>
            </a:r>
            <a:r>
              <a:rPr sz="2600" spc="-10" dirty="0">
                <a:latin typeface="Times New Roman" pitchFamily="18" charset="0"/>
                <a:cs typeface="Calibri"/>
              </a:rPr>
              <a:t>traded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on</a:t>
            </a:r>
            <a:r>
              <a:rPr sz="2600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futures</a:t>
            </a:r>
            <a:r>
              <a:rPr sz="2600" spc="-35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exchange</a:t>
            </a:r>
            <a:r>
              <a:rPr sz="2600" spc="-35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market.</a:t>
            </a:r>
            <a:endParaRPr sz="26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0357" y="708406"/>
            <a:ext cx="39243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0" dirty="0"/>
              <a:t>Types</a:t>
            </a:r>
            <a:r>
              <a:rPr sz="4400" spc="-60" dirty="0"/>
              <a:t> </a:t>
            </a:r>
            <a:r>
              <a:rPr sz="4400" spc="-5" dirty="0"/>
              <a:t>of</a:t>
            </a:r>
            <a:r>
              <a:rPr sz="4400" spc="-25" dirty="0"/>
              <a:t> Swaps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945893"/>
            <a:ext cx="5417820" cy="404405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5" dirty="0">
                <a:latin typeface="Times New Roman" pitchFamily="18" charset="0"/>
                <a:cs typeface="Calibri"/>
              </a:rPr>
              <a:t>There</a:t>
            </a:r>
            <a:r>
              <a:rPr sz="2800" spc="-10" dirty="0">
                <a:latin typeface="Times New Roman" pitchFamily="18" charset="0"/>
                <a:cs typeface="Calibri"/>
              </a:rPr>
              <a:t> </a:t>
            </a:r>
            <a:r>
              <a:rPr sz="2800" spc="-20" dirty="0">
                <a:latin typeface="Times New Roman" pitchFamily="18" charset="0"/>
                <a:cs typeface="Calibri"/>
              </a:rPr>
              <a:t>are</a:t>
            </a:r>
            <a:r>
              <a:rPr sz="2800" spc="-5" dirty="0">
                <a:latin typeface="Times New Roman" pitchFamily="18" charset="0"/>
                <a:cs typeface="Calibri"/>
              </a:rPr>
              <a:t> 2 main</a:t>
            </a:r>
            <a:r>
              <a:rPr sz="2800" spc="-1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types</a:t>
            </a:r>
            <a:r>
              <a:rPr sz="2800" spc="1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of</a:t>
            </a:r>
            <a:r>
              <a:rPr sz="2800" spc="-10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swaps:</a:t>
            </a:r>
            <a:endParaRPr sz="28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300">
              <a:latin typeface="Times New Roman" pitchFamily="18" charset="0"/>
              <a:cs typeface="Calibri"/>
            </a:endParaRPr>
          </a:p>
          <a:p>
            <a:pPr marL="287020" marR="5080" indent="-287020">
              <a:lnSpc>
                <a:spcPct val="120000"/>
              </a:lnSpc>
              <a:buClr>
                <a:srgbClr val="0AD0D9"/>
              </a:buClr>
              <a:buFont typeface="Segoe UI Symbol"/>
              <a:buChar char="⚫"/>
              <a:tabLst>
                <a:tab pos="287020" algn="l"/>
              </a:tabLst>
            </a:pPr>
            <a:r>
              <a:rPr sz="2800" spc="-5" dirty="0">
                <a:latin typeface="Times New Roman" pitchFamily="18" charset="0"/>
                <a:cs typeface="Calibri"/>
              </a:rPr>
              <a:t>Plain </a:t>
            </a:r>
            <a:r>
              <a:rPr sz="2800" spc="-10" dirty="0">
                <a:latin typeface="Times New Roman" pitchFamily="18" charset="0"/>
                <a:cs typeface="Calibri"/>
              </a:rPr>
              <a:t>vanilla </a:t>
            </a:r>
            <a:r>
              <a:rPr sz="2800" spc="-20" dirty="0">
                <a:latin typeface="Times New Roman" pitchFamily="18" charset="0"/>
                <a:cs typeface="Calibri"/>
              </a:rPr>
              <a:t>fixed </a:t>
            </a:r>
            <a:r>
              <a:rPr sz="2800" spc="-25" dirty="0">
                <a:latin typeface="Times New Roman" pitchFamily="18" charset="0"/>
                <a:cs typeface="Calibri"/>
              </a:rPr>
              <a:t>for </a:t>
            </a:r>
            <a:r>
              <a:rPr sz="2800" spc="-10" dirty="0">
                <a:latin typeface="Times New Roman" pitchFamily="18" charset="0"/>
                <a:cs typeface="Calibri"/>
              </a:rPr>
              <a:t>floating </a:t>
            </a:r>
            <a:r>
              <a:rPr sz="2800" spc="-15" dirty="0">
                <a:latin typeface="Times New Roman" pitchFamily="18" charset="0"/>
                <a:cs typeface="Calibri"/>
              </a:rPr>
              <a:t>swaps </a:t>
            </a:r>
            <a:r>
              <a:rPr sz="2800" spc="-62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or</a:t>
            </a:r>
            <a:r>
              <a:rPr sz="2800" spc="-25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simply</a:t>
            </a:r>
            <a:r>
              <a:rPr sz="2800" spc="35" dirty="0">
                <a:latin typeface="Times New Roman" pitchFamily="18" charset="0"/>
                <a:cs typeface="Calibri"/>
              </a:rPr>
              <a:t> </a:t>
            </a:r>
            <a:r>
              <a:rPr sz="2800" b="1" spc="-25" dirty="0">
                <a:latin typeface="Times New Roman" pitchFamily="18" charset="0"/>
                <a:cs typeface="Calibri"/>
              </a:rPr>
              <a:t>interest</a:t>
            </a:r>
            <a:r>
              <a:rPr sz="2800" b="1" spc="25" dirty="0">
                <a:latin typeface="Times New Roman" pitchFamily="18" charset="0"/>
                <a:cs typeface="Calibri"/>
              </a:rPr>
              <a:t> </a:t>
            </a:r>
            <a:r>
              <a:rPr sz="2800" b="1" spc="-35" dirty="0">
                <a:latin typeface="Times New Roman" pitchFamily="18" charset="0"/>
                <a:cs typeface="Calibri"/>
              </a:rPr>
              <a:t>rate</a:t>
            </a:r>
            <a:r>
              <a:rPr sz="2800" b="1" spc="10" dirty="0">
                <a:latin typeface="Times New Roman" pitchFamily="18" charset="0"/>
                <a:cs typeface="Calibri"/>
              </a:rPr>
              <a:t> </a:t>
            </a:r>
            <a:r>
              <a:rPr sz="2800" b="1" spc="-10" dirty="0">
                <a:latin typeface="Times New Roman" pitchFamily="18" charset="0"/>
                <a:cs typeface="Calibri"/>
              </a:rPr>
              <a:t>swaps</a:t>
            </a:r>
            <a:r>
              <a:rPr sz="2800" spc="-10" dirty="0">
                <a:latin typeface="Times New Roman" pitchFamily="18" charset="0"/>
                <a:cs typeface="Calibri"/>
              </a:rPr>
              <a:t>.</a:t>
            </a:r>
            <a:endParaRPr sz="28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Font typeface="Segoe UI Symbol"/>
              <a:buChar char="⚫"/>
            </a:pPr>
            <a:endParaRPr sz="3300">
              <a:latin typeface="Times New Roman" pitchFamily="18" charset="0"/>
              <a:cs typeface="Calibri"/>
            </a:endParaRPr>
          </a:p>
          <a:p>
            <a:pPr marL="287020" marR="720725" indent="-287020">
              <a:lnSpc>
                <a:spcPct val="120000"/>
              </a:lnSpc>
              <a:buClr>
                <a:srgbClr val="0AD0D9"/>
              </a:buClr>
              <a:buFont typeface="Segoe UI Symbol"/>
              <a:buChar char="⚫"/>
              <a:tabLst>
                <a:tab pos="287020" algn="l"/>
              </a:tabLst>
            </a:pPr>
            <a:r>
              <a:rPr sz="2800" spc="-20" dirty="0">
                <a:latin typeface="Times New Roman" pitchFamily="18" charset="0"/>
                <a:cs typeface="Calibri"/>
              </a:rPr>
              <a:t>Fixed</a:t>
            </a:r>
            <a:r>
              <a:rPr sz="2800" spc="-15" dirty="0">
                <a:latin typeface="Times New Roman" pitchFamily="18" charset="0"/>
                <a:cs typeface="Calibri"/>
              </a:rPr>
              <a:t> </a:t>
            </a:r>
            <a:r>
              <a:rPr sz="2800" spc="-25" dirty="0">
                <a:latin typeface="Times New Roman" pitchFamily="18" charset="0"/>
                <a:cs typeface="Calibri"/>
              </a:rPr>
              <a:t>for</a:t>
            </a:r>
            <a:r>
              <a:rPr sz="2800" spc="-20" dirty="0">
                <a:latin typeface="Times New Roman" pitchFamily="18" charset="0"/>
                <a:cs typeface="Calibri"/>
              </a:rPr>
              <a:t> fixed</a:t>
            </a:r>
            <a:r>
              <a:rPr sz="2800" spc="-10" dirty="0">
                <a:latin typeface="Times New Roman" pitchFamily="18" charset="0"/>
                <a:cs typeface="Calibri"/>
              </a:rPr>
              <a:t> currency</a:t>
            </a:r>
            <a:r>
              <a:rPr sz="2800" spc="5" dirty="0">
                <a:latin typeface="Times New Roman" pitchFamily="18" charset="0"/>
                <a:cs typeface="Calibri"/>
              </a:rPr>
              <a:t> </a:t>
            </a:r>
            <a:r>
              <a:rPr sz="2800" spc="-15" dirty="0">
                <a:latin typeface="Times New Roman" pitchFamily="18" charset="0"/>
                <a:cs typeface="Calibri"/>
              </a:rPr>
              <a:t>swaps </a:t>
            </a:r>
            <a:r>
              <a:rPr sz="2800" spc="-10" dirty="0">
                <a:latin typeface="Times New Roman" pitchFamily="18" charset="0"/>
                <a:cs typeface="Calibri"/>
              </a:rPr>
              <a:t> </a:t>
            </a:r>
            <a:r>
              <a:rPr sz="2800" spc="-5" dirty="0">
                <a:latin typeface="Times New Roman" pitchFamily="18" charset="0"/>
                <a:cs typeface="Calibri"/>
              </a:rPr>
              <a:t>or</a:t>
            </a:r>
            <a:r>
              <a:rPr sz="2800" spc="-40" dirty="0">
                <a:latin typeface="Times New Roman" pitchFamily="18" charset="0"/>
                <a:cs typeface="Calibri"/>
              </a:rPr>
              <a:t> </a:t>
            </a:r>
            <a:r>
              <a:rPr sz="2800" spc="-10" dirty="0">
                <a:latin typeface="Times New Roman" pitchFamily="18" charset="0"/>
                <a:cs typeface="Calibri"/>
              </a:rPr>
              <a:t>simply</a:t>
            </a:r>
            <a:r>
              <a:rPr sz="2800" spc="20" dirty="0">
                <a:latin typeface="Times New Roman" pitchFamily="18" charset="0"/>
                <a:cs typeface="Calibri"/>
              </a:rPr>
              <a:t> </a:t>
            </a:r>
            <a:r>
              <a:rPr sz="2800" b="1" spc="-10" dirty="0">
                <a:latin typeface="Times New Roman" pitchFamily="18" charset="0"/>
                <a:cs typeface="Calibri"/>
              </a:rPr>
              <a:t>currency swaps</a:t>
            </a:r>
            <a:r>
              <a:rPr sz="2800" spc="-10" dirty="0">
                <a:latin typeface="Times New Roman" pitchFamily="18" charset="0"/>
                <a:cs typeface="Calibri"/>
              </a:rPr>
              <a:t>.</a:t>
            </a:r>
            <a:endParaRPr sz="28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3268" y="1013206"/>
            <a:ext cx="8006080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What</a:t>
            </a:r>
            <a:r>
              <a:rPr spc="-40" dirty="0"/>
              <a:t> </a:t>
            </a:r>
            <a:r>
              <a:rPr dirty="0"/>
              <a:t>is</a:t>
            </a:r>
            <a:r>
              <a:rPr spc="-5" dirty="0"/>
              <a:t> </a:t>
            </a:r>
            <a:r>
              <a:rPr dirty="0"/>
              <a:t>an</a:t>
            </a:r>
            <a:r>
              <a:rPr spc="-10" dirty="0"/>
              <a:t> </a:t>
            </a:r>
            <a:r>
              <a:rPr spc="-30" dirty="0"/>
              <a:t>Interest</a:t>
            </a:r>
            <a:r>
              <a:rPr spc="-35" dirty="0"/>
              <a:t> </a:t>
            </a:r>
            <a:r>
              <a:rPr spc="-25" dirty="0"/>
              <a:t>Rate</a:t>
            </a:r>
            <a:r>
              <a:rPr spc="-35" dirty="0"/>
              <a:t> </a:t>
            </a:r>
            <a:r>
              <a:rPr spc="-20" dirty="0"/>
              <a:t>Swap?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2240102"/>
            <a:ext cx="7974965" cy="3514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 pitchFamily="18" charset="0"/>
                <a:cs typeface="Calibri"/>
              </a:rPr>
              <a:t>A</a:t>
            </a:r>
            <a:r>
              <a:rPr sz="2600" spc="-15" dirty="0">
                <a:latin typeface="Times New Roman" pitchFamily="18" charset="0"/>
                <a:cs typeface="Calibri"/>
              </a:rPr>
              <a:t> company </a:t>
            </a:r>
            <a:r>
              <a:rPr sz="2600" spc="-5" dirty="0">
                <a:latin typeface="Times New Roman" pitchFamily="18" charset="0"/>
                <a:cs typeface="Calibri"/>
              </a:rPr>
              <a:t>agrees</a:t>
            </a:r>
            <a:r>
              <a:rPr sz="2600" spc="-10" dirty="0">
                <a:latin typeface="Times New Roman" pitchFamily="18" charset="0"/>
                <a:cs typeface="Calibri"/>
              </a:rPr>
              <a:t> to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b="1" spc="-20" dirty="0">
                <a:latin typeface="Times New Roman" pitchFamily="18" charset="0"/>
                <a:cs typeface="Calibri"/>
              </a:rPr>
              <a:t>pay</a:t>
            </a:r>
            <a:r>
              <a:rPr sz="2600" b="1" spc="1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a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pre-determined</a:t>
            </a:r>
            <a:r>
              <a:rPr sz="2600" spc="-40" dirty="0">
                <a:latin typeface="Times New Roman" pitchFamily="18" charset="0"/>
                <a:cs typeface="Calibri"/>
              </a:rPr>
              <a:t> </a:t>
            </a:r>
            <a:r>
              <a:rPr sz="2600" b="1" spc="-15" dirty="0">
                <a:latin typeface="Times New Roman" pitchFamily="18" charset="0"/>
                <a:cs typeface="Calibri"/>
              </a:rPr>
              <a:t>fixed</a:t>
            </a:r>
            <a:r>
              <a:rPr sz="2600" b="1" dirty="0">
                <a:latin typeface="Times New Roman" pitchFamily="18" charset="0"/>
                <a:cs typeface="Calibri"/>
              </a:rPr>
              <a:t> </a:t>
            </a:r>
            <a:r>
              <a:rPr sz="2600" b="1" spc="-20" dirty="0">
                <a:latin typeface="Times New Roman" pitchFamily="18" charset="0"/>
                <a:cs typeface="Calibri"/>
              </a:rPr>
              <a:t>interest </a:t>
            </a:r>
            <a:r>
              <a:rPr sz="2600" b="1" spc="-575" dirty="0">
                <a:latin typeface="Times New Roman" pitchFamily="18" charset="0"/>
                <a:cs typeface="Calibri"/>
              </a:rPr>
              <a:t> </a:t>
            </a:r>
            <a:r>
              <a:rPr sz="2600" b="1" spc="-35" dirty="0">
                <a:latin typeface="Times New Roman" pitchFamily="18" charset="0"/>
                <a:cs typeface="Calibri"/>
              </a:rPr>
              <a:t>rate</a:t>
            </a:r>
            <a:r>
              <a:rPr sz="2600" b="1" spc="-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on</a:t>
            </a:r>
            <a:r>
              <a:rPr sz="2600" dirty="0">
                <a:latin typeface="Times New Roman" pitchFamily="18" charset="0"/>
                <a:cs typeface="Calibri"/>
              </a:rPr>
              <a:t> a</a:t>
            </a:r>
            <a:r>
              <a:rPr sz="2600" spc="15" dirty="0">
                <a:latin typeface="Times New Roman" pitchFamily="18" charset="0"/>
                <a:cs typeface="Calibri"/>
              </a:rPr>
              <a:t> </a:t>
            </a:r>
            <a:r>
              <a:rPr sz="2600" b="1" dirty="0">
                <a:latin typeface="Times New Roman" pitchFamily="18" charset="0"/>
                <a:cs typeface="Calibri"/>
              </a:rPr>
              <a:t>notional</a:t>
            </a:r>
            <a:r>
              <a:rPr sz="2600" b="1" spc="-5" dirty="0">
                <a:latin typeface="Times New Roman" pitchFamily="18" charset="0"/>
                <a:cs typeface="Calibri"/>
              </a:rPr>
              <a:t> principal</a:t>
            </a:r>
            <a:r>
              <a:rPr sz="2600" b="1" spc="20" dirty="0">
                <a:latin typeface="Times New Roman" pitchFamily="18" charset="0"/>
                <a:cs typeface="Calibri"/>
              </a:rPr>
              <a:t> </a:t>
            </a:r>
            <a:r>
              <a:rPr sz="2600" spc="-25" dirty="0">
                <a:latin typeface="Times New Roman" pitchFamily="18" charset="0"/>
                <a:cs typeface="Calibri"/>
              </a:rPr>
              <a:t>for</a:t>
            </a:r>
            <a:r>
              <a:rPr sz="2600" spc="1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a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spc="-20" dirty="0">
                <a:latin typeface="Times New Roman" pitchFamily="18" charset="0"/>
                <a:cs typeface="Calibri"/>
              </a:rPr>
              <a:t>fixed</a:t>
            </a:r>
            <a:r>
              <a:rPr sz="2600" spc="-2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number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of</a:t>
            </a:r>
            <a:r>
              <a:rPr sz="2600" dirty="0">
                <a:latin typeface="Times New Roman" pitchFamily="18" charset="0"/>
                <a:cs typeface="Calibri"/>
              </a:rPr>
              <a:t> </a:t>
            </a:r>
            <a:r>
              <a:rPr sz="2600" spc="-20" dirty="0">
                <a:latin typeface="Times New Roman" pitchFamily="18" charset="0"/>
                <a:cs typeface="Calibri"/>
              </a:rPr>
              <a:t>years.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AD0D9"/>
              </a:buClr>
              <a:buFont typeface="Segoe UI Symbol"/>
              <a:buChar char="⚫"/>
            </a:pPr>
            <a:endParaRPr sz="3550">
              <a:latin typeface="Times New Roman" pitchFamily="18" charset="0"/>
              <a:cs typeface="Calibri"/>
            </a:endParaRPr>
          </a:p>
          <a:p>
            <a:pPr marL="286385" marR="592455" indent="-274320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 pitchFamily="18" charset="0"/>
                <a:cs typeface="Calibri"/>
              </a:rPr>
              <a:t>In</a:t>
            </a:r>
            <a:r>
              <a:rPr sz="2600" spc="-2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return,</a:t>
            </a:r>
            <a:r>
              <a:rPr sz="2600" spc="-3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it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b="1" spc="-10" dirty="0">
                <a:latin typeface="Times New Roman" pitchFamily="18" charset="0"/>
                <a:cs typeface="Calibri"/>
              </a:rPr>
              <a:t>receives</a:t>
            </a:r>
            <a:r>
              <a:rPr sz="2600" b="1" spc="-5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interest</a:t>
            </a:r>
            <a:r>
              <a:rPr sz="2600" spc="-35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at</a:t>
            </a:r>
            <a:r>
              <a:rPr sz="2600" dirty="0">
                <a:latin typeface="Times New Roman" pitchFamily="18" charset="0"/>
                <a:cs typeface="Calibri"/>
              </a:rPr>
              <a:t> a </a:t>
            </a:r>
            <a:r>
              <a:rPr sz="2600" b="1" spc="-5" dirty="0">
                <a:latin typeface="Times New Roman" pitchFamily="18" charset="0"/>
                <a:cs typeface="Calibri"/>
              </a:rPr>
              <a:t>floating</a:t>
            </a:r>
            <a:r>
              <a:rPr sz="2600" b="1" dirty="0">
                <a:latin typeface="Times New Roman" pitchFamily="18" charset="0"/>
                <a:cs typeface="Calibri"/>
              </a:rPr>
              <a:t> </a:t>
            </a:r>
            <a:r>
              <a:rPr sz="2600" b="1" spc="-35" dirty="0">
                <a:latin typeface="Times New Roman" pitchFamily="18" charset="0"/>
                <a:cs typeface="Calibri"/>
              </a:rPr>
              <a:t>rate</a:t>
            </a:r>
            <a:r>
              <a:rPr sz="2600" b="1" spc="1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on </a:t>
            </a:r>
            <a:r>
              <a:rPr sz="2600" dirty="0">
                <a:latin typeface="Times New Roman" pitchFamily="18" charset="0"/>
                <a:cs typeface="Calibri"/>
              </a:rPr>
              <a:t>the </a:t>
            </a:r>
            <a:r>
              <a:rPr sz="2600" spc="-57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same</a:t>
            </a:r>
            <a:r>
              <a:rPr sz="2600" spc="-3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notional principal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spc="-25" dirty="0">
                <a:latin typeface="Times New Roman" pitchFamily="18" charset="0"/>
                <a:cs typeface="Calibri"/>
              </a:rPr>
              <a:t>for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the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same</a:t>
            </a:r>
            <a:r>
              <a:rPr sz="2600" spc="-1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period</a:t>
            </a:r>
            <a:r>
              <a:rPr sz="2600" spc="-1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of </a:t>
            </a:r>
            <a:r>
              <a:rPr sz="2600" dirty="0">
                <a:latin typeface="Times New Roman" pitchFamily="18" charset="0"/>
                <a:cs typeface="Calibri"/>
              </a:rPr>
              <a:t>time.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AD0D9"/>
              </a:buClr>
              <a:buFont typeface="Segoe UI Symbol"/>
              <a:buChar char="⚫"/>
            </a:pPr>
            <a:endParaRPr sz="3550">
              <a:latin typeface="Times New Roman" pitchFamily="18" charset="0"/>
              <a:cs typeface="Calibri"/>
            </a:endParaRPr>
          </a:p>
          <a:p>
            <a:pPr marL="286385" marR="832485" indent="-274320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5" dirty="0">
                <a:latin typeface="Times New Roman" pitchFamily="18" charset="0"/>
                <a:cs typeface="Calibri"/>
              </a:rPr>
              <a:t>The</a:t>
            </a:r>
            <a:r>
              <a:rPr sz="2600" spc="-30" dirty="0">
                <a:latin typeface="Times New Roman" pitchFamily="18" charset="0"/>
                <a:cs typeface="Calibri"/>
              </a:rPr>
              <a:t> </a:t>
            </a:r>
            <a:r>
              <a:rPr sz="2600" b="1" spc="-5" dirty="0">
                <a:latin typeface="Times New Roman" pitchFamily="18" charset="0"/>
                <a:cs typeface="Calibri"/>
              </a:rPr>
              <a:t>principal</a:t>
            </a:r>
            <a:r>
              <a:rPr sz="2600" b="1" spc="1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is </a:t>
            </a:r>
            <a:r>
              <a:rPr sz="2600" b="1" dirty="0">
                <a:latin typeface="Times New Roman" pitchFamily="18" charset="0"/>
                <a:cs typeface="Calibri"/>
              </a:rPr>
              <a:t>not</a:t>
            </a:r>
            <a:r>
              <a:rPr sz="2600" b="1" spc="5" dirty="0">
                <a:latin typeface="Times New Roman" pitchFamily="18" charset="0"/>
                <a:cs typeface="Calibri"/>
              </a:rPr>
              <a:t> </a:t>
            </a:r>
            <a:r>
              <a:rPr sz="2600" b="1" spc="-20" dirty="0">
                <a:latin typeface="Times New Roman" pitchFamily="18" charset="0"/>
                <a:cs typeface="Calibri"/>
              </a:rPr>
              <a:t>exchanged</a:t>
            </a:r>
            <a:r>
              <a:rPr sz="2600" spc="-20" dirty="0">
                <a:latin typeface="Times New Roman" pitchFamily="18" charset="0"/>
                <a:cs typeface="Calibri"/>
              </a:rPr>
              <a:t>.</a:t>
            </a:r>
            <a:r>
              <a:rPr sz="2600" spc="2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Hence,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it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is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called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a </a:t>
            </a:r>
            <a:r>
              <a:rPr sz="2600" spc="-57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notional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amount.</a:t>
            </a:r>
            <a:endParaRPr sz="26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7210" y="860806"/>
            <a:ext cx="5527675" cy="7880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Floating</a:t>
            </a:r>
            <a:r>
              <a:rPr spc="-60" dirty="0"/>
              <a:t> </a:t>
            </a:r>
            <a:r>
              <a:rPr spc="-30" dirty="0"/>
              <a:t>Interest</a:t>
            </a:r>
            <a:r>
              <a:rPr spc="-40" dirty="0"/>
              <a:t> </a:t>
            </a:r>
            <a:r>
              <a:rPr spc="-25" dirty="0"/>
              <a:t>Rate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868398"/>
            <a:ext cx="7853680" cy="4001737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5" dirty="0">
                <a:latin typeface="Times New Roman" pitchFamily="18" charset="0"/>
                <a:cs typeface="Calibri"/>
              </a:rPr>
              <a:t>LIBOR</a:t>
            </a:r>
            <a:r>
              <a:rPr sz="2600" spc="-2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–</a:t>
            </a:r>
            <a:r>
              <a:rPr sz="2600" spc="-5" dirty="0">
                <a:latin typeface="Times New Roman" pitchFamily="18" charset="0"/>
                <a:cs typeface="Calibri"/>
              </a:rPr>
              <a:t> London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Interbank</a:t>
            </a:r>
            <a:r>
              <a:rPr sz="2600" spc="-45" dirty="0">
                <a:latin typeface="Times New Roman" pitchFamily="18" charset="0"/>
                <a:cs typeface="Calibri"/>
              </a:rPr>
              <a:t> </a:t>
            </a:r>
            <a:r>
              <a:rPr sz="2600" spc="-20" dirty="0">
                <a:latin typeface="Times New Roman" pitchFamily="18" charset="0"/>
                <a:cs typeface="Calibri"/>
              </a:rPr>
              <a:t>Offered</a:t>
            </a:r>
            <a:r>
              <a:rPr sz="2600" spc="-40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Rate</a:t>
            </a:r>
            <a:endParaRPr sz="2600">
              <a:latin typeface="Times New Roman" pitchFamily="18" charset="0"/>
              <a:cs typeface="Calibri"/>
            </a:endParaRPr>
          </a:p>
          <a:p>
            <a:pPr marL="286385" marR="8890" indent="-27432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 pitchFamily="18" charset="0"/>
                <a:cs typeface="Calibri"/>
              </a:rPr>
              <a:t>It is the </a:t>
            </a:r>
            <a:r>
              <a:rPr sz="2600" spc="-25" dirty="0">
                <a:latin typeface="Times New Roman" pitchFamily="18" charset="0"/>
                <a:cs typeface="Calibri"/>
              </a:rPr>
              <a:t>average </a:t>
            </a:r>
            <a:r>
              <a:rPr sz="2600" spc="-15" dirty="0">
                <a:latin typeface="Times New Roman" pitchFamily="18" charset="0"/>
                <a:cs typeface="Calibri"/>
              </a:rPr>
              <a:t>interest </a:t>
            </a:r>
            <a:r>
              <a:rPr sz="2600" spc="-25" dirty="0">
                <a:latin typeface="Times New Roman" pitchFamily="18" charset="0"/>
                <a:cs typeface="Calibri"/>
              </a:rPr>
              <a:t>rate </a:t>
            </a:r>
            <a:r>
              <a:rPr sz="2600" spc="-10" dirty="0">
                <a:latin typeface="Times New Roman" pitchFamily="18" charset="0"/>
                <a:cs typeface="Calibri"/>
              </a:rPr>
              <a:t>estimated by </a:t>
            </a:r>
            <a:r>
              <a:rPr sz="2600" dirty="0">
                <a:latin typeface="Times New Roman" pitchFamily="18" charset="0"/>
                <a:cs typeface="Calibri"/>
              </a:rPr>
              <a:t>leading </a:t>
            </a:r>
            <a:r>
              <a:rPr sz="2600" spc="-10" dirty="0">
                <a:latin typeface="Times New Roman" pitchFamily="18" charset="0"/>
                <a:cs typeface="Calibri"/>
              </a:rPr>
              <a:t>banks </a:t>
            </a:r>
            <a:r>
              <a:rPr sz="2600" spc="-57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in</a:t>
            </a:r>
            <a:r>
              <a:rPr sz="2600" spc="-3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London.</a:t>
            </a:r>
            <a:endParaRPr sz="2600">
              <a:latin typeface="Times New Roman" pitchFamily="18" charset="0"/>
              <a:cs typeface="Calibri"/>
            </a:endParaRPr>
          </a:p>
          <a:p>
            <a:pPr marL="286385" marR="46990" indent="-27432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 pitchFamily="18" charset="0"/>
                <a:cs typeface="Calibri"/>
              </a:rPr>
              <a:t>It is the </a:t>
            </a:r>
            <a:r>
              <a:rPr sz="2600" spc="-5" dirty="0">
                <a:latin typeface="Times New Roman" pitchFamily="18" charset="0"/>
                <a:cs typeface="Calibri"/>
              </a:rPr>
              <a:t>primary benchmark </a:t>
            </a:r>
            <a:r>
              <a:rPr sz="2600" spc="-25" dirty="0">
                <a:latin typeface="Times New Roman" pitchFamily="18" charset="0"/>
                <a:cs typeface="Calibri"/>
              </a:rPr>
              <a:t>for </a:t>
            </a:r>
            <a:r>
              <a:rPr sz="2600" spc="-5" dirty="0">
                <a:latin typeface="Times New Roman" pitchFamily="18" charset="0"/>
                <a:cs typeface="Calibri"/>
              </a:rPr>
              <a:t>short </a:t>
            </a:r>
            <a:r>
              <a:rPr sz="2600" spc="-10" dirty="0">
                <a:latin typeface="Times New Roman" pitchFamily="18" charset="0"/>
                <a:cs typeface="Calibri"/>
              </a:rPr>
              <a:t>term </a:t>
            </a:r>
            <a:r>
              <a:rPr sz="2600" spc="-15" dirty="0">
                <a:latin typeface="Times New Roman" pitchFamily="18" charset="0"/>
                <a:cs typeface="Calibri"/>
              </a:rPr>
              <a:t>interest </a:t>
            </a:r>
            <a:r>
              <a:rPr sz="2600" spc="-20" dirty="0">
                <a:latin typeface="Times New Roman" pitchFamily="18" charset="0"/>
                <a:cs typeface="Calibri"/>
              </a:rPr>
              <a:t>rates </a:t>
            </a:r>
            <a:r>
              <a:rPr sz="2600" spc="-57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around</a:t>
            </a:r>
            <a:r>
              <a:rPr sz="2600" spc="-4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the</a:t>
            </a:r>
            <a:r>
              <a:rPr sz="2600" spc="-1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world.</a:t>
            </a:r>
            <a:endParaRPr sz="2600">
              <a:latin typeface="Times New Roman" pitchFamily="18" charset="0"/>
              <a:cs typeface="Calibri"/>
            </a:endParaRPr>
          </a:p>
          <a:p>
            <a:pPr marL="286385" marR="5080" indent="-27432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25" dirty="0">
                <a:latin typeface="Times New Roman" pitchFamily="18" charset="0"/>
                <a:cs typeface="Calibri"/>
              </a:rPr>
              <a:t>Similarly, </a:t>
            </a:r>
            <a:r>
              <a:rPr sz="2600" spc="-15" dirty="0">
                <a:latin typeface="Times New Roman" pitchFamily="18" charset="0"/>
                <a:cs typeface="Calibri"/>
              </a:rPr>
              <a:t>we </a:t>
            </a:r>
            <a:r>
              <a:rPr sz="2600" spc="-20" dirty="0">
                <a:latin typeface="Times New Roman" pitchFamily="18" charset="0"/>
                <a:cs typeface="Calibri"/>
              </a:rPr>
              <a:t>have </a:t>
            </a:r>
            <a:r>
              <a:rPr sz="2600" dirty="0">
                <a:latin typeface="Times New Roman" pitchFamily="18" charset="0"/>
                <a:cs typeface="Calibri"/>
              </a:rPr>
              <a:t>MIBOR i.e. Mumbai </a:t>
            </a:r>
            <a:r>
              <a:rPr sz="2600" spc="-5" dirty="0">
                <a:latin typeface="Times New Roman" pitchFamily="18" charset="0"/>
                <a:cs typeface="Calibri"/>
              </a:rPr>
              <a:t>Interbank </a:t>
            </a:r>
            <a:r>
              <a:rPr sz="2600" spc="-20" dirty="0">
                <a:latin typeface="Times New Roman" pitchFamily="18" charset="0"/>
                <a:cs typeface="Calibri"/>
              </a:rPr>
              <a:t>Offered </a:t>
            </a:r>
            <a:r>
              <a:rPr sz="2600" spc="-57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Rate.</a:t>
            </a:r>
            <a:endParaRPr sz="2600">
              <a:latin typeface="Times New Roman" pitchFamily="18" charset="0"/>
              <a:cs typeface="Calibri"/>
            </a:endParaRPr>
          </a:p>
          <a:p>
            <a:pPr marL="286385" marR="746760" indent="-274320">
              <a:lnSpc>
                <a:spcPct val="100000"/>
              </a:lnSpc>
              <a:spcBef>
                <a:spcPts val="62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 pitchFamily="18" charset="0"/>
                <a:cs typeface="Calibri"/>
              </a:rPr>
              <a:t>It is </a:t>
            </a:r>
            <a:r>
              <a:rPr sz="2600" spc="-10" dirty="0">
                <a:latin typeface="Times New Roman" pitchFamily="18" charset="0"/>
                <a:cs typeface="Calibri"/>
              </a:rPr>
              <a:t>calculated by </a:t>
            </a:r>
            <a:r>
              <a:rPr sz="2600" dirty="0">
                <a:latin typeface="Times New Roman" pitchFamily="18" charset="0"/>
                <a:cs typeface="Calibri"/>
              </a:rPr>
              <a:t>the NSE as a </a:t>
            </a:r>
            <a:r>
              <a:rPr sz="2600" spc="-10" dirty="0">
                <a:latin typeface="Times New Roman" pitchFamily="18" charset="0"/>
                <a:cs typeface="Calibri"/>
              </a:rPr>
              <a:t>weighted </a:t>
            </a:r>
            <a:r>
              <a:rPr sz="2600" spc="-25" dirty="0">
                <a:latin typeface="Times New Roman" pitchFamily="18" charset="0"/>
                <a:cs typeface="Calibri"/>
              </a:rPr>
              <a:t>average </a:t>
            </a:r>
            <a:r>
              <a:rPr sz="2600" spc="-5" dirty="0">
                <a:latin typeface="Times New Roman" pitchFamily="18" charset="0"/>
                <a:cs typeface="Calibri"/>
              </a:rPr>
              <a:t>of </a:t>
            </a:r>
            <a:r>
              <a:rPr sz="2600" spc="-57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lending</a:t>
            </a:r>
            <a:r>
              <a:rPr sz="2600" spc="-40" dirty="0">
                <a:latin typeface="Times New Roman" pitchFamily="18" charset="0"/>
                <a:cs typeface="Calibri"/>
              </a:rPr>
              <a:t> </a:t>
            </a:r>
            <a:r>
              <a:rPr sz="2600" spc="-20" dirty="0">
                <a:latin typeface="Times New Roman" pitchFamily="18" charset="0"/>
                <a:cs typeface="Calibri"/>
              </a:rPr>
              <a:t>rates</a:t>
            </a:r>
            <a:r>
              <a:rPr sz="2600" spc="-2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of </a:t>
            </a:r>
            <a:r>
              <a:rPr sz="2600" dirty="0">
                <a:latin typeface="Times New Roman" pitchFamily="18" charset="0"/>
                <a:cs typeface="Calibri"/>
              </a:rPr>
              <a:t>a</a:t>
            </a:r>
            <a:r>
              <a:rPr sz="2600" spc="-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group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of banks.</a:t>
            </a:r>
            <a:endParaRPr sz="26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9254" y="616661"/>
            <a:ext cx="45986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0" dirty="0">
                <a:solidFill>
                  <a:srgbClr val="04607A"/>
                </a:solidFill>
                <a:latin typeface="Times New Roman" pitchFamily="18" charset="0"/>
                <a:cs typeface="Calibri"/>
              </a:rPr>
              <a:t>Interest</a:t>
            </a:r>
            <a:r>
              <a:rPr sz="3200" spc="-25" dirty="0">
                <a:solidFill>
                  <a:srgbClr val="04607A"/>
                </a:solidFill>
                <a:latin typeface="Times New Roman" pitchFamily="18" charset="0"/>
                <a:cs typeface="Calibri"/>
              </a:rPr>
              <a:t> </a:t>
            </a:r>
            <a:r>
              <a:rPr sz="3200" spc="-20" dirty="0">
                <a:solidFill>
                  <a:srgbClr val="04607A"/>
                </a:solidFill>
                <a:latin typeface="Times New Roman" pitchFamily="18" charset="0"/>
                <a:cs typeface="Calibri"/>
              </a:rPr>
              <a:t>Rate</a:t>
            </a:r>
            <a:r>
              <a:rPr sz="3200" spc="-30" dirty="0">
                <a:solidFill>
                  <a:srgbClr val="04607A"/>
                </a:solidFill>
                <a:latin typeface="Times New Roman" pitchFamily="18" charset="0"/>
                <a:cs typeface="Calibri"/>
              </a:rPr>
              <a:t> </a:t>
            </a:r>
            <a:r>
              <a:rPr sz="3200" spc="-15" dirty="0">
                <a:solidFill>
                  <a:srgbClr val="04607A"/>
                </a:solidFill>
                <a:latin typeface="Times New Roman" pitchFamily="18" charset="0"/>
                <a:cs typeface="Calibri"/>
              </a:rPr>
              <a:t>Swap </a:t>
            </a:r>
            <a:r>
              <a:rPr sz="3200" spc="-10" dirty="0">
                <a:solidFill>
                  <a:srgbClr val="04607A"/>
                </a:solidFill>
                <a:latin typeface="Times New Roman" pitchFamily="18" charset="0"/>
                <a:cs typeface="Calibri"/>
              </a:rPr>
              <a:t>Example</a:t>
            </a:r>
            <a:endParaRPr sz="3200">
              <a:latin typeface="Times New Roman" pitchFamily="18" charset="0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4800" y="1600200"/>
            <a:ext cx="1905000" cy="795089"/>
          </a:xfrm>
          <a:prstGeom prst="rect">
            <a:avLst/>
          </a:prstGeom>
          <a:solidFill>
            <a:srgbClr val="FFFFFF"/>
          </a:solidFill>
          <a:ln w="25400">
            <a:solidFill>
              <a:srgbClr val="0E6EC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00355">
              <a:lnSpc>
                <a:spcPts val="6195"/>
              </a:lnSpc>
            </a:pPr>
            <a:r>
              <a:rPr sz="5400" spc="5" dirty="0">
                <a:latin typeface="Times New Roman" pitchFamily="18" charset="0"/>
                <a:cs typeface="Calibri"/>
              </a:rPr>
              <a:t>Co.A</a:t>
            </a:r>
            <a:endParaRPr sz="5400">
              <a:latin typeface="Times New Roman" pitchFamily="18" charset="0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86600" y="1524000"/>
            <a:ext cx="1828800" cy="795089"/>
          </a:xfrm>
          <a:prstGeom prst="rect">
            <a:avLst/>
          </a:prstGeom>
          <a:solidFill>
            <a:srgbClr val="FFFFFF"/>
          </a:solidFill>
          <a:ln w="25400">
            <a:solidFill>
              <a:srgbClr val="0E6EC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77495">
              <a:lnSpc>
                <a:spcPts val="6195"/>
              </a:lnSpc>
            </a:pPr>
            <a:r>
              <a:rPr sz="5400" spc="-5" dirty="0">
                <a:latin typeface="Times New Roman" pitchFamily="18" charset="0"/>
                <a:cs typeface="Calibri"/>
              </a:rPr>
              <a:t>Co.B</a:t>
            </a:r>
            <a:endParaRPr sz="5400">
              <a:latin typeface="Times New Roman" pitchFamily="18" charset="0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749040" y="1406652"/>
            <a:ext cx="1667510" cy="1190625"/>
            <a:chOff x="3749040" y="1406652"/>
            <a:chExt cx="1667510" cy="11906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49040" y="1406652"/>
              <a:ext cx="1645919" cy="11902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0" y="1424940"/>
              <a:ext cx="1606296" cy="104546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810000" y="1447800"/>
            <a:ext cx="1524000" cy="1807546"/>
          </a:xfrm>
          <a:prstGeom prst="rect">
            <a:avLst/>
          </a:prstGeom>
          <a:solidFill>
            <a:srgbClr val="009DD9"/>
          </a:solidFill>
          <a:ln w="38100">
            <a:solidFill>
              <a:srgbClr val="FFFFFF"/>
            </a:solidFill>
          </a:ln>
        </p:spPr>
        <p:txBody>
          <a:bodyPr vert="horz" wrap="square" lIns="0" tIns="83185" rIns="0" bIns="0" rtlCol="0">
            <a:spAutoFit/>
          </a:bodyPr>
          <a:lstStyle/>
          <a:p>
            <a:pPr marL="357505" marR="247015" indent="-100965">
              <a:lnSpc>
                <a:spcPct val="100000"/>
              </a:lnSpc>
              <a:spcBef>
                <a:spcPts val="655"/>
              </a:spcBef>
            </a:pPr>
            <a:r>
              <a:rPr sz="2800" spc="-30" dirty="0">
                <a:latin typeface="Times New Roman" pitchFamily="18" charset="0"/>
                <a:cs typeface="Calibri"/>
              </a:rPr>
              <a:t>S</a:t>
            </a:r>
            <a:r>
              <a:rPr sz="2800" spc="-145" dirty="0">
                <a:latin typeface="Times New Roman" pitchFamily="18" charset="0"/>
                <a:cs typeface="Calibri"/>
              </a:rPr>
              <a:t>W</a:t>
            </a:r>
            <a:r>
              <a:rPr sz="2800" spc="-5" dirty="0">
                <a:latin typeface="Times New Roman" pitchFamily="18" charset="0"/>
                <a:cs typeface="Calibri"/>
              </a:rPr>
              <a:t>APS  </a:t>
            </a:r>
            <a:r>
              <a:rPr sz="2800" spc="-10" dirty="0">
                <a:latin typeface="Times New Roman" pitchFamily="18" charset="0"/>
                <a:cs typeface="Calibri"/>
              </a:rPr>
              <a:t>BANK</a:t>
            </a:r>
            <a:endParaRPr sz="2800">
              <a:latin typeface="Times New Roman" pitchFamily="18" charset="0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4695" y="4358640"/>
            <a:ext cx="2118360" cy="905510"/>
            <a:chOff x="234695" y="4358640"/>
            <a:chExt cx="2118360" cy="90551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0039" y="4454652"/>
              <a:ext cx="1950720" cy="8092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4695" y="4358640"/>
              <a:ext cx="2118360" cy="84734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81000" y="4495800"/>
            <a:ext cx="1828800" cy="621965"/>
          </a:xfrm>
          <a:prstGeom prst="rect">
            <a:avLst/>
          </a:prstGeom>
          <a:solidFill>
            <a:srgbClr val="009DD9"/>
          </a:solidFill>
          <a:ln w="38100">
            <a:solidFill>
              <a:srgbClr val="FFFFFF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201295">
              <a:lnSpc>
                <a:spcPct val="100000"/>
              </a:lnSpc>
              <a:spcBef>
                <a:spcPts val="50"/>
              </a:spcBef>
            </a:pPr>
            <a:r>
              <a:rPr sz="4000" spc="-5" dirty="0">
                <a:latin typeface="Times New Roman" pitchFamily="18" charset="0"/>
                <a:cs typeface="Calibri"/>
              </a:rPr>
              <a:t>Bank</a:t>
            </a:r>
            <a:r>
              <a:rPr sz="4000" spc="-55" dirty="0">
                <a:latin typeface="Times New Roman" pitchFamily="18" charset="0"/>
                <a:cs typeface="Calibri"/>
              </a:rPr>
              <a:t> </a:t>
            </a:r>
            <a:r>
              <a:rPr sz="4000" spc="-5" dirty="0">
                <a:latin typeface="Times New Roman" pitchFamily="18" charset="0"/>
                <a:cs typeface="Calibri"/>
              </a:rPr>
              <a:t>A</a:t>
            </a:r>
            <a:endParaRPr sz="4000">
              <a:latin typeface="Times New Roman" pitchFamily="18" charset="0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15900" y="5397500"/>
            <a:ext cx="2082800" cy="939800"/>
            <a:chOff x="215900" y="5397500"/>
            <a:chExt cx="2082800" cy="939800"/>
          </a:xfrm>
        </p:grpSpPr>
        <p:sp>
          <p:nvSpPr>
            <p:cNvPr id="14" name="object 14"/>
            <p:cNvSpPr/>
            <p:nvPr/>
          </p:nvSpPr>
          <p:spPr>
            <a:xfrm>
              <a:off x="228600" y="5410200"/>
              <a:ext cx="2057400" cy="914400"/>
            </a:xfrm>
            <a:custGeom>
              <a:avLst/>
              <a:gdLst/>
              <a:ahLst/>
              <a:cxnLst/>
              <a:rect l="l" t="t" r="r" b="b"/>
              <a:pathLst>
                <a:path w="2057400" h="914400">
                  <a:moveTo>
                    <a:pt x="20574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057400" y="914400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28600" y="5410200"/>
              <a:ext cx="2057400" cy="914400"/>
            </a:xfrm>
            <a:custGeom>
              <a:avLst/>
              <a:gdLst/>
              <a:ahLst/>
              <a:cxnLst/>
              <a:rect l="l" t="t" r="r" b="b"/>
              <a:pathLst>
                <a:path w="2057400" h="914400">
                  <a:moveTo>
                    <a:pt x="0" y="914400"/>
                  </a:moveTo>
                  <a:lnTo>
                    <a:pt x="2057400" y="914400"/>
                  </a:lnTo>
                  <a:lnTo>
                    <a:pt x="20574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5400">
              <a:solidFill>
                <a:srgbClr val="0E6EC5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20040" y="5566359"/>
            <a:ext cx="7664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Times New Roman" pitchFamily="18" charset="0"/>
                <a:cs typeface="Calibri"/>
              </a:rPr>
              <a:t>Fixed </a:t>
            </a:r>
            <a:r>
              <a:rPr sz="1800" spc="-10" dirty="0">
                <a:latin typeface="Times New Roman" pitchFamily="18" charset="0"/>
                <a:cs typeface="Calibri"/>
              </a:rPr>
              <a:t> </a:t>
            </a:r>
            <a:r>
              <a:rPr sz="1800" spc="-100" dirty="0">
                <a:latin typeface="Times New Roman" pitchFamily="18" charset="0"/>
                <a:cs typeface="Calibri"/>
              </a:rPr>
              <a:t>V</a:t>
            </a:r>
            <a:r>
              <a:rPr sz="1800" dirty="0">
                <a:latin typeface="Times New Roman" pitchFamily="18" charset="0"/>
                <a:cs typeface="Calibri"/>
              </a:rPr>
              <a:t>ar</a:t>
            </a:r>
            <a:r>
              <a:rPr sz="1800" spc="-10" dirty="0">
                <a:latin typeface="Times New Roman" pitchFamily="18" charset="0"/>
                <a:cs typeface="Calibri"/>
              </a:rPr>
              <a:t>i</a:t>
            </a:r>
            <a:r>
              <a:rPr sz="1800" dirty="0">
                <a:latin typeface="Times New Roman" pitchFamily="18" charset="0"/>
                <a:cs typeface="Calibri"/>
              </a:rPr>
              <a:t>able</a:t>
            </a:r>
            <a:endParaRPr sz="1800">
              <a:latin typeface="Times New Roman" pitchFamily="18" charset="0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97348" y="5566359"/>
            <a:ext cx="91725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30416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 pitchFamily="18" charset="0"/>
                <a:cs typeface="Calibri"/>
              </a:rPr>
              <a:t>7%  </a:t>
            </a:r>
            <a:r>
              <a:rPr sz="1800" spc="-5" dirty="0">
                <a:latin typeface="Times New Roman" pitchFamily="18" charset="0"/>
                <a:cs typeface="Calibri"/>
              </a:rPr>
              <a:t>LIBOR</a:t>
            </a:r>
            <a:endParaRPr sz="1800">
              <a:latin typeface="Times New Roman" pitchFamily="18" charset="0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618731" y="4236720"/>
            <a:ext cx="2306320" cy="951230"/>
            <a:chOff x="6618731" y="4236720"/>
            <a:chExt cx="2306320" cy="951230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97039" y="4378452"/>
              <a:ext cx="1950720" cy="80924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18731" y="4236720"/>
              <a:ext cx="2305812" cy="923544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858000" y="4419600"/>
            <a:ext cx="1828800" cy="654025"/>
          </a:xfrm>
          <a:prstGeom prst="rect">
            <a:avLst/>
          </a:prstGeom>
          <a:solidFill>
            <a:srgbClr val="009DD9"/>
          </a:solidFill>
          <a:ln w="38100">
            <a:solidFill>
              <a:srgbClr val="FFFF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9700">
              <a:lnSpc>
                <a:spcPts val="5065"/>
              </a:lnSpc>
            </a:pPr>
            <a:r>
              <a:rPr sz="4400" dirty="0">
                <a:latin typeface="Times New Roman" pitchFamily="18" charset="0"/>
                <a:cs typeface="Calibri"/>
              </a:rPr>
              <a:t>Bank</a:t>
            </a:r>
            <a:r>
              <a:rPr sz="4400" spc="-60" dirty="0">
                <a:latin typeface="Times New Roman" pitchFamily="18" charset="0"/>
                <a:cs typeface="Calibri"/>
              </a:rPr>
              <a:t> </a:t>
            </a:r>
            <a:r>
              <a:rPr sz="4400" dirty="0">
                <a:latin typeface="Times New Roman" pitchFamily="18" charset="0"/>
                <a:cs typeface="Calibri"/>
              </a:rPr>
              <a:t>B</a:t>
            </a:r>
            <a:endParaRPr sz="4400">
              <a:latin typeface="Times New Roman" pitchFamily="18" charset="0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692900" y="5397500"/>
            <a:ext cx="2159000" cy="1016000"/>
            <a:chOff x="6692900" y="5397500"/>
            <a:chExt cx="2159000" cy="1016000"/>
          </a:xfrm>
        </p:grpSpPr>
        <p:sp>
          <p:nvSpPr>
            <p:cNvPr id="23" name="object 23"/>
            <p:cNvSpPr/>
            <p:nvPr/>
          </p:nvSpPr>
          <p:spPr>
            <a:xfrm>
              <a:off x="6705600" y="5410200"/>
              <a:ext cx="2133600" cy="990600"/>
            </a:xfrm>
            <a:custGeom>
              <a:avLst/>
              <a:gdLst/>
              <a:ahLst/>
              <a:cxnLst/>
              <a:rect l="l" t="t" r="r" b="b"/>
              <a:pathLst>
                <a:path w="2133600" h="990600">
                  <a:moveTo>
                    <a:pt x="21336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2133600" y="990600"/>
                  </a:lnTo>
                  <a:lnTo>
                    <a:pt x="2133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6705600" y="5410200"/>
              <a:ext cx="2133600" cy="990600"/>
            </a:xfrm>
            <a:custGeom>
              <a:avLst/>
              <a:gdLst/>
              <a:ahLst/>
              <a:cxnLst/>
              <a:rect l="l" t="t" r="r" b="b"/>
              <a:pathLst>
                <a:path w="2133600" h="990600">
                  <a:moveTo>
                    <a:pt x="0" y="990600"/>
                  </a:moveTo>
                  <a:lnTo>
                    <a:pt x="2133600" y="990600"/>
                  </a:lnTo>
                  <a:lnTo>
                    <a:pt x="2133600" y="0"/>
                  </a:lnTo>
                  <a:lnTo>
                    <a:pt x="0" y="0"/>
                  </a:lnTo>
                  <a:lnTo>
                    <a:pt x="0" y="990600"/>
                  </a:lnTo>
                  <a:close/>
                </a:path>
              </a:pathLst>
            </a:custGeom>
            <a:ln w="25400">
              <a:solidFill>
                <a:srgbClr val="0E6EC5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797928" y="5604459"/>
            <a:ext cx="234607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527810" algn="l"/>
              </a:tabLst>
            </a:pPr>
            <a:r>
              <a:rPr sz="1800" spc="-5" dirty="0">
                <a:latin typeface="Times New Roman" pitchFamily="18" charset="0"/>
                <a:cs typeface="Calibri"/>
              </a:rPr>
              <a:t>Fi</a:t>
            </a:r>
            <a:r>
              <a:rPr sz="1800" spc="-55" dirty="0">
                <a:latin typeface="Times New Roman" pitchFamily="18" charset="0"/>
                <a:cs typeface="Calibri"/>
              </a:rPr>
              <a:t>x</a:t>
            </a:r>
            <a:r>
              <a:rPr sz="1800" dirty="0">
                <a:latin typeface="Times New Roman" pitchFamily="18" charset="0"/>
                <a:cs typeface="Calibri"/>
              </a:rPr>
              <a:t>ed	10%</a:t>
            </a:r>
            <a:endParaRPr sz="18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1800" spc="-15" dirty="0">
                <a:latin typeface="Times New Roman" pitchFamily="18" charset="0"/>
                <a:cs typeface="Calibri"/>
              </a:rPr>
              <a:t>Variable</a:t>
            </a:r>
            <a:r>
              <a:rPr sz="1800" spc="375" dirty="0">
                <a:latin typeface="Times New Roman" pitchFamily="18" charset="0"/>
                <a:cs typeface="Calibri"/>
              </a:rPr>
              <a:t> </a:t>
            </a:r>
            <a:r>
              <a:rPr sz="1800" spc="-5" dirty="0">
                <a:latin typeface="Times New Roman" pitchFamily="18" charset="0"/>
                <a:cs typeface="Calibri"/>
              </a:rPr>
              <a:t>LIBOR</a:t>
            </a:r>
            <a:r>
              <a:rPr sz="1800" spc="-45" dirty="0">
                <a:latin typeface="Times New Roman" pitchFamily="18" charset="0"/>
                <a:cs typeface="Calibri"/>
              </a:rPr>
              <a:t> </a:t>
            </a:r>
            <a:r>
              <a:rPr sz="1800" dirty="0">
                <a:latin typeface="Times New Roman" pitchFamily="18" charset="0"/>
                <a:cs typeface="Calibri"/>
              </a:rPr>
              <a:t>+</a:t>
            </a:r>
            <a:r>
              <a:rPr sz="1800" spc="-10" dirty="0">
                <a:latin typeface="Times New Roman" pitchFamily="18" charset="0"/>
                <a:cs typeface="Calibri"/>
              </a:rPr>
              <a:t> </a:t>
            </a:r>
            <a:r>
              <a:rPr sz="1800" dirty="0">
                <a:latin typeface="Times New Roman" pitchFamily="18" charset="0"/>
                <a:cs typeface="Calibri"/>
              </a:rPr>
              <a:t>1%</a:t>
            </a:r>
            <a:endParaRPr sz="1800">
              <a:latin typeface="Times New Roman" pitchFamily="18" charset="0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59740" y="2456815"/>
            <a:ext cx="146367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72328"/>
                </a:solidFill>
                <a:latin typeface="Times New Roman" pitchFamily="18" charset="0"/>
                <a:cs typeface="Calibri"/>
              </a:rPr>
              <a:t>Aim</a:t>
            </a:r>
            <a:r>
              <a:rPr sz="1800" spc="-50" dirty="0">
                <a:solidFill>
                  <a:srgbClr val="072328"/>
                </a:solidFill>
                <a:latin typeface="Times New Roman" pitchFamily="18" charset="0"/>
                <a:cs typeface="Calibri"/>
              </a:rPr>
              <a:t> </a:t>
            </a:r>
            <a:r>
              <a:rPr sz="1800" dirty="0">
                <a:solidFill>
                  <a:srgbClr val="072328"/>
                </a:solidFill>
                <a:latin typeface="Times New Roman" pitchFamily="18" charset="0"/>
                <a:cs typeface="Calibri"/>
              </a:rPr>
              <a:t>-</a:t>
            </a:r>
            <a:r>
              <a:rPr sz="1800" spc="-35" dirty="0">
                <a:solidFill>
                  <a:srgbClr val="072328"/>
                </a:solidFill>
                <a:latin typeface="Times New Roman" pitchFamily="18" charset="0"/>
                <a:cs typeface="Calibri"/>
              </a:rPr>
              <a:t> </a:t>
            </a:r>
            <a:r>
              <a:rPr sz="1800" spc="-15" dirty="0">
                <a:solidFill>
                  <a:srgbClr val="072328"/>
                </a:solidFill>
                <a:latin typeface="Times New Roman" pitchFamily="18" charset="0"/>
                <a:cs typeface="Calibri"/>
              </a:rPr>
              <a:t>VARIABLE</a:t>
            </a:r>
            <a:endParaRPr sz="1800">
              <a:latin typeface="Times New Roman" pitchFamily="18" charset="0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319009" y="2380615"/>
            <a:ext cx="109855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12F3D"/>
                </a:solidFill>
                <a:latin typeface="Times New Roman" pitchFamily="18" charset="0"/>
                <a:cs typeface="Calibri"/>
              </a:rPr>
              <a:t>Aim</a:t>
            </a:r>
            <a:r>
              <a:rPr sz="1800" spc="-60" dirty="0">
                <a:solidFill>
                  <a:srgbClr val="012F3D"/>
                </a:solidFill>
                <a:latin typeface="Times New Roman" pitchFamily="18" charset="0"/>
                <a:cs typeface="Calibri"/>
              </a:rPr>
              <a:t> </a:t>
            </a:r>
            <a:r>
              <a:rPr sz="1800" dirty="0">
                <a:solidFill>
                  <a:srgbClr val="012F3D"/>
                </a:solidFill>
                <a:latin typeface="Times New Roman" pitchFamily="18" charset="0"/>
                <a:cs typeface="Calibri"/>
              </a:rPr>
              <a:t>-</a:t>
            </a:r>
            <a:r>
              <a:rPr sz="1800" spc="-40" dirty="0">
                <a:solidFill>
                  <a:srgbClr val="012F3D"/>
                </a:solidFill>
                <a:latin typeface="Times New Roman" pitchFamily="18" charset="0"/>
                <a:cs typeface="Calibri"/>
              </a:rPr>
              <a:t> </a:t>
            </a:r>
            <a:r>
              <a:rPr sz="1800" spc="-5" dirty="0">
                <a:solidFill>
                  <a:srgbClr val="012F3D"/>
                </a:solidFill>
                <a:latin typeface="Times New Roman" pitchFamily="18" charset="0"/>
                <a:cs typeface="Calibri"/>
              </a:rPr>
              <a:t>FIXED</a:t>
            </a:r>
            <a:endParaRPr sz="1800">
              <a:latin typeface="Times New Roman" pitchFamily="18" charset="0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425700" y="1663700"/>
            <a:ext cx="1168400" cy="254000"/>
            <a:chOff x="2425700" y="1663700"/>
            <a:chExt cx="1168400" cy="254000"/>
          </a:xfrm>
        </p:grpSpPr>
        <p:sp>
          <p:nvSpPr>
            <p:cNvPr id="29" name="object 29"/>
            <p:cNvSpPr/>
            <p:nvPr/>
          </p:nvSpPr>
          <p:spPr>
            <a:xfrm>
              <a:off x="2438400" y="1676400"/>
              <a:ext cx="1143000" cy="228600"/>
            </a:xfrm>
            <a:custGeom>
              <a:avLst/>
              <a:gdLst/>
              <a:ahLst/>
              <a:cxnLst/>
              <a:rect l="l" t="t" r="r" b="b"/>
              <a:pathLst>
                <a:path w="1143000" h="228600">
                  <a:moveTo>
                    <a:pt x="1028700" y="0"/>
                  </a:moveTo>
                  <a:lnTo>
                    <a:pt x="1028700" y="57150"/>
                  </a:lnTo>
                  <a:lnTo>
                    <a:pt x="0" y="57150"/>
                  </a:lnTo>
                  <a:lnTo>
                    <a:pt x="0" y="171450"/>
                  </a:lnTo>
                  <a:lnTo>
                    <a:pt x="1028700" y="171450"/>
                  </a:lnTo>
                  <a:lnTo>
                    <a:pt x="1028700" y="228600"/>
                  </a:lnTo>
                  <a:lnTo>
                    <a:pt x="1143000" y="114300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2438400" y="1676400"/>
              <a:ext cx="1143000" cy="228600"/>
            </a:xfrm>
            <a:custGeom>
              <a:avLst/>
              <a:gdLst/>
              <a:ahLst/>
              <a:cxnLst/>
              <a:rect l="l" t="t" r="r" b="b"/>
              <a:pathLst>
                <a:path w="1143000" h="228600">
                  <a:moveTo>
                    <a:pt x="0" y="57150"/>
                  </a:moveTo>
                  <a:lnTo>
                    <a:pt x="1028700" y="57150"/>
                  </a:lnTo>
                  <a:lnTo>
                    <a:pt x="1028700" y="0"/>
                  </a:lnTo>
                  <a:lnTo>
                    <a:pt x="1143000" y="114300"/>
                  </a:lnTo>
                  <a:lnTo>
                    <a:pt x="1028700" y="228600"/>
                  </a:lnTo>
                  <a:lnTo>
                    <a:pt x="1028700" y="171450"/>
                  </a:lnTo>
                  <a:lnTo>
                    <a:pt x="0" y="171450"/>
                  </a:lnTo>
                  <a:lnTo>
                    <a:pt x="0" y="57150"/>
                  </a:lnTo>
                  <a:close/>
                </a:path>
              </a:pathLst>
            </a:custGeom>
            <a:ln w="2540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2349500" y="2120900"/>
            <a:ext cx="1244600" cy="254000"/>
            <a:chOff x="2349500" y="2120900"/>
            <a:chExt cx="1244600" cy="254000"/>
          </a:xfrm>
        </p:grpSpPr>
        <p:sp>
          <p:nvSpPr>
            <p:cNvPr id="32" name="object 32"/>
            <p:cNvSpPr/>
            <p:nvPr/>
          </p:nvSpPr>
          <p:spPr>
            <a:xfrm>
              <a:off x="2362200" y="2133600"/>
              <a:ext cx="1219200" cy="228600"/>
            </a:xfrm>
            <a:custGeom>
              <a:avLst/>
              <a:gdLst/>
              <a:ahLst/>
              <a:cxnLst/>
              <a:rect l="l" t="t" r="r" b="b"/>
              <a:pathLst>
                <a:path w="1219200" h="228600">
                  <a:moveTo>
                    <a:pt x="114300" y="0"/>
                  </a:moveTo>
                  <a:lnTo>
                    <a:pt x="0" y="114300"/>
                  </a:lnTo>
                  <a:lnTo>
                    <a:pt x="114300" y="228600"/>
                  </a:lnTo>
                  <a:lnTo>
                    <a:pt x="114300" y="171450"/>
                  </a:lnTo>
                  <a:lnTo>
                    <a:pt x="1219200" y="171450"/>
                  </a:lnTo>
                  <a:lnTo>
                    <a:pt x="1219200" y="57150"/>
                  </a:lnTo>
                  <a:lnTo>
                    <a:pt x="114300" y="5715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2362200" y="2133600"/>
              <a:ext cx="1219200" cy="228600"/>
            </a:xfrm>
            <a:custGeom>
              <a:avLst/>
              <a:gdLst/>
              <a:ahLst/>
              <a:cxnLst/>
              <a:rect l="l" t="t" r="r" b="b"/>
              <a:pathLst>
                <a:path w="1219200" h="228600">
                  <a:moveTo>
                    <a:pt x="0" y="114300"/>
                  </a:moveTo>
                  <a:lnTo>
                    <a:pt x="114300" y="228600"/>
                  </a:lnTo>
                  <a:lnTo>
                    <a:pt x="114300" y="171450"/>
                  </a:lnTo>
                  <a:lnTo>
                    <a:pt x="1219200" y="171450"/>
                  </a:lnTo>
                  <a:lnTo>
                    <a:pt x="1219200" y="57150"/>
                  </a:lnTo>
                  <a:lnTo>
                    <a:pt x="114300" y="57150"/>
                  </a:lnTo>
                  <a:lnTo>
                    <a:pt x="114300" y="0"/>
                  </a:lnTo>
                  <a:lnTo>
                    <a:pt x="0" y="114300"/>
                  </a:lnTo>
                  <a:close/>
                </a:path>
              </a:pathLst>
            </a:custGeom>
            <a:ln w="2540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5702300" y="1663700"/>
            <a:ext cx="1168400" cy="254000"/>
            <a:chOff x="5702300" y="1663700"/>
            <a:chExt cx="1168400" cy="254000"/>
          </a:xfrm>
        </p:grpSpPr>
        <p:sp>
          <p:nvSpPr>
            <p:cNvPr id="35" name="object 35"/>
            <p:cNvSpPr/>
            <p:nvPr/>
          </p:nvSpPr>
          <p:spPr>
            <a:xfrm>
              <a:off x="5715000" y="1676400"/>
              <a:ext cx="1143000" cy="228600"/>
            </a:xfrm>
            <a:custGeom>
              <a:avLst/>
              <a:gdLst/>
              <a:ahLst/>
              <a:cxnLst/>
              <a:rect l="l" t="t" r="r" b="b"/>
              <a:pathLst>
                <a:path w="1143000" h="228600">
                  <a:moveTo>
                    <a:pt x="1028700" y="0"/>
                  </a:moveTo>
                  <a:lnTo>
                    <a:pt x="1028700" y="57150"/>
                  </a:lnTo>
                  <a:lnTo>
                    <a:pt x="0" y="57150"/>
                  </a:lnTo>
                  <a:lnTo>
                    <a:pt x="0" y="171450"/>
                  </a:lnTo>
                  <a:lnTo>
                    <a:pt x="1028700" y="171450"/>
                  </a:lnTo>
                  <a:lnTo>
                    <a:pt x="1028700" y="228600"/>
                  </a:lnTo>
                  <a:lnTo>
                    <a:pt x="1143000" y="114300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5715000" y="1676400"/>
              <a:ext cx="1143000" cy="228600"/>
            </a:xfrm>
            <a:custGeom>
              <a:avLst/>
              <a:gdLst/>
              <a:ahLst/>
              <a:cxnLst/>
              <a:rect l="l" t="t" r="r" b="b"/>
              <a:pathLst>
                <a:path w="1143000" h="228600">
                  <a:moveTo>
                    <a:pt x="0" y="57150"/>
                  </a:moveTo>
                  <a:lnTo>
                    <a:pt x="1028700" y="57150"/>
                  </a:lnTo>
                  <a:lnTo>
                    <a:pt x="1028700" y="0"/>
                  </a:lnTo>
                  <a:lnTo>
                    <a:pt x="1143000" y="114300"/>
                  </a:lnTo>
                  <a:lnTo>
                    <a:pt x="1028700" y="228600"/>
                  </a:lnTo>
                  <a:lnTo>
                    <a:pt x="1028700" y="171450"/>
                  </a:lnTo>
                  <a:lnTo>
                    <a:pt x="0" y="171450"/>
                  </a:lnTo>
                  <a:lnTo>
                    <a:pt x="0" y="57150"/>
                  </a:lnTo>
                  <a:close/>
                </a:path>
              </a:pathLst>
            </a:custGeom>
            <a:ln w="2540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5626100" y="2120900"/>
            <a:ext cx="1244600" cy="254000"/>
            <a:chOff x="5626100" y="2120900"/>
            <a:chExt cx="1244600" cy="254000"/>
          </a:xfrm>
        </p:grpSpPr>
        <p:sp>
          <p:nvSpPr>
            <p:cNvPr id="38" name="object 38"/>
            <p:cNvSpPr/>
            <p:nvPr/>
          </p:nvSpPr>
          <p:spPr>
            <a:xfrm>
              <a:off x="5638800" y="2133600"/>
              <a:ext cx="1219200" cy="228600"/>
            </a:xfrm>
            <a:custGeom>
              <a:avLst/>
              <a:gdLst/>
              <a:ahLst/>
              <a:cxnLst/>
              <a:rect l="l" t="t" r="r" b="b"/>
              <a:pathLst>
                <a:path w="1219200" h="228600">
                  <a:moveTo>
                    <a:pt x="114300" y="0"/>
                  </a:moveTo>
                  <a:lnTo>
                    <a:pt x="0" y="114300"/>
                  </a:lnTo>
                  <a:lnTo>
                    <a:pt x="114300" y="228600"/>
                  </a:lnTo>
                  <a:lnTo>
                    <a:pt x="114300" y="171450"/>
                  </a:lnTo>
                  <a:lnTo>
                    <a:pt x="1219200" y="171450"/>
                  </a:lnTo>
                  <a:lnTo>
                    <a:pt x="1219200" y="57150"/>
                  </a:lnTo>
                  <a:lnTo>
                    <a:pt x="114300" y="5715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5638800" y="2133600"/>
              <a:ext cx="1219200" cy="228600"/>
            </a:xfrm>
            <a:custGeom>
              <a:avLst/>
              <a:gdLst/>
              <a:ahLst/>
              <a:cxnLst/>
              <a:rect l="l" t="t" r="r" b="b"/>
              <a:pathLst>
                <a:path w="1219200" h="228600">
                  <a:moveTo>
                    <a:pt x="0" y="114300"/>
                  </a:moveTo>
                  <a:lnTo>
                    <a:pt x="114300" y="228600"/>
                  </a:lnTo>
                  <a:lnTo>
                    <a:pt x="114300" y="171450"/>
                  </a:lnTo>
                  <a:lnTo>
                    <a:pt x="1219200" y="171450"/>
                  </a:lnTo>
                  <a:lnTo>
                    <a:pt x="1219200" y="57150"/>
                  </a:lnTo>
                  <a:lnTo>
                    <a:pt x="114300" y="57150"/>
                  </a:lnTo>
                  <a:lnTo>
                    <a:pt x="114300" y="0"/>
                  </a:lnTo>
                  <a:lnTo>
                    <a:pt x="0" y="114300"/>
                  </a:lnTo>
                  <a:close/>
                </a:path>
              </a:pathLst>
            </a:custGeom>
            <a:ln w="2540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673100" y="2882900"/>
            <a:ext cx="1168400" cy="1473200"/>
            <a:chOff x="673100" y="2882900"/>
            <a:chExt cx="1168400" cy="1473200"/>
          </a:xfrm>
        </p:grpSpPr>
        <p:sp>
          <p:nvSpPr>
            <p:cNvPr id="41" name="object 41"/>
            <p:cNvSpPr/>
            <p:nvPr/>
          </p:nvSpPr>
          <p:spPr>
            <a:xfrm>
              <a:off x="685800" y="2895600"/>
              <a:ext cx="228600" cy="1447800"/>
            </a:xfrm>
            <a:custGeom>
              <a:avLst/>
              <a:gdLst/>
              <a:ahLst/>
              <a:cxnLst/>
              <a:rect l="l" t="t" r="r" b="b"/>
              <a:pathLst>
                <a:path w="228600" h="1447800">
                  <a:moveTo>
                    <a:pt x="114300" y="0"/>
                  </a:moveTo>
                  <a:lnTo>
                    <a:pt x="0" y="114300"/>
                  </a:lnTo>
                  <a:lnTo>
                    <a:pt x="57150" y="114300"/>
                  </a:lnTo>
                  <a:lnTo>
                    <a:pt x="57150" y="1447800"/>
                  </a:lnTo>
                  <a:lnTo>
                    <a:pt x="171450" y="1447800"/>
                  </a:lnTo>
                  <a:lnTo>
                    <a:pt x="171450" y="114300"/>
                  </a:lnTo>
                  <a:lnTo>
                    <a:pt x="22860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685800" y="2895600"/>
              <a:ext cx="228600" cy="1447800"/>
            </a:xfrm>
            <a:custGeom>
              <a:avLst/>
              <a:gdLst/>
              <a:ahLst/>
              <a:cxnLst/>
              <a:rect l="l" t="t" r="r" b="b"/>
              <a:pathLst>
                <a:path w="228600" h="1447800">
                  <a:moveTo>
                    <a:pt x="0" y="114300"/>
                  </a:moveTo>
                  <a:lnTo>
                    <a:pt x="114300" y="0"/>
                  </a:lnTo>
                  <a:lnTo>
                    <a:pt x="228600" y="114300"/>
                  </a:lnTo>
                  <a:lnTo>
                    <a:pt x="171450" y="114300"/>
                  </a:lnTo>
                  <a:lnTo>
                    <a:pt x="171450" y="1447800"/>
                  </a:lnTo>
                  <a:lnTo>
                    <a:pt x="57150" y="1447800"/>
                  </a:lnTo>
                  <a:lnTo>
                    <a:pt x="57150" y="114300"/>
                  </a:lnTo>
                  <a:lnTo>
                    <a:pt x="0" y="114300"/>
                  </a:lnTo>
                  <a:close/>
                </a:path>
              </a:pathLst>
            </a:custGeom>
            <a:ln w="2540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1600200" y="2895600"/>
              <a:ext cx="228600" cy="1447800"/>
            </a:xfrm>
            <a:custGeom>
              <a:avLst/>
              <a:gdLst/>
              <a:ahLst/>
              <a:cxnLst/>
              <a:rect l="l" t="t" r="r" b="b"/>
              <a:pathLst>
                <a:path w="228600" h="1447800">
                  <a:moveTo>
                    <a:pt x="171450" y="0"/>
                  </a:moveTo>
                  <a:lnTo>
                    <a:pt x="57150" y="0"/>
                  </a:lnTo>
                  <a:lnTo>
                    <a:pt x="57150" y="1333500"/>
                  </a:lnTo>
                  <a:lnTo>
                    <a:pt x="0" y="1333500"/>
                  </a:lnTo>
                  <a:lnTo>
                    <a:pt x="114300" y="1447800"/>
                  </a:lnTo>
                  <a:lnTo>
                    <a:pt x="228600" y="1333500"/>
                  </a:lnTo>
                  <a:lnTo>
                    <a:pt x="171450" y="133350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1600200" y="2895600"/>
              <a:ext cx="228600" cy="1447800"/>
            </a:xfrm>
            <a:custGeom>
              <a:avLst/>
              <a:gdLst/>
              <a:ahLst/>
              <a:cxnLst/>
              <a:rect l="l" t="t" r="r" b="b"/>
              <a:pathLst>
                <a:path w="228600" h="1447800">
                  <a:moveTo>
                    <a:pt x="0" y="1333500"/>
                  </a:moveTo>
                  <a:lnTo>
                    <a:pt x="57150" y="1333500"/>
                  </a:lnTo>
                  <a:lnTo>
                    <a:pt x="57150" y="0"/>
                  </a:lnTo>
                  <a:lnTo>
                    <a:pt x="171450" y="0"/>
                  </a:lnTo>
                  <a:lnTo>
                    <a:pt x="171450" y="1333500"/>
                  </a:lnTo>
                  <a:lnTo>
                    <a:pt x="228600" y="1333500"/>
                  </a:lnTo>
                  <a:lnTo>
                    <a:pt x="114300" y="1447800"/>
                  </a:lnTo>
                  <a:lnTo>
                    <a:pt x="0" y="1333500"/>
                  </a:lnTo>
                  <a:close/>
                </a:path>
              </a:pathLst>
            </a:custGeom>
            <a:ln w="2540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7073900" y="2806700"/>
            <a:ext cx="1168400" cy="1473200"/>
            <a:chOff x="7073900" y="2806700"/>
            <a:chExt cx="1168400" cy="1473200"/>
          </a:xfrm>
        </p:grpSpPr>
        <p:sp>
          <p:nvSpPr>
            <p:cNvPr id="46" name="object 46"/>
            <p:cNvSpPr/>
            <p:nvPr/>
          </p:nvSpPr>
          <p:spPr>
            <a:xfrm>
              <a:off x="7086600" y="2819400"/>
              <a:ext cx="228600" cy="1447800"/>
            </a:xfrm>
            <a:custGeom>
              <a:avLst/>
              <a:gdLst/>
              <a:ahLst/>
              <a:cxnLst/>
              <a:rect l="l" t="t" r="r" b="b"/>
              <a:pathLst>
                <a:path w="228600" h="1447800">
                  <a:moveTo>
                    <a:pt x="114300" y="0"/>
                  </a:moveTo>
                  <a:lnTo>
                    <a:pt x="0" y="114300"/>
                  </a:lnTo>
                  <a:lnTo>
                    <a:pt x="57150" y="114300"/>
                  </a:lnTo>
                  <a:lnTo>
                    <a:pt x="57150" y="1447800"/>
                  </a:lnTo>
                  <a:lnTo>
                    <a:pt x="171450" y="1447800"/>
                  </a:lnTo>
                  <a:lnTo>
                    <a:pt x="171450" y="114300"/>
                  </a:lnTo>
                  <a:lnTo>
                    <a:pt x="22860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7086600" y="2819400"/>
              <a:ext cx="228600" cy="1447800"/>
            </a:xfrm>
            <a:custGeom>
              <a:avLst/>
              <a:gdLst/>
              <a:ahLst/>
              <a:cxnLst/>
              <a:rect l="l" t="t" r="r" b="b"/>
              <a:pathLst>
                <a:path w="228600" h="1447800">
                  <a:moveTo>
                    <a:pt x="0" y="114300"/>
                  </a:moveTo>
                  <a:lnTo>
                    <a:pt x="114300" y="0"/>
                  </a:lnTo>
                  <a:lnTo>
                    <a:pt x="228600" y="114300"/>
                  </a:lnTo>
                  <a:lnTo>
                    <a:pt x="171450" y="114300"/>
                  </a:lnTo>
                  <a:lnTo>
                    <a:pt x="171450" y="1447800"/>
                  </a:lnTo>
                  <a:lnTo>
                    <a:pt x="57150" y="1447800"/>
                  </a:lnTo>
                  <a:lnTo>
                    <a:pt x="57150" y="114300"/>
                  </a:lnTo>
                  <a:lnTo>
                    <a:pt x="0" y="114300"/>
                  </a:lnTo>
                  <a:close/>
                </a:path>
              </a:pathLst>
            </a:custGeom>
            <a:ln w="2540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8001000" y="2819400"/>
              <a:ext cx="228600" cy="1447800"/>
            </a:xfrm>
            <a:custGeom>
              <a:avLst/>
              <a:gdLst/>
              <a:ahLst/>
              <a:cxnLst/>
              <a:rect l="l" t="t" r="r" b="b"/>
              <a:pathLst>
                <a:path w="228600" h="1447800">
                  <a:moveTo>
                    <a:pt x="171450" y="0"/>
                  </a:moveTo>
                  <a:lnTo>
                    <a:pt x="57150" y="0"/>
                  </a:lnTo>
                  <a:lnTo>
                    <a:pt x="57150" y="1333500"/>
                  </a:lnTo>
                  <a:lnTo>
                    <a:pt x="0" y="1333500"/>
                  </a:lnTo>
                  <a:lnTo>
                    <a:pt x="114300" y="1447800"/>
                  </a:lnTo>
                  <a:lnTo>
                    <a:pt x="228600" y="1333500"/>
                  </a:lnTo>
                  <a:lnTo>
                    <a:pt x="171450" y="133350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8001000" y="2819400"/>
              <a:ext cx="228600" cy="1447800"/>
            </a:xfrm>
            <a:custGeom>
              <a:avLst/>
              <a:gdLst/>
              <a:ahLst/>
              <a:cxnLst/>
              <a:rect l="l" t="t" r="r" b="b"/>
              <a:pathLst>
                <a:path w="228600" h="1447800">
                  <a:moveTo>
                    <a:pt x="0" y="1333500"/>
                  </a:moveTo>
                  <a:lnTo>
                    <a:pt x="57150" y="1333500"/>
                  </a:lnTo>
                  <a:lnTo>
                    <a:pt x="57150" y="0"/>
                  </a:lnTo>
                  <a:lnTo>
                    <a:pt x="171450" y="0"/>
                  </a:lnTo>
                  <a:lnTo>
                    <a:pt x="171450" y="1333500"/>
                  </a:lnTo>
                  <a:lnTo>
                    <a:pt x="228600" y="1333500"/>
                  </a:lnTo>
                  <a:lnTo>
                    <a:pt x="114300" y="1447800"/>
                  </a:lnTo>
                  <a:lnTo>
                    <a:pt x="0" y="1333500"/>
                  </a:lnTo>
                  <a:close/>
                </a:path>
              </a:pathLst>
            </a:custGeom>
            <a:ln w="2540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2593594" y="1311909"/>
            <a:ext cx="106400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00000"/>
                </a:solidFill>
                <a:latin typeface="Times New Roman" pitchFamily="18" charset="0"/>
                <a:cs typeface="Calibri"/>
              </a:rPr>
              <a:t>L</a:t>
            </a:r>
            <a:r>
              <a:rPr sz="2000" b="1" spc="5" dirty="0">
                <a:solidFill>
                  <a:srgbClr val="C00000"/>
                </a:solidFill>
                <a:latin typeface="Times New Roman" pitchFamily="18" charset="0"/>
                <a:cs typeface="Calibri"/>
              </a:rPr>
              <a:t>I</a:t>
            </a:r>
            <a:r>
              <a:rPr sz="2000" b="1" dirty="0">
                <a:solidFill>
                  <a:srgbClr val="C00000"/>
                </a:solidFill>
                <a:latin typeface="Times New Roman" pitchFamily="18" charset="0"/>
                <a:cs typeface="Calibri"/>
              </a:rPr>
              <a:t>BOR</a:t>
            </a:r>
            <a:endParaRPr sz="2000">
              <a:latin typeface="Times New Roman" pitchFamily="18" charset="0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947028" y="1389634"/>
            <a:ext cx="83477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C00000"/>
                </a:solidFill>
                <a:latin typeface="Times New Roman" pitchFamily="18" charset="0"/>
                <a:cs typeface="Calibri"/>
              </a:rPr>
              <a:t>L</a:t>
            </a:r>
            <a:r>
              <a:rPr sz="1800" b="1" dirty="0">
                <a:solidFill>
                  <a:srgbClr val="C00000"/>
                </a:solidFill>
                <a:latin typeface="Times New Roman" pitchFamily="18" charset="0"/>
                <a:cs typeface="Calibri"/>
              </a:rPr>
              <a:t>IB</a:t>
            </a:r>
            <a:r>
              <a:rPr sz="1800" b="1" spc="-10" dirty="0">
                <a:solidFill>
                  <a:srgbClr val="C00000"/>
                </a:solidFill>
                <a:latin typeface="Times New Roman" pitchFamily="18" charset="0"/>
                <a:cs typeface="Calibri"/>
              </a:rPr>
              <a:t>O</a:t>
            </a:r>
            <a:r>
              <a:rPr sz="1800" b="1" dirty="0">
                <a:solidFill>
                  <a:srgbClr val="C00000"/>
                </a:solidFill>
                <a:latin typeface="Times New Roman" pitchFamily="18" charset="0"/>
                <a:cs typeface="Calibri"/>
              </a:rPr>
              <a:t>R</a:t>
            </a:r>
            <a:endParaRPr sz="1800">
              <a:latin typeface="Times New Roman" pitchFamily="18" charset="0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745994" y="2299842"/>
            <a:ext cx="39687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C00000"/>
                </a:solidFill>
                <a:latin typeface="Times New Roman" pitchFamily="18" charset="0"/>
                <a:cs typeface="Calibri"/>
              </a:rPr>
              <a:t>8%</a:t>
            </a:r>
            <a:endParaRPr sz="2400">
              <a:latin typeface="Times New Roman" pitchFamily="18" charset="0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023228" y="2299842"/>
            <a:ext cx="576580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C00000"/>
                </a:solidFill>
                <a:latin typeface="Times New Roman" pitchFamily="18" charset="0"/>
                <a:cs typeface="Calibri"/>
              </a:rPr>
              <a:t>8.</a:t>
            </a:r>
            <a:r>
              <a:rPr sz="2400" spc="-10" dirty="0">
                <a:solidFill>
                  <a:srgbClr val="C00000"/>
                </a:solidFill>
                <a:latin typeface="Times New Roman" pitchFamily="18" charset="0"/>
                <a:cs typeface="Calibri"/>
              </a:rPr>
              <a:t>5</a:t>
            </a:r>
            <a:r>
              <a:rPr sz="1800" b="1" dirty="0">
                <a:solidFill>
                  <a:srgbClr val="C00000"/>
                </a:solidFill>
                <a:latin typeface="Times New Roman" pitchFamily="18" charset="0"/>
                <a:cs typeface="Calibri"/>
              </a:rPr>
              <a:t>%</a:t>
            </a:r>
            <a:endParaRPr sz="1800">
              <a:latin typeface="Times New Roman" pitchFamily="18" charset="0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907794" y="3290442"/>
            <a:ext cx="40132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C00000"/>
                </a:solidFill>
                <a:latin typeface="Times New Roman" pitchFamily="18" charset="0"/>
                <a:cs typeface="Calibri"/>
              </a:rPr>
              <a:t>7%</a:t>
            </a:r>
            <a:endParaRPr sz="2400">
              <a:latin typeface="Times New Roman" pitchFamily="18" charset="0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45795" y="3290442"/>
            <a:ext cx="426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C00000"/>
                </a:solidFill>
                <a:latin typeface="Times New Roman" pitchFamily="18" charset="0"/>
                <a:cs typeface="Calibri"/>
              </a:rPr>
              <a:t>5m</a:t>
            </a:r>
            <a:endParaRPr sz="2400">
              <a:latin typeface="Times New Roman" pitchFamily="18" charset="0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632829" y="3290442"/>
            <a:ext cx="4267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C00000"/>
                </a:solidFill>
                <a:latin typeface="Times New Roman" pitchFamily="18" charset="0"/>
                <a:cs typeface="Calibri"/>
              </a:rPr>
              <a:t>5m</a:t>
            </a:r>
            <a:endParaRPr sz="2400">
              <a:latin typeface="Times New Roman" pitchFamily="18" charset="0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309609" y="3295015"/>
            <a:ext cx="83439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C00000"/>
                </a:solidFill>
                <a:latin typeface="Times New Roman" pitchFamily="18" charset="0"/>
                <a:cs typeface="Calibri"/>
              </a:rPr>
              <a:t>L</a:t>
            </a:r>
            <a:r>
              <a:rPr sz="1800" b="1" dirty="0">
                <a:solidFill>
                  <a:srgbClr val="C00000"/>
                </a:solidFill>
                <a:latin typeface="Times New Roman" pitchFamily="18" charset="0"/>
                <a:cs typeface="Calibri"/>
              </a:rPr>
              <a:t>IB</a:t>
            </a:r>
            <a:r>
              <a:rPr sz="1800" b="1" spc="-10" dirty="0">
                <a:solidFill>
                  <a:srgbClr val="C00000"/>
                </a:solidFill>
                <a:latin typeface="Times New Roman" pitchFamily="18" charset="0"/>
                <a:cs typeface="Calibri"/>
              </a:rPr>
              <a:t>O</a:t>
            </a:r>
            <a:r>
              <a:rPr sz="1800" b="1" dirty="0">
                <a:solidFill>
                  <a:srgbClr val="C00000"/>
                </a:solidFill>
                <a:latin typeface="Times New Roman" pitchFamily="18" charset="0"/>
                <a:cs typeface="Calibri"/>
              </a:rPr>
              <a:t>R</a:t>
            </a:r>
            <a:endParaRPr sz="1800">
              <a:latin typeface="Times New Roman" pitchFamily="18" charset="0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rgbClr val="C00000"/>
                </a:solidFill>
                <a:latin typeface="Times New Roman" pitchFamily="18" charset="0"/>
                <a:cs typeface="Calibri"/>
              </a:rPr>
              <a:t>+</a:t>
            </a:r>
            <a:r>
              <a:rPr sz="1800" b="1" spc="-50" dirty="0">
                <a:solidFill>
                  <a:srgbClr val="C00000"/>
                </a:solidFill>
                <a:latin typeface="Times New Roman" pitchFamily="18" charset="0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 pitchFamily="18" charset="0"/>
                <a:cs typeface="Calibri"/>
              </a:rPr>
              <a:t>1%</a:t>
            </a:r>
            <a:endParaRPr sz="1800">
              <a:latin typeface="Times New Roman" pitchFamily="18" charset="0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307841" y="3671392"/>
            <a:ext cx="23768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 pitchFamily="18" charset="0"/>
                <a:cs typeface="Calibri"/>
              </a:rPr>
              <a:t>Notional</a:t>
            </a:r>
            <a:r>
              <a:rPr sz="2400" spc="-55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Amount</a:t>
            </a:r>
            <a:r>
              <a:rPr sz="2400" spc="-50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=</a:t>
            </a:r>
            <a:endParaRPr sz="2400">
              <a:latin typeface="Times New Roman" pitchFamily="18" charset="0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400" dirty="0">
                <a:latin typeface="Times New Roman" pitchFamily="18" charset="0"/>
                <a:cs typeface="Calibri"/>
              </a:rPr>
              <a:t>£</a:t>
            </a:r>
            <a:r>
              <a:rPr sz="2400" spc="-50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5</a:t>
            </a:r>
            <a:r>
              <a:rPr sz="2400" spc="-40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million</a:t>
            </a:r>
            <a:endParaRPr sz="24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9591" y="793749"/>
            <a:ext cx="753999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5" dirty="0"/>
              <a:t>Using</a:t>
            </a:r>
            <a:r>
              <a:rPr sz="3600" spc="-20" dirty="0"/>
              <a:t> </a:t>
            </a:r>
            <a:r>
              <a:rPr sz="3600" spc="-5" dirty="0"/>
              <a:t>a </a:t>
            </a:r>
            <a:r>
              <a:rPr sz="3600" spc="-30" dirty="0"/>
              <a:t>Swap</a:t>
            </a:r>
            <a:r>
              <a:rPr sz="3600" spc="15" dirty="0"/>
              <a:t> </a:t>
            </a:r>
            <a:r>
              <a:rPr sz="3600" spc="-20" dirty="0"/>
              <a:t>to</a:t>
            </a:r>
            <a:r>
              <a:rPr sz="3600" spc="-5" dirty="0"/>
              <a:t> </a:t>
            </a:r>
            <a:r>
              <a:rPr sz="3600" spc="-60" dirty="0"/>
              <a:t>Transform</a:t>
            </a:r>
            <a:r>
              <a:rPr sz="3600" spc="25" dirty="0"/>
              <a:t> </a:t>
            </a:r>
            <a:r>
              <a:rPr sz="3600" spc="-5" dirty="0"/>
              <a:t>a</a:t>
            </a:r>
            <a:r>
              <a:rPr sz="3600" dirty="0"/>
              <a:t> </a:t>
            </a:r>
            <a:r>
              <a:rPr sz="3600" spc="-10" dirty="0"/>
              <a:t>Liability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842261"/>
            <a:ext cx="7508240" cy="4117024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86385" marR="383540" indent="-274320">
              <a:lnSpc>
                <a:spcPts val="2600"/>
              </a:lnSpc>
              <a:spcBef>
                <a:spcPts val="720"/>
              </a:spcBef>
              <a:buClr>
                <a:srgbClr val="0AD0D9"/>
              </a:buClr>
              <a:buSzPct val="94444"/>
              <a:buFont typeface="Segoe UI Symbol"/>
              <a:buChar char="⚫"/>
              <a:tabLst>
                <a:tab pos="287020" algn="l"/>
              </a:tabLst>
            </a:pPr>
            <a:r>
              <a:rPr sz="2700" spc="-5" dirty="0">
                <a:latin typeface="Times New Roman" pitchFamily="18" charset="0"/>
                <a:cs typeface="Calibri"/>
              </a:rPr>
              <a:t>Firm </a:t>
            </a:r>
            <a:r>
              <a:rPr sz="2700" dirty="0">
                <a:latin typeface="Times New Roman" pitchFamily="18" charset="0"/>
                <a:cs typeface="Calibri"/>
              </a:rPr>
              <a:t>A </a:t>
            </a:r>
            <a:r>
              <a:rPr sz="2700" spc="-5" dirty="0">
                <a:latin typeface="Times New Roman" pitchFamily="18" charset="0"/>
                <a:cs typeface="Calibri"/>
              </a:rPr>
              <a:t>has</a:t>
            </a:r>
            <a:r>
              <a:rPr sz="2700" spc="-30" dirty="0">
                <a:latin typeface="Times New Roman" pitchFamily="18" charset="0"/>
                <a:cs typeface="Calibri"/>
              </a:rPr>
              <a:t> </a:t>
            </a:r>
            <a:r>
              <a:rPr sz="2700" spc="-20" dirty="0">
                <a:latin typeface="Times New Roman" pitchFamily="18" charset="0"/>
                <a:cs typeface="Calibri"/>
              </a:rPr>
              <a:t>transformed</a:t>
            </a:r>
            <a:r>
              <a:rPr sz="2700" spc="-15" dirty="0">
                <a:latin typeface="Times New Roman" pitchFamily="18" charset="0"/>
                <a:cs typeface="Calibri"/>
              </a:rPr>
              <a:t> </a:t>
            </a:r>
            <a:r>
              <a:rPr sz="2700" dirty="0">
                <a:latin typeface="Times New Roman" pitchFamily="18" charset="0"/>
                <a:cs typeface="Calibri"/>
              </a:rPr>
              <a:t>a</a:t>
            </a:r>
            <a:r>
              <a:rPr sz="2700" spc="-5" dirty="0">
                <a:latin typeface="Times New Roman" pitchFamily="18" charset="0"/>
                <a:cs typeface="Calibri"/>
              </a:rPr>
              <a:t> </a:t>
            </a:r>
            <a:r>
              <a:rPr sz="2700" spc="-20" dirty="0">
                <a:latin typeface="Times New Roman" pitchFamily="18" charset="0"/>
                <a:cs typeface="Calibri"/>
              </a:rPr>
              <a:t>fixed</a:t>
            </a:r>
            <a:r>
              <a:rPr sz="2700" dirty="0">
                <a:latin typeface="Times New Roman" pitchFamily="18" charset="0"/>
                <a:cs typeface="Calibri"/>
              </a:rPr>
              <a:t> </a:t>
            </a:r>
            <a:r>
              <a:rPr sz="2700" spc="-35" dirty="0">
                <a:latin typeface="Times New Roman" pitchFamily="18" charset="0"/>
                <a:cs typeface="Calibri"/>
              </a:rPr>
              <a:t>rate</a:t>
            </a:r>
            <a:r>
              <a:rPr sz="2700" spc="-10" dirty="0">
                <a:latin typeface="Times New Roman" pitchFamily="18" charset="0"/>
                <a:cs typeface="Calibri"/>
              </a:rPr>
              <a:t> </a:t>
            </a:r>
            <a:r>
              <a:rPr sz="2700" spc="-5" dirty="0">
                <a:latin typeface="Times New Roman" pitchFamily="18" charset="0"/>
                <a:cs typeface="Calibri"/>
              </a:rPr>
              <a:t>liability </a:t>
            </a:r>
            <a:r>
              <a:rPr sz="2700" spc="-15" dirty="0">
                <a:latin typeface="Times New Roman" pitchFamily="18" charset="0"/>
                <a:cs typeface="Calibri"/>
              </a:rPr>
              <a:t>into</a:t>
            </a:r>
            <a:r>
              <a:rPr sz="2700" spc="-5" dirty="0">
                <a:latin typeface="Times New Roman" pitchFamily="18" charset="0"/>
                <a:cs typeface="Calibri"/>
              </a:rPr>
              <a:t> </a:t>
            </a:r>
            <a:r>
              <a:rPr sz="2700" dirty="0">
                <a:latin typeface="Times New Roman" pitchFamily="18" charset="0"/>
                <a:cs typeface="Calibri"/>
              </a:rPr>
              <a:t>a </a:t>
            </a:r>
            <a:r>
              <a:rPr sz="2700" spc="-600" dirty="0">
                <a:latin typeface="Times New Roman" pitchFamily="18" charset="0"/>
                <a:cs typeface="Calibri"/>
              </a:rPr>
              <a:t> </a:t>
            </a:r>
            <a:r>
              <a:rPr sz="2700" spc="-45" dirty="0">
                <a:latin typeface="Times New Roman" pitchFamily="18" charset="0"/>
                <a:cs typeface="Calibri"/>
              </a:rPr>
              <a:t>floater.</a:t>
            </a:r>
            <a:endParaRPr sz="2700">
              <a:latin typeface="Times New Roman" pitchFamily="18" charset="0"/>
              <a:cs typeface="Calibri"/>
            </a:endParaRPr>
          </a:p>
          <a:p>
            <a:pPr marL="652780" lvl="1" indent="-247650">
              <a:lnSpc>
                <a:spcPct val="100000"/>
              </a:lnSpc>
              <a:spcBef>
                <a:spcPts val="25"/>
              </a:spcBef>
              <a:buClr>
                <a:srgbClr val="0E6EC5"/>
              </a:buClr>
              <a:buSzPct val="85416"/>
              <a:buFont typeface="Segoe UI Symbol"/>
              <a:buChar char="⚫"/>
              <a:tabLst>
                <a:tab pos="653415" algn="l"/>
              </a:tabLst>
            </a:pPr>
            <a:r>
              <a:rPr sz="2400" dirty="0">
                <a:latin typeface="Times New Roman" pitchFamily="18" charset="0"/>
                <a:cs typeface="Calibri"/>
              </a:rPr>
              <a:t>A</a:t>
            </a:r>
            <a:r>
              <a:rPr sz="2400" spc="-40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is</a:t>
            </a:r>
            <a:r>
              <a:rPr sz="2400" spc="-10" dirty="0">
                <a:latin typeface="Times New Roman" pitchFamily="18" charset="0"/>
                <a:cs typeface="Calibri"/>
              </a:rPr>
              <a:t> borrowing </a:t>
            </a:r>
            <a:r>
              <a:rPr sz="2400" spc="-15" dirty="0">
                <a:latin typeface="Times New Roman" pitchFamily="18" charset="0"/>
                <a:cs typeface="Calibri"/>
              </a:rPr>
              <a:t>at</a:t>
            </a:r>
            <a:r>
              <a:rPr sz="2400" spc="-3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LIBOR</a:t>
            </a:r>
            <a:r>
              <a:rPr sz="2400" spc="-25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–</a:t>
            </a:r>
            <a:r>
              <a:rPr sz="2400" spc="-10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1%</a:t>
            </a:r>
            <a:endParaRPr sz="2400">
              <a:latin typeface="Times New Roman" pitchFamily="18" charset="0"/>
              <a:cs typeface="Calibri"/>
            </a:endParaRPr>
          </a:p>
          <a:p>
            <a:pPr marL="652780" lvl="1" indent="-247650">
              <a:lnSpc>
                <a:spcPct val="100000"/>
              </a:lnSpc>
              <a:buClr>
                <a:srgbClr val="0E6EC5"/>
              </a:buClr>
              <a:buSzPct val="85416"/>
              <a:buFont typeface="Segoe UI Symbol"/>
              <a:buChar char="⚫"/>
              <a:tabLst>
                <a:tab pos="653415" algn="l"/>
              </a:tabLst>
            </a:pPr>
            <a:r>
              <a:rPr sz="2400" dirty="0">
                <a:latin typeface="Times New Roman" pitchFamily="18" charset="0"/>
                <a:cs typeface="Calibri"/>
              </a:rPr>
              <a:t>A</a:t>
            </a:r>
            <a:r>
              <a:rPr sz="2400" spc="-45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savings</a:t>
            </a:r>
            <a:r>
              <a:rPr sz="2400" spc="-25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of</a:t>
            </a:r>
            <a:r>
              <a:rPr sz="2400" spc="-10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1%</a:t>
            </a:r>
            <a:endParaRPr sz="2400">
              <a:latin typeface="Times New Roman" pitchFamily="18" charset="0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0E6EC5"/>
              </a:buClr>
              <a:buFont typeface="Segoe UI Symbol"/>
              <a:buChar char="⚫"/>
            </a:pPr>
            <a:endParaRPr sz="2850">
              <a:latin typeface="Times New Roman" pitchFamily="18" charset="0"/>
              <a:cs typeface="Calibri"/>
            </a:endParaRPr>
          </a:p>
          <a:p>
            <a:pPr marL="286385" marR="5080" indent="-274320">
              <a:lnSpc>
                <a:spcPct val="80000"/>
              </a:lnSpc>
              <a:buClr>
                <a:srgbClr val="0AD0D9"/>
              </a:buClr>
              <a:buSzPct val="94444"/>
              <a:buFont typeface="Segoe UI Symbol"/>
              <a:buChar char="⚫"/>
              <a:tabLst>
                <a:tab pos="287020" algn="l"/>
              </a:tabLst>
            </a:pPr>
            <a:r>
              <a:rPr sz="2700" spc="-5" dirty="0">
                <a:latin typeface="Times New Roman" pitchFamily="18" charset="0"/>
                <a:cs typeface="Calibri"/>
              </a:rPr>
              <a:t>Firm </a:t>
            </a:r>
            <a:r>
              <a:rPr sz="2700" dirty="0">
                <a:latin typeface="Times New Roman" pitchFamily="18" charset="0"/>
                <a:cs typeface="Calibri"/>
              </a:rPr>
              <a:t>B </a:t>
            </a:r>
            <a:r>
              <a:rPr sz="2700" spc="-5" dirty="0">
                <a:latin typeface="Times New Roman" pitchFamily="18" charset="0"/>
                <a:cs typeface="Calibri"/>
              </a:rPr>
              <a:t>has </a:t>
            </a:r>
            <a:r>
              <a:rPr sz="2700" spc="-20" dirty="0">
                <a:latin typeface="Times New Roman" pitchFamily="18" charset="0"/>
                <a:cs typeface="Calibri"/>
              </a:rPr>
              <a:t>transformed </a:t>
            </a:r>
            <a:r>
              <a:rPr sz="2700" dirty="0">
                <a:latin typeface="Times New Roman" pitchFamily="18" charset="0"/>
                <a:cs typeface="Calibri"/>
              </a:rPr>
              <a:t>a </a:t>
            </a:r>
            <a:r>
              <a:rPr sz="2700" spc="-5" dirty="0">
                <a:latin typeface="Times New Roman" pitchFamily="18" charset="0"/>
                <a:cs typeface="Calibri"/>
              </a:rPr>
              <a:t>floating </a:t>
            </a:r>
            <a:r>
              <a:rPr sz="2700" spc="-35" dirty="0">
                <a:latin typeface="Times New Roman" pitchFamily="18" charset="0"/>
                <a:cs typeface="Calibri"/>
              </a:rPr>
              <a:t>rate </a:t>
            </a:r>
            <a:r>
              <a:rPr sz="2700" dirty="0">
                <a:latin typeface="Times New Roman" pitchFamily="18" charset="0"/>
                <a:cs typeface="Calibri"/>
              </a:rPr>
              <a:t>liability </a:t>
            </a:r>
            <a:r>
              <a:rPr sz="2700" spc="-15" dirty="0">
                <a:latin typeface="Times New Roman" pitchFamily="18" charset="0"/>
                <a:cs typeface="Calibri"/>
              </a:rPr>
              <a:t>into </a:t>
            </a:r>
            <a:r>
              <a:rPr sz="2700" dirty="0">
                <a:latin typeface="Times New Roman" pitchFamily="18" charset="0"/>
                <a:cs typeface="Calibri"/>
              </a:rPr>
              <a:t>a </a:t>
            </a:r>
            <a:r>
              <a:rPr sz="2700" spc="-600" dirty="0">
                <a:latin typeface="Times New Roman" pitchFamily="18" charset="0"/>
                <a:cs typeface="Calibri"/>
              </a:rPr>
              <a:t> </a:t>
            </a:r>
            <a:r>
              <a:rPr sz="2700" spc="-20" dirty="0">
                <a:latin typeface="Times New Roman" pitchFamily="18" charset="0"/>
                <a:cs typeface="Calibri"/>
              </a:rPr>
              <a:t>fixed </a:t>
            </a:r>
            <a:r>
              <a:rPr sz="2700" spc="-35" dirty="0">
                <a:latin typeface="Times New Roman" pitchFamily="18" charset="0"/>
                <a:cs typeface="Calibri"/>
              </a:rPr>
              <a:t>rate</a:t>
            </a:r>
            <a:r>
              <a:rPr sz="2700" spc="-10" dirty="0">
                <a:latin typeface="Times New Roman" pitchFamily="18" charset="0"/>
                <a:cs typeface="Calibri"/>
              </a:rPr>
              <a:t> </a:t>
            </a:r>
            <a:r>
              <a:rPr sz="2700" spc="-20" dirty="0">
                <a:latin typeface="Times New Roman" pitchFamily="18" charset="0"/>
                <a:cs typeface="Calibri"/>
              </a:rPr>
              <a:t>liability.</a:t>
            </a:r>
            <a:endParaRPr sz="2700">
              <a:latin typeface="Times New Roman" pitchFamily="18" charset="0"/>
              <a:cs typeface="Calibri"/>
            </a:endParaRPr>
          </a:p>
          <a:p>
            <a:pPr marL="652780" lvl="1" indent="-247650">
              <a:lnSpc>
                <a:spcPct val="100000"/>
              </a:lnSpc>
              <a:spcBef>
                <a:spcPts val="10"/>
              </a:spcBef>
              <a:buClr>
                <a:srgbClr val="0E6EC5"/>
              </a:buClr>
              <a:buSzPct val="85416"/>
              <a:buFont typeface="Segoe UI Symbol"/>
              <a:buChar char="⚫"/>
              <a:tabLst>
                <a:tab pos="653415" algn="l"/>
              </a:tabLst>
            </a:pPr>
            <a:r>
              <a:rPr sz="2400" dirty="0">
                <a:latin typeface="Times New Roman" pitchFamily="18" charset="0"/>
                <a:cs typeface="Calibri"/>
              </a:rPr>
              <a:t>B</a:t>
            </a:r>
            <a:r>
              <a:rPr sz="2400" spc="-40" dirty="0">
                <a:latin typeface="Times New Roman" pitchFamily="18" charset="0"/>
                <a:cs typeface="Calibri"/>
              </a:rPr>
              <a:t> </a:t>
            </a:r>
            <a:r>
              <a:rPr sz="2400" dirty="0">
                <a:latin typeface="Times New Roman" pitchFamily="18" charset="0"/>
                <a:cs typeface="Calibri"/>
              </a:rPr>
              <a:t>is</a:t>
            </a:r>
            <a:r>
              <a:rPr sz="2400" spc="-15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borrowing</a:t>
            </a:r>
            <a:r>
              <a:rPr sz="2400" spc="-30" dirty="0">
                <a:latin typeface="Times New Roman" pitchFamily="18" charset="0"/>
                <a:cs typeface="Calibri"/>
              </a:rPr>
              <a:t> </a:t>
            </a:r>
            <a:r>
              <a:rPr sz="2400" spc="-15" dirty="0">
                <a:latin typeface="Times New Roman" pitchFamily="18" charset="0"/>
                <a:cs typeface="Calibri"/>
              </a:rPr>
              <a:t>at </a:t>
            </a:r>
            <a:r>
              <a:rPr sz="2400" spc="-10" dirty="0">
                <a:latin typeface="Times New Roman" pitchFamily="18" charset="0"/>
                <a:cs typeface="Calibri"/>
              </a:rPr>
              <a:t>9.5%</a:t>
            </a:r>
            <a:endParaRPr sz="2400">
              <a:latin typeface="Times New Roman" pitchFamily="18" charset="0"/>
              <a:cs typeface="Calibri"/>
            </a:endParaRPr>
          </a:p>
          <a:p>
            <a:pPr marL="652780" lvl="1" indent="-247650">
              <a:lnSpc>
                <a:spcPct val="100000"/>
              </a:lnSpc>
              <a:buClr>
                <a:srgbClr val="0E6EC5"/>
              </a:buClr>
              <a:buSzPct val="85416"/>
              <a:buFont typeface="Segoe UI Symbol"/>
              <a:buChar char="⚫"/>
              <a:tabLst>
                <a:tab pos="653415" algn="l"/>
              </a:tabLst>
            </a:pPr>
            <a:r>
              <a:rPr sz="2400" dirty="0">
                <a:latin typeface="Times New Roman" pitchFamily="18" charset="0"/>
                <a:cs typeface="Calibri"/>
              </a:rPr>
              <a:t>A</a:t>
            </a:r>
            <a:r>
              <a:rPr sz="2400" spc="-40" dirty="0">
                <a:latin typeface="Times New Roman" pitchFamily="18" charset="0"/>
                <a:cs typeface="Calibri"/>
              </a:rPr>
              <a:t> </a:t>
            </a:r>
            <a:r>
              <a:rPr sz="2400" spc="-10" dirty="0">
                <a:latin typeface="Times New Roman" pitchFamily="18" charset="0"/>
                <a:cs typeface="Calibri"/>
              </a:rPr>
              <a:t>savings</a:t>
            </a:r>
            <a:r>
              <a:rPr sz="2400" spc="-25" dirty="0">
                <a:latin typeface="Times New Roman" pitchFamily="18" charset="0"/>
                <a:cs typeface="Calibri"/>
              </a:rPr>
              <a:t> </a:t>
            </a:r>
            <a:r>
              <a:rPr sz="2400" spc="-5" dirty="0">
                <a:latin typeface="Times New Roman" pitchFamily="18" charset="0"/>
                <a:cs typeface="Calibri"/>
              </a:rPr>
              <a:t>of 0.5%.</a:t>
            </a:r>
            <a:endParaRPr sz="2400">
              <a:latin typeface="Times New Roman" pitchFamily="18" charset="0"/>
              <a:cs typeface="Calibri"/>
            </a:endParaRPr>
          </a:p>
          <a:p>
            <a:pPr lvl="1">
              <a:lnSpc>
                <a:spcPct val="100000"/>
              </a:lnSpc>
              <a:buClr>
                <a:srgbClr val="0E6EC5"/>
              </a:buClr>
              <a:buFont typeface="Segoe UI Symbol"/>
              <a:buChar char="⚫"/>
            </a:pPr>
            <a:endParaRPr sz="2350">
              <a:latin typeface="Times New Roman" pitchFamily="18" charset="0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0AD0D9"/>
              </a:buClr>
              <a:buSzPct val="94444"/>
              <a:buFont typeface="Segoe UI Symbol"/>
              <a:buChar char="⚫"/>
              <a:tabLst>
                <a:tab pos="287020" algn="l"/>
              </a:tabLst>
            </a:pPr>
            <a:r>
              <a:rPr sz="2700" spc="-20" dirty="0">
                <a:latin typeface="Times New Roman" pitchFamily="18" charset="0"/>
                <a:cs typeface="Calibri"/>
              </a:rPr>
              <a:t>Swaps</a:t>
            </a:r>
            <a:r>
              <a:rPr sz="2700" spc="-35" dirty="0">
                <a:latin typeface="Times New Roman" pitchFamily="18" charset="0"/>
                <a:cs typeface="Calibri"/>
              </a:rPr>
              <a:t> </a:t>
            </a:r>
            <a:r>
              <a:rPr sz="2700" dirty="0">
                <a:latin typeface="Times New Roman" pitchFamily="18" charset="0"/>
                <a:cs typeface="Calibri"/>
              </a:rPr>
              <a:t>Bank</a:t>
            </a:r>
            <a:r>
              <a:rPr sz="2700" spc="-30" dirty="0">
                <a:latin typeface="Times New Roman" pitchFamily="18" charset="0"/>
                <a:cs typeface="Calibri"/>
              </a:rPr>
              <a:t> </a:t>
            </a:r>
            <a:r>
              <a:rPr sz="2700" spc="-10" dirty="0">
                <a:latin typeface="Times New Roman" pitchFamily="18" charset="0"/>
                <a:cs typeface="Calibri"/>
              </a:rPr>
              <a:t>Profits </a:t>
            </a:r>
            <a:r>
              <a:rPr sz="2700" dirty="0">
                <a:latin typeface="Times New Roman" pitchFamily="18" charset="0"/>
                <a:cs typeface="Calibri"/>
              </a:rPr>
              <a:t>=</a:t>
            </a:r>
            <a:r>
              <a:rPr sz="2700" spc="-15" dirty="0">
                <a:latin typeface="Times New Roman" pitchFamily="18" charset="0"/>
                <a:cs typeface="Calibri"/>
              </a:rPr>
              <a:t> </a:t>
            </a:r>
            <a:r>
              <a:rPr sz="2700" dirty="0">
                <a:latin typeface="Times New Roman" pitchFamily="18" charset="0"/>
                <a:cs typeface="Calibri"/>
              </a:rPr>
              <a:t>8.5%-8%</a:t>
            </a:r>
            <a:r>
              <a:rPr sz="2700" spc="-35" dirty="0">
                <a:latin typeface="Times New Roman" pitchFamily="18" charset="0"/>
                <a:cs typeface="Calibri"/>
              </a:rPr>
              <a:t> </a:t>
            </a:r>
            <a:r>
              <a:rPr sz="2700" dirty="0">
                <a:latin typeface="Times New Roman" pitchFamily="18" charset="0"/>
                <a:cs typeface="Calibri"/>
              </a:rPr>
              <a:t>= 0.5%</a:t>
            </a:r>
            <a:endParaRPr sz="27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4988" y="784606"/>
            <a:ext cx="668464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What</a:t>
            </a:r>
            <a:r>
              <a:rPr sz="4400" spc="-35" dirty="0"/>
              <a:t> </a:t>
            </a:r>
            <a:r>
              <a:rPr sz="4400" dirty="0"/>
              <a:t>is</a:t>
            </a:r>
            <a:r>
              <a:rPr sz="4400" spc="-10" dirty="0"/>
              <a:t> </a:t>
            </a:r>
            <a:r>
              <a:rPr sz="4400" dirty="0"/>
              <a:t>a</a:t>
            </a:r>
            <a:r>
              <a:rPr sz="4400" spc="-10" dirty="0"/>
              <a:t> </a:t>
            </a:r>
            <a:r>
              <a:rPr sz="4400" spc="-15" dirty="0"/>
              <a:t>Currency</a:t>
            </a:r>
            <a:r>
              <a:rPr sz="4400" spc="-45" dirty="0"/>
              <a:t> </a:t>
            </a:r>
            <a:r>
              <a:rPr sz="4400" spc="-20" dirty="0"/>
              <a:t>Swap?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764538"/>
            <a:ext cx="7727950" cy="48532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275590" indent="-274320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 pitchFamily="18" charset="0"/>
                <a:cs typeface="Calibri"/>
              </a:rPr>
              <a:t>It is a </a:t>
            </a:r>
            <a:r>
              <a:rPr sz="2600" spc="-10" dirty="0">
                <a:latin typeface="Times New Roman" pitchFamily="18" charset="0"/>
                <a:cs typeface="Calibri"/>
              </a:rPr>
              <a:t>swap </a:t>
            </a:r>
            <a:r>
              <a:rPr sz="2600" spc="-5" dirty="0">
                <a:latin typeface="Times New Roman" pitchFamily="18" charset="0"/>
                <a:cs typeface="Calibri"/>
              </a:rPr>
              <a:t>that </a:t>
            </a:r>
            <a:r>
              <a:rPr sz="2600" dirty="0">
                <a:latin typeface="Times New Roman" pitchFamily="18" charset="0"/>
                <a:cs typeface="Calibri"/>
              </a:rPr>
              <a:t>includes </a:t>
            </a:r>
            <a:r>
              <a:rPr sz="2600" spc="-15" dirty="0">
                <a:latin typeface="Times New Roman" pitchFamily="18" charset="0"/>
                <a:cs typeface="Calibri"/>
              </a:rPr>
              <a:t>exchange </a:t>
            </a:r>
            <a:r>
              <a:rPr sz="2600" spc="-5" dirty="0">
                <a:latin typeface="Times New Roman" pitchFamily="18" charset="0"/>
                <a:cs typeface="Calibri"/>
              </a:rPr>
              <a:t>of principal </a:t>
            </a:r>
            <a:r>
              <a:rPr sz="2600" dirty="0">
                <a:latin typeface="Times New Roman" pitchFamily="18" charset="0"/>
                <a:cs typeface="Calibri"/>
              </a:rPr>
              <a:t>and 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interest </a:t>
            </a:r>
            <a:r>
              <a:rPr sz="2600" spc="-20" dirty="0">
                <a:latin typeface="Times New Roman" pitchFamily="18" charset="0"/>
                <a:cs typeface="Calibri"/>
              </a:rPr>
              <a:t>rates </a:t>
            </a:r>
            <a:r>
              <a:rPr sz="2600" dirty="0">
                <a:latin typeface="Times New Roman" pitchFamily="18" charset="0"/>
                <a:cs typeface="Calibri"/>
              </a:rPr>
              <a:t>in one </a:t>
            </a:r>
            <a:r>
              <a:rPr sz="2600" spc="-5" dirty="0">
                <a:latin typeface="Times New Roman" pitchFamily="18" charset="0"/>
                <a:cs typeface="Calibri"/>
              </a:rPr>
              <a:t>currency </a:t>
            </a:r>
            <a:r>
              <a:rPr sz="2600" spc="-25" dirty="0">
                <a:latin typeface="Times New Roman" pitchFamily="18" charset="0"/>
                <a:cs typeface="Calibri"/>
              </a:rPr>
              <a:t>for </a:t>
            </a:r>
            <a:r>
              <a:rPr sz="2600" dirty="0">
                <a:latin typeface="Times New Roman" pitchFamily="18" charset="0"/>
                <a:cs typeface="Calibri"/>
              </a:rPr>
              <a:t>the </a:t>
            </a:r>
            <a:r>
              <a:rPr sz="2600" spc="-5" dirty="0">
                <a:latin typeface="Times New Roman" pitchFamily="18" charset="0"/>
                <a:cs typeface="Calibri"/>
              </a:rPr>
              <a:t>same </a:t>
            </a:r>
            <a:r>
              <a:rPr sz="2600" dirty="0">
                <a:latin typeface="Times New Roman" pitchFamily="18" charset="0"/>
                <a:cs typeface="Calibri"/>
              </a:rPr>
              <a:t>in another </a:t>
            </a:r>
            <a:r>
              <a:rPr sz="2600" spc="-575" dirty="0">
                <a:latin typeface="Times New Roman" pitchFamily="18" charset="0"/>
                <a:cs typeface="Calibri"/>
              </a:rPr>
              <a:t> </a:t>
            </a:r>
            <a:r>
              <a:rPr sz="2600" spc="-25" dirty="0">
                <a:latin typeface="Times New Roman" pitchFamily="18" charset="0"/>
                <a:cs typeface="Calibri"/>
              </a:rPr>
              <a:t>currency.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AD0D9"/>
              </a:buClr>
              <a:buFont typeface="Segoe UI Symbol"/>
              <a:buChar char="⚫"/>
            </a:pPr>
            <a:endParaRPr sz="3550">
              <a:latin typeface="Times New Roman" pitchFamily="18" charset="0"/>
              <a:cs typeface="Calibri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 pitchFamily="18" charset="0"/>
                <a:cs typeface="Calibri"/>
              </a:rPr>
              <a:t>It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is</a:t>
            </a:r>
            <a:r>
              <a:rPr sz="2600" spc="-10" dirty="0">
                <a:latin typeface="Times New Roman" pitchFamily="18" charset="0"/>
                <a:cs typeface="Calibri"/>
              </a:rPr>
              <a:t> considered</a:t>
            </a:r>
            <a:r>
              <a:rPr sz="2600" spc="-25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to</a:t>
            </a:r>
            <a:r>
              <a:rPr sz="2600" spc="-5" dirty="0">
                <a:latin typeface="Times New Roman" pitchFamily="18" charset="0"/>
                <a:cs typeface="Calibri"/>
              </a:rPr>
              <a:t> be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a </a:t>
            </a:r>
            <a:r>
              <a:rPr sz="2600" spc="-15" dirty="0">
                <a:latin typeface="Times New Roman" pitchFamily="18" charset="0"/>
                <a:cs typeface="Calibri"/>
              </a:rPr>
              <a:t>foreign</a:t>
            </a:r>
            <a:r>
              <a:rPr sz="2600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exchange</a:t>
            </a:r>
            <a:r>
              <a:rPr sz="2600" spc="-3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transaction.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AD0D9"/>
              </a:buClr>
              <a:buFont typeface="Segoe UI Symbol"/>
              <a:buChar char="⚫"/>
            </a:pPr>
            <a:endParaRPr sz="3550">
              <a:latin typeface="Times New Roman" pitchFamily="18" charset="0"/>
              <a:cs typeface="Calibri"/>
            </a:endParaRPr>
          </a:p>
          <a:p>
            <a:pPr marL="286385" marR="575310" indent="-274320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 pitchFamily="18" charset="0"/>
                <a:cs typeface="Calibri"/>
              </a:rPr>
              <a:t>It is </a:t>
            </a:r>
            <a:r>
              <a:rPr sz="2600" spc="-5" dirty="0">
                <a:latin typeface="Times New Roman" pitchFamily="18" charset="0"/>
                <a:cs typeface="Calibri"/>
              </a:rPr>
              <a:t>not </a:t>
            </a:r>
            <a:r>
              <a:rPr sz="2600" spc="-10" dirty="0">
                <a:latin typeface="Times New Roman" pitchFamily="18" charset="0"/>
                <a:cs typeface="Calibri"/>
              </a:rPr>
              <a:t>required by </a:t>
            </a:r>
            <a:r>
              <a:rPr sz="2600" spc="-5" dirty="0">
                <a:latin typeface="Times New Roman" pitchFamily="18" charset="0"/>
                <a:cs typeface="Calibri"/>
              </a:rPr>
              <a:t>law </a:t>
            </a:r>
            <a:r>
              <a:rPr sz="2600" spc="-15" dirty="0">
                <a:latin typeface="Times New Roman" pitchFamily="18" charset="0"/>
                <a:cs typeface="Calibri"/>
              </a:rPr>
              <a:t>to </a:t>
            </a:r>
            <a:r>
              <a:rPr sz="2600" spc="-5" dirty="0">
                <a:latin typeface="Times New Roman" pitchFamily="18" charset="0"/>
                <a:cs typeface="Calibri"/>
              </a:rPr>
              <a:t>be shown </a:t>
            </a:r>
            <a:r>
              <a:rPr sz="2600" dirty="0">
                <a:latin typeface="Times New Roman" pitchFamily="18" charset="0"/>
                <a:cs typeface="Calibri"/>
              </a:rPr>
              <a:t>in the </a:t>
            </a:r>
            <a:r>
              <a:rPr sz="2600" spc="-5" dirty="0">
                <a:latin typeface="Times New Roman" pitchFamily="18" charset="0"/>
                <a:cs typeface="Calibri"/>
              </a:rPr>
              <a:t>balance </a:t>
            </a:r>
            <a:r>
              <a:rPr sz="2600" spc="-57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sheets.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0AD0D9"/>
              </a:buClr>
              <a:buFont typeface="Segoe UI Symbol"/>
              <a:buChar char="⚫"/>
            </a:pPr>
            <a:endParaRPr sz="3550">
              <a:latin typeface="Times New Roman" pitchFamily="18" charset="0"/>
              <a:cs typeface="Calibri"/>
            </a:endParaRPr>
          </a:p>
          <a:p>
            <a:pPr marL="286385" marR="5080" indent="-274320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5" dirty="0">
                <a:latin typeface="Times New Roman" pitchFamily="18" charset="0"/>
                <a:cs typeface="Calibri"/>
              </a:rPr>
              <a:t>The principal </a:t>
            </a:r>
            <a:r>
              <a:rPr sz="2600" spc="-20" dirty="0">
                <a:latin typeface="Times New Roman" pitchFamily="18" charset="0"/>
                <a:cs typeface="Calibri"/>
              </a:rPr>
              <a:t>may </a:t>
            </a:r>
            <a:r>
              <a:rPr sz="2600" spc="-5" dirty="0">
                <a:latin typeface="Times New Roman" pitchFamily="18" charset="0"/>
                <a:cs typeface="Calibri"/>
              </a:rPr>
              <a:t>be </a:t>
            </a:r>
            <a:r>
              <a:rPr sz="2600" spc="-15" dirty="0">
                <a:latin typeface="Times New Roman" pitchFamily="18" charset="0"/>
                <a:cs typeface="Calibri"/>
              </a:rPr>
              <a:t>exchanged </a:t>
            </a:r>
            <a:r>
              <a:rPr sz="2600" dirty="0">
                <a:latin typeface="Times New Roman" pitchFamily="18" charset="0"/>
                <a:cs typeface="Calibri"/>
              </a:rPr>
              <a:t>either </a:t>
            </a:r>
            <a:r>
              <a:rPr sz="2600" spc="-15" dirty="0">
                <a:latin typeface="Times New Roman" pitchFamily="18" charset="0"/>
                <a:cs typeface="Calibri"/>
              </a:rPr>
              <a:t>at </a:t>
            </a:r>
            <a:r>
              <a:rPr sz="2600" dirty="0">
                <a:latin typeface="Times New Roman" pitchFamily="18" charset="0"/>
                <a:cs typeface="Calibri"/>
              </a:rPr>
              <a:t>the </a:t>
            </a:r>
            <a:r>
              <a:rPr sz="2600" spc="-5" dirty="0">
                <a:latin typeface="Times New Roman" pitchFamily="18" charset="0"/>
                <a:cs typeface="Calibri"/>
              </a:rPr>
              <a:t>beginning </a:t>
            </a:r>
            <a:r>
              <a:rPr sz="2600" spc="-57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or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at</a:t>
            </a:r>
            <a:r>
              <a:rPr sz="2600" dirty="0">
                <a:latin typeface="Times New Roman" pitchFamily="18" charset="0"/>
                <a:cs typeface="Calibri"/>
              </a:rPr>
              <a:t> the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end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of </a:t>
            </a:r>
            <a:r>
              <a:rPr sz="2600" dirty="0">
                <a:latin typeface="Times New Roman" pitchFamily="18" charset="0"/>
                <a:cs typeface="Calibri"/>
              </a:rPr>
              <a:t>the</a:t>
            </a:r>
            <a:r>
              <a:rPr sz="2600" spc="-1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tenure.</a:t>
            </a:r>
            <a:endParaRPr sz="26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947418"/>
            <a:ext cx="7526020" cy="216020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40" dirty="0">
                <a:latin typeface="Times New Roman" pitchFamily="18" charset="0"/>
                <a:cs typeface="Calibri"/>
              </a:rPr>
              <a:t>However, </a:t>
            </a:r>
            <a:r>
              <a:rPr sz="2600" dirty="0">
                <a:latin typeface="Times New Roman" pitchFamily="18" charset="0"/>
                <a:cs typeface="Calibri"/>
              </a:rPr>
              <a:t>if it is </a:t>
            </a:r>
            <a:r>
              <a:rPr sz="2600" spc="-15" dirty="0">
                <a:latin typeface="Times New Roman" pitchFamily="18" charset="0"/>
                <a:cs typeface="Calibri"/>
              </a:rPr>
              <a:t>exchanged at </a:t>
            </a:r>
            <a:r>
              <a:rPr sz="2600" dirty="0">
                <a:latin typeface="Times New Roman" pitchFamily="18" charset="0"/>
                <a:cs typeface="Calibri"/>
              </a:rPr>
              <a:t>the end </a:t>
            </a:r>
            <a:r>
              <a:rPr sz="2600" spc="-5" dirty="0">
                <a:latin typeface="Times New Roman" pitchFamily="18" charset="0"/>
                <a:cs typeface="Calibri"/>
              </a:rPr>
              <a:t>of </a:t>
            </a:r>
            <a:r>
              <a:rPr sz="2600" dirty="0">
                <a:latin typeface="Times New Roman" pitchFamily="18" charset="0"/>
                <a:cs typeface="Calibri"/>
              </a:rPr>
              <a:t>the </a:t>
            </a:r>
            <a:r>
              <a:rPr sz="2600" spc="-15" dirty="0">
                <a:latin typeface="Times New Roman" pitchFamily="18" charset="0"/>
                <a:cs typeface="Calibri"/>
              </a:rPr>
              <a:t>life </a:t>
            </a:r>
            <a:r>
              <a:rPr sz="2600" spc="-5" dirty="0">
                <a:latin typeface="Times New Roman" pitchFamily="18" charset="0"/>
                <a:cs typeface="Calibri"/>
              </a:rPr>
              <a:t>of </a:t>
            </a:r>
            <a:r>
              <a:rPr sz="2600" dirty="0">
                <a:latin typeface="Times New Roman" pitchFamily="18" charset="0"/>
                <a:cs typeface="Calibri"/>
              </a:rPr>
              <a:t>the </a:t>
            </a:r>
            <a:r>
              <a:rPr sz="2600" spc="-57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swap,</a:t>
            </a:r>
            <a:r>
              <a:rPr sz="2600" spc="-3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the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principal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value </a:t>
            </a:r>
            <a:r>
              <a:rPr sz="2600" spc="-20" dirty="0">
                <a:latin typeface="Times New Roman" pitchFamily="18" charset="0"/>
                <a:cs typeface="Calibri"/>
              </a:rPr>
              <a:t>may</a:t>
            </a:r>
            <a:r>
              <a:rPr sz="260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be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very</a:t>
            </a:r>
            <a:r>
              <a:rPr sz="2600" spc="-15" dirty="0">
                <a:latin typeface="Times New Roman" pitchFamily="18" charset="0"/>
                <a:cs typeface="Calibri"/>
              </a:rPr>
              <a:t> different.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AD0D9"/>
              </a:buClr>
              <a:buFont typeface="Segoe UI Symbol"/>
              <a:buChar char="⚫"/>
            </a:pPr>
            <a:endParaRPr sz="3550">
              <a:latin typeface="Times New Roman" pitchFamily="18" charset="0"/>
              <a:cs typeface="Calibri"/>
            </a:endParaRPr>
          </a:p>
          <a:p>
            <a:pPr marL="286385" marR="522605" indent="-274320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dirty="0">
                <a:latin typeface="Times New Roman" pitchFamily="18" charset="0"/>
                <a:cs typeface="Calibri"/>
              </a:rPr>
              <a:t>It is </a:t>
            </a:r>
            <a:r>
              <a:rPr sz="2600" spc="-10" dirty="0">
                <a:latin typeface="Times New Roman" pitchFamily="18" charset="0"/>
                <a:cs typeface="Calibri"/>
              </a:rPr>
              <a:t>generally </a:t>
            </a:r>
            <a:r>
              <a:rPr sz="2600" spc="-5" dirty="0">
                <a:latin typeface="Times New Roman" pitchFamily="18" charset="0"/>
                <a:cs typeface="Calibri"/>
              </a:rPr>
              <a:t>used </a:t>
            </a:r>
            <a:r>
              <a:rPr sz="2600" spc="-15" dirty="0">
                <a:latin typeface="Times New Roman" pitchFamily="18" charset="0"/>
                <a:cs typeface="Calibri"/>
              </a:rPr>
              <a:t>to </a:t>
            </a:r>
            <a:r>
              <a:rPr sz="2600" spc="-10" dirty="0">
                <a:latin typeface="Times New Roman" pitchFamily="18" charset="0"/>
                <a:cs typeface="Calibri"/>
              </a:rPr>
              <a:t>hedge against </a:t>
            </a:r>
            <a:r>
              <a:rPr sz="2600" spc="-15" dirty="0">
                <a:latin typeface="Times New Roman" pitchFamily="18" charset="0"/>
                <a:cs typeface="Calibri"/>
              </a:rPr>
              <a:t>exchange </a:t>
            </a:r>
            <a:r>
              <a:rPr sz="2600" spc="-25" dirty="0">
                <a:latin typeface="Times New Roman" pitchFamily="18" charset="0"/>
                <a:cs typeface="Calibri"/>
              </a:rPr>
              <a:t>rate </a:t>
            </a:r>
            <a:r>
              <a:rPr sz="2600" spc="-57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fluctuations.</a:t>
            </a:r>
            <a:endParaRPr sz="26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895" y="708406"/>
            <a:ext cx="786447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Direct</a:t>
            </a:r>
            <a:r>
              <a:rPr sz="4400" spc="-65" dirty="0"/>
              <a:t> </a:t>
            </a:r>
            <a:r>
              <a:rPr sz="4400" spc="-10" dirty="0"/>
              <a:t>Currency</a:t>
            </a:r>
            <a:r>
              <a:rPr sz="4400" spc="-50" dirty="0"/>
              <a:t> </a:t>
            </a:r>
            <a:r>
              <a:rPr sz="4400" spc="-25" dirty="0"/>
              <a:t>Swap</a:t>
            </a:r>
            <a:r>
              <a:rPr sz="4400" spc="-20" dirty="0"/>
              <a:t> </a:t>
            </a:r>
            <a:r>
              <a:rPr sz="4400" spc="-1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947418"/>
            <a:ext cx="7994650" cy="31066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5" dirty="0">
                <a:latin typeface="Times New Roman" pitchFamily="18" charset="0"/>
                <a:cs typeface="Calibri"/>
              </a:rPr>
              <a:t>Firm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A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is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an </a:t>
            </a:r>
            <a:r>
              <a:rPr sz="2600" spc="-5" dirty="0">
                <a:latin typeface="Times New Roman" pitchFamily="18" charset="0"/>
                <a:cs typeface="Calibri"/>
              </a:rPr>
              <a:t>American</a:t>
            </a:r>
            <a:r>
              <a:rPr sz="2600" spc="-25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company </a:t>
            </a:r>
            <a:r>
              <a:rPr sz="2600" dirty="0">
                <a:latin typeface="Times New Roman" pitchFamily="18" charset="0"/>
                <a:cs typeface="Calibri"/>
              </a:rPr>
              <a:t>and</a:t>
            </a:r>
            <a:r>
              <a:rPr sz="2600" spc="-10" dirty="0">
                <a:latin typeface="Times New Roman" pitchFamily="18" charset="0"/>
                <a:cs typeface="Calibri"/>
              </a:rPr>
              <a:t> wants</a:t>
            </a:r>
            <a:r>
              <a:rPr sz="2600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to</a:t>
            </a:r>
            <a:r>
              <a:rPr sz="2600" spc="-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borrow</a:t>
            </a:r>
            <a:endParaRPr sz="2600">
              <a:latin typeface="Times New Roman" pitchFamily="18" charset="0"/>
              <a:cs typeface="Calibri"/>
            </a:endParaRPr>
          </a:p>
          <a:p>
            <a:pPr marL="286385">
              <a:lnSpc>
                <a:spcPct val="100000"/>
              </a:lnSpc>
            </a:pPr>
            <a:r>
              <a:rPr sz="2600" dirty="0">
                <a:latin typeface="Times New Roman" pitchFamily="18" charset="0"/>
                <a:cs typeface="Calibri"/>
              </a:rPr>
              <a:t>€40,000</a:t>
            </a:r>
            <a:r>
              <a:rPr sz="2600" spc="-90" dirty="0">
                <a:latin typeface="Times New Roman" pitchFamily="18" charset="0"/>
                <a:cs typeface="Calibri"/>
              </a:rPr>
              <a:t> </a:t>
            </a:r>
            <a:r>
              <a:rPr sz="2600" spc="-25" dirty="0">
                <a:latin typeface="Times New Roman" pitchFamily="18" charset="0"/>
                <a:cs typeface="Calibri"/>
              </a:rPr>
              <a:t>for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3</a:t>
            </a:r>
            <a:r>
              <a:rPr sz="2600" spc="-40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years.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550">
              <a:latin typeface="Times New Roman" pitchFamily="18" charset="0"/>
              <a:cs typeface="Calibri"/>
            </a:endParaRPr>
          </a:p>
          <a:p>
            <a:pPr marL="286385" marR="5080" indent="-274320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5" dirty="0">
                <a:latin typeface="Times New Roman" pitchFamily="18" charset="0"/>
                <a:cs typeface="Calibri"/>
              </a:rPr>
              <a:t>Firm </a:t>
            </a:r>
            <a:r>
              <a:rPr sz="2600" dirty="0">
                <a:latin typeface="Times New Roman" pitchFamily="18" charset="0"/>
                <a:cs typeface="Calibri"/>
              </a:rPr>
              <a:t>B is a </a:t>
            </a:r>
            <a:r>
              <a:rPr sz="2600" spc="-5" dirty="0">
                <a:latin typeface="Times New Roman" pitchFamily="18" charset="0"/>
                <a:cs typeface="Calibri"/>
              </a:rPr>
              <a:t>French </a:t>
            </a:r>
            <a:r>
              <a:rPr sz="2600" spc="-15" dirty="0">
                <a:latin typeface="Times New Roman" pitchFamily="18" charset="0"/>
                <a:cs typeface="Calibri"/>
              </a:rPr>
              <a:t>company </a:t>
            </a:r>
            <a:r>
              <a:rPr sz="2600" dirty="0">
                <a:latin typeface="Times New Roman" pitchFamily="18" charset="0"/>
                <a:cs typeface="Calibri"/>
              </a:rPr>
              <a:t>and </a:t>
            </a:r>
            <a:r>
              <a:rPr sz="2600" spc="-10" dirty="0">
                <a:latin typeface="Times New Roman" pitchFamily="18" charset="0"/>
                <a:cs typeface="Calibri"/>
              </a:rPr>
              <a:t>wants </a:t>
            </a:r>
            <a:r>
              <a:rPr sz="2600" spc="-15" dirty="0">
                <a:latin typeface="Times New Roman" pitchFamily="18" charset="0"/>
                <a:cs typeface="Calibri"/>
              </a:rPr>
              <a:t>to </a:t>
            </a:r>
            <a:r>
              <a:rPr sz="2600" spc="-10" dirty="0">
                <a:latin typeface="Times New Roman" pitchFamily="18" charset="0"/>
                <a:cs typeface="Calibri"/>
              </a:rPr>
              <a:t>borrow </a:t>
            </a:r>
            <a:r>
              <a:rPr sz="2600" dirty="0">
                <a:latin typeface="Times New Roman" pitchFamily="18" charset="0"/>
                <a:cs typeface="Calibri"/>
              </a:rPr>
              <a:t>$60,000 </a:t>
            </a:r>
            <a:r>
              <a:rPr sz="2600" spc="-575" dirty="0">
                <a:latin typeface="Times New Roman" pitchFamily="18" charset="0"/>
                <a:cs typeface="Calibri"/>
              </a:rPr>
              <a:t> </a:t>
            </a:r>
            <a:r>
              <a:rPr sz="2600" spc="-25" dirty="0">
                <a:latin typeface="Times New Roman" pitchFamily="18" charset="0"/>
                <a:cs typeface="Calibri"/>
              </a:rPr>
              <a:t>for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3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years.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AD0D9"/>
              </a:buClr>
              <a:buFont typeface="Segoe UI Symbol"/>
              <a:buChar char="⚫"/>
            </a:pPr>
            <a:endParaRPr sz="3550">
              <a:latin typeface="Times New Roman" pitchFamily="18" charset="0"/>
              <a:cs typeface="Calibri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5" dirty="0">
                <a:latin typeface="Times New Roman" pitchFamily="18" charset="0"/>
                <a:cs typeface="Calibri"/>
              </a:rPr>
              <a:t>Suppose</a:t>
            </a:r>
            <a:r>
              <a:rPr sz="2600" spc="-4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the</a:t>
            </a:r>
            <a:r>
              <a:rPr sz="2600" spc="-10" dirty="0">
                <a:latin typeface="Times New Roman" pitchFamily="18" charset="0"/>
                <a:cs typeface="Calibri"/>
              </a:rPr>
              <a:t> current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exchange</a:t>
            </a:r>
            <a:r>
              <a:rPr sz="2600" spc="-40" dirty="0">
                <a:latin typeface="Times New Roman" pitchFamily="18" charset="0"/>
                <a:cs typeface="Calibri"/>
              </a:rPr>
              <a:t> </a:t>
            </a:r>
            <a:r>
              <a:rPr sz="2600" spc="-25" dirty="0">
                <a:latin typeface="Times New Roman" pitchFamily="18" charset="0"/>
                <a:cs typeface="Calibri"/>
              </a:rPr>
              <a:t>rate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is</a:t>
            </a:r>
            <a:r>
              <a:rPr sz="2600" spc="-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€1</a:t>
            </a:r>
            <a:r>
              <a:rPr sz="2600" spc="-1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=</a:t>
            </a:r>
            <a:r>
              <a:rPr sz="2600" spc="-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$1.50.</a:t>
            </a:r>
            <a:endParaRPr sz="26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4236" y="641045"/>
            <a:ext cx="629539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00" spc="-15" dirty="0">
                <a:solidFill>
                  <a:srgbClr val="04607A"/>
                </a:solidFill>
                <a:latin typeface="Times New Roman" pitchFamily="18" charset="0"/>
                <a:cs typeface="Calibri"/>
              </a:rPr>
              <a:t>Direct</a:t>
            </a:r>
            <a:r>
              <a:rPr sz="3600" spc="-35" dirty="0">
                <a:solidFill>
                  <a:srgbClr val="04607A"/>
                </a:solidFill>
                <a:latin typeface="Times New Roman" pitchFamily="18" charset="0"/>
                <a:cs typeface="Calibri"/>
              </a:rPr>
              <a:t> </a:t>
            </a:r>
            <a:r>
              <a:rPr sz="3600" spc="-10" dirty="0">
                <a:solidFill>
                  <a:srgbClr val="04607A"/>
                </a:solidFill>
                <a:latin typeface="Times New Roman" pitchFamily="18" charset="0"/>
                <a:cs typeface="Calibri"/>
              </a:rPr>
              <a:t>Currency</a:t>
            </a:r>
            <a:r>
              <a:rPr sz="3600" spc="-15" dirty="0">
                <a:solidFill>
                  <a:srgbClr val="04607A"/>
                </a:solidFill>
                <a:latin typeface="Times New Roman" pitchFamily="18" charset="0"/>
                <a:cs typeface="Calibri"/>
              </a:rPr>
              <a:t> </a:t>
            </a:r>
            <a:r>
              <a:rPr sz="3600" spc="-25" dirty="0">
                <a:solidFill>
                  <a:srgbClr val="04607A"/>
                </a:solidFill>
                <a:latin typeface="Times New Roman" pitchFamily="18" charset="0"/>
                <a:cs typeface="Calibri"/>
              </a:rPr>
              <a:t>Swap</a:t>
            </a:r>
            <a:r>
              <a:rPr sz="3600" spc="-20" dirty="0">
                <a:solidFill>
                  <a:srgbClr val="04607A"/>
                </a:solidFill>
                <a:latin typeface="Times New Roman" pitchFamily="18" charset="0"/>
                <a:cs typeface="Calibri"/>
              </a:rPr>
              <a:t> </a:t>
            </a:r>
            <a:r>
              <a:rPr sz="3600" spc="-15" dirty="0">
                <a:solidFill>
                  <a:srgbClr val="04607A"/>
                </a:solidFill>
                <a:latin typeface="Times New Roman" pitchFamily="18" charset="0"/>
                <a:cs typeface="Calibri"/>
              </a:rPr>
              <a:t>Example</a:t>
            </a:r>
            <a:endParaRPr sz="3600">
              <a:latin typeface="Times New Roman" pitchFamily="18" charset="0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000" y="1752600"/>
            <a:ext cx="1905000" cy="802784"/>
          </a:xfrm>
          <a:prstGeom prst="rect">
            <a:avLst/>
          </a:prstGeom>
          <a:solidFill>
            <a:srgbClr val="FFFFFF"/>
          </a:solidFill>
          <a:ln w="25400">
            <a:solidFill>
              <a:srgbClr val="0E6EC5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980"/>
              </a:spcBef>
            </a:pPr>
            <a:r>
              <a:rPr sz="4400" spc="-5" dirty="0">
                <a:latin typeface="Times New Roman" pitchFamily="18" charset="0"/>
                <a:cs typeface="Calibri"/>
              </a:rPr>
              <a:t>Firm</a:t>
            </a:r>
            <a:r>
              <a:rPr sz="4400" spc="-40" dirty="0">
                <a:latin typeface="Times New Roman" pitchFamily="18" charset="0"/>
                <a:cs typeface="Calibri"/>
              </a:rPr>
              <a:t> </a:t>
            </a:r>
            <a:r>
              <a:rPr sz="4400" dirty="0">
                <a:latin typeface="Times New Roman" pitchFamily="18" charset="0"/>
                <a:cs typeface="Calibri"/>
              </a:rPr>
              <a:t>A</a:t>
            </a:r>
            <a:endParaRPr sz="4400">
              <a:latin typeface="Times New Roman" pitchFamily="18" charset="0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8000" y="1600200"/>
            <a:ext cx="1905000" cy="802143"/>
          </a:xfrm>
          <a:prstGeom prst="rect">
            <a:avLst/>
          </a:prstGeom>
          <a:solidFill>
            <a:srgbClr val="FFFFFF"/>
          </a:solidFill>
          <a:ln w="25400">
            <a:solidFill>
              <a:srgbClr val="0E6EC5"/>
            </a:solidFill>
          </a:ln>
        </p:spPr>
        <p:txBody>
          <a:bodyPr vert="horz" wrap="square" lIns="0" tIns="123825" rIns="0" bIns="0" rtlCol="0">
            <a:spAutoFit/>
          </a:bodyPr>
          <a:lstStyle/>
          <a:p>
            <a:pPr marL="224154">
              <a:lnSpc>
                <a:spcPct val="100000"/>
              </a:lnSpc>
              <a:spcBef>
                <a:spcPts val="975"/>
              </a:spcBef>
            </a:pPr>
            <a:r>
              <a:rPr sz="4400" spc="-5" dirty="0">
                <a:latin typeface="Times New Roman" pitchFamily="18" charset="0"/>
                <a:cs typeface="Calibri"/>
              </a:rPr>
              <a:t>Firm</a:t>
            </a:r>
            <a:r>
              <a:rPr sz="4400" spc="-40" dirty="0">
                <a:latin typeface="Times New Roman" pitchFamily="18" charset="0"/>
                <a:cs typeface="Calibri"/>
              </a:rPr>
              <a:t> </a:t>
            </a:r>
            <a:r>
              <a:rPr sz="4400" dirty="0">
                <a:latin typeface="Times New Roman" pitchFamily="18" charset="0"/>
                <a:cs typeface="Calibri"/>
              </a:rPr>
              <a:t>B</a:t>
            </a:r>
            <a:endParaRPr sz="4400">
              <a:latin typeface="Times New Roman" pitchFamily="18" charset="0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200" y="4724400"/>
            <a:ext cx="1905000" cy="528991"/>
          </a:xfrm>
          <a:prstGeom prst="rect">
            <a:avLst/>
          </a:prstGeom>
          <a:solidFill>
            <a:srgbClr val="0E6EC5"/>
          </a:solidFill>
          <a:ln w="25400">
            <a:solidFill>
              <a:srgbClr val="085091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381635">
              <a:lnSpc>
                <a:spcPct val="100000"/>
              </a:lnSpc>
              <a:spcBef>
                <a:spcPts val="285"/>
              </a:spcBef>
            </a:pPr>
            <a:r>
              <a:rPr sz="3200" dirty="0">
                <a:latin typeface="Times New Roman" pitchFamily="18" charset="0"/>
                <a:cs typeface="Calibri"/>
              </a:rPr>
              <a:t>Bank</a:t>
            </a:r>
            <a:r>
              <a:rPr sz="3200" spc="-40" dirty="0">
                <a:latin typeface="Times New Roman" pitchFamily="18" charset="0"/>
                <a:cs typeface="Calibri"/>
              </a:rPr>
              <a:t> </a:t>
            </a:r>
            <a:r>
              <a:rPr sz="3200" dirty="0">
                <a:latin typeface="Times New Roman" pitchFamily="18" charset="0"/>
                <a:cs typeface="Calibri"/>
              </a:rPr>
              <a:t>A</a:t>
            </a:r>
            <a:endParaRPr sz="3200">
              <a:latin typeface="Times New Roman" pitchFamily="18" charset="0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81800" y="4648200"/>
            <a:ext cx="1905000" cy="528991"/>
          </a:xfrm>
          <a:prstGeom prst="rect">
            <a:avLst/>
          </a:prstGeom>
          <a:solidFill>
            <a:srgbClr val="0E6EC5"/>
          </a:solidFill>
          <a:ln w="25400">
            <a:solidFill>
              <a:srgbClr val="085091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389890">
              <a:lnSpc>
                <a:spcPct val="100000"/>
              </a:lnSpc>
              <a:spcBef>
                <a:spcPts val="285"/>
              </a:spcBef>
            </a:pPr>
            <a:r>
              <a:rPr sz="3200" dirty="0">
                <a:latin typeface="Times New Roman" pitchFamily="18" charset="0"/>
                <a:cs typeface="Calibri"/>
              </a:rPr>
              <a:t>Bank</a:t>
            </a:r>
            <a:r>
              <a:rPr sz="3200" spc="-40" dirty="0">
                <a:latin typeface="Times New Roman" pitchFamily="18" charset="0"/>
                <a:cs typeface="Calibri"/>
              </a:rPr>
              <a:t> </a:t>
            </a:r>
            <a:r>
              <a:rPr sz="3200" dirty="0">
                <a:latin typeface="Times New Roman" pitchFamily="18" charset="0"/>
                <a:cs typeface="Calibri"/>
              </a:rPr>
              <a:t>B</a:t>
            </a:r>
            <a:endParaRPr sz="3200">
              <a:latin typeface="Times New Roman" pitchFamily="18" charset="0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44500" y="5626100"/>
            <a:ext cx="1778000" cy="939800"/>
            <a:chOff x="444500" y="5626100"/>
            <a:chExt cx="1778000" cy="939800"/>
          </a:xfrm>
        </p:grpSpPr>
        <p:sp>
          <p:nvSpPr>
            <p:cNvPr id="8" name="object 8"/>
            <p:cNvSpPr/>
            <p:nvPr/>
          </p:nvSpPr>
          <p:spPr>
            <a:xfrm>
              <a:off x="457200" y="5638800"/>
              <a:ext cx="1752600" cy="914400"/>
            </a:xfrm>
            <a:custGeom>
              <a:avLst/>
              <a:gdLst/>
              <a:ahLst/>
              <a:cxnLst/>
              <a:rect l="l" t="t" r="r" b="b"/>
              <a:pathLst>
                <a:path w="1752600" h="914400">
                  <a:moveTo>
                    <a:pt x="17526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752600" y="914400"/>
                  </a:lnTo>
                  <a:lnTo>
                    <a:pt x="1752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457200" y="5638800"/>
              <a:ext cx="1752600" cy="914400"/>
            </a:xfrm>
            <a:custGeom>
              <a:avLst/>
              <a:gdLst/>
              <a:ahLst/>
              <a:cxnLst/>
              <a:rect l="l" t="t" r="r" b="b"/>
              <a:pathLst>
                <a:path w="1752600" h="914400">
                  <a:moveTo>
                    <a:pt x="0" y="914400"/>
                  </a:moveTo>
                  <a:lnTo>
                    <a:pt x="1752600" y="914400"/>
                  </a:lnTo>
                  <a:lnTo>
                    <a:pt x="17526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5400">
              <a:solidFill>
                <a:srgbClr val="0E6EC5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48640" y="5698947"/>
            <a:ext cx="1676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 pitchFamily="18" charset="0"/>
                <a:cs typeface="Calibri"/>
              </a:rPr>
              <a:t>€</a:t>
            </a:r>
            <a:endParaRPr sz="24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2400" dirty="0">
                <a:latin typeface="Times New Roman" pitchFamily="18" charset="0"/>
                <a:cs typeface="Calibri"/>
              </a:rPr>
              <a:t>$</a:t>
            </a:r>
            <a:endParaRPr sz="2400">
              <a:latin typeface="Times New Roman" pitchFamily="18" charset="0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25422" y="5698947"/>
            <a:ext cx="865378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 pitchFamily="18" charset="0"/>
                <a:cs typeface="Calibri"/>
              </a:rPr>
              <a:t>6%</a:t>
            </a:r>
            <a:endParaRPr sz="24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2400" spc="-10" dirty="0">
                <a:latin typeface="Times New Roman" pitchFamily="18" charset="0"/>
                <a:cs typeface="Calibri"/>
              </a:rPr>
              <a:t>7</a:t>
            </a:r>
            <a:r>
              <a:rPr sz="2400" dirty="0">
                <a:latin typeface="Times New Roman" pitchFamily="18" charset="0"/>
                <a:cs typeface="Calibri"/>
              </a:rPr>
              <a:t>%</a:t>
            </a:r>
            <a:endParaRPr sz="2400">
              <a:latin typeface="Times New Roman" pitchFamily="18" charset="0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769100" y="5626100"/>
            <a:ext cx="1778000" cy="939800"/>
            <a:chOff x="6769100" y="5626100"/>
            <a:chExt cx="1778000" cy="939800"/>
          </a:xfrm>
        </p:grpSpPr>
        <p:sp>
          <p:nvSpPr>
            <p:cNvPr id="13" name="object 13"/>
            <p:cNvSpPr/>
            <p:nvPr/>
          </p:nvSpPr>
          <p:spPr>
            <a:xfrm>
              <a:off x="6781800" y="5638800"/>
              <a:ext cx="1752600" cy="914400"/>
            </a:xfrm>
            <a:custGeom>
              <a:avLst/>
              <a:gdLst/>
              <a:ahLst/>
              <a:cxnLst/>
              <a:rect l="l" t="t" r="r" b="b"/>
              <a:pathLst>
                <a:path w="1752600" h="914400">
                  <a:moveTo>
                    <a:pt x="17526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752600" y="914400"/>
                  </a:lnTo>
                  <a:lnTo>
                    <a:pt x="1752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6781800" y="5638800"/>
              <a:ext cx="1752600" cy="914400"/>
            </a:xfrm>
            <a:custGeom>
              <a:avLst/>
              <a:gdLst/>
              <a:ahLst/>
              <a:cxnLst/>
              <a:rect l="l" t="t" r="r" b="b"/>
              <a:pathLst>
                <a:path w="1752600" h="914400">
                  <a:moveTo>
                    <a:pt x="0" y="914400"/>
                  </a:moveTo>
                  <a:lnTo>
                    <a:pt x="1752600" y="914400"/>
                  </a:lnTo>
                  <a:lnTo>
                    <a:pt x="17526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25400">
              <a:solidFill>
                <a:srgbClr val="0E6EC5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874129" y="5698947"/>
            <a:ext cx="1676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 pitchFamily="18" charset="0"/>
                <a:cs typeface="Calibri"/>
              </a:rPr>
              <a:t>€</a:t>
            </a:r>
            <a:endParaRPr sz="24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2400" dirty="0">
                <a:latin typeface="Times New Roman" pitchFamily="18" charset="0"/>
                <a:cs typeface="Calibri"/>
              </a:rPr>
              <a:t>$</a:t>
            </a:r>
            <a:endParaRPr sz="2400">
              <a:latin typeface="Times New Roman" pitchFamily="18" charset="0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51038" y="5698947"/>
            <a:ext cx="1245362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 pitchFamily="18" charset="0"/>
                <a:cs typeface="Calibri"/>
              </a:rPr>
              <a:t>5%</a:t>
            </a:r>
            <a:endParaRPr sz="24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2400" spc="-10" dirty="0">
                <a:latin typeface="Times New Roman" pitchFamily="18" charset="0"/>
                <a:cs typeface="Calibri"/>
              </a:rPr>
              <a:t>8</a:t>
            </a:r>
            <a:r>
              <a:rPr sz="2400" dirty="0">
                <a:latin typeface="Times New Roman" pitchFamily="18" charset="0"/>
                <a:cs typeface="Calibri"/>
              </a:rPr>
              <a:t>%</a:t>
            </a:r>
            <a:endParaRPr sz="2400">
              <a:latin typeface="Times New Roman" pitchFamily="18" charset="0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2140" y="2837815"/>
            <a:ext cx="109601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12F3D"/>
                </a:solidFill>
                <a:latin typeface="Times New Roman" pitchFamily="18" charset="0"/>
                <a:cs typeface="Calibri"/>
              </a:rPr>
              <a:t>Aim</a:t>
            </a:r>
            <a:r>
              <a:rPr sz="1800" spc="-60" dirty="0">
                <a:solidFill>
                  <a:srgbClr val="012F3D"/>
                </a:solidFill>
                <a:latin typeface="Times New Roman" pitchFamily="18" charset="0"/>
                <a:cs typeface="Calibri"/>
              </a:rPr>
              <a:t> </a:t>
            </a:r>
            <a:r>
              <a:rPr sz="1800" dirty="0">
                <a:solidFill>
                  <a:srgbClr val="012F3D"/>
                </a:solidFill>
                <a:latin typeface="Times New Roman" pitchFamily="18" charset="0"/>
                <a:cs typeface="Calibri"/>
              </a:rPr>
              <a:t>-</a:t>
            </a:r>
            <a:r>
              <a:rPr sz="1800" spc="-40" dirty="0">
                <a:solidFill>
                  <a:srgbClr val="012F3D"/>
                </a:solidFill>
                <a:latin typeface="Times New Roman" pitchFamily="18" charset="0"/>
                <a:cs typeface="Calibri"/>
              </a:rPr>
              <a:t> </a:t>
            </a:r>
            <a:r>
              <a:rPr sz="1800" spc="-10" dirty="0">
                <a:solidFill>
                  <a:srgbClr val="012F3D"/>
                </a:solidFill>
                <a:latin typeface="Times New Roman" pitchFamily="18" charset="0"/>
                <a:cs typeface="Calibri"/>
              </a:rPr>
              <a:t>EURO</a:t>
            </a:r>
            <a:endParaRPr sz="1800">
              <a:latin typeface="Times New Roman" pitchFamily="18" charset="0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90029" y="2685415"/>
            <a:ext cx="13055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12F3D"/>
                </a:solidFill>
                <a:latin typeface="Times New Roman" pitchFamily="18" charset="0"/>
                <a:cs typeface="Calibri"/>
              </a:rPr>
              <a:t>Aim</a:t>
            </a:r>
            <a:r>
              <a:rPr sz="1800" spc="-60" dirty="0">
                <a:solidFill>
                  <a:srgbClr val="012F3D"/>
                </a:solidFill>
                <a:latin typeface="Times New Roman" pitchFamily="18" charset="0"/>
                <a:cs typeface="Calibri"/>
              </a:rPr>
              <a:t> </a:t>
            </a:r>
            <a:r>
              <a:rPr sz="1800" dirty="0">
                <a:solidFill>
                  <a:srgbClr val="012F3D"/>
                </a:solidFill>
                <a:latin typeface="Times New Roman" pitchFamily="18" charset="0"/>
                <a:cs typeface="Calibri"/>
              </a:rPr>
              <a:t>-</a:t>
            </a:r>
            <a:r>
              <a:rPr sz="1800" spc="-45" dirty="0">
                <a:solidFill>
                  <a:srgbClr val="012F3D"/>
                </a:solidFill>
                <a:latin typeface="Times New Roman" pitchFamily="18" charset="0"/>
                <a:cs typeface="Calibri"/>
              </a:rPr>
              <a:t> </a:t>
            </a:r>
            <a:r>
              <a:rPr sz="1800" spc="-5" dirty="0">
                <a:solidFill>
                  <a:srgbClr val="012F3D"/>
                </a:solidFill>
                <a:latin typeface="Times New Roman" pitchFamily="18" charset="0"/>
                <a:cs typeface="Calibri"/>
              </a:rPr>
              <a:t>DOLLAR</a:t>
            </a:r>
            <a:endParaRPr sz="1800">
              <a:latin typeface="Times New Roman" pitchFamily="18" charset="0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882900" y="1816100"/>
            <a:ext cx="3530600" cy="330200"/>
            <a:chOff x="2882900" y="1816100"/>
            <a:chExt cx="3530600" cy="330200"/>
          </a:xfrm>
        </p:grpSpPr>
        <p:sp>
          <p:nvSpPr>
            <p:cNvPr id="20" name="object 20"/>
            <p:cNvSpPr/>
            <p:nvPr/>
          </p:nvSpPr>
          <p:spPr>
            <a:xfrm>
              <a:off x="2895600" y="1828800"/>
              <a:ext cx="3505200" cy="304800"/>
            </a:xfrm>
            <a:custGeom>
              <a:avLst/>
              <a:gdLst/>
              <a:ahLst/>
              <a:cxnLst/>
              <a:rect l="l" t="t" r="r" b="b"/>
              <a:pathLst>
                <a:path w="3505200" h="304800">
                  <a:moveTo>
                    <a:pt x="152400" y="0"/>
                  </a:moveTo>
                  <a:lnTo>
                    <a:pt x="0" y="152400"/>
                  </a:lnTo>
                  <a:lnTo>
                    <a:pt x="152400" y="304800"/>
                  </a:lnTo>
                  <a:lnTo>
                    <a:pt x="152400" y="228600"/>
                  </a:lnTo>
                  <a:lnTo>
                    <a:pt x="3505200" y="228600"/>
                  </a:lnTo>
                  <a:lnTo>
                    <a:pt x="3505200" y="76200"/>
                  </a:lnTo>
                  <a:lnTo>
                    <a:pt x="152400" y="762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2895600" y="1828800"/>
              <a:ext cx="3505200" cy="304800"/>
            </a:xfrm>
            <a:custGeom>
              <a:avLst/>
              <a:gdLst/>
              <a:ahLst/>
              <a:cxnLst/>
              <a:rect l="l" t="t" r="r" b="b"/>
              <a:pathLst>
                <a:path w="3505200" h="304800">
                  <a:moveTo>
                    <a:pt x="0" y="152400"/>
                  </a:moveTo>
                  <a:lnTo>
                    <a:pt x="152400" y="0"/>
                  </a:lnTo>
                  <a:lnTo>
                    <a:pt x="152400" y="76200"/>
                  </a:lnTo>
                  <a:lnTo>
                    <a:pt x="3505200" y="76200"/>
                  </a:lnTo>
                  <a:lnTo>
                    <a:pt x="3505200" y="228600"/>
                  </a:lnTo>
                  <a:lnTo>
                    <a:pt x="152400" y="228600"/>
                  </a:lnTo>
                  <a:lnTo>
                    <a:pt x="152400" y="304800"/>
                  </a:lnTo>
                  <a:lnTo>
                    <a:pt x="0" y="152400"/>
                  </a:lnTo>
                  <a:close/>
                </a:path>
              </a:pathLst>
            </a:custGeom>
            <a:ln w="2540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2959100" y="2425700"/>
            <a:ext cx="3530600" cy="330200"/>
            <a:chOff x="2959100" y="2425700"/>
            <a:chExt cx="3530600" cy="330200"/>
          </a:xfrm>
        </p:grpSpPr>
        <p:sp>
          <p:nvSpPr>
            <p:cNvPr id="23" name="object 23"/>
            <p:cNvSpPr/>
            <p:nvPr/>
          </p:nvSpPr>
          <p:spPr>
            <a:xfrm>
              <a:off x="2971800" y="2438400"/>
              <a:ext cx="3505200" cy="304800"/>
            </a:xfrm>
            <a:custGeom>
              <a:avLst/>
              <a:gdLst/>
              <a:ahLst/>
              <a:cxnLst/>
              <a:rect l="l" t="t" r="r" b="b"/>
              <a:pathLst>
                <a:path w="3505200" h="304800">
                  <a:moveTo>
                    <a:pt x="3352800" y="0"/>
                  </a:moveTo>
                  <a:lnTo>
                    <a:pt x="3352800" y="7620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3352800" y="228600"/>
                  </a:lnTo>
                  <a:lnTo>
                    <a:pt x="3352800" y="304800"/>
                  </a:lnTo>
                  <a:lnTo>
                    <a:pt x="3505200" y="152400"/>
                  </a:lnTo>
                  <a:lnTo>
                    <a:pt x="33528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2971800" y="2438400"/>
              <a:ext cx="3505200" cy="304800"/>
            </a:xfrm>
            <a:custGeom>
              <a:avLst/>
              <a:gdLst/>
              <a:ahLst/>
              <a:cxnLst/>
              <a:rect l="l" t="t" r="r" b="b"/>
              <a:pathLst>
                <a:path w="3505200" h="304800">
                  <a:moveTo>
                    <a:pt x="0" y="76200"/>
                  </a:moveTo>
                  <a:lnTo>
                    <a:pt x="3352800" y="76200"/>
                  </a:lnTo>
                  <a:lnTo>
                    <a:pt x="3352800" y="0"/>
                  </a:lnTo>
                  <a:lnTo>
                    <a:pt x="3505200" y="152400"/>
                  </a:lnTo>
                  <a:lnTo>
                    <a:pt x="3352800" y="304800"/>
                  </a:lnTo>
                  <a:lnTo>
                    <a:pt x="3352800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2540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1739900" y="3111500"/>
            <a:ext cx="254000" cy="1397000"/>
            <a:chOff x="1739900" y="3111500"/>
            <a:chExt cx="254000" cy="1397000"/>
          </a:xfrm>
        </p:grpSpPr>
        <p:sp>
          <p:nvSpPr>
            <p:cNvPr id="26" name="object 26"/>
            <p:cNvSpPr/>
            <p:nvPr/>
          </p:nvSpPr>
          <p:spPr>
            <a:xfrm>
              <a:off x="1752600" y="3124200"/>
              <a:ext cx="228600" cy="1371600"/>
            </a:xfrm>
            <a:custGeom>
              <a:avLst/>
              <a:gdLst/>
              <a:ahLst/>
              <a:cxnLst/>
              <a:rect l="l" t="t" r="r" b="b"/>
              <a:pathLst>
                <a:path w="228600" h="1371600">
                  <a:moveTo>
                    <a:pt x="171450" y="0"/>
                  </a:moveTo>
                  <a:lnTo>
                    <a:pt x="57150" y="0"/>
                  </a:lnTo>
                  <a:lnTo>
                    <a:pt x="57150" y="1257300"/>
                  </a:lnTo>
                  <a:lnTo>
                    <a:pt x="0" y="1257300"/>
                  </a:lnTo>
                  <a:lnTo>
                    <a:pt x="114300" y="1371600"/>
                  </a:lnTo>
                  <a:lnTo>
                    <a:pt x="228600" y="1257300"/>
                  </a:lnTo>
                  <a:lnTo>
                    <a:pt x="171450" y="125730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1752600" y="3124200"/>
              <a:ext cx="228600" cy="1371600"/>
            </a:xfrm>
            <a:custGeom>
              <a:avLst/>
              <a:gdLst/>
              <a:ahLst/>
              <a:cxnLst/>
              <a:rect l="l" t="t" r="r" b="b"/>
              <a:pathLst>
                <a:path w="228600" h="1371600">
                  <a:moveTo>
                    <a:pt x="0" y="1257300"/>
                  </a:moveTo>
                  <a:lnTo>
                    <a:pt x="57150" y="1257300"/>
                  </a:lnTo>
                  <a:lnTo>
                    <a:pt x="57150" y="0"/>
                  </a:lnTo>
                  <a:lnTo>
                    <a:pt x="171450" y="0"/>
                  </a:lnTo>
                  <a:lnTo>
                    <a:pt x="171450" y="1257300"/>
                  </a:lnTo>
                  <a:lnTo>
                    <a:pt x="228600" y="1257300"/>
                  </a:lnTo>
                  <a:lnTo>
                    <a:pt x="114300" y="1371600"/>
                  </a:lnTo>
                  <a:lnTo>
                    <a:pt x="0" y="1257300"/>
                  </a:lnTo>
                  <a:close/>
                </a:path>
              </a:pathLst>
            </a:custGeom>
            <a:ln w="2540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8064500" y="3111500"/>
            <a:ext cx="254000" cy="1397000"/>
            <a:chOff x="8064500" y="3111500"/>
            <a:chExt cx="254000" cy="1397000"/>
          </a:xfrm>
        </p:grpSpPr>
        <p:sp>
          <p:nvSpPr>
            <p:cNvPr id="29" name="object 29"/>
            <p:cNvSpPr/>
            <p:nvPr/>
          </p:nvSpPr>
          <p:spPr>
            <a:xfrm>
              <a:off x="8077200" y="3124200"/>
              <a:ext cx="228600" cy="1371600"/>
            </a:xfrm>
            <a:custGeom>
              <a:avLst/>
              <a:gdLst/>
              <a:ahLst/>
              <a:cxnLst/>
              <a:rect l="l" t="t" r="r" b="b"/>
              <a:pathLst>
                <a:path w="228600" h="1371600">
                  <a:moveTo>
                    <a:pt x="171450" y="0"/>
                  </a:moveTo>
                  <a:lnTo>
                    <a:pt x="57150" y="0"/>
                  </a:lnTo>
                  <a:lnTo>
                    <a:pt x="57150" y="1257300"/>
                  </a:lnTo>
                  <a:lnTo>
                    <a:pt x="0" y="1257300"/>
                  </a:lnTo>
                  <a:lnTo>
                    <a:pt x="114300" y="1371600"/>
                  </a:lnTo>
                  <a:lnTo>
                    <a:pt x="228600" y="1257300"/>
                  </a:lnTo>
                  <a:lnTo>
                    <a:pt x="171450" y="1257300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8077200" y="3124200"/>
              <a:ext cx="228600" cy="1371600"/>
            </a:xfrm>
            <a:custGeom>
              <a:avLst/>
              <a:gdLst/>
              <a:ahLst/>
              <a:cxnLst/>
              <a:rect l="l" t="t" r="r" b="b"/>
              <a:pathLst>
                <a:path w="228600" h="1371600">
                  <a:moveTo>
                    <a:pt x="0" y="1257300"/>
                  </a:moveTo>
                  <a:lnTo>
                    <a:pt x="57150" y="1257300"/>
                  </a:lnTo>
                  <a:lnTo>
                    <a:pt x="57150" y="0"/>
                  </a:lnTo>
                  <a:lnTo>
                    <a:pt x="171450" y="0"/>
                  </a:lnTo>
                  <a:lnTo>
                    <a:pt x="171450" y="1257300"/>
                  </a:lnTo>
                  <a:lnTo>
                    <a:pt x="228600" y="1257300"/>
                  </a:lnTo>
                  <a:lnTo>
                    <a:pt x="114300" y="1371600"/>
                  </a:lnTo>
                  <a:lnTo>
                    <a:pt x="0" y="1257300"/>
                  </a:lnTo>
                  <a:close/>
                </a:path>
              </a:pathLst>
            </a:custGeom>
            <a:ln w="2540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673100" y="3187700"/>
            <a:ext cx="254000" cy="1320800"/>
            <a:chOff x="673100" y="3187700"/>
            <a:chExt cx="254000" cy="1320800"/>
          </a:xfrm>
        </p:grpSpPr>
        <p:sp>
          <p:nvSpPr>
            <p:cNvPr id="32" name="object 32"/>
            <p:cNvSpPr/>
            <p:nvPr/>
          </p:nvSpPr>
          <p:spPr>
            <a:xfrm>
              <a:off x="685800" y="3200400"/>
              <a:ext cx="228600" cy="1295400"/>
            </a:xfrm>
            <a:custGeom>
              <a:avLst/>
              <a:gdLst/>
              <a:ahLst/>
              <a:cxnLst/>
              <a:rect l="l" t="t" r="r" b="b"/>
              <a:pathLst>
                <a:path w="228600" h="1295400">
                  <a:moveTo>
                    <a:pt x="114300" y="0"/>
                  </a:moveTo>
                  <a:lnTo>
                    <a:pt x="0" y="114300"/>
                  </a:lnTo>
                  <a:lnTo>
                    <a:pt x="57150" y="114300"/>
                  </a:lnTo>
                  <a:lnTo>
                    <a:pt x="57150" y="1295400"/>
                  </a:lnTo>
                  <a:lnTo>
                    <a:pt x="171450" y="1295400"/>
                  </a:lnTo>
                  <a:lnTo>
                    <a:pt x="171450" y="114300"/>
                  </a:lnTo>
                  <a:lnTo>
                    <a:pt x="22860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685800" y="3200400"/>
              <a:ext cx="228600" cy="1295400"/>
            </a:xfrm>
            <a:custGeom>
              <a:avLst/>
              <a:gdLst/>
              <a:ahLst/>
              <a:cxnLst/>
              <a:rect l="l" t="t" r="r" b="b"/>
              <a:pathLst>
                <a:path w="228600" h="1295400">
                  <a:moveTo>
                    <a:pt x="0" y="114300"/>
                  </a:moveTo>
                  <a:lnTo>
                    <a:pt x="114300" y="0"/>
                  </a:lnTo>
                  <a:lnTo>
                    <a:pt x="228600" y="114300"/>
                  </a:lnTo>
                  <a:lnTo>
                    <a:pt x="171450" y="114300"/>
                  </a:lnTo>
                  <a:lnTo>
                    <a:pt x="171450" y="1295400"/>
                  </a:lnTo>
                  <a:lnTo>
                    <a:pt x="57150" y="1295400"/>
                  </a:lnTo>
                  <a:lnTo>
                    <a:pt x="57150" y="114300"/>
                  </a:lnTo>
                  <a:lnTo>
                    <a:pt x="0" y="114300"/>
                  </a:lnTo>
                  <a:close/>
                </a:path>
              </a:pathLst>
            </a:custGeom>
            <a:ln w="2540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7150100" y="3187700"/>
            <a:ext cx="254000" cy="1320800"/>
            <a:chOff x="7150100" y="3187700"/>
            <a:chExt cx="254000" cy="1320800"/>
          </a:xfrm>
        </p:grpSpPr>
        <p:sp>
          <p:nvSpPr>
            <p:cNvPr id="35" name="object 35"/>
            <p:cNvSpPr/>
            <p:nvPr/>
          </p:nvSpPr>
          <p:spPr>
            <a:xfrm>
              <a:off x="7162800" y="3200400"/>
              <a:ext cx="228600" cy="1295400"/>
            </a:xfrm>
            <a:custGeom>
              <a:avLst/>
              <a:gdLst/>
              <a:ahLst/>
              <a:cxnLst/>
              <a:rect l="l" t="t" r="r" b="b"/>
              <a:pathLst>
                <a:path w="228600" h="1295400">
                  <a:moveTo>
                    <a:pt x="114300" y="0"/>
                  </a:moveTo>
                  <a:lnTo>
                    <a:pt x="0" y="114300"/>
                  </a:lnTo>
                  <a:lnTo>
                    <a:pt x="57150" y="114300"/>
                  </a:lnTo>
                  <a:lnTo>
                    <a:pt x="57150" y="1295400"/>
                  </a:lnTo>
                  <a:lnTo>
                    <a:pt x="171450" y="1295400"/>
                  </a:lnTo>
                  <a:lnTo>
                    <a:pt x="171450" y="114300"/>
                  </a:lnTo>
                  <a:lnTo>
                    <a:pt x="22860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E6EC5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7162800" y="3200400"/>
              <a:ext cx="228600" cy="1295400"/>
            </a:xfrm>
            <a:custGeom>
              <a:avLst/>
              <a:gdLst/>
              <a:ahLst/>
              <a:cxnLst/>
              <a:rect l="l" t="t" r="r" b="b"/>
              <a:pathLst>
                <a:path w="228600" h="1295400">
                  <a:moveTo>
                    <a:pt x="0" y="114300"/>
                  </a:moveTo>
                  <a:lnTo>
                    <a:pt x="114300" y="0"/>
                  </a:lnTo>
                  <a:lnTo>
                    <a:pt x="228600" y="114300"/>
                  </a:lnTo>
                  <a:lnTo>
                    <a:pt x="171450" y="114300"/>
                  </a:lnTo>
                  <a:lnTo>
                    <a:pt x="171450" y="1295400"/>
                  </a:lnTo>
                  <a:lnTo>
                    <a:pt x="57150" y="1295400"/>
                  </a:lnTo>
                  <a:lnTo>
                    <a:pt x="57150" y="114300"/>
                  </a:lnTo>
                  <a:lnTo>
                    <a:pt x="0" y="114300"/>
                  </a:lnTo>
                  <a:close/>
                </a:path>
              </a:pathLst>
            </a:custGeom>
            <a:ln w="25400">
              <a:solidFill>
                <a:srgbClr val="085091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itchFamily="18" charset="0"/>
              </a:endParaRPr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194174" y="1299717"/>
            <a:ext cx="11398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rgbClr val="C00000"/>
                </a:solidFill>
                <a:latin typeface="Times New Roman" pitchFamily="18" charset="0"/>
                <a:cs typeface="Calibri"/>
              </a:rPr>
              <a:t>7%</a:t>
            </a:r>
            <a:endParaRPr sz="3600">
              <a:latin typeface="Times New Roman" pitchFamily="18" charset="0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422774" y="2671698"/>
            <a:ext cx="11398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rgbClr val="C00000"/>
                </a:solidFill>
                <a:latin typeface="Times New Roman" pitchFamily="18" charset="0"/>
                <a:cs typeface="Calibri"/>
              </a:rPr>
              <a:t>5</a:t>
            </a:r>
            <a:r>
              <a:rPr sz="3600" b="1" dirty="0">
                <a:solidFill>
                  <a:srgbClr val="C00000"/>
                </a:solidFill>
                <a:latin typeface="Times New Roman" pitchFamily="18" charset="0"/>
                <a:cs typeface="Calibri"/>
              </a:rPr>
              <a:t>%</a:t>
            </a:r>
            <a:endParaRPr sz="3600">
              <a:latin typeface="Times New Roman" pitchFamily="18" charset="0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060194" y="3509848"/>
            <a:ext cx="1064006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rgbClr val="C00000"/>
                </a:solidFill>
                <a:latin typeface="Times New Roman" pitchFamily="18" charset="0"/>
                <a:cs typeface="Calibri"/>
              </a:rPr>
              <a:t>7%</a:t>
            </a:r>
            <a:endParaRPr sz="3600">
              <a:latin typeface="Times New Roman" pitchFamily="18" charset="0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385808" y="3509848"/>
            <a:ext cx="91059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rgbClr val="C00000"/>
                </a:solidFill>
                <a:latin typeface="Times New Roman" pitchFamily="18" charset="0"/>
                <a:cs typeface="Calibri"/>
              </a:rPr>
              <a:t>5%</a:t>
            </a:r>
            <a:endParaRPr sz="3600">
              <a:latin typeface="Times New Roman" pitchFamily="18" charset="0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8739" y="3675964"/>
            <a:ext cx="5746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C00000"/>
                </a:solidFill>
                <a:latin typeface="Times New Roman" pitchFamily="18" charset="0"/>
                <a:cs typeface="Calibri"/>
              </a:rPr>
              <a:t>$60th</a:t>
            </a:r>
            <a:endParaRPr sz="1800">
              <a:latin typeface="Times New Roman" pitchFamily="18" charset="0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480428" y="3752164"/>
            <a:ext cx="5746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C00000"/>
                </a:solidFill>
                <a:latin typeface="Times New Roman" pitchFamily="18" charset="0"/>
                <a:cs typeface="Calibri"/>
              </a:rPr>
              <a:t>€40th</a:t>
            </a:r>
            <a:endParaRPr sz="18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Comparative</a:t>
            </a:r>
            <a:r>
              <a:rPr spc="-60" dirty="0"/>
              <a:t> </a:t>
            </a:r>
            <a:r>
              <a:rPr spc="-25" dirty="0"/>
              <a:t>Advantage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947418"/>
            <a:ext cx="7908925" cy="35067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901700" indent="-274320">
              <a:lnSpc>
                <a:spcPct val="100000"/>
              </a:lnSpc>
              <a:spcBef>
                <a:spcPts val="105"/>
              </a:spcBef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5" dirty="0">
                <a:latin typeface="Times New Roman" pitchFamily="18" charset="0"/>
                <a:cs typeface="Calibri"/>
              </a:rPr>
              <a:t>Firm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A</a:t>
            </a:r>
            <a:r>
              <a:rPr sz="2600" spc="-5" dirty="0">
                <a:latin typeface="Times New Roman" pitchFamily="18" charset="0"/>
                <a:cs typeface="Calibri"/>
              </a:rPr>
              <a:t> has </a:t>
            </a:r>
            <a:r>
              <a:rPr sz="2600" dirty="0">
                <a:latin typeface="Times New Roman" pitchFamily="18" charset="0"/>
                <a:cs typeface="Calibri"/>
              </a:rPr>
              <a:t>a</a:t>
            </a:r>
            <a:r>
              <a:rPr sz="2600" spc="15" dirty="0">
                <a:latin typeface="Times New Roman" pitchFamily="18" charset="0"/>
                <a:cs typeface="Calibri"/>
              </a:rPr>
              <a:t> </a:t>
            </a:r>
            <a:r>
              <a:rPr sz="2600" b="1" spc="-15" dirty="0">
                <a:latin typeface="Times New Roman" pitchFamily="18" charset="0"/>
                <a:cs typeface="Calibri"/>
              </a:rPr>
              <a:t>comparative</a:t>
            </a:r>
            <a:r>
              <a:rPr sz="2600" b="1" spc="-10" dirty="0">
                <a:latin typeface="Times New Roman" pitchFamily="18" charset="0"/>
                <a:cs typeface="Calibri"/>
              </a:rPr>
              <a:t> </a:t>
            </a:r>
            <a:r>
              <a:rPr sz="2600" b="1" spc="-15" dirty="0">
                <a:latin typeface="Times New Roman" pitchFamily="18" charset="0"/>
                <a:cs typeface="Calibri"/>
              </a:rPr>
              <a:t>advantage</a:t>
            </a:r>
            <a:r>
              <a:rPr sz="2600" b="1" spc="2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in</a:t>
            </a:r>
            <a:r>
              <a:rPr sz="2600" spc="-10" dirty="0">
                <a:latin typeface="Times New Roman" pitchFamily="18" charset="0"/>
                <a:cs typeface="Calibri"/>
              </a:rPr>
              <a:t> borrowing </a:t>
            </a:r>
            <a:r>
              <a:rPr sz="2600" spc="-570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Dollars.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AD0D9"/>
              </a:buClr>
              <a:buFont typeface="Segoe UI Symbol"/>
              <a:buChar char="⚫"/>
            </a:pPr>
            <a:endParaRPr sz="3550">
              <a:latin typeface="Times New Roman" pitchFamily="18" charset="0"/>
              <a:cs typeface="Calibri"/>
            </a:endParaRPr>
          </a:p>
          <a:p>
            <a:pPr marL="287020" indent="-274320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5" dirty="0">
                <a:latin typeface="Times New Roman" pitchFamily="18" charset="0"/>
                <a:cs typeface="Calibri"/>
              </a:rPr>
              <a:t>Firm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B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has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a</a:t>
            </a:r>
            <a:r>
              <a:rPr sz="2600" spc="20" dirty="0">
                <a:latin typeface="Times New Roman" pitchFamily="18" charset="0"/>
                <a:cs typeface="Calibri"/>
              </a:rPr>
              <a:t> </a:t>
            </a:r>
            <a:r>
              <a:rPr sz="2600" b="1" spc="-15" dirty="0">
                <a:latin typeface="Times New Roman" pitchFamily="18" charset="0"/>
                <a:cs typeface="Calibri"/>
              </a:rPr>
              <a:t>comparative</a:t>
            </a:r>
            <a:r>
              <a:rPr sz="2600" b="1" spc="-10" dirty="0">
                <a:latin typeface="Times New Roman" pitchFamily="18" charset="0"/>
                <a:cs typeface="Calibri"/>
              </a:rPr>
              <a:t> </a:t>
            </a:r>
            <a:r>
              <a:rPr sz="2600" b="1" spc="-15" dirty="0">
                <a:latin typeface="Times New Roman" pitchFamily="18" charset="0"/>
                <a:cs typeface="Calibri"/>
              </a:rPr>
              <a:t>advantage</a:t>
            </a:r>
            <a:r>
              <a:rPr sz="2600" b="1" spc="1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in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borrowing</a:t>
            </a:r>
            <a:r>
              <a:rPr sz="2600" spc="5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Euros.</a:t>
            </a:r>
            <a:endParaRPr sz="2600">
              <a:latin typeface="Times New Roman" pitchFamily="18" charset="0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0AD0D9"/>
              </a:buClr>
              <a:buFont typeface="Segoe UI Symbol"/>
              <a:buChar char="⚫"/>
            </a:pPr>
            <a:endParaRPr sz="3550">
              <a:latin typeface="Times New Roman" pitchFamily="18" charset="0"/>
              <a:cs typeface="Calibri"/>
            </a:endParaRPr>
          </a:p>
          <a:p>
            <a:pPr marL="286385" marR="57150" indent="-274320">
              <a:lnSpc>
                <a:spcPct val="100000"/>
              </a:lnSpc>
              <a:buClr>
                <a:srgbClr val="0AD0D9"/>
              </a:buClr>
              <a:buSzPct val="94230"/>
              <a:buFont typeface="Segoe UI Symbol"/>
              <a:buChar char="⚫"/>
              <a:tabLst>
                <a:tab pos="287020" algn="l"/>
              </a:tabLst>
            </a:pPr>
            <a:r>
              <a:rPr sz="2600" spc="-5" dirty="0">
                <a:latin typeface="Times New Roman" pitchFamily="18" charset="0"/>
                <a:cs typeface="Calibri"/>
              </a:rPr>
              <a:t>This </a:t>
            </a:r>
            <a:r>
              <a:rPr sz="2600" spc="-15" dirty="0">
                <a:latin typeface="Times New Roman" pitchFamily="18" charset="0"/>
                <a:cs typeface="Calibri"/>
              </a:rPr>
              <a:t>comparative advantage </a:t>
            </a:r>
            <a:r>
              <a:rPr sz="2600" spc="-5" dirty="0">
                <a:latin typeface="Times New Roman" pitchFamily="18" charset="0"/>
                <a:cs typeface="Calibri"/>
              </a:rPr>
              <a:t>helps </a:t>
            </a:r>
            <a:r>
              <a:rPr sz="2600" dirty="0">
                <a:latin typeface="Times New Roman" pitchFamily="18" charset="0"/>
                <a:cs typeface="Calibri"/>
              </a:rPr>
              <a:t>in </a:t>
            </a:r>
            <a:r>
              <a:rPr sz="2600" spc="-5" dirty="0">
                <a:latin typeface="Times New Roman" pitchFamily="18" charset="0"/>
                <a:cs typeface="Calibri"/>
              </a:rPr>
              <a:t>reducing </a:t>
            </a:r>
            <a:r>
              <a:rPr sz="2600" spc="-10" dirty="0">
                <a:latin typeface="Times New Roman" pitchFamily="18" charset="0"/>
                <a:cs typeface="Calibri"/>
              </a:rPr>
              <a:t>borrowing </a:t>
            </a:r>
            <a:r>
              <a:rPr sz="2600" spc="-575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cost</a:t>
            </a:r>
            <a:r>
              <a:rPr sz="2600" spc="-25" dirty="0">
                <a:latin typeface="Times New Roman" pitchFamily="18" charset="0"/>
                <a:cs typeface="Calibri"/>
              </a:rPr>
              <a:t> </a:t>
            </a:r>
            <a:r>
              <a:rPr sz="2600" dirty="0">
                <a:latin typeface="Times New Roman" pitchFamily="18" charset="0"/>
                <a:cs typeface="Calibri"/>
              </a:rPr>
              <a:t>and</a:t>
            </a:r>
            <a:r>
              <a:rPr sz="2600" spc="-10" dirty="0">
                <a:latin typeface="Times New Roman" pitchFamily="18" charset="0"/>
                <a:cs typeface="Calibri"/>
              </a:rPr>
              <a:t> </a:t>
            </a:r>
            <a:r>
              <a:rPr sz="2600" spc="-5" dirty="0">
                <a:latin typeface="Times New Roman" pitchFamily="18" charset="0"/>
                <a:cs typeface="Calibri"/>
              </a:rPr>
              <a:t>hedging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spc="-10" dirty="0">
                <a:latin typeface="Times New Roman" pitchFamily="18" charset="0"/>
                <a:cs typeface="Calibri"/>
              </a:rPr>
              <a:t>against</a:t>
            </a:r>
            <a:r>
              <a:rPr sz="2600" spc="-20" dirty="0">
                <a:latin typeface="Times New Roman" pitchFamily="18" charset="0"/>
                <a:cs typeface="Calibri"/>
              </a:rPr>
              <a:t> </a:t>
            </a:r>
            <a:r>
              <a:rPr sz="2600" spc="-15" dirty="0">
                <a:latin typeface="Times New Roman" pitchFamily="18" charset="0"/>
                <a:cs typeface="Calibri"/>
              </a:rPr>
              <a:t>exchange</a:t>
            </a:r>
            <a:r>
              <a:rPr sz="2600" spc="-25" dirty="0">
                <a:latin typeface="Times New Roman" pitchFamily="18" charset="0"/>
                <a:cs typeface="Calibri"/>
              </a:rPr>
              <a:t> rate </a:t>
            </a:r>
            <a:r>
              <a:rPr sz="2600" spc="-5" dirty="0">
                <a:latin typeface="Times New Roman" pitchFamily="18" charset="0"/>
                <a:cs typeface="Calibri"/>
              </a:rPr>
              <a:t>fluctuations.</a:t>
            </a:r>
            <a:endParaRPr sz="2600">
              <a:latin typeface="Times New Roman" pitchFamily="18" charset="0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2702</Words>
  <Application>Microsoft Office PowerPoint</Application>
  <PresentationFormat>On-screen Show (4:3)</PresentationFormat>
  <Paragraphs>398</Paragraphs>
  <Slides>50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1" baseType="lpstr">
      <vt:lpstr>Office Theme</vt:lpstr>
      <vt:lpstr>FINANCIAL DERIVATIVES</vt:lpstr>
      <vt:lpstr>What are Derivatives?</vt:lpstr>
      <vt:lpstr>Slide 3</vt:lpstr>
      <vt:lpstr>HISTORY OF DERIVATIVES</vt:lpstr>
      <vt:lpstr>Slide 5</vt:lpstr>
      <vt:lpstr>Slide 6</vt:lpstr>
      <vt:lpstr>Slide 7</vt:lpstr>
      <vt:lpstr>Slide 8</vt:lpstr>
      <vt:lpstr>FEATURES OF DERIVATIVES</vt:lpstr>
      <vt:lpstr>Slide 10</vt:lpstr>
      <vt:lpstr>USES OF DERIVATIVES</vt:lpstr>
      <vt:lpstr>Economic benefits of derivatives</vt:lpstr>
      <vt:lpstr>Traders in Derivatives Market</vt:lpstr>
      <vt:lpstr>Slide 14</vt:lpstr>
      <vt:lpstr>Slide 15</vt:lpstr>
      <vt:lpstr>Slide 16</vt:lpstr>
      <vt:lpstr>What is a Forward?</vt:lpstr>
      <vt:lpstr>Forward Contract Example</vt:lpstr>
      <vt:lpstr>Risks in Forward Contracts</vt:lpstr>
      <vt:lpstr>Terminology</vt:lpstr>
      <vt:lpstr>What are Futures?</vt:lpstr>
      <vt:lpstr>A</vt:lpstr>
      <vt:lpstr>Types of Futures Contracts</vt:lpstr>
      <vt:lpstr>Closing a Futures Position</vt:lpstr>
      <vt:lpstr>Terminology</vt:lpstr>
      <vt:lpstr>Terminology</vt:lpstr>
      <vt:lpstr>Margins</vt:lpstr>
      <vt:lpstr>Margins</vt:lpstr>
      <vt:lpstr>Marking to Market</vt:lpstr>
      <vt:lpstr>Slide 30</vt:lpstr>
      <vt:lpstr>What are Options?</vt:lpstr>
      <vt:lpstr>Types of Options</vt:lpstr>
      <vt:lpstr>Types of Options (cont.)</vt:lpstr>
      <vt:lpstr>Call Option Example</vt:lpstr>
      <vt:lpstr>Put Option Example</vt:lpstr>
      <vt:lpstr>Features of Options</vt:lpstr>
      <vt:lpstr>Options Terminology</vt:lpstr>
      <vt:lpstr>Options Terminology (cont.)</vt:lpstr>
      <vt:lpstr>Options Terminology (cont.)</vt:lpstr>
      <vt:lpstr>What are SWAPS?</vt:lpstr>
      <vt:lpstr>Types of Swaps</vt:lpstr>
      <vt:lpstr>What is an Interest Rate Swap?</vt:lpstr>
      <vt:lpstr>Floating Interest Rate</vt:lpstr>
      <vt:lpstr>Slide 44</vt:lpstr>
      <vt:lpstr>Using a Swap to Transform a Liability</vt:lpstr>
      <vt:lpstr>What is a Currency Swap?</vt:lpstr>
      <vt:lpstr>Slide 47</vt:lpstr>
      <vt:lpstr>Direct Currency Swap Example</vt:lpstr>
      <vt:lpstr>Slide 49</vt:lpstr>
      <vt:lpstr>Comparative Advantage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Keerthi</dc:creator>
  <cp:lastModifiedBy>Elcot</cp:lastModifiedBy>
  <cp:revision>13</cp:revision>
  <dcterms:created xsi:type="dcterms:W3CDTF">2021-04-19T01:18:12Z</dcterms:created>
  <dcterms:modified xsi:type="dcterms:W3CDTF">2021-04-19T02:16:59Z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2012-08-17T00:00:00Z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2021-04-19T00:00:00Z</vt:filetime>
  </property>
</Properties>
</file>