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3.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4.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rts/chart5.xml" ContentType="application/vnd.openxmlformats-officedocument.drawingml.chart+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charts/chart6.xml" ContentType="application/vnd.openxmlformats-officedocument.drawingml.chart+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charts/chart7.xml" ContentType="application/vnd.openxmlformats-officedocument.drawingml.chart+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charts/chart8.xml" ContentType="application/vnd.openxmlformats-officedocument.drawingml.chart+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lang="en-GB" sz="1300" b="0" i="0" u="none" strike="noStrike">
                <a:solidFill>
                  <a:srgbClr val="14213D"/>
                </a:solidFill>
                <a:latin typeface="Cambria"/>
              </a:rPr>
              <a:t>Distribution of one-year return: mean 12%, σ 16%</a:t>
            </a:r>
          </a:p>
        </c:rich>
      </c:tx>
      <c:overlay val="0"/>
    </c:title>
    <c:autoTitleDeleted val="0"/>
    <c:plotArea>
      <c:layout/>
      <c:barChart>
        <c:barDir val="col"/>
        <c:grouping val="stacked"/>
        <c:varyColors val="0"/>
        <c:ser>
          <c:idx val="0"/>
          <c:order val="0"/>
          <c:tx>
            <c:strRef>
              <c:f>Sheet1!$B$1</c:f>
              <c:strCache>
                <c:ptCount val="1"/>
                <c:pt idx="0">
                  <c:v>Shortfall: return below 8%</c:v>
                </c:pt>
              </c:strCache>
            </c:strRef>
          </c:tx>
          <c:spPr>
            <a:solidFill>
              <a:srgbClr val="A63232"/>
            </a:solidFill>
            <a:effectLst/>
          </c:spPr>
          <c:invertIfNegative val="0"/>
          <c:cat>
            <c:strRef>
              <c:f>Sheet1!$A$2:$A$26</c:f>
              <c:strCache>
                <c:ptCount val="25"/>
                <c:pt idx="0">
                  <c:v>-36%</c:v>
                </c:pt>
                <c:pt idx="1">
                  <c:v>-32%</c:v>
                </c:pt>
                <c:pt idx="2">
                  <c:v>-28%</c:v>
                </c:pt>
                <c:pt idx="3">
                  <c:v>-24%</c:v>
                </c:pt>
                <c:pt idx="4">
                  <c:v>-20%</c:v>
                </c:pt>
                <c:pt idx="5">
                  <c:v>-16%</c:v>
                </c:pt>
                <c:pt idx="6">
                  <c:v>-12%</c:v>
                </c:pt>
                <c:pt idx="7">
                  <c:v>-8%</c:v>
                </c:pt>
                <c:pt idx="8">
                  <c:v>-4%</c:v>
                </c:pt>
                <c:pt idx="9">
                  <c:v>0%</c:v>
                </c:pt>
                <c:pt idx="10">
                  <c:v>4%</c:v>
                </c:pt>
                <c:pt idx="11">
                  <c:v>8%</c:v>
                </c:pt>
                <c:pt idx="12">
                  <c:v>12%</c:v>
                </c:pt>
                <c:pt idx="13">
                  <c:v>16%</c:v>
                </c:pt>
                <c:pt idx="14">
                  <c:v>20%</c:v>
                </c:pt>
                <c:pt idx="15">
                  <c:v>24%</c:v>
                </c:pt>
                <c:pt idx="16">
                  <c:v>28%</c:v>
                </c:pt>
                <c:pt idx="17">
                  <c:v>32%</c:v>
                </c:pt>
                <c:pt idx="18">
                  <c:v>36%</c:v>
                </c:pt>
                <c:pt idx="19">
                  <c:v>40%</c:v>
                </c:pt>
                <c:pt idx="20">
                  <c:v>44%</c:v>
                </c:pt>
                <c:pt idx="21">
                  <c:v>48%</c:v>
                </c:pt>
                <c:pt idx="22">
                  <c:v>52%</c:v>
                </c:pt>
                <c:pt idx="23">
                  <c:v>56%</c:v>
                </c:pt>
                <c:pt idx="24">
                  <c:v>60%</c:v>
                </c:pt>
              </c:strCache>
            </c:strRef>
          </c:cat>
          <c:val>
            <c:numRef>
              <c:f>Sheet1!$B$2:$B$26</c:f>
              <c:numCache>
                <c:formatCode>General</c:formatCode>
                <c:ptCount val="25"/>
                <c:pt idx="0">
                  <c:v>2.8000000000000001E-2</c:v>
                </c:pt>
                <c:pt idx="1">
                  <c:v>5.7000000000000002E-2</c:v>
                </c:pt>
                <c:pt idx="2">
                  <c:v>0.11</c:v>
                </c:pt>
                <c:pt idx="3">
                  <c:v>0.19800000000000001</c:v>
                </c:pt>
                <c:pt idx="4">
                  <c:v>0.33700000000000002</c:v>
                </c:pt>
                <c:pt idx="5">
                  <c:v>0.53900000000000003</c:v>
                </c:pt>
                <c:pt idx="6">
                  <c:v>0.80900000000000005</c:v>
                </c:pt>
                <c:pt idx="7">
                  <c:v>1.1419999999999999</c:v>
                </c:pt>
                <c:pt idx="8">
                  <c:v>1.512</c:v>
                </c:pt>
                <c:pt idx="9">
                  <c:v>1.8819999999999999</c:v>
                </c:pt>
                <c:pt idx="10">
                  <c:v>2.2000000000000002</c:v>
                </c:pt>
                <c:pt idx="11">
                  <c:v>2.4169999999999998</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extLst>
            <c:ext xmlns:c16="http://schemas.microsoft.com/office/drawing/2014/chart" uri="{C3380CC4-5D6E-409C-BE32-E72D297353CC}">
              <c16:uniqueId val="{00000000-EAC7-488C-8FE8-B903438DC04B}"/>
            </c:ext>
          </c:extLst>
        </c:ser>
        <c:ser>
          <c:idx val="1"/>
          <c:order val="1"/>
          <c:tx>
            <c:strRef>
              <c:f>Sheet1!$C$1</c:f>
              <c:strCache>
                <c:ptCount val="1"/>
                <c:pt idx="0">
                  <c:v>Return at or above 8%</c:v>
                </c:pt>
              </c:strCache>
            </c:strRef>
          </c:tx>
          <c:spPr>
            <a:solidFill>
              <a:srgbClr val="9FB0CE"/>
            </a:solidFill>
            <a:effectLst/>
          </c:spPr>
          <c:invertIfNegative val="0"/>
          <c:cat>
            <c:strRef>
              <c:f>Sheet1!$A$2:$A$26</c:f>
              <c:strCache>
                <c:ptCount val="25"/>
                <c:pt idx="0">
                  <c:v>-36%</c:v>
                </c:pt>
                <c:pt idx="1">
                  <c:v>-32%</c:v>
                </c:pt>
                <c:pt idx="2">
                  <c:v>-28%</c:v>
                </c:pt>
                <c:pt idx="3">
                  <c:v>-24%</c:v>
                </c:pt>
                <c:pt idx="4">
                  <c:v>-20%</c:v>
                </c:pt>
                <c:pt idx="5">
                  <c:v>-16%</c:v>
                </c:pt>
                <c:pt idx="6">
                  <c:v>-12%</c:v>
                </c:pt>
                <c:pt idx="7">
                  <c:v>-8%</c:v>
                </c:pt>
                <c:pt idx="8">
                  <c:v>-4%</c:v>
                </c:pt>
                <c:pt idx="9">
                  <c:v>0%</c:v>
                </c:pt>
                <c:pt idx="10">
                  <c:v>4%</c:v>
                </c:pt>
                <c:pt idx="11">
                  <c:v>8%</c:v>
                </c:pt>
                <c:pt idx="12">
                  <c:v>12%</c:v>
                </c:pt>
                <c:pt idx="13">
                  <c:v>16%</c:v>
                </c:pt>
                <c:pt idx="14">
                  <c:v>20%</c:v>
                </c:pt>
                <c:pt idx="15">
                  <c:v>24%</c:v>
                </c:pt>
                <c:pt idx="16">
                  <c:v>28%</c:v>
                </c:pt>
                <c:pt idx="17">
                  <c:v>32%</c:v>
                </c:pt>
                <c:pt idx="18">
                  <c:v>36%</c:v>
                </c:pt>
                <c:pt idx="19">
                  <c:v>40%</c:v>
                </c:pt>
                <c:pt idx="20">
                  <c:v>44%</c:v>
                </c:pt>
                <c:pt idx="21">
                  <c:v>48%</c:v>
                </c:pt>
                <c:pt idx="22">
                  <c:v>52%</c:v>
                </c:pt>
                <c:pt idx="23">
                  <c:v>56%</c:v>
                </c:pt>
                <c:pt idx="24">
                  <c:v>60%</c:v>
                </c:pt>
              </c:strCache>
            </c:strRef>
          </c:cat>
          <c:val>
            <c:numRef>
              <c:f>Sheet1!$C$2:$C$26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2.4929999999999999</c:v>
                </c:pt>
                <c:pt idx="13">
                  <c:v>2.4169999999999998</c:v>
                </c:pt>
                <c:pt idx="14">
                  <c:v>2.2000000000000002</c:v>
                </c:pt>
                <c:pt idx="15">
                  <c:v>1.8819999999999999</c:v>
                </c:pt>
                <c:pt idx="16">
                  <c:v>1.512</c:v>
                </c:pt>
                <c:pt idx="17">
                  <c:v>1.1419999999999999</c:v>
                </c:pt>
                <c:pt idx="18">
                  <c:v>0.80900000000000005</c:v>
                </c:pt>
                <c:pt idx="19">
                  <c:v>0.53900000000000003</c:v>
                </c:pt>
                <c:pt idx="20">
                  <c:v>0.33700000000000002</c:v>
                </c:pt>
                <c:pt idx="21">
                  <c:v>0.19800000000000001</c:v>
                </c:pt>
                <c:pt idx="22">
                  <c:v>0.11</c:v>
                </c:pt>
                <c:pt idx="23">
                  <c:v>5.7000000000000002E-2</c:v>
                </c:pt>
                <c:pt idx="24">
                  <c:v>2.8000000000000001E-2</c:v>
                </c:pt>
              </c:numCache>
            </c:numRef>
          </c:val>
          <c:extLst>
            <c:ext xmlns:c16="http://schemas.microsoft.com/office/drawing/2014/chart" uri="{C3380CC4-5D6E-409C-BE32-E72D297353CC}">
              <c16:uniqueId val="{00000001-EAC7-488C-8FE8-B903438DC04B}"/>
            </c:ext>
          </c:extLst>
        </c:ser>
        <c:dLbls>
          <c:showLegendKey val="0"/>
          <c:showVal val="0"/>
          <c:showCatName val="0"/>
          <c:showSerName val="0"/>
          <c:showPercent val="0"/>
          <c:showBubbleSize val="0"/>
        </c:dLbls>
        <c:gapWidth val="15"/>
        <c:overlap val="100"/>
        <c:axId val="2094734554"/>
        <c:axId val="2094734552"/>
      </c:barChart>
      <c:catAx>
        <c:axId val="2094734554"/>
        <c:scaling>
          <c:orientation val="minMax"/>
        </c:scaling>
        <c:delete val="0"/>
        <c:axPos val="b"/>
        <c:title>
          <c:tx>
            <c:rich>
              <a:bodyPr/>
              <a:lstStyle/>
              <a:p>
                <a:pPr>
                  <a:defRPr sz="1000" b="0" i="0" u="none" strike="noStrike">
                    <a:solidFill>
                      <a:srgbClr val="5C6577"/>
                    </a:solidFill>
                    <a:latin typeface="Arial"/>
                  </a:defRPr>
                </a:pPr>
                <a:r>
                  <a:rPr lang="en-IN" sz="1000" b="0" i="0" u="none" strike="noStrike">
                    <a:solidFill>
                      <a:srgbClr val="5C6577"/>
                    </a:solidFill>
                    <a:latin typeface="Arial"/>
                  </a:rPr>
                  <a:t>Annual return</a:t>
                </a:r>
              </a:p>
            </c:rich>
          </c:tx>
          <c:overlay val="0"/>
        </c:title>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5C6577"/>
                </a:solidFill>
                <a:latin typeface="Calibri"/>
              </a:defRPr>
            </a:pPr>
            <a:endParaRPr lang="en-US"/>
          </a:p>
        </c:txPr>
        <c:crossAx val="2094734552"/>
        <c:crosses val="autoZero"/>
        <c:auto val="1"/>
        <c:lblAlgn val="ctr"/>
        <c:lblOffset val="100"/>
        <c:tickLblSkip val="2"/>
        <c:noMultiLvlLbl val="1"/>
      </c:catAx>
      <c:valAx>
        <c:axId val="2094734552"/>
        <c:scaling>
          <c:orientation val="minMax"/>
        </c:scaling>
        <c:delete val="0"/>
        <c:axPos val="l"/>
        <c:majorGridlines>
          <c:spPr>
            <a:ln w="6350" cap="flat">
              <a:solidFill>
                <a:srgbClr val="E4DDCB"/>
              </a:solidFill>
              <a:prstDash val="solid"/>
              <a:round/>
            </a:ln>
          </c:spPr>
        </c:majorGridlines>
        <c:title>
          <c:tx>
            <c:rich>
              <a:bodyPr/>
              <a:lstStyle/>
              <a:p>
                <a:pPr>
                  <a:defRPr sz="1000" b="0" i="0" u="none" strike="noStrike">
                    <a:solidFill>
                      <a:srgbClr val="5C6577"/>
                    </a:solidFill>
                    <a:latin typeface="Arial"/>
                  </a:defRPr>
                </a:pPr>
                <a:r>
                  <a:rPr lang="en-IN" sz="1000" b="0" i="0" u="none" strike="noStrike">
                    <a:solidFill>
                      <a:srgbClr val="5C6577"/>
                    </a:solidFill>
                    <a:latin typeface="Arial"/>
                  </a:rPr>
                  <a:t>Probability density (×100)</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E25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lang="en-GB" sz="1300" b="0" i="0" u="none" strike="noStrike">
                <a:solidFill>
                  <a:srgbClr val="14213D"/>
                </a:solidFill>
                <a:latin typeface="Cambria"/>
              </a:rPr>
              <a:t>Portfolio σ (%) vs number of stocks (σ̄ = 30%, average ρ = 0.30)</a:t>
            </a:r>
          </a:p>
        </c:rich>
      </c:tx>
      <c:overlay val="0"/>
    </c:title>
    <c:autoTitleDeleted val="0"/>
    <c:plotArea>
      <c:layout/>
      <c:lineChart>
        <c:grouping val="standard"/>
        <c:varyColors val="0"/>
        <c:ser>
          <c:idx val="0"/>
          <c:order val="0"/>
          <c:tx>
            <c:strRef>
              <c:f>Sheet1!$B$1</c:f>
              <c:strCache>
                <c:ptCount val="1"/>
                <c:pt idx="0">
                  <c:v>Portfolio σ</c:v>
                </c:pt>
              </c:strCache>
            </c:strRef>
          </c:tx>
          <c:spPr>
            <a:ln w="31750" cap="flat">
              <a:solidFill>
                <a:srgbClr val="14213D"/>
              </a:solidFill>
              <a:prstDash val="solid"/>
              <a:round/>
            </a:ln>
            <a:effectLst/>
          </c:spPr>
          <c:marker>
            <c:symbol val="circle"/>
            <c:size val="7"/>
            <c:spPr>
              <a:solidFill>
                <a:srgbClr val="14213D"/>
              </a:solidFill>
              <a:ln w="9525" cap="flat">
                <a:solidFill>
                  <a:srgbClr val="14213D"/>
                </a:solidFill>
                <a:prstDash val="solid"/>
                <a:round/>
              </a:ln>
              <a:effectLst/>
            </c:spPr>
          </c:marker>
          <c:cat>
            <c:strRef>
              <c:f>Sheet1!$A$2:$A$12</c:f>
              <c:strCache>
                <c:ptCount val="11"/>
                <c:pt idx="0">
                  <c:v>1</c:v>
                </c:pt>
                <c:pt idx="1">
                  <c:v>2</c:v>
                </c:pt>
                <c:pt idx="2">
                  <c:v>3</c:v>
                </c:pt>
                <c:pt idx="3">
                  <c:v>4</c:v>
                </c:pt>
                <c:pt idx="4">
                  <c:v>5</c:v>
                </c:pt>
                <c:pt idx="5">
                  <c:v>10</c:v>
                </c:pt>
                <c:pt idx="6">
                  <c:v>15</c:v>
                </c:pt>
                <c:pt idx="7">
                  <c:v>20</c:v>
                </c:pt>
                <c:pt idx="8">
                  <c:v>30</c:v>
                </c:pt>
                <c:pt idx="9">
                  <c:v>50</c:v>
                </c:pt>
                <c:pt idx="10">
                  <c:v>100</c:v>
                </c:pt>
              </c:strCache>
            </c:strRef>
          </c:cat>
          <c:val>
            <c:numRef>
              <c:f>Sheet1!$B$2:$B$12</c:f>
              <c:numCache>
                <c:formatCode>General</c:formatCode>
                <c:ptCount val="11"/>
                <c:pt idx="0">
                  <c:v>30</c:v>
                </c:pt>
                <c:pt idx="1">
                  <c:v>24.19</c:v>
                </c:pt>
                <c:pt idx="2">
                  <c:v>21.91</c:v>
                </c:pt>
                <c:pt idx="3">
                  <c:v>20.68</c:v>
                </c:pt>
                <c:pt idx="4">
                  <c:v>19.899999999999999</c:v>
                </c:pt>
                <c:pt idx="5">
                  <c:v>18.25</c:v>
                </c:pt>
                <c:pt idx="6">
                  <c:v>17.66</c:v>
                </c:pt>
                <c:pt idx="7">
                  <c:v>17.36</c:v>
                </c:pt>
                <c:pt idx="8">
                  <c:v>17.059999999999999</c:v>
                </c:pt>
                <c:pt idx="9">
                  <c:v>16.809999999999999</c:v>
                </c:pt>
                <c:pt idx="10">
                  <c:v>16.62</c:v>
                </c:pt>
              </c:numCache>
            </c:numRef>
          </c:val>
          <c:smooth val="0"/>
          <c:extLst>
            <c:ext xmlns:c16="http://schemas.microsoft.com/office/drawing/2014/chart" uri="{C3380CC4-5D6E-409C-BE32-E72D297353CC}">
              <c16:uniqueId val="{00000000-D687-41C0-9D4D-B5AE9CEB5C44}"/>
            </c:ext>
          </c:extLst>
        </c:ser>
        <c:ser>
          <c:idx val="1"/>
          <c:order val="1"/>
          <c:tx>
            <c:strRef>
              <c:f>Sheet1!$C$1</c:f>
              <c:strCache>
                <c:ptCount val="1"/>
                <c:pt idx="0">
                  <c:v>Systematic floor</c:v>
                </c:pt>
              </c:strCache>
            </c:strRef>
          </c:tx>
          <c:spPr>
            <a:ln w="31750" cap="flat">
              <a:solidFill>
                <a:srgbClr val="C9A227"/>
              </a:solidFill>
              <a:prstDash val="solid"/>
              <a:round/>
            </a:ln>
            <a:effectLst/>
          </c:spPr>
          <c:marker>
            <c:symbol val="circle"/>
            <c:size val="7"/>
            <c:spPr>
              <a:solidFill>
                <a:srgbClr val="C9A227"/>
              </a:solidFill>
              <a:ln w="9525" cap="flat">
                <a:solidFill>
                  <a:srgbClr val="C9A227"/>
                </a:solidFill>
                <a:prstDash val="solid"/>
                <a:round/>
              </a:ln>
              <a:effectLst/>
            </c:spPr>
          </c:marker>
          <c:cat>
            <c:strRef>
              <c:f>Sheet1!$A$2:$A$12</c:f>
              <c:strCache>
                <c:ptCount val="11"/>
                <c:pt idx="0">
                  <c:v>1</c:v>
                </c:pt>
                <c:pt idx="1">
                  <c:v>2</c:v>
                </c:pt>
                <c:pt idx="2">
                  <c:v>3</c:v>
                </c:pt>
                <c:pt idx="3">
                  <c:v>4</c:v>
                </c:pt>
                <c:pt idx="4">
                  <c:v>5</c:v>
                </c:pt>
                <c:pt idx="5">
                  <c:v>10</c:v>
                </c:pt>
                <c:pt idx="6">
                  <c:v>15</c:v>
                </c:pt>
                <c:pt idx="7">
                  <c:v>20</c:v>
                </c:pt>
                <c:pt idx="8">
                  <c:v>30</c:v>
                </c:pt>
                <c:pt idx="9">
                  <c:v>50</c:v>
                </c:pt>
                <c:pt idx="10">
                  <c:v>100</c:v>
                </c:pt>
              </c:strCache>
            </c:strRef>
          </c:cat>
          <c:val>
            <c:numRef>
              <c:f>Sheet1!$C$2:$C$12</c:f>
              <c:numCache>
                <c:formatCode>General</c:formatCode>
                <c:ptCount val="11"/>
                <c:pt idx="0">
                  <c:v>16.43</c:v>
                </c:pt>
                <c:pt idx="1">
                  <c:v>16.43</c:v>
                </c:pt>
                <c:pt idx="2">
                  <c:v>16.43</c:v>
                </c:pt>
                <c:pt idx="3">
                  <c:v>16.43</c:v>
                </c:pt>
                <c:pt idx="4">
                  <c:v>16.43</c:v>
                </c:pt>
                <c:pt idx="5">
                  <c:v>16.43</c:v>
                </c:pt>
                <c:pt idx="6">
                  <c:v>16.43</c:v>
                </c:pt>
                <c:pt idx="7">
                  <c:v>16.43</c:v>
                </c:pt>
                <c:pt idx="8">
                  <c:v>16.43</c:v>
                </c:pt>
                <c:pt idx="9">
                  <c:v>16.43</c:v>
                </c:pt>
                <c:pt idx="10">
                  <c:v>16.43</c:v>
                </c:pt>
              </c:numCache>
            </c:numRef>
          </c:val>
          <c:smooth val="0"/>
          <c:extLst>
            <c:ext xmlns:c16="http://schemas.microsoft.com/office/drawing/2014/chart" uri="{C3380CC4-5D6E-409C-BE32-E72D297353CC}">
              <c16:uniqueId val="{00000001-D687-41C0-9D4D-B5AE9CEB5C4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5C6577"/>
                    </a:solidFill>
                    <a:latin typeface="Arial"/>
                  </a:defRPr>
                </a:pPr>
                <a:r>
                  <a:rPr lang="en-IN" sz="1000" b="0" i="0" u="none" strike="noStrike">
                    <a:solidFill>
                      <a:srgbClr val="5C6577"/>
                    </a:solidFill>
                    <a:latin typeface="Arial"/>
                  </a:rPr>
                  <a:t>Number of stocks (n)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2"/>
        <c:crosses val="autoZero"/>
        <c:auto val="1"/>
        <c:lblAlgn val="ctr"/>
        <c:lblOffset val="100"/>
        <c:noMultiLvlLbl val="1"/>
      </c:catAx>
      <c:valAx>
        <c:axId val="2094734552"/>
        <c:scaling>
          <c:orientation val="minMax"/>
          <c:max val="32"/>
          <c:min val="10"/>
        </c:scaling>
        <c:delete val="0"/>
        <c:axPos val="l"/>
        <c:majorGridlines>
          <c:spPr>
            <a:ln w="6350" cap="flat">
              <a:solidFill>
                <a:srgbClr val="E4DDCB"/>
              </a:solidFill>
              <a:prstDash val="solid"/>
              <a:round/>
            </a:ln>
          </c:spPr>
        </c:majorGridlines>
        <c:title>
          <c:tx>
            <c:rich>
              <a:bodyPr/>
              <a:lstStyle/>
              <a:p>
                <a:pPr>
                  <a:defRPr sz="1000" b="0" i="0" u="none" strike="noStrike">
                    <a:solidFill>
                      <a:srgbClr val="5C6577"/>
                    </a:solidFill>
                    <a:latin typeface="Arial"/>
                  </a:defRPr>
                </a:pPr>
                <a:r>
                  <a:rPr lang="en-IN" sz="1000" b="0" i="0" u="none" strike="noStrike">
                    <a:solidFill>
                      <a:srgbClr val="5C6577"/>
                    </a:solidFill>
                    <a:latin typeface="Arial"/>
                  </a:rPr>
                  <a:t>Portfolio </a:t>
                </a:r>
                <a:r>
                  <a:rPr lang="el-GR" sz="1000" b="0" i="0" u="none" strike="noStrike">
                    <a:solidFill>
                      <a:srgbClr val="5C6577"/>
                    </a:solidFill>
                    <a:latin typeface="Arial"/>
                  </a:rPr>
                  <a:t>σ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E25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lang="en-GB" sz="1300" b="0" i="0" u="none" strike="noStrike">
                <a:solidFill>
                  <a:srgbClr val="14213D"/>
                </a:solidFill>
                <a:latin typeface="Cambria"/>
              </a:rPr>
              <a:t>EBIT (₹ crore) under different USD-INR outcomes</a:t>
            </a:r>
          </a:p>
        </c:rich>
      </c:tx>
      <c:layout/>
      <c:overlay val="0"/>
    </c:title>
    <c:autoTitleDeleted val="0"/>
    <c:plotArea>
      <c:layout/>
      <c:barChart>
        <c:barDir val="col"/>
        <c:grouping val="clustered"/>
        <c:varyColors val="0"/>
        <c:ser>
          <c:idx val="0"/>
          <c:order val="0"/>
          <c:tx>
            <c:strRef>
              <c:f>Sheet1!$B$1</c:f>
              <c:strCache>
                <c:ptCount val="1"/>
                <c:pt idx="0">
                  <c:v>Unhedged EBIT</c:v>
                </c:pt>
              </c:strCache>
            </c:strRef>
          </c:tx>
          <c:spPr>
            <a:solidFill>
              <a:srgbClr val="14213D"/>
            </a:solidFill>
            <a:effectLst/>
          </c:spPr>
          <c:invertIfNegative val="0"/>
          <c:dLbls>
            <c:numFmt formatCode="0" sourceLinked="0"/>
            <c:spPr>
              <a:noFill/>
              <a:ln>
                <a:noFill/>
              </a:ln>
              <a:effectLst/>
            </c:spPr>
            <c:txPr>
              <a:bodyPr/>
              <a:lstStyle/>
              <a:p>
                <a:pPr>
                  <a:defRPr sz="900" b="0" i="0" u="none" strike="noStrike">
                    <a:solidFill>
                      <a:srgbClr val="1E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₹80</c:v>
                </c:pt>
                <c:pt idx="1">
                  <c:v>₹83</c:v>
                </c:pt>
                <c:pt idx="2">
                  <c:v>₹86</c:v>
                </c:pt>
                <c:pt idx="3">
                  <c:v>₹89</c:v>
                </c:pt>
                <c:pt idx="4">
                  <c:v>₹92</c:v>
                </c:pt>
              </c:strCache>
            </c:strRef>
          </c:cat>
          <c:val>
            <c:numRef>
              <c:f>Sheet1!$B$2:$B$6</c:f>
              <c:numCache>
                <c:formatCode>General</c:formatCode>
                <c:ptCount val="5"/>
                <c:pt idx="0">
                  <c:v>100</c:v>
                </c:pt>
                <c:pt idx="1">
                  <c:v>115</c:v>
                </c:pt>
                <c:pt idx="2">
                  <c:v>130</c:v>
                </c:pt>
                <c:pt idx="3">
                  <c:v>145</c:v>
                </c:pt>
                <c:pt idx="4">
                  <c:v>160</c:v>
                </c:pt>
              </c:numCache>
            </c:numRef>
          </c:val>
          <c:extLst>
            <c:ext xmlns:c16="http://schemas.microsoft.com/office/drawing/2014/chart" uri="{C3380CC4-5D6E-409C-BE32-E72D297353CC}">
              <c16:uniqueId val="{00000000-ACE9-4857-BBD0-6406A4A311A8}"/>
            </c:ext>
          </c:extLst>
        </c:ser>
        <c:ser>
          <c:idx val="1"/>
          <c:order val="1"/>
          <c:tx>
            <c:strRef>
              <c:f>Sheet1!$C$1</c:f>
              <c:strCache>
                <c:ptCount val="1"/>
                <c:pt idx="0">
                  <c:v>Hedged EBIT (forward @ ₹86)</c:v>
                </c:pt>
              </c:strCache>
            </c:strRef>
          </c:tx>
          <c:spPr>
            <a:solidFill>
              <a:srgbClr val="C9A227"/>
            </a:solidFill>
            <a:effectLst/>
          </c:spPr>
          <c:invertIfNegative val="0"/>
          <c:dLbls>
            <c:numFmt formatCode="0" sourceLinked="0"/>
            <c:spPr>
              <a:noFill/>
              <a:ln>
                <a:noFill/>
              </a:ln>
              <a:effectLst/>
            </c:spPr>
            <c:txPr>
              <a:bodyPr/>
              <a:lstStyle/>
              <a:p>
                <a:pPr>
                  <a:defRPr sz="900" b="0" i="0" u="none" strike="noStrike">
                    <a:solidFill>
                      <a:srgbClr val="1E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₹80</c:v>
                </c:pt>
                <c:pt idx="1">
                  <c:v>₹83</c:v>
                </c:pt>
                <c:pt idx="2">
                  <c:v>₹86</c:v>
                </c:pt>
                <c:pt idx="3">
                  <c:v>₹89</c:v>
                </c:pt>
                <c:pt idx="4">
                  <c:v>₹92</c:v>
                </c:pt>
              </c:strCache>
            </c:strRef>
          </c:cat>
          <c:val>
            <c:numRef>
              <c:f>Sheet1!$C$2:$C$6</c:f>
              <c:numCache>
                <c:formatCode>General</c:formatCode>
                <c:ptCount val="5"/>
                <c:pt idx="0">
                  <c:v>130</c:v>
                </c:pt>
                <c:pt idx="1">
                  <c:v>130</c:v>
                </c:pt>
                <c:pt idx="2">
                  <c:v>130</c:v>
                </c:pt>
                <c:pt idx="3">
                  <c:v>130</c:v>
                </c:pt>
                <c:pt idx="4">
                  <c:v>130</c:v>
                </c:pt>
              </c:numCache>
            </c:numRef>
          </c:val>
          <c:extLst>
            <c:ext xmlns:c16="http://schemas.microsoft.com/office/drawing/2014/chart" uri="{C3380CC4-5D6E-409C-BE32-E72D297353CC}">
              <c16:uniqueId val="{00000001-ACE9-4857-BBD0-6406A4A311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000" b="0" i="0" u="none" strike="noStrike">
                    <a:solidFill>
                      <a:srgbClr val="5C6577"/>
                    </a:solidFill>
                    <a:latin typeface="Arial"/>
                  </a:defRPr>
                </a:pPr>
                <a:r>
                  <a:rPr lang="en-IN" sz="1000" b="0" i="0" u="none" strike="noStrike">
                    <a:solidFill>
                      <a:srgbClr val="5C6577"/>
                    </a:solidFill>
                    <a:latin typeface="Arial"/>
                  </a:rPr>
                  <a:t>USD-INR at year end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2"/>
        <c:crosses val="autoZero"/>
        <c:auto val="1"/>
        <c:lblAlgn val="ctr"/>
        <c:lblOffset val="100"/>
        <c:noMultiLvlLbl val="1"/>
      </c:catAx>
      <c:valAx>
        <c:axId val="2094734552"/>
        <c:scaling>
          <c:orientation val="minMax"/>
          <c:max val="180"/>
          <c:min val="0"/>
        </c:scaling>
        <c:delete val="0"/>
        <c:axPos val="l"/>
        <c:majorGridlines>
          <c:spPr>
            <a:ln w="6350" cap="flat">
              <a:solidFill>
                <a:srgbClr val="E4DD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valAx>
      <c:spPr>
        <a:solidFill>
          <a:srgbClr val="FFFFFF"/>
        </a:solidFill>
        <a:ln>
          <a:noFill/>
        </a:ln>
        <a:effectLst/>
      </c:spPr>
    </c:plotArea>
    <c:legend>
      <c:legendPos val="b"/>
      <c:layout/>
      <c:overlay val="0"/>
      <c:txPr>
        <a:bodyPr/>
        <a:lstStyle/>
        <a:p>
          <a:pPr>
            <a:defRPr sz="1000">
              <a:solidFill>
                <a:srgbClr val="1E25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RAROC vs 14% hurdle (%)</a:t>
            </a:r>
          </a:p>
        </c:rich>
      </c:tx>
      <c:overlay val="0"/>
    </c:title>
    <c:autoTitleDeleted val="0"/>
    <c:plotArea>
      <c:layout/>
      <c:barChart>
        <c:barDir val="bar"/>
        <c:grouping val="clustered"/>
        <c:varyColors val="0"/>
        <c:ser>
          <c:idx val="0"/>
          <c:order val="0"/>
          <c:tx>
            <c:strRef>
              <c:f>Sheet1!$B$1</c:f>
              <c:strCache>
                <c:ptCount val="1"/>
                <c:pt idx="0">
                  <c:v>RAROC</c:v>
                </c:pt>
              </c:strCache>
            </c:strRef>
          </c:tx>
          <c:spPr>
            <a:solidFill>
              <a:srgbClr val="14213D"/>
            </a:solidFill>
            <a:effectLst/>
          </c:spPr>
          <c:invertIfNegative val="0"/>
          <c:dLbls>
            <c:numFmt formatCode="0.0" sourceLinked="0"/>
            <c:spPr>
              <a:noFill/>
              <a:ln>
                <a:noFill/>
              </a:ln>
              <a:effectLst/>
            </c:spPr>
            <c:txPr>
              <a:bodyPr/>
              <a:lstStyle/>
              <a:p>
                <a:pPr>
                  <a:defRPr sz="900" b="0" i="0" u="none" strike="noStrike">
                    <a:solidFill>
                      <a:srgbClr val="1E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Retail loans</c:v>
                </c:pt>
                <c:pt idx="1">
                  <c:v>Corporate loans</c:v>
                </c:pt>
                <c:pt idx="2">
                  <c:v>Treasury trading</c:v>
                </c:pt>
              </c:strCache>
            </c:strRef>
          </c:cat>
          <c:val>
            <c:numRef>
              <c:f>Sheet1!$B$2:$B$4</c:f>
              <c:numCache>
                <c:formatCode>General</c:formatCode>
                <c:ptCount val="3"/>
                <c:pt idx="0">
                  <c:v>15</c:v>
                </c:pt>
                <c:pt idx="1">
                  <c:v>18</c:v>
                </c:pt>
                <c:pt idx="2">
                  <c:v>12.5</c:v>
                </c:pt>
              </c:numCache>
            </c:numRef>
          </c:val>
          <c:extLst>
            <c:ext xmlns:c16="http://schemas.microsoft.com/office/drawing/2014/chart" uri="{C3380CC4-5D6E-409C-BE32-E72D297353CC}">
              <c16:uniqueId val="{00000000-1D3C-433A-B028-80C6E49C4994}"/>
            </c:ext>
          </c:extLst>
        </c:ser>
        <c:ser>
          <c:idx val="1"/>
          <c:order val="1"/>
          <c:tx>
            <c:strRef>
              <c:f>Sheet1!$C$1</c:f>
              <c:strCache>
                <c:ptCount val="1"/>
                <c:pt idx="0">
                  <c:v>Hurdle rate</c:v>
                </c:pt>
              </c:strCache>
            </c:strRef>
          </c:tx>
          <c:spPr>
            <a:solidFill>
              <a:srgbClr val="C9A227"/>
            </a:solidFill>
            <a:effectLst/>
          </c:spPr>
          <c:invertIfNegative val="0"/>
          <c:dLbls>
            <c:numFmt formatCode="0.0" sourceLinked="0"/>
            <c:spPr>
              <a:noFill/>
              <a:ln>
                <a:noFill/>
              </a:ln>
              <a:effectLst/>
            </c:spPr>
            <c:txPr>
              <a:bodyPr/>
              <a:lstStyle/>
              <a:p>
                <a:pPr>
                  <a:defRPr sz="900" b="0" i="0" u="none" strike="noStrike">
                    <a:solidFill>
                      <a:srgbClr val="1E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Retail loans</c:v>
                </c:pt>
                <c:pt idx="1">
                  <c:v>Corporate loans</c:v>
                </c:pt>
                <c:pt idx="2">
                  <c:v>Treasury trading</c:v>
                </c:pt>
              </c:strCache>
            </c:strRef>
          </c:cat>
          <c:val>
            <c:numRef>
              <c:f>Sheet1!$C$2:$C$4</c:f>
              <c:numCache>
                <c:formatCode>General</c:formatCode>
                <c:ptCount val="3"/>
                <c:pt idx="0">
                  <c:v>14</c:v>
                </c:pt>
                <c:pt idx="1">
                  <c:v>14</c:v>
                </c:pt>
                <c:pt idx="2">
                  <c:v>14</c:v>
                </c:pt>
              </c:numCache>
            </c:numRef>
          </c:val>
          <c:extLst>
            <c:ext xmlns:c16="http://schemas.microsoft.com/office/drawing/2014/chart" uri="{C3380CC4-5D6E-409C-BE32-E72D297353CC}">
              <c16:uniqueId val="{00000001-1D3C-433A-B028-80C6E49C499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2"/>
        <c:crosses val="autoZero"/>
        <c:auto val="1"/>
        <c:lblAlgn val="ctr"/>
        <c:lblOffset val="100"/>
        <c:noMultiLvlLbl val="1"/>
      </c:catAx>
      <c:valAx>
        <c:axId val="2094734552"/>
        <c:scaling>
          <c:orientation val="minMax"/>
          <c:max val="22"/>
          <c:min val="0"/>
        </c:scaling>
        <c:delete val="0"/>
        <c:axPos val="b"/>
        <c:majorGridlines>
          <c:spPr>
            <a:ln w="6350" cap="flat">
              <a:solidFill>
                <a:srgbClr val="E4DDC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valAx>
      <c:spPr>
        <a:solidFill>
          <a:srgbClr val="FFFFFF"/>
        </a:solidFill>
        <a:ln>
          <a:noFill/>
        </a:ln>
        <a:effectLst/>
      </c:spPr>
    </c:plotArea>
    <c:legend>
      <c:legendPos val="r"/>
      <c:overlay val="0"/>
      <c:txPr>
        <a:bodyPr/>
        <a:lstStyle/>
        <a:p>
          <a:pPr>
            <a:defRPr sz="1000">
              <a:solidFill>
                <a:srgbClr val="1E25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lang="en-GB" sz="1300" b="0" i="0" u="none" strike="noStrike">
                <a:solidFill>
                  <a:srgbClr val="14213D"/>
                </a:solidFill>
                <a:latin typeface="Cambria"/>
              </a:rPr>
              <a:t>Loss distribution: 100 loans × ₹1 crore, PD 2%, LGD 45%</a:t>
            </a:r>
          </a:p>
        </c:rich>
      </c:tx>
      <c:layout/>
      <c:overlay val="0"/>
    </c:title>
    <c:autoTitleDeleted val="0"/>
    <c:plotArea>
      <c:layout/>
      <c:barChart>
        <c:barDir val="col"/>
        <c:grouping val="clustered"/>
        <c:varyColors val="0"/>
        <c:ser>
          <c:idx val="0"/>
          <c:order val="0"/>
          <c:tx>
            <c:strRef>
              <c:f>Sheet1!$B$1</c:f>
              <c:strCache>
                <c:ptCount val="1"/>
                <c:pt idx="0">
                  <c:v>Probability</c:v>
                </c:pt>
              </c:strCache>
            </c:strRef>
          </c:tx>
          <c:spPr>
            <a:solidFill>
              <a:srgbClr val="14213D"/>
            </a:solidFill>
            <a:effectLst/>
          </c:spPr>
          <c:invertIfNegative val="0"/>
          <c:dLbls>
            <c:numFmt formatCode="0.0" sourceLinked="0"/>
            <c:spPr>
              <a:noFill/>
              <a:ln>
                <a:noFill/>
              </a:ln>
              <a:effectLst/>
            </c:spPr>
            <c:txPr>
              <a:bodyPr/>
              <a:lstStyle/>
              <a:p>
                <a:pPr>
                  <a:defRPr sz="900" b="0" i="0" u="none" strike="noStrike">
                    <a:solidFill>
                      <a:srgbClr val="1E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Sheet1!$A$2:$A$10</c:f>
              <c:strCache>
                <c:ptCount val="9"/>
                <c:pt idx="0">
                  <c:v>₹0.00</c:v>
                </c:pt>
                <c:pt idx="1">
                  <c:v>₹0.45</c:v>
                </c:pt>
                <c:pt idx="2">
                  <c:v>₹0.90</c:v>
                </c:pt>
                <c:pt idx="3">
                  <c:v>₹1.35</c:v>
                </c:pt>
                <c:pt idx="4">
                  <c:v>₹1.80</c:v>
                </c:pt>
                <c:pt idx="5">
                  <c:v>₹2.25</c:v>
                </c:pt>
                <c:pt idx="6">
                  <c:v>₹2.70</c:v>
                </c:pt>
                <c:pt idx="7">
                  <c:v>₹3.15</c:v>
                </c:pt>
                <c:pt idx="8">
                  <c:v>₹3.60</c:v>
                </c:pt>
              </c:strCache>
            </c:strRef>
          </c:cat>
          <c:val>
            <c:numRef>
              <c:f>Sheet1!$B$2:$B$10</c:f>
              <c:numCache>
                <c:formatCode>General</c:formatCode>
                <c:ptCount val="9"/>
                <c:pt idx="0">
                  <c:v>13.26</c:v>
                </c:pt>
                <c:pt idx="1">
                  <c:v>27.07</c:v>
                </c:pt>
                <c:pt idx="2">
                  <c:v>27.34</c:v>
                </c:pt>
                <c:pt idx="3">
                  <c:v>18.23</c:v>
                </c:pt>
                <c:pt idx="4">
                  <c:v>9.02</c:v>
                </c:pt>
                <c:pt idx="5">
                  <c:v>3.53</c:v>
                </c:pt>
                <c:pt idx="6">
                  <c:v>1.1399999999999999</c:v>
                </c:pt>
                <c:pt idx="7">
                  <c:v>0.31</c:v>
                </c:pt>
                <c:pt idx="8">
                  <c:v>7.0000000000000007E-2</c:v>
                </c:pt>
              </c:numCache>
            </c:numRef>
          </c:val>
          <c:extLst>
            <c:ext xmlns:c16="http://schemas.microsoft.com/office/drawing/2014/chart" uri="{C3380CC4-5D6E-409C-BE32-E72D297353CC}">
              <c16:uniqueId val="{00000000-915D-4812-B0B4-9EFD0EDFEE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000" b="0" i="0" u="none" strike="noStrike">
                    <a:solidFill>
                      <a:srgbClr val="5C6577"/>
                    </a:solidFill>
                    <a:latin typeface="Arial"/>
                  </a:defRPr>
                </a:pPr>
                <a:r>
                  <a:rPr lang="en-IN" sz="1000" b="0" i="0" u="none" strike="noStrike">
                    <a:solidFill>
                      <a:srgbClr val="5C6577"/>
                    </a:solidFill>
                    <a:latin typeface="Arial"/>
                  </a:rPr>
                  <a:t>Portfolio loss (₹ crore)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4DDCB"/>
              </a:solidFill>
              <a:prstDash val="solid"/>
              <a:round/>
            </a:ln>
          </c:spPr>
        </c:majorGridlines>
        <c:title>
          <c:tx>
            <c:rich>
              <a:bodyPr/>
              <a:lstStyle/>
              <a:p>
                <a:pPr>
                  <a:defRPr sz="1000" b="0" i="0" u="none" strike="noStrike">
                    <a:solidFill>
                      <a:srgbClr val="5C6577"/>
                    </a:solidFill>
                    <a:latin typeface="Arial"/>
                  </a:defRPr>
                </a:pPr>
                <a:r>
                  <a:rPr lang="en-IN" sz="1000" b="0" i="0" u="none" strike="noStrike">
                    <a:solidFill>
                      <a:srgbClr val="5C6577"/>
                    </a:solidFill>
                    <a:latin typeface="Arial"/>
                  </a:rPr>
                  <a:t>Probability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majorUnit val="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Price vs running peak</a:t>
            </a:r>
          </a:p>
        </c:rich>
      </c:tx>
      <c:overlay val="0"/>
    </c:title>
    <c:autoTitleDeleted val="0"/>
    <c:plotArea>
      <c:layout/>
      <c:lineChart>
        <c:grouping val="standard"/>
        <c:varyColors val="0"/>
        <c:ser>
          <c:idx val="0"/>
          <c:order val="0"/>
          <c:tx>
            <c:strRef>
              <c:f>Sheet1!$B$1</c:f>
              <c:strCache>
                <c:ptCount val="1"/>
                <c:pt idx="0">
                  <c:v>Price (₹)</c:v>
                </c:pt>
              </c:strCache>
            </c:strRef>
          </c:tx>
          <c:spPr>
            <a:ln w="31750" cap="flat">
              <a:solidFill>
                <a:srgbClr val="14213D"/>
              </a:solidFill>
              <a:prstDash val="solid"/>
              <a:round/>
            </a:ln>
            <a:effectLst/>
          </c:spPr>
          <c:marker>
            <c:symbol val="circle"/>
            <c:size val="6"/>
            <c:spPr>
              <a:solidFill>
                <a:srgbClr val="14213D"/>
              </a:solidFill>
              <a:ln w="9525" cap="flat">
                <a:solidFill>
                  <a:srgbClr val="14213D"/>
                </a:solidFill>
                <a:prstDash val="solid"/>
                <a:round/>
              </a:ln>
              <a:effectLst/>
            </c:spPr>
          </c:marke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Sheet1!$B$2:$B$11</c:f>
              <c:numCache>
                <c:formatCode>General</c:formatCode>
                <c:ptCount val="10"/>
                <c:pt idx="0">
                  <c:v>500</c:v>
                </c:pt>
                <c:pt idx="1">
                  <c:v>540</c:v>
                </c:pt>
                <c:pt idx="2">
                  <c:v>585</c:v>
                </c:pt>
                <c:pt idx="3">
                  <c:v>560</c:v>
                </c:pt>
                <c:pt idx="4">
                  <c:v>610</c:v>
                </c:pt>
                <c:pt idx="5">
                  <c:v>520</c:v>
                </c:pt>
                <c:pt idx="6">
                  <c:v>470</c:v>
                </c:pt>
                <c:pt idx="7">
                  <c:v>505</c:v>
                </c:pt>
                <c:pt idx="8">
                  <c:v>560</c:v>
                </c:pt>
                <c:pt idx="9">
                  <c:v>630</c:v>
                </c:pt>
              </c:numCache>
            </c:numRef>
          </c:val>
          <c:smooth val="0"/>
          <c:extLst>
            <c:ext xmlns:c16="http://schemas.microsoft.com/office/drawing/2014/chart" uri="{C3380CC4-5D6E-409C-BE32-E72D297353CC}">
              <c16:uniqueId val="{00000000-A651-402F-8190-3830B5DC8C07}"/>
            </c:ext>
          </c:extLst>
        </c:ser>
        <c:ser>
          <c:idx val="1"/>
          <c:order val="1"/>
          <c:tx>
            <c:strRef>
              <c:f>Sheet1!$C$1</c:f>
              <c:strCache>
                <c:ptCount val="1"/>
                <c:pt idx="0">
                  <c:v>Running peak (₹)</c:v>
                </c:pt>
              </c:strCache>
            </c:strRef>
          </c:tx>
          <c:spPr>
            <a:ln w="31750" cap="flat">
              <a:solidFill>
                <a:srgbClr val="C9A227"/>
              </a:solidFill>
              <a:prstDash val="solid"/>
              <a:round/>
            </a:ln>
            <a:effectLst/>
          </c:spPr>
          <c:marker>
            <c:symbol val="circle"/>
            <c:size val="6"/>
            <c:spPr>
              <a:solidFill>
                <a:srgbClr val="C9A227"/>
              </a:solidFill>
              <a:ln w="9525" cap="flat">
                <a:solidFill>
                  <a:srgbClr val="C9A227"/>
                </a:solidFill>
                <a:prstDash val="solid"/>
                <a:round/>
              </a:ln>
              <a:effectLst/>
            </c:spPr>
          </c:marke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Sheet1!$C$2:$C$11</c:f>
              <c:numCache>
                <c:formatCode>General</c:formatCode>
                <c:ptCount val="10"/>
                <c:pt idx="0">
                  <c:v>500</c:v>
                </c:pt>
                <c:pt idx="1">
                  <c:v>540</c:v>
                </c:pt>
                <c:pt idx="2">
                  <c:v>585</c:v>
                </c:pt>
                <c:pt idx="3">
                  <c:v>585</c:v>
                </c:pt>
                <c:pt idx="4">
                  <c:v>610</c:v>
                </c:pt>
                <c:pt idx="5">
                  <c:v>610</c:v>
                </c:pt>
                <c:pt idx="6">
                  <c:v>610</c:v>
                </c:pt>
                <c:pt idx="7">
                  <c:v>610</c:v>
                </c:pt>
                <c:pt idx="8">
                  <c:v>610</c:v>
                </c:pt>
                <c:pt idx="9">
                  <c:v>630</c:v>
                </c:pt>
              </c:numCache>
            </c:numRef>
          </c:val>
          <c:smooth val="0"/>
          <c:extLst>
            <c:ext xmlns:c16="http://schemas.microsoft.com/office/drawing/2014/chart" uri="{C3380CC4-5D6E-409C-BE32-E72D297353CC}">
              <c16:uniqueId val="{00000001-A651-402F-8190-3830B5DC8C0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2"/>
        <c:crosses val="autoZero"/>
        <c:auto val="1"/>
        <c:lblAlgn val="ctr"/>
        <c:lblOffset val="100"/>
        <c:noMultiLvlLbl val="1"/>
      </c:catAx>
      <c:valAx>
        <c:axId val="2094734552"/>
        <c:scaling>
          <c:orientation val="minMax"/>
          <c:max val="660"/>
          <c:min val="400"/>
        </c:scaling>
        <c:delete val="0"/>
        <c:axPos val="l"/>
        <c:majorGridlines>
          <c:spPr>
            <a:ln w="6350" cap="flat">
              <a:solidFill>
                <a:srgbClr val="E4DD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E25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Price of a 4-year 8% bond (₹1,000 face) vs yield</a:t>
            </a:r>
          </a:p>
        </c:rich>
      </c:tx>
      <c:overlay val="0"/>
    </c:title>
    <c:autoTitleDeleted val="0"/>
    <c:plotArea>
      <c:layout/>
      <c:lineChart>
        <c:grouping val="standard"/>
        <c:varyColors val="0"/>
        <c:ser>
          <c:idx val="0"/>
          <c:order val="0"/>
          <c:tx>
            <c:strRef>
              <c:f>Sheet1!$B$1</c:f>
              <c:strCache>
                <c:ptCount val="1"/>
                <c:pt idx="0">
                  <c:v>Price</c:v>
                </c:pt>
              </c:strCache>
            </c:strRef>
          </c:tx>
          <c:spPr>
            <a:ln w="38100" cap="flat">
              <a:solidFill>
                <a:srgbClr val="14213D"/>
              </a:solidFill>
              <a:prstDash val="solid"/>
              <a:round/>
            </a:ln>
            <a:effectLst/>
          </c:spPr>
          <c:marker>
            <c:symbol val="circle"/>
            <c:size val="7"/>
            <c:spPr>
              <a:solidFill>
                <a:srgbClr val="14213D"/>
              </a:solidFill>
              <a:ln w="9525" cap="flat">
                <a:solidFill>
                  <a:srgbClr val="14213D"/>
                </a:solidFill>
                <a:prstDash val="solid"/>
                <a:round/>
              </a:ln>
              <a:effectLst/>
            </c:spPr>
          </c:marker>
          <c:dLbls>
            <c:numFmt formatCode="0" sourceLinked="0"/>
            <c:spPr>
              <a:noFill/>
              <a:ln>
                <a:noFill/>
              </a:ln>
              <a:effectLst/>
            </c:spPr>
            <c:txPr>
              <a:bodyPr/>
              <a:lstStyle/>
              <a:p>
                <a:pPr>
                  <a:defRPr sz="900" b="0" i="0" u="none" strike="noStrike">
                    <a:solidFill>
                      <a:srgbClr val="1E2533"/>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5%</c:v>
                </c:pt>
                <c:pt idx="1">
                  <c:v>6%</c:v>
                </c:pt>
                <c:pt idx="2">
                  <c:v>7%</c:v>
                </c:pt>
                <c:pt idx="3">
                  <c:v>8%</c:v>
                </c:pt>
                <c:pt idx="4">
                  <c:v>9%</c:v>
                </c:pt>
                <c:pt idx="5">
                  <c:v>10%</c:v>
                </c:pt>
                <c:pt idx="6">
                  <c:v>11%</c:v>
                </c:pt>
                <c:pt idx="7">
                  <c:v>12%</c:v>
                </c:pt>
                <c:pt idx="8">
                  <c:v>13%</c:v>
                </c:pt>
              </c:strCache>
            </c:strRef>
          </c:cat>
          <c:val>
            <c:numRef>
              <c:f>Sheet1!$B$2:$B$10</c:f>
              <c:numCache>
                <c:formatCode>General</c:formatCode>
                <c:ptCount val="9"/>
                <c:pt idx="0">
                  <c:v>1106.3800000000001</c:v>
                </c:pt>
                <c:pt idx="1">
                  <c:v>1069.3</c:v>
                </c:pt>
                <c:pt idx="2">
                  <c:v>1033.8699999999999</c:v>
                </c:pt>
                <c:pt idx="3">
                  <c:v>1000</c:v>
                </c:pt>
                <c:pt idx="4">
                  <c:v>967.6</c:v>
                </c:pt>
                <c:pt idx="5">
                  <c:v>936.6</c:v>
                </c:pt>
                <c:pt idx="6">
                  <c:v>906.93</c:v>
                </c:pt>
                <c:pt idx="7">
                  <c:v>878.51</c:v>
                </c:pt>
                <c:pt idx="8">
                  <c:v>851.28</c:v>
                </c:pt>
              </c:numCache>
            </c:numRef>
          </c:val>
          <c:smooth val="0"/>
          <c:extLst>
            <c:ext xmlns:c16="http://schemas.microsoft.com/office/drawing/2014/chart" uri="{C3380CC4-5D6E-409C-BE32-E72D297353CC}">
              <c16:uniqueId val="{00000000-CA8F-4DC4-A778-1031A4ED84D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5C6577"/>
                    </a:solidFill>
                    <a:latin typeface="Arial"/>
                  </a:defRPr>
                </a:pPr>
                <a:r>
                  <a:rPr sz="1000" b="0" i="0" u="none" strike="noStrike">
                    <a:solidFill>
                      <a:srgbClr val="5C6577"/>
                    </a:solidFill>
                    <a:latin typeface="Arial"/>
                  </a:rPr>
                  <a:t>Yield to maturity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2"/>
        <c:crosses val="autoZero"/>
        <c:auto val="1"/>
        <c:lblAlgn val="ctr"/>
        <c:lblOffset val="100"/>
        <c:noMultiLvlLbl val="1"/>
      </c:catAx>
      <c:valAx>
        <c:axId val="2094734552"/>
        <c:scaling>
          <c:orientation val="minMax"/>
          <c:max val="1150"/>
          <c:min val="800"/>
        </c:scaling>
        <c:delete val="0"/>
        <c:axPos val="l"/>
        <c:majorGridlines>
          <c:spPr>
            <a:ln w="6350" cap="flat">
              <a:solidFill>
                <a:srgbClr val="E4DD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Rupee cost (₹ crore) vs spot at maturity</a:t>
            </a:r>
          </a:p>
        </c:rich>
      </c:tx>
      <c:overlay val="0"/>
    </c:title>
    <c:autoTitleDeleted val="0"/>
    <c:plotArea>
      <c:layout/>
      <c:lineChart>
        <c:grouping val="standard"/>
        <c:varyColors val="0"/>
        <c:ser>
          <c:idx val="0"/>
          <c:order val="0"/>
          <c:tx>
            <c:strRef>
              <c:f>Sheet1!$B$1</c:f>
              <c:strCache>
                <c:ptCount val="1"/>
                <c:pt idx="0">
                  <c:v>Unhedged</c:v>
                </c:pt>
              </c:strCache>
            </c:strRef>
          </c:tx>
          <c:spPr>
            <a:ln w="31750" cap="flat">
              <a:solidFill>
                <a:srgbClr val="8A94A6"/>
              </a:solidFill>
              <a:prstDash val="solid"/>
              <a:round/>
            </a:ln>
            <a:effectLst/>
          </c:spPr>
          <c:marker>
            <c:symbol val="circle"/>
            <c:size val="5"/>
            <c:spPr>
              <a:solidFill>
                <a:srgbClr val="8A94A6"/>
              </a:solidFill>
              <a:ln w="9525" cap="flat">
                <a:solidFill>
                  <a:srgbClr val="8A94A6"/>
                </a:solidFill>
                <a:prstDash val="solid"/>
                <a:round/>
              </a:ln>
              <a:effectLst/>
            </c:spPr>
          </c:marker>
          <c:cat>
            <c:strRef>
              <c:f>Sheet1!$A$2:$A$12</c:f>
              <c:strCache>
                <c:ptCount val="11"/>
                <c:pt idx="0">
                  <c:v>83</c:v>
                </c:pt>
                <c:pt idx="1">
                  <c:v>84</c:v>
                </c:pt>
                <c:pt idx="2">
                  <c:v>85</c:v>
                </c:pt>
                <c:pt idx="3">
                  <c:v>86</c:v>
                </c:pt>
                <c:pt idx="4">
                  <c:v>87</c:v>
                </c:pt>
                <c:pt idx="5">
                  <c:v>88</c:v>
                </c:pt>
                <c:pt idx="6">
                  <c:v>89</c:v>
                </c:pt>
                <c:pt idx="7">
                  <c:v>90</c:v>
                </c:pt>
                <c:pt idx="8">
                  <c:v>91</c:v>
                </c:pt>
                <c:pt idx="9">
                  <c:v>92</c:v>
                </c:pt>
                <c:pt idx="10">
                  <c:v>93</c:v>
                </c:pt>
              </c:strCache>
            </c:strRef>
          </c:cat>
          <c:val>
            <c:numRef>
              <c:f>Sheet1!$B$2:$B$12</c:f>
              <c:numCache>
                <c:formatCode>General</c:formatCode>
                <c:ptCount val="11"/>
                <c:pt idx="0">
                  <c:v>8.3000000000000007</c:v>
                </c:pt>
                <c:pt idx="1">
                  <c:v>8.4</c:v>
                </c:pt>
                <c:pt idx="2">
                  <c:v>8.5</c:v>
                </c:pt>
                <c:pt idx="3">
                  <c:v>8.6</c:v>
                </c:pt>
                <c:pt idx="4">
                  <c:v>8.6999999999999993</c:v>
                </c:pt>
                <c:pt idx="5">
                  <c:v>8.8000000000000007</c:v>
                </c:pt>
                <c:pt idx="6">
                  <c:v>8.9</c:v>
                </c:pt>
                <c:pt idx="7">
                  <c:v>9</c:v>
                </c:pt>
                <c:pt idx="8">
                  <c:v>9.1</c:v>
                </c:pt>
                <c:pt idx="9">
                  <c:v>9.1999999999999993</c:v>
                </c:pt>
                <c:pt idx="10">
                  <c:v>9.3000000000000007</c:v>
                </c:pt>
              </c:numCache>
            </c:numRef>
          </c:val>
          <c:smooth val="0"/>
          <c:extLst>
            <c:ext xmlns:c16="http://schemas.microsoft.com/office/drawing/2014/chart" uri="{C3380CC4-5D6E-409C-BE32-E72D297353CC}">
              <c16:uniqueId val="{00000000-CAB5-4A52-BFEC-B08FDA24594A}"/>
            </c:ext>
          </c:extLst>
        </c:ser>
        <c:ser>
          <c:idx val="1"/>
          <c:order val="1"/>
          <c:tx>
            <c:strRef>
              <c:f>Sheet1!$C$1</c:f>
              <c:strCache>
                <c:ptCount val="1"/>
                <c:pt idx="0">
                  <c:v>Forward</c:v>
                </c:pt>
              </c:strCache>
            </c:strRef>
          </c:tx>
          <c:spPr>
            <a:ln w="31750" cap="flat">
              <a:solidFill>
                <a:srgbClr val="C9A227"/>
              </a:solidFill>
              <a:prstDash val="solid"/>
              <a:round/>
            </a:ln>
            <a:effectLst/>
          </c:spPr>
          <c:marker>
            <c:symbol val="circle"/>
            <c:size val="5"/>
            <c:spPr>
              <a:solidFill>
                <a:srgbClr val="C9A227"/>
              </a:solidFill>
              <a:ln w="9525" cap="flat">
                <a:solidFill>
                  <a:srgbClr val="C9A227"/>
                </a:solidFill>
                <a:prstDash val="solid"/>
                <a:round/>
              </a:ln>
              <a:effectLst/>
            </c:spPr>
          </c:marker>
          <c:cat>
            <c:strRef>
              <c:f>Sheet1!$A$2:$A$12</c:f>
              <c:strCache>
                <c:ptCount val="11"/>
                <c:pt idx="0">
                  <c:v>83</c:v>
                </c:pt>
                <c:pt idx="1">
                  <c:v>84</c:v>
                </c:pt>
                <c:pt idx="2">
                  <c:v>85</c:v>
                </c:pt>
                <c:pt idx="3">
                  <c:v>86</c:v>
                </c:pt>
                <c:pt idx="4">
                  <c:v>87</c:v>
                </c:pt>
                <c:pt idx="5">
                  <c:v>88</c:v>
                </c:pt>
                <c:pt idx="6">
                  <c:v>89</c:v>
                </c:pt>
                <c:pt idx="7">
                  <c:v>90</c:v>
                </c:pt>
                <c:pt idx="8">
                  <c:v>91</c:v>
                </c:pt>
                <c:pt idx="9">
                  <c:v>92</c:v>
                </c:pt>
                <c:pt idx="10">
                  <c:v>93</c:v>
                </c:pt>
              </c:strCache>
            </c:strRef>
          </c:cat>
          <c:val>
            <c:numRef>
              <c:f>Sheet1!$C$2:$C$12</c:f>
              <c:numCache>
                <c:formatCode>General</c:formatCode>
                <c:ptCount val="11"/>
                <c:pt idx="0">
                  <c:v>8.8000000000000007</c:v>
                </c:pt>
                <c:pt idx="1">
                  <c:v>8.8000000000000007</c:v>
                </c:pt>
                <c:pt idx="2">
                  <c:v>8.8000000000000007</c:v>
                </c:pt>
                <c:pt idx="3">
                  <c:v>8.8000000000000007</c:v>
                </c:pt>
                <c:pt idx="4">
                  <c:v>8.8000000000000007</c:v>
                </c:pt>
                <c:pt idx="5">
                  <c:v>8.8000000000000007</c:v>
                </c:pt>
                <c:pt idx="6">
                  <c:v>8.8000000000000007</c:v>
                </c:pt>
                <c:pt idx="7">
                  <c:v>8.8000000000000007</c:v>
                </c:pt>
                <c:pt idx="8">
                  <c:v>8.8000000000000007</c:v>
                </c:pt>
                <c:pt idx="9">
                  <c:v>8.8000000000000007</c:v>
                </c:pt>
                <c:pt idx="10">
                  <c:v>8.8000000000000007</c:v>
                </c:pt>
              </c:numCache>
            </c:numRef>
          </c:val>
          <c:smooth val="0"/>
          <c:extLst>
            <c:ext xmlns:c16="http://schemas.microsoft.com/office/drawing/2014/chart" uri="{C3380CC4-5D6E-409C-BE32-E72D297353CC}">
              <c16:uniqueId val="{00000001-CAB5-4A52-BFEC-B08FDA24594A}"/>
            </c:ext>
          </c:extLst>
        </c:ser>
        <c:ser>
          <c:idx val="2"/>
          <c:order val="2"/>
          <c:tx>
            <c:strRef>
              <c:f>Sheet1!$D$1</c:f>
              <c:strCache>
                <c:ptCount val="1"/>
                <c:pt idx="0">
                  <c:v>Call option</c:v>
                </c:pt>
              </c:strCache>
            </c:strRef>
          </c:tx>
          <c:spPr>
            <a:ln w="31750" cap="flat">
              <a:solidFill>
                <a:srgbClr val="14213D"/>
              </a:solidFill>
              <a:prstDash val="solid"/>
              <a:round/>
            </a:ln>
            <a:effectLst/>
          </c:spPr>
          <c:marker>
            <c:symbol val="circle"/>
            <c:size val="5"/>
            <c:spPr>
              <a:solidFill>
                <a:srgbClr val="14213D"/>
              </a:solidFill>
              <a:ln w="9525" cap="flat">
                <a:solidFill>
                  <a:srgbClr val="14213D"/>
                </a:solidFill>
                <a:prstDash val="solid"/>
                <a:round/>
              </a:ln>
              <a:effectLst/>
            </c:spPr>
          </c:marker>
          <c:cat>
            <c:strRef>
              <c:f>Sheet1!$A$2:$A$12</c:f>
              <c:strCache>
                <c:ptCount val="11"/>
                <c:pt idx="0">
                  <c:v>83</c:v>
                </c:pt>
                <c:pt idx="1">
                  <c:v>84</c:v>
                </c:pt>
                <c:pt idx="2">
                  <c:v>85</c:v>
                </c:pt>
                <c:pt idx="3">
                  <c:v>86</c:v>
                </c:pt>
                <c:pt idx="4">
                  <c:v>87</c:v>
                </c:pt>
                <c:pt idx="5">
                  <c:v>88</c:v>
                </c:pt>
                <c:pt idx="6">
                  <c:v>89</c:v>
                </c:pt>
                <c:pt idx="7">
                  <c:v>90</c:v>
                </c:pt>
                <c:pt idx="8">
                  <c:v>91</c:v>
                </c:pt>
                <c:pt idx="9">
                  <c:v>92</c:v>
                </c:pt>
                <c:pt idx="10">
                  <c:v>93</c:v>
                </c:pt>
              </c:strCache>
            </c:strRef>
          </c:cat>
          <c:val>
            <c:numRef>
              <c:f>Sheet1!$D$2:$D$12</c:f>
              <c:numCache>
                <c:formatCode>General</c:formatCode>
                <c:ptCount val="11"/>
                <c:pt idx="0">
                  <c:v>8.3450000000000006</c:v>
                </c:pt>
                <c:pt idx="1">
                  <c:v>8.4450000000000003</c:v>
                </c:pt>
                <c:pt idx="2">
                  <c:v>8.5449999999999999</c:v>
                </c:pt>
                <c:pt idx="3">
                  <c:v>8.6449999999999996</c:v>
                </c:pt>
                <c:pt idx="4">
                  <c:v>8.7449999999999992</c:v>
                </c:pt>
                <c:pt idx="5">
                  <c:v>8.8450000000000006</c:v>
                </c:pt>
                <c:pt idx="6">
                  <c:v>8.8450000000000006</c:v>
                </c:pt>
                <c:pt idx="7">
                  <c:v>8.8450000000000006</c:v>
                </c:pt>
                <c:pt idx="8">
                  <c:v>8.8450000000000006</c:v>
                </c:pt>
                <c:pt idx="9">
                  <c:v>8.8450000000000006</c:v>
                </c:pt>
                <c:pt idx="10">
                  <c:v>8.8450000000000006</c:v>
                </c:pt>
              </c:numCache>
            </c:numRef>
          </c:val>
          <c:smooth val="0"/>
          <c:extLst>
            <c:ext xmlns:c16="http://schemas.microsoft.com/office/drawing/2014/chart" uri="{C3380CC4-5D6E-409C-BE32-E72D297353CC}">
              <c16:uniqueId val="{00000002-CAB5-4A52-BFEC-B08FDA24594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2"/>
        <c:crosses val="autoZero"/>
        <c:auto val="1"/>
        <c:lblAlgn val="ctr"/>
        <c:lblOffset val="100"/>
        <c:noMultiLvlLbl val="1"/>
      </c:catAx>
      <c:valAx>
        <c:axId val="2094734552"/>
        <c:scaling>
          <c:orientation val="minMax"/>
          <c:max val="9.4"/>
          <c:min val="8.1999999999999993"/>
        </c:scaling>
        <c:delete val="0"/>
        <c:axPos val="l"/>
        <c:majorGridlines>
          <c:spPr>
            <a:ln w="6350" cap="flat">
              <a:solidFill>
                <a:srgbClr val="E4DDC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577"/>
                </a:solidFill>
                <a:latin typeface="Calibri"/>
              </a:defRPr>
            </a:pPr>
            <a:endParaRPr lang="en-US"/>
          </a:p>
        </c:txPr>
        <c:crossAx val="2094734554"/>
        <c:crosses val="autoZero"/>
        <c:crossBetween val="between"/>
      </c:valAx>
      <c:spPr>
        <a:solidFill>
          <a:srgbClr val="FFFFFF"/>
        </a:solidFill>
        <a:ln>
          <a:noFill/>
        </a:ln>
        <a:effectLst/>
      </c:spPr>
    </c:plotArea>
    <c:legend>
      <c:legendPos val="r"/>
      <c:overlay val="0"/>
      <c:txPr>
        <a:bodyPr/>
        <a:lstStyle/>
        <a:p>
          <a:pPr>
            <a:defRPr sz="1000">
              <a:solidFill>
                <a:srgbClr val="1E25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7957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9.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0.png"/><Relationship Id="rId10"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3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png"/><Relationship Id="rId7"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3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0.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1.png"/><Relationship Id="rId4" Type="http://schemas.openxmlformats.org/officeDocument/2006/relationships/image" Target="../media/image47.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8.png"/><Relationship Id="rId7" Type="http://schemas.openxmlformats.org/officeDocument/2006/relationships/image" Target="../media/image16.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1.png"/><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1.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0.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54.png"/><Relationship Id="rId4" Type="http://schemas.openxmlformats.org/officeDocument/2006/relationships/image" Target="../media/image17.png"/></Relationships>
</file>

<file path=ppt/slides/_rels/slide7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7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1.png"/><Relationship Id="rId4" Type="http://schemas.openxmlformats.org/officeDocument/2006/relationships/image" Target="../media/image61.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9.png"/><Relationship Id="rId7" Type="http://schemas.openxmlformats.org/officeDocument/2006/relationships/image" Target="../media/image53.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33.png"/><Relationship Id="rId4" Type="http://schemas.openxmlformats.org/officeDocument/2006/relationships/image" Target="../media/image62.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2.png"/><Relationship Id="rId7" Type="http://schemas.openxmlformats.org/officeDocument/2006/relationships/image" Target="../media/image66.png"/><Relationship Id="rId2" Type="http://schemas.openxmlformats.org/officeDocument/2006/relationships/notesSlide" Target="../notesSlides/notesSlide9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65.png"/><Relationship Id="rId10" Type="http://schemas.openxmlformats.org/officeDocument/2006/relationships/image" Target="../media/image68.png"/><Relationship Id="rId4" Type="http://schemas.openxmlformats.org/officeDocument/2006/relationships/image" Target="../media/image3.png"/><Relationship Id="rId9" Type="http://schemas.openxmlformats.org/officeDocument/2006/relationships/image" Target="../media/image53.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png"/><Relationship Id="rId7" Type="http://schemas.openxmlformats.org/officeDocument/2006/relationships/image" Target="../media/image69.png"/><Relationship Id="rId2" Type="http://schemas.openxmlformats.org/officeDocument/2006/relationships/notesSlide" Target="../notesSlides/notesSlide105.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32.png"/><Relationship Id="rId10" Type="http://schemas.openxmlformats.org/officeDocument/2006/relationships/image" Target="../media/image70.png"/><Relationship Id="rId4" Type="http://schemas.openxmlformats.org/officeDocument/2006/relationships/image" Target="../media/image16.png"/><Relationship Id="rId9" Type="http://schemas.openxmlformats.org/officeDocument/2006/relationships/image" Target="../media/image39.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7.png"/><Relationship Id="rId7" Type="http://schemas.openxmlformats.org/officeDocument/2006/relationships/image" Target="../media/image54.png"/><Relationship Id="rId2" Type="http://schemas.openxmlformats.org/officeDocument/2006/relationships/notesSlide" Target="../notesSlides/notesSlide120.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44.png"/><Relationship Id="rId10" Type="http://schemas.openxmlformats.org/officeDocument/2006/relationships/image" Target="../media/image38.png"/><Relationship Id="rId4" Type="http://schemas.openxmlformats.org/officeDocument/2006/relationships/image" Target="../media/image34.png"/><Relationship Id="rId9" Type="http://schemas.openxmlformats.org/officeDocument/2006/relationships/image" Target="../media/image60.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59.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4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2.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778240" y="1097280"/>
            <a:ext cx="1554480" cy="1554480"/>
          </a:xfrm>
          <a:prstGeom prst="ellipse">
            <a:avLst/>
          </a:prstGeom>
          <a:solidFill>
            <a:srgbClr val="22335C"/>
          </a:solidFill>
          <a:ln w="19050">
            <a:solidFill>
              <a:srgbClr val="C9A227"/>
            </a:solidFill>
            <a:prstDash val="solid"/>
          </a:ln>
        </p:spPr>
      </p:sp>
      <p:pic>
        <p:nvPicPr>
          <p:cNvPr id="3" name="Image 0" descr="preencoded.png"/>
          <p:cNvPicPr>
            <a:picLocks noChangeAspect="1"/>
          </p:cNvPicPr>
          <p:nvPr/>
        </p:nvPicPr>
        <p:blipFill>
          <a:blip r:embed="rId3"/>
          <a:stretch>
            <a:fillRect/>
          </a:stretch>
        </p:blipFill>
        <p:spPr>
          <a:xfrm>
            <a:off x="9197950" y="1516990"/>
            <a:ext cx="715061" cy="715061"/>
          </a:xfrm>
          <a:prstGeom prst="rect">
            <a:avLst/>
          </a:prstGeom>
        </p:spPr>
      </p:pic>
      <p:sp>
        <p:nvSpPr>
          <p:cNvPr id="4" name="Shape 1"/>
          <p:cNvSpPr/>
          <p:nvPr/>
        </p:nvSpPr>
        <p:spPr>
          <a:xfrm>
            <a:off x="10149840" y="2377440"/>
            <a:ext cx="1143000" cy="1143000"/>
          </a:xfrm>
          <a:prstGeom prst="ellipse">
            <a:avLst/>
          </a:prstGeom>
          <a:solidFill>
            <a:srgbClr val="31466F"/>
          </a:solidFill>
          <a:ln w="19050">
            <a:solidFill>
              <a:srgbClr val="C9A227"/>
            </a:solidFill>
            <a:prstDash val="solid"/>
          </a:ln>
        </p:spPr>
      </p:sp>
      <p:pic>
        <p:nvPicPr>
          <p:cNvPr id="5" name="Image 1" descr="preencoded.png"/>
          <p:cNvPicPr>
            <a:picLocks noChangeAspect="1"/>
          </p:cNvPicPr>
          <p:nvPr/>
        </p:nvPicPr>
        <p:blipFill>
          <a:blip r:embed="rId4"/>
          <a:stretch>
            <a:fillRect/>
          </a:stretch>
        </p:blipFill>
        <p:spPr>
          <a:xfrm>
            <a:off x="10458450" y="2686050"/>
            <a:ext cx="525780" cy="525780"/>
          </a:xfrm>
          <a:prstGeom prst="rect">
            <a:avLst/>
          </a:prstGeom>
        </p:spPr>
      </p:pic>
      <p:sp>
        <p:nvSpPr>
          <p:cNvPr id="6" name="Shape 2"/>
          <p:cNvSpPr/>
          <p:nvPr/>
        </p:nvSpPr>
        <p:spPr>
          <a:xfrm>
            <a:off x="8412480" y="3063240"/>
            <a:ext cx="1143000" cy="1143000"/>
          </a:xfrm>
          <a:prstGeom prst="ellipse">
            <a:avLst/>
          </a:prstGeom>
          <a:solidFill>
            <a:srgbClr val="22335C"/>
          </a:solidFill>
          <a:ln w="19050">
            <a:solidFill>
              <a:srgbClr val="C9A227"/>
            </a:solidFill>
            <a:prstDash val="solid"/>
          </a:ln>
        </p:spPr>
      </p:sp>
      <p:pic>
        <p:nvPicPr>
          <p:cNvPr id="7" name="Image 2" descr="preencoded.png"/>
          <p:cNvPicPr>
            <a:picLocks noChangeAspect="1"/>
          </p:cNvPicPr>
          <p:nvPr/>
        </p:nvPicPr>
        <p:blipFill>
          <a:blip r:embed="rId5"/>
          <a:stretch>
            <a:fillRect/>
          </a:stretch>
        </p:blipFill>
        <p:spPr>
          <a:xfrm>
            <a:off x="8721090" y="3371850"/>
            <a:ext cx="525780" cy="525780"/>
          </a:xfrm>
          <a:prstGeom prst="rect">
            <a:avLst/>
          </a:prstGeom>
        </p:spPr>
      </p:pic>
      <p:sp>
        <p:nvSpPr>
          <p:cNvPr id="8" name="Shape 3"/>
          <p:cNvSpPr/>
          <p:nvPr/>
        </p:nvSpPr>
        <p:spPr>
          <a:xfrm>
            <a:off x="9646920" y="3977640"/>
            <a:ext cx="1417320" cy="1417320"/>
          </a:xfrm>
          <a:prstGeom prst="ellipse">
            <a:avLst/>
          </a:prstGeom>
          <a:solidFill>
            <a:srgbClr val="31466F"/>
          </a:solidFill>
          <a:ln w="19050">
            <a:solidFill>
              <a:srgbClr val="C9A227"/>
            </a:solidFill>
            <a:prstDash val="solid"/>
          </a:ln>
        </p:spPr>
      </p:sp>
      <p:pic>
        <p:nvPicPr>
          <p:cNvPr id="9" name="Image 3" descr="preencoded.png"/>
          <p:cNvPicPr>
            <a:picLocks noChangeAspect="1"/>
          </p:cNvPicPr>
          <p:nvPr/>
        </p:nvPicPr>
        <p:blipFill>
          <a:blip r:embed="rId6"/>
          <a:stretch>
            <a:fillRect/>
          </a:stretch>
        </p:blipFill>
        <p:spPr>
          <a:xfrm>
            <a:off x="10029596" y="4360316"/>
            <a:ext cx="651967" cy="651967"/>
          </a:xfrm>
          <a:prstGeom prst="rect">
            <a:avLst/>
          </a:prstGeom>
        </p:spPr>
      </p:pic>
      <p:sp>
        <p:nvSpPr>
          <p:cNvPr id="10" name="Shape 4"/>
          <p:cNvSpPr/>
          <p:nvPr/>
        </p:nvSpPr>
        <p:spPr>
          <a:xfrm>
            <a:off x="8001000" y="4663440"/>
            <a:ext cx="868680" cy="868680"/>
          </a:xfrm>
          <a:prstGeom prst="ellipse">
            <a:avLst/>
          </a:prstGeom>
          <a:solidFill>
            <a:srgbClr val="22335C"/>
          </a:solidFill>
          <a:ln w="19050">
            <a:solidFill>
              <a:srgbClr val="C9A227"/>
            </a:solidFill>
            <a:prstDash val="solid"/>
          </a:ln>
        </p:spPr>
      </p:sp>
      <p:pic>
        <p:nvPicPr>
          <p:cNvPr id="11" name="Image 4" descr="preencoded.png"/>
          <p:cNvPicPr>
            <a:picLocks noChangeAspect="1"/>
          </p:cNvPicPr>
          <p:nvPr/>
        </p:nvPicPr>
        <p:blipFill>
          <a:blip r:embed="rId7"/>
          <a:stretch>
            <a:fillRect/>
          </a:stretch>
        </p:blipFill>
        <p:spPr>
          <a:xfrm>
            <a:off x="8235544" y="4897984"/>
            <a:ext cx="399593" cy="399593"/>
          </a:xfrm>
          <a:prstGeom prst="rect">
            <a:avLst/>
          </a:prstGeom>
        </p:spPr>
      </p:pic>
      <p:sp>
        <p:nvSpPr>
          <p:cNvPr id="12" name="Text 5"/>
          <p:cNvSpPr txBox="1"/>
          <p:nvPr/>
        </p:nvSpPr>
        <p:spPr>
          <a:xfrm>
            <a:off x="731520" y="1051560"/>
            <a:ext cx="694944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RISK MANAGEMENT  ·  GRADUATE PROGRAMME</a:t>
            </a:r>
            <a:endParaRPr lang="en-US" sz="1400" dirty="0"/>
          </a:p>
        </p:txBody>
      </p:sp>
      <p:sp>
        <p:nvSpPr>
          <p:cNvPr id="13" name="Text 6"/>
          <p:cNvSpPr txBox="1"/>
          <p:nvPr/>
        </p:nvSpPr>
        <p:spPr>
          <a:xfrm>
            <a:off x="731520" y="1508760"/>
            <a:ext cx="7132320" cy="17373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Introduction to Risk Management</a:t>
            </a:r>
            <a:endParaRPr lang="en-US" sz="4400" dirty="0"/>
          </a:p>
        </p:txBody>
      </p:sp>
      <p:sp>
        <p:nvSpPr>
          <p:cNvPr id="14" name="Text 7"/>
          <p:cNvSpPr txBox="1"/>
          <p:nvPr/>
        </p:nvSpPr>
        <p:spPr>
          <a:xfrm>
            <a:off x="731520" y="3291840"/>
            <a:ext cx="6949440" cy="914400"/>
          </a:xfrm>
          <a:prstGeom prst="rect">
            <a:avLst/>
          </a:prstGeom>
          <a:noFill/>
          <a:ln/>
        </p:spPr>
        <p:txBody>
          <a:bodyPr wrap="square" lIns="0" tIns="0" rIns="0" bIns="0" rtlCol="0" anchor="t"/>
          <a:lstStyle/>
          <a:p>
            <a:pPr marL="0" indent="0">
              <a:buNone/>
            </a:pPr>
            <a:r>
              <a:rPr lang="en-US" sz="1800" dirty="0">
                <a:solidFill>
                  <a:srgbClr val="EAD9A0"/>
                </a:solidFill>
                <a:latin typeface="Calibri" pitchFamily="34" charset="0"/>
                <a:ea typeface="Calibri" pitchFamily="34" charset="-122"/>
                <a:cs typeface="Calibri" pitchFamily="34" charset="-120"/>
              </a:rPr>
              <a:t>Concepts, frameworks, measurement and quantitative applications, grounded in Indian markets (NSE, BSE, MCX, RBI, SEBI, IRDAI)</a:t>
            </a:r>
            <a:endParaRPr lang="en-US" sz="1800" dirty="0"/>
          </a:p>
        </p:txBody>
      </p:sp>
      <p:sp>
        <p:nvSpPr>
          <p:cNvPr id="15" name="Text 8"/>
          <p:cNvSpPr txBox="1"/>
          <p:nvPr/>
        </p:nvSpPr>
        <p:spPr>
          <a:xfrm>
            <a:off x="731520" y="4846320"/>
            <a:ext cx="6949440" cy="822960"/>
          </a:xfrm>
          <a:prstGeom prst="rect">
            <a:avLst/>
          </a:prstGeom>
          <a:noFill/>
          <a:ln/>
        </p:spPr>
        <p:txBody>
          <a:bodyPr wrap="square" lIns="0" tIns="0" rIns="0" bIns="0" rtlCol="0" anchor="t"/>
          <a:lstStyle/>
          <a:p>
            <a:pPr marL="0" indent="0">
              <a:buNone/>
            </a:pPr>
            <a:r>
              <a:rPr lang="en-US" sz="1400" dirty="0">
                <a:solidFill>
                  <a:srgbClr val="D5DBE6"/>
                </a:solidFill>
                <a:latin typeface="Calibri" pitchFamily="34" charset="0"/>
                <a:ea typeface="Calibri" pitchFamily="34" charset="-122"/>
                <a:cs typeface="Calibri" pitchFamily="34" charset="-120"/>
              </a:rPr>
              <a:t>Prof. D. Lazar, Ph.D., FCMA</a:t>
            </a:r>
            <a:endParaRPr lang="en-US" sz="1400" dirty="0"/>
          </a:p>
          <a:p>
            <a:pPr marL="0" indent="0">
              <a:buNone/>
            </a:pPr>
            <a:r>
              <a:rPr lang="en-US" sz="1400" dirty="0">
                <a:solidFill>
                  <a:srgbClr val="D5DBE6"/>
                </a:solidFill>
                <a:latin typeface="Calibri" pitchFamily="34" charset="0"/>
                <a:ea typeface="Calibri" pitchFamily="34" charset="-122"/>
                <a:cs typeface="Calibri" pitchFamily="34" charset="-120"/>
              </a:rPr>
              <a:t>Professor of Finance, Pondicherry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Course Roadmap: Eighteen Building Blocks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7872" cy="4937760"/>
          </a:xfrm>
          <a:prstGeom prst="roundRect">
            <a:avLst>
              <a:gd name="adj" fmla="val 20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89888"/>
            <a:ext cx="309067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Foundations</a:t>
            </a:r>
            <a:endParaRPr lang="en-US" sz="1500" dirty="0"/>
          </a:p>
        </p:txBody>
      </p:sp>
      <p:sp>
        <p:nvSpPr>
          <p:cNvPr id="8" name="Shape 6"/>
          <p:cNvSpPr/>
          <p:nvPr/>
        </p:nvSpPr>
        <p:spPr>
          <a:xfrm>
            <a:off x="731520" y="1874520"/>
            <a:ext cx="457200" cy="457200"/>
          </a:xfrm>
          <a:prstGeom prst="ellipse">
            <a:avLst/>
          </a:prstGeom>
          <a:solidFill>
            <a:srgbClr val="14213D"/>
          </a:solidFill>
          <a:ln w="12700">
            <a:solidFill>
              <a:srgbClr val="14213D"/>
            </a:solidFill>
            <a:prstDash val="solid"/>
          </a:ln>
        </p:spPr>
      </p:sp>
      <p:sp>
        <p:nvSpPr>
          <p:cNvPr id="9" name="Text 7"/>
          <p:cNvSpPr txBox="1"/>
          <p:nvPr/>
        </p:nvSpPr>
        <p:spPr>
          <a:xfrm>
            <a:off x="731520" y="1874520"/>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874520"/>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What is Risk?</a:t>
            </a:r>
            <a:endParaRPr lang="en-US" sz="1550" dirty="0"/>
          </a:p>
        </p:txBody>
      </p:sp>
      <p:sp>
        <p:nvSpPr>
          <p:cNvPr id="11" name="Shape 9"/>
          <p:cNvSpPr/>
          <p:nvPr/>
        </p:nvSpPr>
        <p:spPr>
          <a:xfrm>
            <a:off x="731520" y="2578608"/>
            <a:ext cx="457200" cy="457200"/>
          </a:xfrm>
          <a:prstGeom prst="ellipse">
            <a:avLst/>
          </a:prstGeom>
          <a:solidFill>
            <a:srgbClr val="14213D"/>
          </a:solidFill>
          <a:ln w="12700">
            <a:solidFill>
              <a:srgbClr val="14213D"/>
            </a:solidFill>
            <a:prstDash val="solid"/>
          </a:ln>
        </p:spPr>
      </p:sp>
      <p:sp>
        <p:nvSpPr>
          <p:cNvPr id="12" name="Text 10"/>
          <p:cNvSpPr txBox="1"/>
          <p:nvPr/>
        </p:nvSpPr>
        <p:spPr>
          <a:xfrm>
            <a:off x="731520" y="2578608"/>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325880" y="2578608"/>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Systematic vs Unsystematic Risk</a:t>
            </a:r>
            <a:endParaRPr lang="en-US" sz="1550" dirty="0"/>
          </a:p>
        </p:txBody>
      </p:sp>
      <p:sp>
        <p:nvSpPr>
          <p:cNvPr id="14" name="Shape 12"/>
          <p:cNvSpPr/>
          <p:nvPr/>
        </p:nvSpPr>
        <p:spPr>
          <a:xfrm>
            <a:off x="731520" y="3282696"/>
            <a:ext cx="457200" cy="457200"/>
          </a:xfrm>
          <a:prstGeom prst="ellipse">
            <a:avLst/>
          </a:prstGeom>
          <a:solidFill>
            <a:srgbClr val="14213D"/>
          </a:solidFill>
          <a:ln w="12700">
            <a:solidFill>
              <a:srgbClr val="14213D"/>
            </a:solidFill>
            <a:prstDash val="solid"/>
          </a:ln>
        </p:spPr>
      </p:sp>
      <p:sp>
        <p:nvSpPr>
          <p:cNvPr id="15" name="Text 13"/>
          <p:cNvSpPr txBox="1"/>
          <p:nvPr/>
        </p:nvSpPr>
        <p:spPr>
          <a:xfrm>
            <a:off x="731520" y="3282696"/>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1325880" y="3282696"/>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Market Risk (5 problems)</a:t>
            </a:r>
            <a:endParaRPr lang="en-US" sz="1550" dirty="0"/>
          </a:p>
        </p:txBody>
      </p:sp>
      <p:sp>
        <p:nvSpPr>
          <p:cNvPr id="17" name="Shape 15"/>
          <p:cNvSpPr/>
          <p:nvPr/>
        </p:nvSpPr>
        <p:spPr>
          <a:xfrm>
            <a:off x="731520" y="3986784"/>
            <a:ext cx="457200" cy="457200"/>
          </a:xfrm>
          <a:prstGeom prst="ellipse">
            <a:avLst/>
          </a:prstGeom>
          <a:solidFill>
            <a:srgbClr val="14213D"/>
          </a:solidFill>
          <a:ln w="12700">
            <a:solidFill>
              <a:srgbClr val="14213D"/>
            </a:solidFill>
            <a:prstDash val="solid"/>
          </a:ln>
        </p:spPr>
      </p:sp>
      <p:sp>
        <p:nvSpPr>
          <p:cNvPr id="18" name="Text 16"/>
          <p:cNvSpPr txBox="1"/>
          <p:nvPr/>
        </p:nvSpPr>
        <p:spPr>
          <a:xfrm>
            <a:off x="731520" y="3986784"/>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4</a:t>
            </a:r>
            <a:endParaRPr lang="en-US" sz="1300" dirty="0"/>
          </a:p>
        </p:txBody>
      </p:sp>
      <p:sp>
        <p:nvSpPr>
          <p:cNvPr id="19" name="Text 17"/>
          <p:cNvSpPr txBox="1"/>
          <p:nvPr/>
        </p:nvSpPr>
        <p:spPr>
          <a:xfrm>
            <a:off x="1325880" y="3986784"/>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What is Risk Management?</a:t>
            </a:r>
            <a:endParaRPr lang="en-US" sz="1550" dirty="0"/>
          </a:p>
        </p:txBody>
      </p:sp>
      <p:sp>
        <p:nvSpPr>
          <p:cNvPr id="20" name="Shape 18"/>
          <p:cNvSpPr/>
          <p:nvPr/>
        </p:nvSpPr>
        <p:spPr>
          <a:xfrm>
            <a:off x="731520" y="4690872"/>
            <a:ext cx="457200" cy="457200"/>
          </a:xfrm>
          <a:prstGeom prst="ellipse">
            <a:avLst/>
          </a:prstGeom>
          <a:solidFill>
            <a:srgbClr val="14213D"/>
          </a:solidFill>
          <a:ln w="12700">
            <a:solidFill>
              <a:srgbClr val="14213D"/>
            </a:solidFill>
            <a:prstDash val="solid"/>
          </a:ln>
        </p:spPr>
      </p:sp>
      <p:sp>
        <p:nvSpPr>
          <p:cNvPr id="21" name="Text 19"/>
          <p:cNvSpPr txBox="1"/>
          <p:nvPr/>
        </p:nvSpPr>
        <p:spPr>
          <a:xfrm>
            <a:off x="731520" y="4690872"/>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5</a:t>
            </a:r>
            <a:endParaRPr lang="en-US" sz="1300" dirty="0"/>
          </a:p>
        </p:txBody>
      </p:sp>
      <p:sp>
        <p:nvSpPr>
          <p:cNvPr id="22" name="Text 20"/>
          <p:cNvSpPr txBox="1"/>
          <p:nvPr/>
        </p:nvSpPr>
        <p:spPr>
          <a:xfrm>
            <a:off x="1325880" y="4690872"/>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Why Risk Management?</a:t>
            </a:r>
            <a:endParaRPr lang="en-US" sz="1550" dirty="0"/>
          </a:p>
        </p:txBody>
      </p:sp>
      <p:sp>
        <p:nvSpPr>
          <p:cNvPr id="23" name="Shape 21"/>
          <p:cNvSpPr/>
          <p:nvPr/>
        </p:nvSpPr>
        <p:spPr>
          <a:xfrm>
            <a:off x="731520" y="5394960"/>
            <a:ext cx="457200" cy="457200"/>
          </a:xfrm>
          <a:prstGeom prst="ellipse">
            <a:avLst/>
          </a:prstGeom>
          <a:solidFill>
            <a:srgbClr val="14213D"/>
          </a:solidFill>
          <a:ln w="12700">
            <a:solidFill>
              <a:srgbClr val="14213D"/>
            </a:solidFill>
            <a:prstDash val="solid"/>
          </a:ln>
        </p:spPr>
      </p:sp>
      <p:sp>
        <p:nvSpPr>
          <p:cNvPr id="24" name="Text 22"/>
          <p:cNvSpPr txBox="1"/>
          <p:nvPr/>
        </p:nvSpPr>
        <p:spPr>
          <a:xfrm>
            <a:off x="731520" y="5394960"/>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6</a:t>
            </a:r>
            <a:endParaRPr lang="en-US" sz="1300" dirty="0"/>
          </a:p>
        </p:txBody>
      </p:sp>
      <p:sp>
        <p:nvSpPr>
          <p:cNvPr id="25" name="Text 23"/>
          <p:cNvSpPr txBox="1"/>
          <p:nvPr/>
        </p:nvSpPr>
        <p:spPr>
          <a:xfrm>
            <a:off x="1325880" y="5394960"/>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Principles of Risk Management</a:t>
            </a:r>
            <a:endParaRPr lang="en-US" sz="1550" dirty="0"/>
          </a:p>
        </p:txBody>
      </p:sp>
      <p:sp>
        <p:nvSpPr>
          <p:cNvPr id="26" name="Shape 24"/>
          <p:cNvSpPr/>
          <p:nvPr/>
        </p:nvSpPr>
        <p:spPr>
          <a:xfrm>
            <a:off x="4325112" y="1280160"/>
            <a:ext cx="3547872" cy="4937760"/>
          </a:xfrm>
          <a:prstGeom prst="roundRect">
            <a:avLst>
              <a:gd name="adj" fmla="val 20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Text 25"/>
          <p:cNvSpPr txBox="1"/>
          <p:nvPr/>
        </p:nvSpPr>
        <p:spPr>
          <a:xfrm>
            <a:off x="4553712" y="1389888"/>
            <a:ext cx="309067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Governance &amp; Process</a:t>
            </a:r>
            <a:endParaRPr lang="en-US" sz="1500" dirty="0"/>
          </a:p>
        </p:txBody>
      </p:sp>
      <p:sp>
        <p:nvSpPr>
          <p:cNvPr id="28" name="Shape 26"/>
          <p:cNvSpPr/>
          <p:nvPr/>
        </p:nvSpPr>
        <p:spPr>
          <a:xfrm>
            <a:off x="4553712" y="1874520"/>
            <a:ext cx="457200" cy="457200"/>
          </a:xfrm>
          <a:prstGeom prst="ellipse">
            <a:avLst/>
          </a:prstGeom>
          <a:solidFill>
            <a:srgbClr val="14213D"/>
          </a:solidFill>
          <a:ln w="12700">
            <a:solidFill>
              <a:srgbClr val="14213D"/>
            </a:solidFill>
            <a:prstDash val="solid"/>
          </a:ln>
        </p:spPr>
      </p:sp>
      <p:sp>
        <p:nvSpPr>
          <p:cNvPr id="29" name="Text 27"/>
          <p:cNvSpPr txBox="1"/>
          <p:nvPr/>
        </p:nvSpPr>
        <p:spPr>
          <a:xfrm>
            <a:off x="4553712" y="1874520"/>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7</a:t>
            </a:r>
            <a:endParaRPr lang="en-US" sz="1300" dirty="0"/>
          </a:p>
        </p:txBody>
      </p:sp>
      <p:sp>
        <p:nvSpPr>
          <p:cNvPr id="30" name="Text 28"/>
          <p:cNvSpPr txBox="1"/>
          <p:nvPr/>
        </p:nvSpPr>
        <p:spPr>
          <a:xfrm>
            <a:off x="5148072" y="1874520"/>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Risk Management vs ERM</a:t>
            </a:r>
            <a:endParaRPr lang="en-US" sz="1550" dirty="0"/>
          </a:p>
        </p:txBody>
      </p:sp>
      <p:sp>
        <p:nvSpPr>
          <p:cNvPr id="31" name="Shape 29"/>
          <p:cNvSpPr/>
          <p:nvPr/>
        </p:nvSpPr>
        <p:spPr>
          <a:xfrm>
            <a:off x="4553712" y="2578608"/>
            <a:ext cx="457200" cy="457200"/>
          </a:xfrm>
          <a:prstGeom prst="ellipse">
            <a:avLst/>
          </a:prstGeom>
          <a:solidFill>
            <a:srgbClr val="14213D"/>
          </a:solidFill>
          <a:ln w="12700">
            <a:solidFill>
              <a:srgbClr val="14213D"/>
            </a:solidFill>
            <a:prstDash val="solid"/>
          </a:ln>
        </p:spPr>
      </p:sp>
      <p:sp>
        <p:nvSpPr>
          <p:cNvPr id="32" name="Text 30"/>
          <p:cNvSpPr txBox="1"/>
          <p:nvPr/>
        </p:nvSpPr>
        <p:spPr>
          <a:xfrm>
            <a:off x="4553712" y="2578608"/>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8</a:t>
            </a:r>
            <a:endParaRPr lang="en-US" sz="1300" dirty="0"/>
          </a:p>
        </p:txBody>
      </p:sp>
      <p:sp>
        <p:nvSpPr>
          <p:cNvPr id="33" name="Text 31"/>
          <p:cNvSpPr txBox="1"/>
          <p:nvPr/>
        </p:nvSpPr>
        <p:spPr>
          <a:xfrm>
            <a:off x="5148072" y="2578608"/>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Corporate Governance &amp; Risk</a:t>
            </a:r>
            <a:endParaRPr lang="en-US" sz="1550" dirty="0"/>
          </a:p>
        </p:txBody>
      </p:sp>
      <p:sp>
        <p:nvSpPr>
          <p:cNvPr id="34" name="Shape 32"/>
          <p:cNvSpPr/>
          <p:nvPr/>
        </p:nvSpPr>
        <p:spPr>
          <a:xfrm>
            <a:off x="4553712" y="3282696"/>
            <a:ext cx="457200" cy="457200"/>
          </a:xfrm>
          <a:prstGeom prst="ellipse">
            <a:avLst/>
          </a:prstGeom>
          <a:solidFill>
            <a:srgbClr val="14213D"/>
          </a:solidFill>
          <a:ln w="12700">
            <a:solidFill>
              <a:srgbClr val="14213D"/>
            </a:solidFill>
            <a:prstDash val="solid"/>
          </a:ln>
        </p:spPr>
      </p:sp>
      <p:sp>
        <p:nvSpPr>
          <p:cNvPr id="35" name="Text 33"/>
          <p:cNvSpPr txBox="1"/>
          <p:nvPr/>
        </p:nvSpPr>
        <p:spPr>
          <a:xfrm>
            <a:off x="4553712" y="3282696"/>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9</a:t>
            </a:r>
            <a:endParaRPr lang="en-US" sz="1300" dirty="0"/>
          </a:p>
        </p:txBody>
      </p:sp>
      <p:sp>
        <p:nvSpPr>
          <p:cNvPr id="36" name="Text 34"/>
          <p:cNvSpPr txBox="1"/>
          <p:nvPr/>
        </p:nvSpPr>
        <p:spPr>
          <a:xfrm>
            <a:off x="5148072" y="3282696"/>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Risk Management Framework</a:t>
            </a:r>
            <a:endParaRPr lang="en-US" sz="1550" dirty="0"/>
          </a:p>
        </p:txBody>
      </p:sp>
      <p:sp>
        <p:nvSpPr>
          <p:cNvPr id="37" name="Shape 35"/>
          <p:cNvSpPr/>
          <p:nvPr/>
        </p:nvSpPr>
        <p:spPr>
          <a:xfrm>
            <a:off x="4553712" y="3986784"/>
            <a:ext cx="457200" cy="457200"/>
          </a:xfrm>
          <a:prstGeom prst="ellipse">
            <a:avLst/>
          </a:prstGeom>
          <a:solidFill>
            <a:srgbClr val="14213D"/>
          </a:solidFill>
          <a:ln w="12700">
            <a:solidFill>
              <a:srgbClr val="14213D"/>
            </a:solidFill>
            <a:prstDash val="solid"/>
          </a:ln>
        </p:spPr>
      </p:sp>
      <p:sp>
        <p:nvSpPr>
          <p:cNvPr id="38" name="Text 36"/>
          <p:cNvSpPr txBox="1"/>
          <p:nvPr/>
        </p:nvSpPr>
        <p:spPr>
          <a:xfrm>
            <a:off x="4553712" y="3986784"/>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10</a:t>
            </a:r>
            <a:endParaRPr lang="en-US" sz="1300" dirty="0"/>
          </a:p>
        </p:txBody>
      </p:sp>
      <p:sp>
        <p:nvSpPr>
          <p:cNvPr id="39" name="Text 37"/>
          <p:cNvSpPr txBox="1"/>
          <p:nvPr/>
        </p:nvSpPr>
        <p:spPr>
          <a:xfrm>
            <a:off x="5148072" y="3986784"/>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Core Concepts of Risk Management</a:t>
            </a:r>
            <a:endParaRPr lang="en-US" sz="1550" dirty="0"/>
          </a:p>
        </p:txBody>
      </p:sp>
      <p:sp>
        <p:nvSpPr>
          <p:cNvPr id="40" name="Shape 38"/>
          <p:cNvSpPr/>
          <p:nvPr/>
        </p:nvSpPr>
        <p:spPr>
          <a:xfrm>
            <a:off x="4553712" y="4690872"/>
            <a:ext cx="457200" cy="457200"/>
          </a:xfrm>
          <a:prstGeom prst="ellipse">
            <a:avLst/>
          </a:prstGeom>
          <a:solidFill>
            <a:srgbClr val="14213D"/>
          </a:solidFill>
          <a:ln w="12700">
            <a:solidFill>
              <a:srgbClr val="14213D"/>
            </a:solidFill>
            <a:prstDash val="solid"/>
          </a:ln>
        </p:spPr>
      </p:sp>
      <p:sp>
        <p:nvSpPr>
          <p:cNvPr id="41" name="Text 39"/>
          <p:cNvSpPr txBox="1"/>
          <p:nvPr/>
        </p:nvSpPr>
        <p:spPr>
          <a:xfrm>
            <a:off x="4553712" y="4690872"/>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11</a:t>
            </a:r>
            <a:endParaRPr lang="en-US" sz="1300" dirty="0"/>
          </a:p>
        </p:txBody>
      </p:sp>
      <p:sp>
        <p:nvSpPr>
          <p:cNvPr id="42" name="Text 40"/>
          <p:cNvSpPr txBox="1"/>
          <p:nvPr/>
        </p:nvSpPr>
        <p:spPr>
          <a:xfrm>
            <a:off x="5148072" y="4690872"/>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Methods of Managing Risk</a:t>
            </a:r>
            <a:endParaRPr lang="en-US" sz="1550" dirty="0"/>
          </a:p>
        </p:txBody>
      </p:sp>
      <p:sp>
        <p:nvSpPr>
          <p:cNvPr id="43" name="Shape 41"/>
          <p:cNvSpPr/>
          <p:nvPr/>
        </p:nvSpPr>
        <p:spPr>
          <a:xfrm>
            <a:off x="4553712" y="5394960"/>
            <a:ext cx="457200" cy="457200"/>
          </a:xfrm>
          <a:prstGeom prst="ellipse">
            <a:avLst/>
          </a:prstGeom>
          <a:solidFill>
            <a:srgbClr val="14213D"/>
          </a:solidFill>
          <a:ln w="12700">
            <a:solidFill>
              <a:srgbClr val="14213D"/>
            </a:solidFill>
            <a:prstDash val="solid"/>
          </a:ln>
        </p:spPr>
      </p:sp>
      <p:sp>
        <p:nvSpPr>
          <p:cNvPr id="44" name="Text 42"/>
          <p:cNvSpPr txBox="1"/>
          <p:nvPr/>
        </p:nvSpPr>
        <p:spPr>
          <a:xfrm>
            <a:off x="4553712" y="5394960"/>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12</a:t>
            </a:r>
            <a:endParaRPr lang="en-US" sz="1300" dirty="0"/>
          </a:p>
        </p:txBody>
      </p:sp>
      <p:sp>
        <p:nvSpPr>
          <p:cNvPr id="45" name="Text 43"/>
          <p:cNvSpPr txBox="1"/>
          <p:nvPr/>
        </p:nvSpPr>
        <p:spPr>
          <a:xfrm>
            <a:off x="5148072" y="5394960"/>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Risk Monitoring</a:t>
            </a:r>
            <a:endParaRPr lang="en-US" sz="1550" dirty="0"/>
          </a:p>
        </p:txBody>
      </p:sp>
      <p:sp>
        <p:nvSpPr>
          <p:cNvPr id="46" name="Shape 44"/>
          <p:cNvSpPr/>
          <p:nvPr/>
        </p:nvSpPr>
        <p:spPr>
          <a:xfrm>
            <a:off x="8147304" y="1280160"/>
            <a:ext cx="3547872" cy="4937760"/>
          </a:xfrm>
          <a:prstGeom prst="roundRect">
            <a:avLst>
              <a:gd name="adj" fmla="val 20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47" name="Text 45"/>
          <p:cNvSpPr txBox="1"/>
          <p:nvPr/>
        </p:nvSpPr>
        <p:spPr>
          <a:xfrm>
            <a:off x="8375904" y="1389888"/>
            <a:ext cx="309067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Taxonomy &amp; Asset-Class Risk</a:t>
            </a:r>
            <a:endParaRPr lang="en-US" sz="1500" dirty="0"/>
          </a:p>
        </p:txBody>
      </p:sp>
      <p:sp>
        <p:nvSpPr>
          <p:cNvPr id="48" name="Shape 46"/>
          <p:cNvSpPr/>
          <p:nvPr/>
        </p:nvSpPr>
        <p:spPr>
          <a:xfrm>
            <a:off x="8375904" y="1874520"/>
            <a:ext cx="457200" cy="457200"/>
          </a:xfrm>
          <a:prstGeom prst="ellipse">
            <a:avLst/>
          </a:prstGeom>
          <a:solidFill>
            <a:srgbClr val="14213D"/>
          </a:solidFill>
          <a:ln w="12700">
            <a:solidFill>
              <a:srgbClr val="14213D"/>
            </a:solidFill>
            <a:prstDash val="solid"/>
          </a:ln>
        </p:spPr>
      </p:sp>
      <p:sp>
        <p:nvSpPr>
          <p:cNvPr id="49" name="Text 47"/>
          <p:cNvSpPr txBox="1"/>
          <p:nvPr/>
        </p:nvSpPr>
        <p:spPr>
          <a:xfrm>
            <a:off x="8375904" y="1874520"/>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13</a:t>
            </a:r>
            <a:endParaRPr lang="en-US" sz="1300" dirty="0"/>
          </a:p>
        </p:txBody>
      </p:sp>
      <p:sp>
        <p:nvSpPr>
          <p:cNvPr id="50" name="Text 48"/>
          <p:cNvSpPr txBox="1"/>
          <p:nvPr/>
        </p:nvSpPr>
        <p:spPr>
          <a:xfrm>
            <a:off x="8970264" y="1874520"/>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Types of Risk</a:t>
            </a:r>
            <a:endParaRPr lang="en-US" sz="1550" dirty="0"/>
          </a:p>
        </p:txBody>
      </p:sp>
      <p:sp>
        <p:nvSpPr>
          <p:cNvPr id="51" name="Shape 49"/>
          <p:cNvSpPr/>
          <p:nvPr/>
        </p:nvSpPr>
        <p:spPr>
          <a:xfrm>
            <a:off x="8375904" y="2578608"/>
            <a:ext cx="457200" cy="457200"/>
          </a:xfrm>
          <a:prstGeom prst="ellipse">
            <a:avLst/>
          </a:prstGeom>
          <a:solidFill>
            <a:srgbClr val="14213D"/>
          </a:solidFill>
          <a:ln w="12700">
            <a:solidFill>
              <a:srgbClr val="14213D"/>
            </a:solidFill>
            <a:prstDash val="solid"/>
          </a:ln>
        </p:spPr>
      </p:sp>
      <p:sp>
        <p:nvSpPr>
          <p:cNvPr id="52" name="Text 50"/>
          <p:cNvSpPr txBox="1"/>
          <p:nvPr/>
        </p:nvSpPr>
        <p:spPr>
          <a:xfrm>
            <a:off x="8375904" y="2578608"/>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14</a:t>
            </a:r>
            <a:endParaRPr lang="en-US" sz="1300" dirty="0"/>
          </a:p>
        </p:txBody>
      </p:sp>
      <p:sp>
        <p:nvSpPr>
          <p:cNvPr id="53" name="Text 51"/>
          <p:cNvSpPr txBox="1"/>
          <p:nvPr/>
        </p:nvSpPr>
        <p:spPr>
          <a:xfrm>
            <a:off x="8970264" y="2578608"/>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Sources of Risk</a:t>
            </a:r>
            <a:endParaRPr lang="en-US" sz="1550" dirty="0"/>
          </a:p>
        </p:txBody>
      </p:sp>
      <p:sp>
        <p:nvSpPr>
          <p:cNvPr id="54" name="Shape 52"/>
          <p:cNvSpPr/>
          <p:nvPr/>
        </p:nvSpPr>
        <p:spPr>
          <a:xfrm>
            <a:off x="8375904" y="3282696"/>
            <a:ext cx="457200" cy="457200"/>
          </a:xfrm>
          <a:prstGeom prst="ellipse">
            <a:avLst/>
          </a:prstGeom>
          <a:solidFill>
            <a:srgbClr val="14213D"/>
          </a:solidFill>
          <a:ln w="12700">
            <a:solidFill>
              <a:srgbClr val="14213D"/>
            </a:solidFill>
            <a:prstDash val="solid"/>
          </a:ln>
        </p:spPr>
      </p:sp>
      <p:sp>
        <p:nvSpPr>
          <p:cNvPr id="55" name="Text 53"/>
          <p:cNvSpPr txBox="1"/>
          <p:nvPr/>
        </p:nvSpPr>
        <p:spPr>
          <a:xfrm>
            <a:off x="8375904" y="3282696"/>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15</a:t>
            </a:r>
            <a:endParaRPr lang="en-US" sz="1300" dirty="0"/>
          </a:p>
        </p:txBody>
      </p:sp>
      <p:sp>
        <p:nvSpPr>
          <p:cNvPr id="56" name="Text 54"/>
          <p:cNvSpPr txBox="1"/>
          <p:nvPr/>
        </p:nvSpPr>
        <p:spPr>
          <a:xfrm>
            <a:off x="8970264" y="3282696"/>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Commodity Investment Risk (5)</a:t>
            </a:r>
            <a:endParaRPr lang="en-US" sz="1550" dirty="0"/>
          </a:p>
        </p:txBody>
      </p:sp>
      <p:sp>
        <p:nvSpPr>
          <p:cNvPr id="57" name="Shape 55"/>
          <p:cNvSpPr/>
          <p:nvPr/>
        </p:nvSpPr>
        <p:spPr>
          <a:xfrm>
            <a:off x="8375904" y="3986784"/>
            <a:ext cx="457200" cy="457200"/>
          </a:xfrm>
          <a:prstGeom prst="ellipse">
            <a:avLst/>
          </a:prstGeom>
          <a:solidFill>
            <a:srgbClr val="14213D"/>
          </a:solidFill>
          <a:ln w="12700">
            <a:solidFill>
              <a:srgbClr val="14213D"/>
            </a:solidFill>
            <a:prstDash val="solid"/>
          </a:ln>
        </p:spPr>
      </p:sp>
      <p:sp>
        <p:nvSpPr>
          <p:cNvPr id="58" name="Text 56"/>
          <p:cNvSpPr txBox="1"/>
          <p:nvPr/>
        </p:nvSpPr>
        <p:spPr>
          <a:xfrm>
            <a:off x="8375904" y="3986784"/>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16</a:t>
            </a:r>
            <a:endParaRPr lang="en-US" sz="1300" dirty="0"/>
          </a:p>
        </p:txBody>
      </p:sp>
      <p:sp>
        <p:nvSpPr>
          <p:cNvPr id="59" name="Text 57"/>
          <p:cNvSpPr txBox="1"/>
          <p:nvPr/>
        </p:nvSpPr>
        <p:spPr>
          <a:xfrm>
            <a:off x="8970264" y="3986784"/>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Equity Investment Risk (5)</a:t>
            </a:r>
            <a:endParaRPr lang="en-US" sz="1550" dirty="0"/>
          </a:p>
        </p:txBody>
      </p:sp>
      <p:sp>
        <p:nvSpPr>
          <p:cNvPr id="60" name="Shape 58"/>
          <p:cNvSpPr/>
          <p:nvPr/>
        </p:nvSpPr>
        <p:spPr>
          <a:xfrm>
            <a:off x="8375904" y="4690872"/>
            <a:ext cx="457200" cy="457200"/>
          </a:xfrm>
          <a:prstGeom prst="ellipse">
            <a:avLst/>
          </a:prstGeom>
          <a:solidFill>
            <a:srgbClr val="14213D"/>
          </a:solidFill>
          <a:ln w="12700">
            <a:solidFill>
              <a:srgbClr val="14213D"/>
            </a:solidFill>
            <a:prstDash val="solid"/>
          </a:ln>
        </p:spPr>
      </p:sp>
      <p:sp>
        <p:nvSpPr>
          <p:cNvPr id="61" name="Text 59"/>
          <p:cNvSpPr txBox="1"/>
          <p:nvPr/>
        </p:nvSpPr>
        <p:spPr>
          <a:xfrm>
            <a:off x="8375904" y="4690872"/>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17</a:t>
            </a:r>
            <a:endParaRPr lang="en-US" sz="1300" dirty="0"/>
          </a:p>
        </p:txBody>
      </p:sp>
      <p:sp>
        <p:nvSpPr>
          <p:cNvPr id="62" name="Text 60"/>
          <p:cNvSpPr txBox="1"/>
          <p:nvPr/>
        </p:nvSpPr>
        <p:spPr>
          <a:xfrm>
            <a:off x="8970264" y="4690872"/>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Fixed Income Risk (5)</a:t>
            </a:r>
            <a:endParaRPr lang="en-US" sz="1550" dirty="0"/>
          </a:p>
        </p:txBody>
      </p:sp>
      <p:sp>
        <p:nvSpPr>
          <p:cNvPr id="63" name="Shape 61"/>
          <p:cNvSpPr/>
          <p:nvPr/>
        </p:nvSpPr>
        <p:spPr>
          <a:xfrm>
            <a:off x="8375904" y="5394960"/>
            <a:ext cx="457200" cy="457200"/>
          </a:xfrm>
          <a:prstGeom prst="ellipse">
            <a:avLst/>
          </a:prstGeom>
          <a:solidFill>
            <a:srgbClr val="14213D"/>
          </a:solidFill>
          <a:ln w="12700">
            <a:solidFill>
              <a:srgbClr val="14213D"/>
            </a:solidFill>
            <a:prstDash val="solid"/>
          </a:ln>
        </p:spPr>
      </p:sp>
      <p:sp>
        <p:nvSpPr>
          <p:cNvPr id="64" name="Text 62"/>
          <p:cNvSpPr txBox="1"/>
          <p:nvPr/>
        </p:nvSpPr>
        <p:spPr>
          <a:xfrm>
            <a:off x="8375904" y="5394960"/>
            <a:ext cx="457200" cy="45720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18</a:t>
            </a:r>
            <a:endParaRPr lang="en-US" sz="1300" dirty="0"/>
          </a:p>
        </p:txBody>
      </p:sp>
      <p:sp>
        <p:nvSpPr>
          <p:cNvPr id="65" name="Text 63"/>
          <p:cNvSpPr txBox="1"/>
          <p:nvPr/>
        </p:nvSpPr>
        <p:spPr>
          <a:xfrm>
            <a:off x="8970264" y="5394960"/>
            <a:ext cx="2542032" cy="457200"/>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Currency Risk (5)</a:t>
            </a:r>
            <a:endParaRPr lang="en-US" sz="1550" dirty="0"/>
          </a:p>
        </p:txBody>
      </p:sp>
      <p:sp>
        <p:nvSpPr>
          <p:cNvPr id="6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Learning Outcomes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Define &amp; classify</a:t>
            </a:r>
            <a:endParaRPr lang="en-US" sz="1700" dirty="0"/>
          </a:p>
        </p:txBody>
      </p:sp>
      <p:sp>
        <p:nvSpPr>
          <p:cNvPr id="10" name="Text 7"/>
          <p:cNvSpPr txBox="1"/>
          <p:nvPr/>
        </p:nvSpPr>
        <p:spPr>
          <a:xfrm>
            <a:off x="685800"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Define risk as uncertainty about the future that can cause us to miss an objective, and separate systematic from unsystematic risk.</a:t>
            </a:r>
            <a:endParaRPr lang="en-US" sz="1650" dirty="0"/>
          </a:p>
        </p:txBody>
      </p:sp>
      <p:sp>
        <p:nvSpPr>
          <p:cNvPr id="11" name="Shape 8"/>
          <p:cNvSpPr/>
          <p:nvPr/>
        </p:nvSpPr>
        <p:spPr>
          <a:xfrm>
            <a:off x="4322064"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504944"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625645" y="1583741"/>
            <a:ext cx="261518" cy="261518"/>
          </a:xfrm>
          <a:prstGeom prst="rect">
            <a:avLst/>
          </a:prstGeom>
        </p:spPr>
      </p:pic>
      <p:sp>
        <p:nvSpPr>
          <p:cNvPr id="14" name="Text 10"/>
          <p:cNvSpPr txBox="1"/>
          <p:nvPr/>
        </p:nvSpPr>
        <p:spPr>
          <a:xfrm>
            <a:off x="5099304"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Measure</a:t>
            </a:r>
            <a:endParaRPr lang="en-US" sz="1700" dirty="0"/>
          </a:p>
        </p:txBody>
      </p:sp>
      <p:sp>
        <p:nvSpPr>
          <p:cNvPr id="15" name="Text 11"/>
          <p:cNvSpPr txBox="1"/>
          <p:nvPr/>
        </p:nvSpPr>
        <p:spPr>
          <a:xfrm>
            <a:off x="4504944"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Compute σ, β, VaR, Expected Shortfall, duration, convexity, hedge ratios and expected credit loss, with every step shown.</a:t>
            </a:r>
            <a:endParaRPr lang="en-US" sz="1650" dirty="0"/>
          </a:p>
        </p:txBody>
      </p:sp>
      <p:sp>
        <p:nvSpPr>
          <p:cNvPr id="16" name="Shape 12"/>
          <p:cNvSpPr/>
          <p:nvPr/>
        </p:nvSpPr>
        <p:spPr>
          <a:xfrm>
            <a:off x="8141208"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8324088" y="146304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444789" y="1583741"/>
            <a:ext cx="261518" cy="261518"/>
          </a:xfrm>
          <a:prstGeom prst="rect">
            <a:avLst/>
          </a:prstGeom>
        </p:spPr>
      </p:pic>
      <p:sp>
        <p:nvSpPr>
          <p:cNvPr id="19" name="Text 14"/>
          <p:cNvSpPr txBox="1"/>
          <p:nvPr/>
        </p:nvSpPr>
        <p:spPr>
          <a:xfrm>
            <a:off x="8918448"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Structure</a:t>
            </a:r>
            <a:endParaRPr lang="en-US" sz="1700" dirty="0"/>
          </a:p>
        </p:txBody>
      </p:sp>
      <p:sp>
        <p:nvSpPr>
          <p:cNvPr id="20" name="Text 15"/>
          <p:cNvSpPr txBox="1"/>
          <p:nvPr/>
        </p:nvSpPr>
        <p:spPr>
          <a:xfrm>
            <a:off x="8324088"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Explain risk policies, the risk management process, risk appetite and the three lines of defence as one framework.</a:t>
            </a:r>
            <a:endParaRPr lang="en-US" sz="1650" dirty="0"/>
          </a:p>
        </p:txBody>
      </p:sp>
      <p:sp>
        <p:nvSpPr>
          <p:cNvPr id="21" name="Shape 16"/>
          <p:cNvSpPr/>
          <p:nvPr/>
        </p:nvSpPr>
        <p:spPr>
          <a:xfrm>
            <a:off x="502920"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685800"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806501" y="4189781"/>
            <a:ext cx="261518" cy="261518"/>
          </a:xfrm>
          <a:prstGeom prst="rect">
            <a:avLst/>
          </a:prstGeom>
        </p:spPr>
      </p:pic>
      <p:sp>
        <p:nvSpPr>
          <p:cNvPr id="24" name="Text 18"/>
          <p:cNvSpPr txBox="1"/>
          <p:nvPr/>
        </p:nvSpPr>
        <p:spPr>
          <a:xfrm>
            <a:off x="1280160"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Govern</a:t>
            </a:r>
            <a:endParaRPr lang="en-US" sz="1700" dirty="0"/>
          </a:p>
        </p:txBody>
      </p:sp>
      <p:sp>
        <p:nvSpPr>
          <p:cNvPr id="25" name="Text 19"/>
          <p:cNvSpPr txBox="1"/>
          <p:nvPr/>
        </p:nvSpPr>
        <p:spPr>
          <a:xfrm>
            <a:off x="685800"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Relate risk management to corporate governance under the Companies Act 2013, SEBI LODR, RBI and IRDAI requirements.</a:t>
            </a:r>
            <a:endParaRPr lang="en-US" sz="1650" dirty="0"/>
          </a:p>
        </p:txBody>
      </p:sp>
      <p:sp>
        <p:nvSpPr>
          <p:cNvPr id="26" name="Shape 20"/>
          <p:cNvSpPr/>
          <p:nvPr/>
        </p:nvSpPr>
        <p:spPr>
          <a:xfrm>
            <a:off x="4322064"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4504944" y="4069080"/>
            <a:ext cx="502920" cy="50292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4625645" y="4189781"/>
            <a:ext cx="261518" cy="261518"/>
          </a:xfrm>
          <a:prstGeom prst="rect">
            <a:avLst/>
          </a:prstGeom>
        </p:spPr>
      </p:pic>
      <p:sp>
        <p:nvSpPr>
          <p:cNvPr id="29" name="Text 22"/>
          <p:cNvSpPr txBox="1"/>
          <p:nvPr/>
        </p:nvSpPr>
        <p:spPr>
          <a:xfrm>
            <a:off x="5099304"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Treat &amp; monitor</a:t>
            </a:r>
            <a:endParaRPr lang="en-US" sz="1700" dirty="0"/>
          </a:p>
        </p:txBody>
      </p:sp>
      <p:sp>
        <p:nvSpPr>
          <p:cNvPr id="30" name="Text 23"/>
          <p:cNvSpPr txBox="1"/>
          <p:nvPr/>
        </p:nvSpPr>
        <p:spPr>
          <a:xfrm>
            <a:off x="4504944"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Choose among avoid, reduce, transfer and accept; design KRIs, limits and dashboards for monitoring.</a:t>
            </a:r>
            <a:endParaRPr lang="en-US" sz="1650" dirty="0"/>
          </a:p>
        </p:txBody>
      </p:sp>
      <p:sp>
        <p:nvSpPr>
          <p:cNvPr id="31" name="Shape 24"/>
          <p:cNvSpPr/>
          <p:nvPr/>
        </p:nvSpPr>
        <p:spPr>
          <a:xfrm>
            <a:off x="8141208"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2" name="Shape 25"/>
          <p:cNvSpPr/>
          <p:nvPr/>
        </p:nvSpPr>
        <p:spPr>
          <a:xfrm>
            <a:off x="8324088" y="4069080"/>
            <a:ext cx="502920" cy="50292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8444789" y="4189781"/>
            <a:ext cx="261518" cy="261518"/>
          </a:xfrm>
          <a:prstGeom prst="rect">
            <a:avLst/>
          </a:prstGeom>
        </p:spPr>
      </p:pic>
      <p:sp>
        <p:nvSpPr>
          <p:cNvPr id="34" name="Text 26"/>
          <p:cNvSpPr txBox="1"/>
          <p:nvPr/>
        </p:nvSpPr>
        <p:spPr>
          <a:xfrm>
            <a:off x="8918448"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Apply by asset class</a:t>
            </a:r>
            <a:endParaRPr lang="en-US" sz="1700" dirty="0"/>
          </a:p>
        </p:txBody>
      </p:sp>
      <p:sp>
        <p:nvSpPr>
          <p:cNvPr id="35" name="Text 27"/>
          <p:cNvSpPr txBox="1"/>
          <p:nvPr/>
        </p:nvSpPr>
        <p:spPr>
          <a:xfrm>
            <a:off x="8324088"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Solve 25 quantitative problems on market, commodity, equity, fixed income and currency risk using Indian instruments.</a:t>
            </a:r>
            <a:endParaRPr lang="en-US" sz="1650" dirty="0"/>
          </a:p>
        </p:txBody>
      </p:sp>
      <p:sp>
        <p:nvSpPr>
          <p:cNvPr id="3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01</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What is Risk?</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Risk = Uncertainty due to the future + the possibility of not meeting an objective</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The two ingredients of risk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Risk versus uncertainty (Knight)</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Downside, upside and two-sided views of risk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Illustration: the probability of missing a return objective</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01</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Risk = Uncertainty due to Future + Not Meeting the Objective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325880"/>
            <a:ext cx="3319272" cy="2423160"/>
          </a:xfrm>
          <a:prstGeom prst="roundRect">
            <a:avLst>
              <a:gd name="adj" fmla="val 301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731520" y="1508760"/>
            <a:ext cx="566928" cy="566928"/>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67583" y="1644823"/>
            <a:ext cx="294803" cy="294803"/>
          </a:xfrm>
          <a:prstGeom prst="rect">
            <a:avLst/>
          </a:prstGeom>
        </p:spPr>
      </p:pic>
      <p:sp>
        <p:nvSpPr>
          <p:cNvPr id="9" name="Text 6"/>
          <p:cNvSpPr txBox="1"/>
          <p:nvPr/>
        </p:nvSpPr>
        <p:spPr>
          <a:xfrm>
            <a:off x="1417320" y="1536192"/>
            <a:ext cx="2286000" cy="502920"/>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Uncertainty</a:t>
            </a:r>
            <a:endParaRPr lang="en-US" sz="2000" dirty="0"/>
          </a:p>
        </p:txBody>
      </p:sp>
      <p:sp>
        <p:nvSpPr>
          <p:cNvPr id="10" name="Text 7"/>
          <p:cNvSpPr txBox="1"/>
          <p:nvPr/>
        </p:nvSpPr>
        <p:spPr>
          <a:xfrm>
            <a:off x="731520" y="2240280"/>
            <a:ext cx="2880360" cy="14173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The future is unknown today. Prices, rates, weather, regulation and behaviour can take many values.</a:t>
            </a:r>
            <a:endParaRPr lang="en-US" sz="1550" dirty="0"/>
          </a:p>
        </p:txBody>
      </p:sp>
      <p:sp>
        <p:nvSpPr>
          <p:cNvPr id="11" name="Shape 8"/>
          <p:cNvSpPr/>
          <p:nvPr/>
        </p:nvSpPr>
        <p:spPr>
          <a:xfrm>
            <a:off x="4434840" y="1325880"/>
            <a:ext cx="3319272" cy="2423160"/>
          </a:xfrm>
          <a:prstGeom prst="roundRect">
            <a:avLst>
              <a:gd name="adj" fmla="val 301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663440" y="1508760"/>
            <a:ext cx="566928" cy="566928"/>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799503" y="1644823"/>
            <a:ext cx="294803" cy="294803"/>
          </a:xfrm>
          <a:prstGeom prst="rect">
            <a:avLst/>
          </a:prstGeom>
        </p:spPr>
      </p:pic>
      <p:sp>
        <p:nvSpPr>
          <p:cNvPr id="14" name="Text 10"/>
          <p:cNvSpPr txBox="1"/>
          <p:nvPr/>
        </p:nvSpPr>
        <p:spPr>
          <a:xfrm>
            <a:off x="5349240" y="1536192"/>
            <a:ext cx="2286000" cy="502920"/>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Objective</a:t>
            </a:r>
            <a:endParaRPr lang="en-US" sz="2000" dirty="0"/>
          </a:p>
        </p:txBody>
      </p:sp>
      <p:sp>
        <p:nvSpPr>
          <p:cNvPr id="15" name="Text 11"/>
          <p:cNvSpPr txBox="1"/>
          <p:nvPr/>
        </p:nvSpPr>
        <p:spPr>
          <a:xfrm>
            <a:off x="4663440" y="2240280"/>
            <a:ext cx="2880360" cy="14173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A target we must meet: a return, a budget, EPS guidance, a solvency ratio, a delivery date.</a:t>
            </a:r>
            <a:endParaRPr lang="en-US" sz="1550" dirty="0"/>
          </a:p>
        </p:txBody>
      </p:sp>
      <p:sp>
        <p:nvSpPr>
          <p:cNvPr id="16" name="Shape 12"/>
          <p:cNvSpPr/>
          <p:nvPr/>
        </p:nvSpPr>
        <p:spPr>
          <a:xfrm>
            <a:off x="8366760" y="1325880"/>
            <a:ext cx="3319272" cy="2423160"/>
          </a:xfrm>
          <a:prstGeom prst="roundRect">
            <a:avLst>
              <a:gd name="adj" fmla="val 301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7" name="Shape 13"/>
          <p:cNvSpPr/>
          <p:nvPr/>
        </p:nvSpPr>
        <p:spPr>
          <a:xfrm>
            <a:off x="8595360" y="1508760"/>
            <a:ext cx="566928" cy="566928"/>
          </a:xfrm>
          <a:prstGeom prst="ellipse">
            <a:avLst/>
          </a:prstGeom>
          <a:solidFill>
            <a:srgbClr val="C9A227"/>
          </a:solidFill>
          <a:ln w="12700">
            <a:solidFill>
              <a:srgbClr val="C9A227"/>
            </a:solidFill>
            <a:prstDash val="solid"/>
          </a:ln>
        </p:spPr>
      </p:sp>
      <p:pic>
        <p:nvPicPr>
          <p:cNvPr id="18" name="Image 2" descr="preencoded.png"/>
          <p:cNvPicPr>
            <a:picLocks noChangeAspect="1"/>
          </p:cNvPicPr>
          <p:nvPr/>
        </p:nvPicPr>
        <p:blipFill>
          <a:blip r:embed="rId5"/>
          <a:stretch>
            <a:fillRect/>
          </a:stretch>
        </p:blipFill>
        <p:spPr>
          <a:xfrm>
            <a:off x="8731423" y="1644823"/>
            <a:ext cx="294803" cy="294803"/>
          </a:xfrm>
          <a:prstGeom prst="rect">
            <a:avLst/>
          </a:prstGeom>
        </p:spPr>
      </p:pic>
      <p:sp>
        <p:nvSpPr>
          <p:cNvPr id="19" name="Text 14"/>
          <p:cNvSpPr txBox="1"/>
          <p:nvPr/>
        </p:nvSpPr>
        <p:spPr>
          <a:xfrm>
            <a:off x="9281160" y="1536192"/>
            <a:ext cx="2286000" cy="502920"/>
          </a:xfrm>
          <a:prstGeom prst="rect">
            <a:avLst/>
          </a:prstGeom>
          <a:noFill/>
          <a:ln/>
        </p:spPr>
        <p:txBody>
          <a:bodyPr wrap="square" lIns="0" tIns="0" rIns="0" bIns="0" rtlCol="0" anchor="ctr"/>
          <a:lstStyle/>
          <a:p>
            <a:pPr marL="0" indent="0" algn="l">
              <a:buNone/>
            </a:pPr>
            <a:r>
              <a:rPr lang="en-US" sz="2000" b="1" dirty="0">
                <a:solidFill>
                  <a:srgbClr val="C9A227"/>
                </a:solidFill>
                <a:latin typeface="Cambria" pitchFamily="34" charset="0"/>
                <a:ea typeface="Cambria" pitchFamily="34" charset="-122"/>
                <a:cs typeface="Cambria" pitchFamily="34" charset="-120"/>
              </a:rPr>
              <a:t>Risk</a:t>
            </a:r>
            <a:endParaRPr lang="en-US" sz="2000" dirty="0"/>
          </a:p>
        </p:txBody>
      </p:sp>
      <p:sp>
        <p:nvSpPr>
          <p:cNvPr id="20" name="Text 15"/>
          <p:cNvSpPr txBox="1"/>
          <p:nvPr/>
        </p:nvSpPr>
        <p:spPr>
          <a:xfrm>
            <a:off x="8595360" y="2240280"/>
            <a:ext cx="2880360" cy="1417320"/>
          </a:xfrm>
          <a:prstGeom prst="rect">
            <a:avLst/>
          </a:prstGeom>
          <a:noFill/>
          <a:ln/>
        </p:spPr>
        <p:txBody>
          <a:bodyPr wrap="square" lIns="0" tIns="0" rIns="0" bIns="0" rtlCol="0" anchor="t"/>
          <a:lstStyle/>
          <a:p>
            <a:pPr marL="0" indent="0" algn="l">
              <a:buNone/>
            </a:pPr>
            <a:r>
              <a:rPr lang="en-US" sz="1550" dirty="0">
                <a:solidFill>
                  <a:srgbClr val="FFFFFF"/>
                </a:solidFill>
                <a:latin typeface="Calibri" pitchFamily="34" charset="0"/>
                <a:ea typeface="Calibri" pitchFamily="34" charset="-122"/>
                <a:cs typeface="Calibri" pitchFamily="34" charset="-120"/>
              </a:rPr>
              <a:t>The chance that, because of uncertainty, the actual outcome deviates from the objective.</a:t>
            </a:r>
            <a:endParaRPr lang="en-US" sz="1550" dirty="0"/>
          </a:p>
        </p:txBody>
      </p:sp>
      <p:sp>
        <p:nvSpPr>
          <p:cNvPr id="21" name="Text 16"/>
          <p:cNvSpPr txBox="1"/>
          <p:nvPr/>
        </p:nvSpPr>
        <p:spPr>
          <a:xfrm>
            <a:off x="3822192" y="2148840"/>
            <a:ext cx="612648" cy="731520"/>
          </a:xfrm>
          <a:prstGeom prst="rect">
            <a:avLst/>
          </a:prstGeom>
          <a:noFill/>
          <a:ln/>
        </p:spPr>
        <p:txBody>
          <a:bodyPr wrap="square" lIns="0" tIns="0" rIns="0" bIns="0" rtlCol="0" anchor="ctr"/>
          <a:lstStyle/>
          <a:p>
            <a:pPr marL="0" indent="0" algn="ctr">
              <a:buNone/>
            </a:pPr>
            <a:r>
              <a:rPr lang="en-US" sz="4000" b="1" dirty="0">
                <a:solidFill>
                  <a:srgbClr val="8C6D0F"/>
                </a:solidFill>
                <a:latin typeface="Cambria" pitchFamily="34" charset="0"/>
                <a:ea typeface="Cambria" pitchFamily="34" charset="-122"/>
                <a:cs typeface="Cambria" pitchFamily="34" charset="-120"/>
              </a:rPr>
              <a:t>+</a:t>
            </a:r>
            <a:endParaRPr lang="en-US" sz="4000" dirty="0"/>
          </a:p>
        </p:txBody>
      </p:sp>
      <p:sp>
        <p:nvSpPr>
          <p:cNvPr id="22" name="Text 17"/>
          <p:cNvSpPr txBox="1"/>
          <p:nvPr/>
        </p:nvSpPr>
        <p:spPr>
          <a:xfrm>
            <a:off x="7754112" y="2148840"/>
            <a:ext cx="612648" cy="731520"/>
          </a:xfrm>
          <a:prstGeom prst="rect">
            <a:avLst/>
          </a:prstGeom>
          <a:noFill/>
          <a:ln/>
        </p:spPr>
        <p:txBody>
          <a:bodyPr wrap="square" lIns="0" tIns="0" rIns="0" bIns="0" rtlCol="0" anchor="ctr"/>
          <a:lstStyle/>
          <a:p>
            <a:pPr marL="0" indent="0" algn="ctr">
              <a:buNone/>
            </a:pPr>
            <a:r>
              <a:rPr lang="en-US" sz="4000" b="1" dirty="0">
                <a:solidFill>
                  <a:srgbClr val="8C6D0F"/>
                </a:solidFill>
                <a:latin typeface="Cambria" pitchFamily="34" charset="0"/>
                <a:ea typeface="Cambria" pitchFamily="34" charset="-122"/>
                <a:cs typeface="Cambria" pitchFamily="34" charset="-120"/>
              </a:rPr>
              <a:t>=</a:t>
            </a:r>
            <a:endParaRPr lang="en-US" sz="4000" dirty="0"/>
          </a:p>
        </p:txBody>
      </p:sp>
      <p:sp>
        <p:nvSpPr>
          <p:cNvPr id="23" name="Shape 18"/>
          <p:cNvSpPr/>
          <p:nvPr/>
        </p:nvSpPr>
        <p:spPr>
          <a:xfrm>
            <a:off x="502920" y="4023360"/>
            <a:ext cx="11183112" cy="2194560"/>
          </a:xfrm>
          <a:prstGeom prst="roundRect">
            <a:avLst>
              <a:gd name="adj" fmla="val 333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4" name="Text 19"/>
          <p:cNvSpPr txBox="1"/>
          <p:nvPr/>
        </p:nvSpPr>
        <p:spPr>
          <a:xfrm>
            <a:off x="731520" y="4114800"/>
            <a:ext cx="10789920" cy="2011680"/>
          </a:xfrm>
          <a:prstGeom prst="rect">
            <a:avLst/>
          </a:prstGeom>
          <a:noFill/>
          <a:ln/>
        </p:spPr>
        <p:txBody>
          <a:bodyPr wrap="square" lIns="0" tIns="0" rIns="0" bIns="0" rtlCol="0" anchor="t"/>
          <a:lstStyle/>
          <a:p>
            <a:pPr marL="0" indent="0" algn="l">
              <a:spcAft>
                <a:spcPts val="600"/>
              </a:spcAft>
              <a:buNone/>
            </a:pPr>
            <a:r>
              <a:rPr lang="en-US" sz="1500" b="1" dirty="0">
                <a:solidFill>
                  <a:srgbClr val="8C6D0F"/>
                </a:solidFill>
                <a:latin typeface="Calibri" pitchFamily="34" charset="0"/>
                <a:ea typeface="Calibri" pitchFamily="34" charset="-122"/>
                <a:cs typeface="Calibri" pitchFamily="34" charset="-120"/>
              </a:rPr>
              <a:t>Three lenses on the same idea</a:t>
            </a:r>
            <a:endParaRPr lang="en-US" sz="1500" dirty="0"/>
          </a:p>
          <a:p>
            <a:pPr marL="177800" indent="-177800" algn="l">
              <a:spcAft>
                <a:spcPts val="500"/>
              </a:spcAft>
              <a:buSzPct val="100000"/>
              <a:buChar char="•"/>
            </a:pPr>
            <a:r>
              <a:rPr lang="en-US" sz="1550" b="1" dirty="0">
                <a:solidFill>
                  <a:srgbClr val="1E2533"/>
                </a:solidFill>
                <a:latin typeface="Calibri" pitchFamily="34" charset="0"/>
                <a:ea typeface="Calibri" pitchFamily="34" charset="-122"/>
                <a:cs typeface="Calibri" pitchFamily="34" charset="-120"/>
              </a:rPr>
              <a:t>Standards view (ISO 31000:2018):</a:t>
            </a:r>
            <a:r>
              <a:rPr lang="en-US" sz="1550" dirty="0">
                <a:solidFill>
                  <a:srgbClr val="1E2533"/>
                </a:solidFill>
                <a:latin typeface="Calibri" pitchFamily="34" charset="0"/>
                <a:ea typeface="Calibri" pitchFamily="34" charset="-122"/>
                <a:cs typeface="Calibri" pitchFamily="34" charset="-120"/>
              </a:rPr>
              <a:t> risk is the "effect of uncertainty on objectives"; the effect may be positive, negative or both.</a:t>
            </a:r>
            <a:endParaRPr lang="en-US" sz="1500" dirty="0"/>
          </a:p>
          <a:p>
            <a:pPr marL="177800" indent="-177800" algn="l">
              <a:spcAft>
                <a:spcPts val="500"/>
              </a:spcAft>
              <a:buSzPct val="100000"/>
              <a:buChar char="•"/>
            </a:pPr>
            <a:r>
              <a:rPr lang="en-US" sz="1550" b="1" dirty="0">
                <a:solidFill>
                  <a:srgbClr val="1E2533"/>
                </a:solidFill>
                <a:latin typeface="Calibri" pitchFamily="34" charset="0"/>
                <a:ea typeface="Calibri" pitchFamily="34" charset="-122"/>
                <a:cs typeface="Calibri" pitchFamily="34" charset="-120"/>
              </a:rPr>
              <a:t>Finance view:</a:t>
            </a:r>
            <a:r>
              <a:rPr lang="en-US" sz="1550" dirty="0">
                <a:solidFill>
                  <a:srgbClr val="1E2533"/>
                </a:solidFill>
                <a:latin typeface="Calibri" pitchFamily="34" charset="0"/>
                <a:ea typeface="Calibri" pitchFamily="34" charset="-122"/>
                <a:cs typeface="Calibri" pitchFamily="34" charset="-120"/>
              </a:rPr>
              <a:t> risk is the dispersion of actual returns around the expected return, usually measured by variance or standard deviation (σ).</a:t>
            </a:r>
            <a:endParaRPr lang="en-US" sz="1500" dirty="0"/>
          </a:p>
          <a:p>
            <a:pPr marL="177800" indent="-177800" algn="l">
              <a:buSzPct val="100000"/>
              <a:buChar char="•"/>
            </a:pPr>
            <a:r>
              <a:rPr lang="en-US" sz="1550" b="1" dirty="0">
                <a:solidFill>
                  <a:srgbClr val="1E2533"/>
                </a:solidFill>
                <a:latin typeface="Calibri" pitchFamily="34" charset="0"/>
                <a:ea typeface="Calibri" pitchFamily="34" charset="-122"/>
                <a:cs typeface="Calibri" pitchFamily="34" charset="-120"/>
              </a:rPr>
              <a:t>Management view:</a:t>
            </a:r>
            <a:r>
              <a:rPr lang="en-US" sz="1550" dirty="0">
                <a:solidFill>
                  <a:srgbClr val="1E2533"/>
                </a:solidFill>
                <a:latin typeface="Calibri" pitchFamily="34" charset="0"/>
                <a:ea typeface="Calibri" pitchFamily="34" charset="-122"/>
                <a:cs typeface="Calibri" pitchFamily="34" charset="-120"/>
              </a:rPr>
              <a:t> risk is the probability and size of a shortfall against a target, e.g. a mutual fund failing to beat its benchmark, or a bank breaching its CRAR limit.</a:t>
            </a:r>
            <a:endParaRPr lang="en-US" sz="15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01</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Unpacking the Definition</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Uncertainty comes from the future</a:t>
            </a:r>
            <a:endParaRPr lang="en-US" sz="1700" dirty="0"/>
          </a:p>
        </p:txBody>
      </p:sp>
      <p:sp>
        <p:nvSpPr>
          <p:cNvPr id="10" name="Text 7"/>
          <p:cNvSpPr txBox="1"/>
          <p:nvPr/>
        </p:nvSpPr>
        <p:spPr>
          <a:xfrm>
            <a:off x="685800" y="2039112"/>
            <a:ext cx="5088636" cy="1463040"/>
          </a:xfrm>
          <a:prstGeom prst="rect">
            <a:avLst/>
          </a:prstGeom>
          <a:noFill/>
          <a:ln/>
        </p:spPr>
        <p:txBody>
          <a:bodyPr wrap="square" lIns="0" tIns="0" rIns="0" bIns="0" rtlCol="0" anchor="t"/>
          <a:lstStyle/>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Decisions are taken today; outcomes arrive later.</a:t>
            </a:r>
            <a:endParaRPr lang="en-US" sz="1550" dirty="0"/>
          </a:p>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Longer horizons mean wider ranges of outcomes (σ grows with √T).</a:t>
            </a:r>
            <a:endParaRPr lang="en-US" sz="1550" dirty="0"/>
          </a:p>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Examples: next month's repo rate, next quarter's crude price, monsoon rainfall.</a:t>
            </a:r>
            <a:endParaRPr lang="en-US" sz="1550" dirty="0"/>
          </a:p>
        </p:txBody>
      </p:sp>
      <p:sp>
        <p:nvSpPr>
          <p:cNvPr id="11" name="Shape 8"/>
          <p:cNvSpPr/>
          <p:nvPr/>
        </p:nvSpPr>
        <p:spPr>
          <a:xfrm>
            <a:off x="6231636" y="128016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6414516"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6535217" y="1583741"/>
            <a:ext cx="261518" cy="261518"/>
          </a:xfrm>
          <a:prstGeom prst="rect">
            <a:avLst/>
          </a:prstGeom>
        </p:spPr>
      </p:pic>
      <p:sp>
        <p:nvSpPr>
          <p:cNvPr id="14" name="Text 10"/>
          <p:cNvSpPr txBox="1"/>
          <p:nvPr/>
        </p:nvSpPr>
        <p:spPr>
          <a:xfrm>
            <a:off x="7008876" y="142646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Risk exists only relative to an objective</a:t>
            </a:r>
            <a:endParaRPr lang="en-US" sz="1700" dirty="0"/>
          </a:p>
        </p:txBody>
      </p:sp>
      <p:sp>
        <p:nvSpPr>
          <p:cNvPr id="15" name="Text 11"/>
          <p:cNvSpPr txBox="1"/>
          <p:nvPr/>
        </p:nvSpPr>
        <p:spPr>
          <a:xfrm>
            <a:off x="6414516" y="2039112"/>
            <a:ext cx="5088636" cy="1463040"/>
          </a:xfrm>
          <a:prstGeom prst="rect">
            <a:avLst/>
          </a:prstGeom>
          <a:noFill/>
          <a:ln/>
        </p:spPr>
        <p:txBody>
          <a:bodyPr wrap="square" lIns="0" tIns="0" rIns="0" bIns="0" rtlCol="0" anchor="t"/>
          <a:lstStyle/>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No objective, no risk: a price swing matters only if it threatens a goal.</a:t>
            </a:r>
            <a:endParaRPr lang="en-US" sz="1550" dirty="0"/>
          </a:p>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Same event, different risk: a rupee fall hurts an importer but helps an IT exporter.</a:t>
            </a:r>
            <a:endParaRPr lang="en-US" sz="1550" dirty="0"/>
          </a:p>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Downside risk = shortfall below the target.</a:t>
            </a:r>
            <a:endParaRPr lang="en-US" sz="1550" dirty="0"/>
          </a:p>
        </p:txBody>
      </p:sp>
      <p:sp>
        <p:nvSpPr>
          <p:cNvPr id="16" name="Shape 12"/>
          <p:cNvSpPr/>
          <p:nvPr/>
        </p:nvSpPr>
        <p:spPr>
          <a:xfrm>
            <a:off x="502920" y="388620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685800" y="406908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06501" y="4189781"/>
            <a:ext cx="261518" cy="261518"/>
          </a:xfrm>
          <a:prstGeom prst="rect">
            <a:avLst/>
          </a:prstGeom>
        </p:spPr>
      </p:pic>
      <p:sp>
        <p:nvSpPr>
          <p:cNvPr id="19" name="Text 14"/>
          <p:cNvSpPr txBox="1"/>
          <p:nvPr/>
        </p:nvSpPr>
        <p:spPr>
          <a:xfrm>
            <a:off x="1280160" y="403250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Risk vs uncertainty (Frank Knight, 1921)</a:t>
            </a:r>
            <a:endParaRPr lang="en-US" sz="1700" dirty="0"/>
          </a:p>
        </p:txBody>
      </p:sp>
      <p:sp>
        <p:nvSpPr>
          <p:cNvPr id="20" name="Text 15"/>
          <p:cNvSpPr txBox="1"/>
          <p:nvPr/>
        </p:nvSpPr>
        <p:spPr>
          <a:xfrm>
            <a:off x="685800" y="4645152"/>
            <a:ext cx="5088636" cy="1463040"/>
          </a:xfrm>
          <a:prstGeom prst="rect">
            <a:avLst/>
          </a:prstGeom>
          <a:noFill/>
          <a:ln/>
        </p:spPr>
        <p:txBody>
          <a:bodyPr wrap="square" lIns="0" tIns="0" rIns="0" bIns="0" rtlCol="0" anchor="t"/>
          <a:lstStyle/>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Risk: outcomes and their probabilities can be estimated (dice, insurance mortality tables).</a:t>
            </a:r>
            <a:endParaRPr lang="en-US" sz="1550" dirty="0"/>
          </a:p>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Uncertainty: probabilities cannot be meaningfully estimated (a new pandemic, a novel technology).</a:t>
            </a:r>
            <a:endParaRPr lang="en-US" sz="1550" dirty="0"/>
          </a:p>
        </p:txBody>
      </p:sp>
      <p:sp>
        <p:nvSpPr>
          <p:cNvPr id="21" name="Shape 16"/>
          <p:cNvSpPr/>
          <p:nvPr/>
        </p:nvSpPr>
        <p:spPr>
          <a:xfrm>
            <a:off x="6231636" y="388620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6414516"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6535217" y="4189781"/>
            <a:ext cx="261518" cy="261518"/>
          </a:xfrm>
          <a:prstGeom prst="rect">
            <a:avLst/>
          </a:prstGeom>
        </p:spPr>
      </p:pic>
      <p:sp>
        <p:nvSpPr>
          <p:cNvPr id="24" name="Text 18"/>
          <p:cNvSpPr txBox="1"/>
          <p:nvPr/>
        </p:nvSpPr>
        <p:spPr>
          <a:xfrm>
            <a:off x="7008876" y="403250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Risk is two-sided</a:t>
            </a:r>
            <a:endParaRPr lang="en-US" sz="1700" dirty="0"/>
          </a:p>
        </p:txBody>
      </p:sp>
      <p:sp>
        <p:nvSpPr>
          <p:cNvPr id="25" name="Text 19"/>
          <p:cNvSpPr txBox="1"/>
          <p:nvPr/>
        </p:nvSpPr>
        <p:spPr>
          <a:xfrm>
            <a:off x="6414516" y="4645152"/>
            <a:ext cx="5088636" cy="1463040"/>
          </a:xfrm>
          <a:prstGeom prst="rect">
            <a:avLst/>
          </a:prstGeom>
          <a:noFill/>
          <a:ln/>
        </p:spPr>
        <p:txBody>
          <a:bodyPr wrap="square" lIns="0" tIns="0" rIns="0" bIns="0" rtlCol="0" anchor="t"/>
          <a:lstStyle/>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Downside: threat of loss (pure risk, e.g. fire, fraud).</a:t>
            </a:r>
            <a:endParaRPr lang="en-US" sz="1550" dirty="0"/>
          </a:p>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Upside: opportunity for gain (speculative risk, e.g. equity investment).</a:t>
            </a:r>
            <a:endParaRPr lang="en-US" sz="1550" dirty="0"/>
          </a:p>
          <a:p>
            <a:pPr marL="177800" indent="-177800" algn="l">
              <a:spcAft>
                <a:spcPts val="500"/>
              </a:spcAft>
              <a:buSzPct val="100000"/>
              <a:buChar char="•"/>
            </a:pPr>
            <a:r>
              <a:rPr lang="en-US" sz="1550" dirty="0">
                <a:solidFill>
                  <a:srgbClr val="1E2533"/>
                </a:solidFill>
                <a:latin typeface="Calibri" pitchFamily="34" charset="0"/>
                <a:ea typeface="Calibri" pitchFamily="34" charset="-122"/>
                <a:cs typeface="Calibri" pitchFamily="34" charset="-120"/>
              </a:rPr>
              <a:t>Risk management aims at the best risk-return trade-off, not zero risk.</a:t>
            </a:r>
            <a:endParaRPr lang="en-US" sz="1550" dirty="0"/>
          </a:p>
        </p:txBody>
      </p:sp>
      <p:sp>
        <p:nvSpPr>
          <p:cNvPr id="2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01</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Illustration: Probability of Not Meeting the Objective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6" name="Chart 0"/>
          <p:cNvGraphicFramePr/>
          <p:nvPr/>
        </p:nvGraphicFramePr>
        <p:xfrm>
          <a:off x="502920" y="1280160"/>
          <a:ext cx="667512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52360" y="1280160"/>
            <a:ext cx="4233672" cy="2788920"/>
          </a:xfrm>
          <a:prstGeom prst="roundRect">
            <a:avLst>
              <a:gd name="adj" fmla="val 262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Text 5"/>
          <p:cNvSpPr txBox="1"/>
          <p:nvPr/>
        </p:nvSpPr>
        <p:spPr>
          <a:xfrm>
            <a:off x="7635240" y="1371600"/>
            <a:ext cx="3886200" cy="2651760"/>
          </a:xfrm>
          <a:prstGeom prst="rect">
            <a:avLst/>
          </a:prstGeom>
          <a:noFill/>
          <a:ln/>
        </p:spPr>
        <p:txBody>
          <a:bodyPr wrap="square" lIns="0" tIns="0" rIns="0" bIns="0" rtlCol="0" anchor="t"/>
          <a:lstStyle/>
          <a:p>
            <a:pPr marL="0" indent="0" algn="l">
              <a:spcAft>
                <a:spcPts val="400"/>
              </a:spcAft>
              <a:buNone/>
            </a:pPr>
            <a:r>
              <a:rPr lang="en-US" sz="1500" b="1" dirty="0">
                <a:solidFill>
                  <a:srgbClr val="8C6D0F"/>
                </a:solidFill>
                <a:latin typeface="Calibri" pitchFamily="34" charset="0"/>
                <a:ea typeface="Calibri" pitchFamily="34" charset="-122"/>
                <a:cs typeface="Calibri" pitchFamily="34" charset="-120"/>
              </a:rPr>
              <a:t>Setting</a:t>
            </a:r>
            <a:endParaRPr lang="en-US" sz="1500" dirty="0"/>
          </a:p>
          <a:p>
            <a:pPr marL="0" indent="0" algn="l">
              <a:spcAft>
                <a:spcPts val="600"/>
              </a:spcAft>
              <a:buNone/>
            </a:pPr>
            <a:r>
              <a:rPr lang="en-US" sz="1400" dirty="0">
                <a:solidFill>
                  <a:srgbClr val="1E2533"/>
                </a:solidFill>
                <a:latin typeface="Calibri" pitchFamily="34" charset="0"/>
                <a:ea typeface="Calibri" pitchFamily="34" charset="-122"/>
                <a:cs typeface="Calibri" pitchFamily="34" charset="-120"/>
              </a:rPr>
              <a:t>A parent needs at least </a:t>
            </a:r>
            <a:r>
              <a:rPr lang="en-US" sz="1400" b="1" dirty="0">
                <a:solidFill>
                  <a:srgbClr val="1E2533"/>
                </a:solidFill>
                <a:latin typeface="Calibri" pitchFamily="34" charset="0"/>
                <a:ea typeface="Calibri" pitchFamily="34" charset="-122"/>
                <a:cs typeface="Calibri" pitchFamily="34" charset="-120"/>
              </a:rPr>
              <a:t>8% a year</a:t>
            </a:r>
            <a:r>
              <a:rPr lang="en-US" sz="1400" dirty="0">
                <a:solidFill>
                  <a:srgbClr val="1E2533"/>
                </a:solidFill>
                <a:latin typeface="Calibri" pitchFamily="34" charset="0"/>
                <a:ea typeface="Calibri" pitchFamily="34" charset="-122"/>
                <a:cs typeface="Calibri" pitchFamily="34" charset="-120"/>
              </a:rPr>
              <a:t> from a Nifty 50 index fund to fund a child's education corpus. Expected return is 12% and σ is 16% (illustrative).</a:t>
            </a:r>
            <a:endParaRPr lang="en-US" sz="1500" dirty="0"/>
          </a:p>
          <a:p>
            <a:pPr marL="0" indent="0" algn="l">
              <a:buNone/>
            </a:pPr>
            <a:r>
              <a:rPr lang="en-US" sz="1400" dirty="0">
                <a:solidFill>
                  <a:srgbClr val="14213D"/>
                </a:solidFill>
                <a:latin typeface="Calibri" pitchFamily="34" charset="0"/>
                <a:ea typeface="Calibri" pitchFamily="34" charset="-122"/>
                <a:cs typeface="Calibri" pitchFamily="34" charset="-120"/>
              </a:rPr>
              <a:t>z = (Target − μ) ÷ σ = (8 − 12) ÷ 16 = −0.25</a:t>
            </a:r>
            <a:endParaRPr lang="en-US" sz="1500" dirty="0"/>
          </a:p>
          <a:p>
            <a:pPr marL="0" indent="0" algn="l">
              <a:buNone/>
            </a:pPr>
            <a:r>
              <a:rPr lang="en-US" sz="1400" b="1" dirty="0">
                <a:solidFill>
                  <a:srgbClr val="14213D"/>
                </a:solidFill>
                <a:latin typeface="Calibri" pitchFamily="34" charset="0"/>
                <a:ea typeface="Calibri" pitchFamily="34" charset="-122"/>
                <a:cs typeface="Calibri" pitchFamily="34" charset="-120"/>
              </a:rPr>
              <a:t>P(R &lt; 8%) = Φ(−0.25) = 40.1%</a:t>
            </a:r>
            <a:endParaRPr lang="en-US" sz="1500" dirty="0"/>
          </a:p>
        </p:txBody>
      </p:sp>
      <p:sp>
        <p:nvSpPr>
          <p:cNvPr id="9" name="Shape 6"/>
          <p:cNvSpPr/>
          <p:nvPr/>
        </p:nvSpPr>
        <p:spPr>
          <a:xfrm>
            <a:off x="7452360" y="4297680"/>
            <a:ext cx="4233672" cy="1280160"/>
          </a:xfrm>
          <a:prstGeom prst="roundRect">
            <a:avLst>
              <a:gd name="adj" fmla="val 5714"/>
            </a:avLst>
          </a:prstGeom>
          <a:solidFill>
            <a:srgbClr val="14213D"/>
          </a:solidFill>
          <a:ln w="15875">
            <a:solidFill>
              <a:srgbClr val="C9A227"/>
            </a:solidFill>
            <a:prstDash val="solid"/>
          </a:ln>
        </p:spPr>
      </p:sp>
      <p:sp>
        <p:nvSpPr>
          <p:cNvPr id="10" name="Text 7"/>
          <p:cNvSpPr txBox="1"/>
          <p:nvPr/>
        </p:nvSpPr>
        <p:spPr>
          <a:xfrm>
            <a:off x="7635240" y="4370832"/>
            <a:ext cx="3867912" cy="1133856"/>
          </a:xfrm>
          <a:prstGeom prst="rect">
            <a:avLst/>
          </a:prstGeom>
          <a:noFill/>
          <a:ln/>
        </p:spPr>
        <p:txBody>
          <a:bodyPr wrap="square" lIns="0" tIns="0" rIns="0" bIns="0" rtlCol="0" anchor="ctr"/>
          <a:lstStyle/>
          <a:p>
            <a:pPr marL="0" indent="0" algn="l">
              <a:buNone/>
            </a:pPr>
            <a:r>
              <a:rPr lang="en-US" sz="1350" i="1" dirty="0">
                <a:solidFill>
                  <a:srgbClr val="FFFFFF"/>
                </a:solidFill>
                <a:latin typeface="Calibri" pitchFamily="34" charset="0"/>
                <a:ea typeface="Calibri" pitchFamily="34" charset="-122"/>
                <a:cs typeface="Calibri" pitchFamily="34" charset="-120"/>
              </a:rPr>
              <a:t>Even though the expected return (12%) beats the objective (8%), there is a 40% chance of missing it. That shortfall probability is the risk.</a:t>
            </a:r>
            <a:endParaRPr lang="en-US" sz="1350" dirty="0"/>
          </a:p>
        </p:txBody>
      </p:sp>
      <p:sp>
        <p:nvSpPr>
          <p:cNvPr id="11" name="Text 8"/>
          <p:cNvSpPr txBox="1"/>
          <p:nvPr/>
        </p:nvSpPr>
        <p:spPr>
          <a:xfrm>
            <a:off x="7452360" y="5715000"/>
            <a:ext cx="4233672" cy="457200"/>
          </a:xfrm>
          <a:prstGeom prst="rect">
            <a:avLst/>
          </a:prstGeom>
          <a:noFill/>
          <a:ln/>
        </p:spPr>
        <p:txBody>
          <a:bodyPr wrap="square" lIns="0" tIns="0" rIns="0" bIns="0" rtlCol="0" anchor="t"/>
          <a:lstStyle/>
          <a:p>
            <a:pPr marL="0" indent="0" algn="l">
              <a:buNone/>
            </a:pPr>
            <a:r>
              <a:rPr lang="en-US" sz="1050" i="1" dirty="0">
                <a:solidFill>
                  <a:srgbClr val="5C6577"/>
                </a:solidFill>
                <a:latin typeface="Calibri" pitchFamily="34" charset="0"/>
                <a:ea typeface="Calibri" pitchFamily="34" charset="-122"/>
                <a:cs typeface="Calibri" pitchFamily="34" charset="-120"/>
              </a:rPr>
              <a:t>Key: μ = expected return; σ = standard deviation; Φ(·) = standard normal cumulative probability.</a:t>
            </a:r>
            <a:endParaRPr lang="en-US" sz="10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02</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2</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Classification of Risk: Systematic and Unsystematic</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Total risk splits into a market-wide part we cannot diversify away and a firm-specific part we can</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Meaning and comparison</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Indian and global examples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Measurement: β, variance decomposition and R²</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Diversification curve and a worked decomposition</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Total Risk = Systematic Risk + Unsystematic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11183112" cy="731520"/>
          </a:xfrm>
          <a:prstGeom prst="roundRect">
            <a:avLst>
              <a:gd name="adj" fmla="val 10000"/>
            </a:avLst>
          </a:prstGeom>
          <a:solidFill>
            <a:srgbClr val="14213D"/>
          </a:solidFill>
          <a:ln w="15875">
            <a:solidFill>
              <a:srgbClr val="C9A227"/>
            </a:solidFill>
            <a:prstDash val="solid"/>
          </a:ln>
        </p:spPr>
      </p:sp>
      <p:sp>
        <p:nvSpPr>
          <p:cNvPr id="7" name="Text 5"/>
          <p:cNvSpPr txBox="1"/>
          <p:nvPr/>
        </p:nvSpPr>
        <p:spPr>
          <a:xfrm>
            <a:off x="685800" y="1353312"/>
            <a:ext cx="10817352" cy="585216"/>
          </a:xfrm>
          <a:prstGeom prst="rect">
            <a:avLst/>
          </a:prstGeom>
          <a:noFill/>
          <a:ln/>
        </p:spPr>
        <p:txBody>
          <a:bodyPr wrap="square" lIns="0" tIns="0" rIns="0" bIns="0" rtlCol="0" anchor="ctr"/>
          <a:lstStyle/>
          <a:p>
            <a:pPr marL="0" indent="0" algn="ctr">
              <a:buNone/>
            </a:pPr>
            <a:r>
              <a:rPr lang="en-US" sz="2000" b="1" dirty="0">
                <a:solidFill>
                  <a:srgbClr val="C9A227"/>
                </a:solidFill>
                <a:latin typeface="Cambria" pitchFamily="34" charset="0"/>
                <a:ea typeface="Cambria" pitchFamily="34" charset="-122"/>
                <a:cs typeface="Cambria" pitchFamily="34" charset="-120"/>
              </a:rPr>
              <a:t>Total risk (σ</a:t>
            </a:r>
            <a:r>
              <a:rPr lang="en-US" sz="2000" b="1" baseline="30000" dirty="0">
                <a:solidFill>
                  <a:srgbClr val="C9A227"/>
                </a:solidFill>
                <a:latin typeface="Cambria" pitchFamily="34" charset="0"/>
                <a:ea typeface="Cambria" pitchFamily="34" charset="-122"/>
                <a:cs typeface="Cambria" pitchFamily="34" charset="-120"/>
              </a:rPr>
              <a:t>2</a:t>
            </a:r>
            <a:r>
              <a:rPr lang="en-US" sz="2000" b="1" baseline="-40000" dirty="0">
                <a:solidFill>
                  <a:srgbClr val="C9A227"/>
                </a:solidFill>
                <a:latin typeface="Cambria" pitchFamily="34" charset="0"/>
                <a:ea typeface="Cambria" pitchFamily="34" charset="-122"/>
                <a:cs typeface="Cambria" pitchFamily="34" charset="-120"/>
              </a:rPr>
              <a:t>i</a:t>
            </a:r>
            <a:r>
              <a:rPr lang="en-US" sz="2000" b="1" dirty="0">
                <a:solidFill>
                  <a:srgbClr val="C9A227"/>
                </a:solidFill>
                <a:latin typeface="Cambria" pitchFamily="34" charset="0"/>
                <a:ea typeface="Cambria" pitchFamily="34" charset="-122"/>
                <a:cs typeface="Cambria" pitchFamily="34" charset="-120"/>
              </a:rPr>
              <a:t>)  =  Systematic risk (β</a:t>
            </a:r>
            <a:r>
              <a:rPr lang="en-US" sz="2000" b="1" baseline="30000" dirty="0">
                <a:solidFill>
                  <a:srgbClr val="C9A227"/>
                </a:solidFill>
                <a:latin typeface="Cambria" pitchFamily="34" charset="0"/>
                <a:ea typeface="Cambria" pitchFamily="34" charset="-122"/>
                <a:cs typeface="Cambria" pitchFamily="34" charset="-120"/>
              </a:rPr>
              <a:t>2</a:t>
            </a:r>
            <a:r>
              <a:rPr lang="en-US" sz="2000" b="1" baseline="-40000" dirty="0">
                <a:solidFill>
                  <a:srgbClr val="C9A227"/>
                </a:solidFill>
                <a:latin typeface="Cambria" pitchFamily="34" charset="0"/>
                <a:ea typeface="Cambria" pitchFamily="34" charset="-122"/>
                <a:cs typeface="Cambria" pitchFamily="34" charset="-120"/>
              </a:rPr>
              <a:t>i</a:t>
            </a:r>
            <a:r>
              <a:rPr lang="en-US" sz="2000" b="1" dirty="0">
                <a:solidFill>
                  <a:srgbClr val="C9A227"/>
                </a:solidFill>
                <a:latin typeface="Cambria" pitchFamily="34" charset="0"/>
                <a:ea typeface="Cambria" pitchFamily="34" charset="-122"/>
                <a:cs typeface="Cambria" pitchFamily="34" charset="-120"/>
              </a:rPr>
              <a:t>σ</a:t>
            </a:r>
            <a:r>
              <a:rPr lang="en-US" sz="2000" b="1" baseline="30000" dirty="0">
                <a:solidFill>
                  <a:srgbClr val="C9A227"/>
                </a:solidFill>
                <a:latin typeface="Cambria" pitchFamily="34" charset="0"/>
                <a:ea typeface="Cambria" pitchFamily="34" charset="-122"/>
                <a:cs typeface="Cambria" pitchFamily="34" charset="-120"/>
              </a:rPr>
              <a:t>2</a:t>
            </a:r>
            <a:r>
              <a:rPr lang="en-US" sz="2000" b="1" baseline="-40000" dirty="0">
                <a:solidFill>
                  <a:srgbClr val="C9A227"/>
                </a:solidFill>
                <a:latin typeface="Cambria" pitchFamily="34" charset="0"/>
                <a:ea typeface="Cambria" pitchFamily="34" charset="-122"/>
                <a:cs typeface="Cambria" pitchFamily="34" charset="-120"/>
              </a:rPr>
              <a:t>m</a:t>
            </a:r>
            <a:r>
              <a:rPr lang="en-US" sz="2000" b="1" dirty="0">
                <a:solidFill>
                  <a:srgbClr val="C9A227"/>
                </a:solidFill>
                <a:latin typeface="Cambria" pitchFamily="34" charset="0"/>
                <a:ea typeface="Cambria" pitchFamily="34" charset="-122"/>
                <a:cs typeface="Cambria" pitchFamily="34" charset="-120"/>
              </a:rPr>
              <a:t>)  +  Unsystematic risk (σ</a:t>
            </a:r>
            <a:r>
              <a:rPr lang="en-US" sz="2000" b="1" baseline="30000" dirty="0">
                <a:solidFill>
                  <a:srgbClr val="C9A227"/>
                </a:solidFill>
                <a:latin typeface="Cambria" pitchFamily="34" charset="0"/>
                <a:ea typeface="Cambria" pitchFamily="34" charset="-122"/>
                <a:cs typeface="Cambria" pitchFamily="34" charset="-120"/>
              </a:rPr>
              <a:t>2</a:t>
            </a:r>
            <a:r>
              <a:rPr lang="en-US" sz="2000" b="1" baseline="-40000" dirty="0">
                <a:solidFill>
                  <a:srgbClr val="C9A227"/>
                </a:solidFill>
                <a:latin typeface="Cambria" pitchFamily="34" charset="0"/>
                <a:ea typeface="Cambria" pitchFamily="34" charset="-122"/>
                <a:cs typeface="Cambria" pitchFamily="34" charset="-120"/>
              </a:rPr>
              <a:t>ε</a:t>
            </a:r>
            <a:r>
              <a:rPr lang="en-US" sz="2000" b="1" dirty="0">
                <a:solidFill>
                  <a:srgbClr val="C9A227"/>
                </a:solidFill>
                <a:latin typeface="Cambria" pitchFamily="34" charset="0"/>
                <a:ea typeface="Cambria" pitchFamily="34" charset="-122"/>
                <a:cs typeface="Cambria" pitchFamily="34" charset="-120"/>
              </a:rPr>
              <a:t>)</a:t>
            </a:r>
            <a:endParaRPr lang="en-US" sz="2000" dirty="0"/>
          </a:p>
        </p:txBody>
      </p:sp>
      <p:sp>
        <p:nvSpPr>
          <p:cNvPr id="8" name="Shape 6"/>
          <p:cNvSpPr/>
          <p:nvPr/>
        </p:nvSpPr>
        <p:spPr>
          <a:xfrm>
            <a:off x="502920" y="2286000"/>
            <a:ext cx="5541264" cy="3931920"/>
          </a:xfrm>
          <a:prstGeom prst="roundRect">
            <a:avLst>
              <a:gd name="adj" fmla="val 186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Shape 7"/>
          <p:cNvSpPr/>
          <p:nvPr/>
        </p:nvSpPr>
        <p:spPr>
          <a:xfrm>
            <a:off x="731520" y="2468880"/>
            <a:ext cx="594360" cy="594360"/>
          </a:xfrm>
          <a:prstGeom prst="ellipse">
            <a:avLst/>
          </a:prstGeom>
          <a:solidFill>
            <a:srgbClr val="14213D"/>
          </a:solidFill>
          <a:ln w="12700">
            <a:solidFill>
              <a:srgbClr val="14213D"/>
            </a:solidFill>
            <a:prstDash val="solid"/>
          </a:ln>
        </p:spPr>
      </p:sp>
      <p:pic>
        <p:nvPicPr>
          <p:cNvPr id="10" name="Image 0" descr="preencoded.png"/>
          <p:cNvPicPr>
            <a:picLocks noChangeAspect="1"/>
          </p:cNvPicPr>
          <p:nvPr/>
        </p:nvPicPr>
        <p:blipFill>
          <a:blip r:embed="rId3"/>
          <a:stretch>
            <a:fillRect/>
          </a:stretch>
        </p:blipFill>
        <p:spPr>
          <a:xfrm>
            <a:off x="874166" y="2611526"/>
            <a:ext cx="309067" cy="309067"/>
          </a:xfrm>
          <a:prstGeom prst="rect">
            <a:avLst/>
          </a:prstGeom>
        </p:spPr>
      </p:pic>
      <p:sp>
        <p:nvSpPr>
          <p:cNvPr id="11" name="Text 8"/>
          <p:cNvSpPr txBox="1"/>
          <p:nvPr/>
        </p:nvSpPr>
        <p:spPr>
          <a:xfrm>
            <a:off x="1508760" y="2450592"/>
            <a:ext cx="4297680" cy="384048"/>
          </a:xfrm>
          <a:prstGeom prst="rect">
            <a:avLst/>
          </a:prstGeom>
          <a:noFill/>
          <a:ln/>
        </p:spPr>
        <p:txBody>
          <a:bodyPr wrap="square" lIns="0" tIns="0" rIns="0" bIns="0" rtlCol="0" anchor="t"/>
          <a:lstStyle/>
          <a:p>
            <a:pPr marL="0" indent="0" algn="l">
              <a:buNone/>
            </a:pPr>
            <a:r>
              <a:rPr lang="en-US" sz="2000" b="1" dirty="0">
                <a:solidFill>
                  <a:srgbClr val="14213D"/>
                </a:solidFill>
                <a:latin typeface="Cambria" pitchFamily="34" charset="0"/>
                <a:ea typeface="Cambria" pitchFamily="34" charset="-122"/>
                <a:cs typeface="Cambria" pitchFamily="34" charset="-120"/>
              </a:rPr>
              <a:t>Systematic risk</a:t>
            </a:r>
            <a:endParaRPr lang="en-US" sz="2000" dirty="0"/>
          </a:p>
        </p:txBody>
      </p:sp>
      <p:sp>
        <p:nvSpPr>
          <p:cNvPr id="12" name="Text 9"/>
          <p:cNvSpPr txBox="1"/>
          <p:nvPr/>
        </p:nvSpPr>
        <p:spPr>
          <a:xfrm>
            <a:off x="1508760" y="2816352"/>
            <a:ext cx="4297680" cy="292608"/>
          </a:xfrm>
          <a:prstGeom prst="rect">
            <a:avLst/>
          </a:prstGeom>
          <a:noFill/>
          <a:ln/>
        </p:spPr>
        <p:txBody>
          <a:bodyPr wrap="square" lIns="0" tIns="0" rIns="0" bIns="0" rtlCol="0" anchor="t"/>
          <a:lstStyle/>
          <a:p>
            <a:pPr marL="0" indent="0" algn="l">
              <a:buNone/>
            </a:pPr>
            <a:r>
              <a:rPr lang="en-US" sz="1250" i="1" dirty="0">
                <a:solidFill>
                  <a:srgbClr val="8C6D0F"/>
                </a:solidFill>
                <a:latin typeface="Calibri" pitchFamily="34" charset="0"/>
                <a:ea typeface="Calibri" pitchFamily="34" charset="-122"/>
                <a:cs typeface="Calibri" pitchFamily="34" charset="-120"/>
              </a:rPr>
              <a:t>Market / non-diversifiable risk</a:t>
            </a:r>
            <a:endParaRPr lang="en-US" sz="1250" dirty="0"/>
          </a:p>
        </p:txBody>
      </p:sp>
      <p:sp>
        <p:nvSpPr>
          <p:cNvPr id="13" name="Text 10"/>
          <p:cNvSpPr txBox="1"/>
          <p:nvPr/>
        </p:nvSpPr>
        <p:spPr>
          <a:xfrm>
            <a:off x="777240" y="3291840"/>
            <a:ext cx="5029200" cy="2788920"/>
          </a:xfrm>
          <a:prstGeom prst="rect">
            <a:avLst/>
          </a:prstGeom>
          <a:noFill/>
          <a:ln/>
        </p:spPr>
        <p:txBody>
          <a:bodyPr wrap="square" lIns="0" tIns="0" rIns="0" bIns="0" rtlCol="0" anchor="t"/>
          <a:lstStyle/>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Arises from economy-wide forces that hit almost all securities together.</a:t>
            </a:r>
            <a:endParaRPr lang="en-US" sz="1600" dirty="0"/>
          </a:p>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Sources: interest rates, inflation, GDP cycles, exchange rates, elections, wars, pandemics.</a:t>
            </a:r>
            <a:endParaRPr lang="en-US" sz="1600" dirty="0"/>
          </a:p>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Cannot be removed by holding more stocks; can be hedged (index futures/options).</a:t>
            </a:r>
            <a:endParaRPr lang="en-US" sz="1600" dirty="0"/>
          </a:p>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Measured by beta (β); the only risk the market rewards (CAPM).</a:t>
            </a:r>
            <a:endParaRPr lang="en-US" sz="1600" dirty="0"/>
          </a:p>
        </p:txBody>
      </p:sp>
      <p:sp>
        <p:nvSpPr>
          <p:cNvPr id="14" name="Shape 11"/>
          <p:cNvSpPr/>
          <p:nvPr/>
        </p:nvSpPr>
        <p:spPr>
          <a:xfrm>
            <a:off x="6144768" y="2286000"/>
            <a:ext cx="5541264" cy="3931920"/>
          </a:xfrm>
          <a:prstGeom prst="roundRect">
            <a:avLst>
              <a:gd name="adj" fmla="val 186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5" name="Shape 12"/>
          <p:cNvSpPr/>
          <p:nvPr/>
        </p:nvSpPr>
        <p:spPr>
          <a:xfrm>
            <a:off x="6373368" y="2468880"/>
            <a:ext cx="594360" cy="594360"/>
          </a:xfrm>
          <a:prstGeom prst="ellipse">
            <a:avLst/>
          </a:prstGeom>
          <a:solidFill>
            <a:srgbClr val="14213D"/>
          </a:solidFill>
          <a:ln w="12700">
            <a:solidFill>
              <a:srgbClr val="14213D"/>
            </a:solidFill>
            <a:prstDash val="solid"/>
          </a:ln>
        </p:spPr>
      </p:sp>
      <p:pic>
        <p:nvPicPr>
          <p:cNvPr id="16" name="Image 1" descr="preencoded.png"/>
          <p:cNvPicPr>
            <a:picLocks noChangeAspect="1"/>
          </p:cNvPicPr>
          <p:nvPr/>
        </p:nvPicPr>
        <p:blipFill>
          <a:blip r:embed="rId4"/>
          <a:stretch>
            <a:fillRect/>
          </a:stretch>
        </p:blipFill>
        <p:spPr>
          <a:xfrm>
            <a:off x="6516014" y="2611526"/>
            <a:ext cx="309067" cy="309067"/>
          </a:xfrm>
          <a:prstGeom prst="rect">
            <a:avLst/>
          </a:prstGeom>
        </p:spPr>
      </p:pic>
      <p:sp>
        <p:nvSpPr>
          <p:cNvPr id="17" name="Text 13"/>
          <p:cNvSpPr txBox="1"/>
          <p:nvPr/>
        </p:nvSpPr>
        <p:spPr>
          <a:xfrm>
            <a:off x="7150608" y="2450592"/>
            <a:ext cx="4297680" cy="384048"/>
          </a:xfrm>
          <a:prstGeom prst="rect">
            <a:avLst/>
          </a:prstGeom>
          <a:noFill/>
          <a:ln/>
        </p:spPr>
        <p:txBody>
          <a:bodyPr wrap="square" lIns="0" tIns="0" rIns="0" bIns="0" rtlCol="0" anchor="t"/>
          <a:lstStyle/>
          <a:p>
            <a:pPr marL="0" indent="0" algn="l">
              <a:buNone/>
            </a:pPr>
            <a:r>
              <a:rPr lang="en-US" sz="2000" b="1" dirty="0">
                <a:solidFill>
                  <a:srgbClr val="14213D"/>
                </a:solidFill>
                <a:latin typeface="Cambria" pitchFamily="34" charset="0"/>
                <a:ea typeface="Cambria" pitchFamily="34" charset="-122"/>
                <a:cs typeface="Cambria" pitchFamily="34" charset="-120"/>
              </a:rPr>
              <a:t>Unsystematic risk</a:t>
            </a:r>
            <a:endParaRPr lang="en-US" sz="2000" dirty="0"/>
          </a:p>
        </p:txBody>
      </p:sp>
      <p:sp>
        <p:nvSpPr>
          <p:cNvPr id="18" name="Text 14"/>
          <p:cNvSpPr txBox="1"/>
          <p:nvPr/>
        </p:nvSpPr>
        <p:spPr>
          <a:xfrm>
            <a:off x="7150608" y="2816352"/>
            <a:ext cx="4297680" cy="292608"/>
          </a:xfrm>
          <a:prstGeom prst="rect">
            <a:avLst/>
          </a:prstGeom>
          <a:noFill/>
          <a:ln/>
        </p:spPr>
        <p:txBody>
          <a:bodyPr wrap="square" lIns="0" tIns="0" rIns="0" bIns="0" rtlCol="0" anchor="t"/>
          <a:lstStyle/>
          <a:p>
            <a:pPr marL="0" indent="0" algn="l">
              <a:buNone/>
            </a:pPr>
            <a:r>
              <a:rPr lang="en-US" sz="1250" i="1" dirty="0">
                <a:solidFill>
                  <a:srgbClr val="8C6D0F"/>
                </a:solidFill>
                <a:latin typeface="Calibri" pitchFamily="34" charset="0"/>
                <a:ea typeface="Calibri" pitchFamily="34" charset="-122"/>
                <a:cs typeface="Calibri" pitchFamily="34" charset="-120"/>
              </a:rPr>
              <a:t>Specific / diversifiable / idiosyncratic risk</a:t>
            </a:r>
            <a:endParaRPr lang="en-US" sz="1250" dirty="0"/>
          </a:p>
        </p:txBody>
      </p:sp>
      <p:sp>
        <p:nvSpPr>
          <p:cNvPr id="19" name="Text 15"/>
          <p:cNvSpPr txBox="1"/>
          <p:nvPr/>
        </p:nvSpPr>
        <p:spPr>
          <a:xfrm>
            <a:off x="6419088" y="3291840"/>
            <a:ext cx="5029200" cy="2788920"/>
          </a:xfrm>
          <a:prstGeom prst="rect">
            <a:avLst/>
          </a:prstGeom>
          <a:noFill/>
          <a:ln/>
        </p:spPr>
        <p:txBody>
          <a:bodyPr wrap="square" lIns="0" tIns="0" rIns="0" bIns="0" rtlCol="0" anchor="t"/>
          <a:lstStyle/>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Arises from events unique to a firm or industry.</a:t>
            </a:r>
            <a:endParaRPr lang="en-US" sz="1600" dirty="0"/>
          </a:p>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Sources: strikes, fraud, product recall, management change, loss of a contract, plant fire, leverage.</a:t>
            </a:r>
            <a:endParaRPr lang="en-US" sz="1600" dirty="0"/>
          </a:p>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Largely eliminated by holding 20–30 well-chosen stocks.</a:t>
            </a:r>
            <a:endParaRPr lang="en-US" sz="1600" dirty="0"/>
          </a:p>
          <a:p>
            <a:pPr marL="177800" indent="-177800" algn="l">
              <a:spcAft>
                <a:spcPts val="1000"/>
              </a:spcAft>
              <a:buSzPct val="100000"/>
              <a:buChar char="•"/>
            </a:pPr>
            <a:r>
              <a:rPr lang="en-US" sz="1600" dirty="0">
                <a:solidFill>
                  <a:srgbClr val="1E2533"/>
                </a:solidFill>
                <a:latin typeface="Calibri" pitchFamily="34" charset="0"/>
                <a:ea typeface="Calibri" pitchFamily="34" charset="-122"/>
                <a:cs typeface="Calibri" pitchFamily="34" charset="-120"/>
              </a:rPr>
              <a:t>Measured by residual variance σ</a:t>
            </a:r>
            <a:r>
              <a:rPr lang="en-US" sz="1600" baseline="30000" dirty="0">
                <a:solidFill>
                  <a:srgbClr val="1E2533"/>
                </a:solidFill>
                <a:latin typeface="Calibri" pitchFamily="34" charset="0"/>
                <a:ea typeface="Calibri" pitchFamily="34" charset="-122"/>
                <a:cs typeface="Calibri" pitchFamily="34" charset="-120"/>
              </a:rPr>
              <a:t>2</a:t>
            </a:r>
            <a:r>
              <a:rPr lang="en-US" sz="1600" baseline="-40000" dirty="0">
                <a:solidFill>
                  <a:srgbClr val="1E2533"/>
                </a:solidFill>
                <a:latin typeface="Calibri" pitchFamily="34" charset="0"/>
                <a:ea typeface="Calibri" pitchFamily="34" charset="-122"/>
                <a:cs typeface="Calibri" pitchFamily="34" charset="-120"/>
              </a:rPr>
              <a:t>ε</a:t>
            </a:r>
            <a:r>
              <a:rPr lang="en-US" sz="1600" dirty="0">
                <a:solidFill>
                  <a:srgbClr val="1E2533"/>
                </a:solidFill>
                <a:latin typeface="Calibri" pitchFamily="34" charset="0"/>
                <a:ea typeface="Calibri" pitchFamily="34" charset="-122"/>
                <a:cs typeface="Calibri" pitchFamily="34" charset="-120"/>
              </a:rPr>
              <a:t>; not rewarded because it is avoidable.</a:t>
            </a:r>
            <a:endParaRPr lang="en-US" sz="16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Systematic vs Unsystematic Risk: Point-by-Point</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553712"/>
        </p:xfrm>
        <a:graphic>
          <a:graphicData uri="http://schemas.openxmlformats.org/drawingml/2006/table">
            <a:tbl>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Basis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Systematic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Unsystematic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Meaning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Variability in returns caused by market-wide factors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Variability caused by firm- or industry-specific factors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Also called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Market risk, non-diversifiable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Specific, diversifiable, idiosyncratic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Controllability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Uncontrollable by the firm or investor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Partly controllable by the firm; avoidable by the investor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Effect of diversification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Remains however many stocks are held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Falls towards zero as the number of stocks rises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Measurement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Beta β = Cov(R</a:t>
                      </a:r>
                      <a:r>
                        <a:rPr lang="en-US" sz="1400" baseline="-40000" dirty="0">
                          <a:solidFill>
                            <a:srgbClr val="1E2533"/>
                          </a:solidFill>
                          <a:latin typeface="Calibri" pitchFamily="34" charset="0"/>
                          <a:ea typeface="Calibri" pitchFamily="34" charset="-122"/>
                          <a:cs typeface="Calibri" pitchFamily="34" charset="-120"/>
                        </a:rPr>
                        <a:t>i</a:t>
                      </a:r>
                      <a:r>
                        <a:rPr lang="en-US" sz="1400" dirty="0">
                          <a:solidFill>
                            <a:srgbClr val="1E2533"/>
                          </a:solidFill>
                          <a:latin typeface="Calibri" pitchFamily="34" charset="0"/>
                          <a:ea typeface="Calibri" pitchFamily="34" charset="-122"/>
                          <a:cs typeface="Calibri" pitchFamily="34" charset="-120"/>
                        </a:rPr>
                        <a:t>, R</a:t>
                      </a:r>
                      <a:r>
                        <a:rPr lang="en-US" sz="1400" baseline="-40000" dirty="0">
                          <a:solidFill>
                            <a:srgbClr val="1E2533"/>
                          </a:solidFill>
                          <a:latin typeface="Calibri" pitchFamily="34" charset="0"/>
                          <a:ea typeface="Calibri" pitchFamily="34" charset="-122"/>
                          <a:cs typeface="Calibri" pitchFamily="34" charset="-120"/>
                        </a:rPr>
                        <a:t>m</a:t>
                      </a:r>
                      <a:r>
                        <a:rPr lang="en-US" sz="1400" dirty="0">
                          <a:solidFill>
                            <a:srgbClr val="1E2533"/>
                          </a:solidFill>
                          <a:latin typeface="Calibri" pitchFamily="34" charset="0"/>
                          <a:ea typeface="Calibri" pitchFamily="34" charset="-122"/>
                          <a:cs typeface="Calibri" pitchFamily="34" charset="-120"/>
                        </a:rPr>
                        <a:t>) ÷ σ</a:t>
                      </a:r>
                      <a:r>
                        <a:rPr lang="en-US" sz="1400" baseline="30000" dirty="0">
                          <a:solidFill>
                            <a:srgbClr val="1E2533"/>
                          </a:solidFill>
                          <a:latin typeface="Calibri" pitchFamily="34" charset="0"/>
                          <a:ea typeface="Calibri" pitchFamily="34" charset="-122"/>
                          <a:cs typeface="Calibri" pitchFamily="34" charset="-120"/>
                        </a:rPr>
                        <a:t>2</a:t>
                      </a:r>
                      <a:r>
                        <a:rPr lang="en-US" sz="1400" baseline="-40000" dirty="0">
                          <a:solidFill>
                            <a:srgbClr val="1E2533"/>
                          </a:solidFill>
                          <a:latin typeface="Calibri" pitchFamily="34" charset="0"/>
                          <a:ea typeface="Calibri" pitchFamily="34" charset="-122"/>
                          <a:cs typeface="Calibri" pitchFamily="34" charset="-120"/>
                        </a:rPr>
                        <a:t>m</a:t>
                      </a:r>
                      <a:r>
                        <a:rPr lang="en-US" sz="1400" dirty="0">
                          <a:solidFill>
                            <a:srgbClr val="1E2533"/>
                          </a:solidFill>
                          <a:latin typeface="Calibri" pitchFamily="34" charset="0"/>
                          <a:ea typeface="Calibri" pitchFamily="34" charset="-122"/>
                          <a:cs typeface="Calibri" pitchFamily="34" charset="-120"/>
                        </a:rPr>
                        <a:t>; systematic variance β</a:t>
                      </a:r>
                      <a:r>
                        <a:rPr lang="en-US" sz="1400" baseline="30000" dirty="0">
                          <a:solidFill>
                            <a:srgbClr val="1E2533"/>
                          </a:solidFill>
                          <a:latin typeface="Calibri" pitchFamily="34" charset="0"/>
                          <a:ea typeface="Calibri" pitchFamily="34" charset="-122"/>
                          <a:cs typeface="Calibri" pitchFamily="34" charset="-120"/>
                        </a:rPr>
                        <a:t>2</a:t>
                      </a:r>
                      <a:r>
                        <a:rPr lang="en-US" sz="1400" dirty="0">
                          <a:solidFill>
                            <a:srgbClr val="1E2533"/>
                          </a:solidFill>
                          <a:latin typeface="Calibri" pitchFamily="34" charset="0"/>
                          <a:ea typeface="Calibri" pitchFamily="34" charset="-122"/>
                          <a:cs typeface="Calibri" pitchFamily="34" charset="-120"/>
                        </a:rPr>
                        <a:t>σ</a:t>
                      </a:r>
                      <a:r>
                        <a:rPr lang="en-US" sz="1400" baseline="30000" dirty="0">
                          <a:solidFill>
                            <a:srgbClr val="1E2533"/>
                          </a:solidFill>
                          <a:latin typeface="Calibri" pitchFamily="34" charset="0"/>
                          <a:ea typeface="Calibri" pitchFamily="34" charset="-122"/>
                          <a:cs typeface="Calibri" pitchFamily="34" charset="-120"/>
                        </a:rPr>
                        <a:t>2</a:t>
                      </a:r>
                      <a:r>
                        <a:rPr lang="en-US" sz="1400" baseline="-40000" dirty="0">
                          <a:solidFill>
                            <a:srgbClr val="1E2533"/>
                          </a:solidFill>
                          <a:latin typeface="Calibri" pitchFamily="34" charset="0"/>
                          <a:ea typeface="Calibri" pitchFamily="34" charset="-122"/>
                          <a:cs typeface="Calibri" pitchFamily="34" charset="-120"/>
                        </a:rPr>
                        <a:t>m</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Residual variance σ</a:t>
                      </a:r>
                      <a:r>
                        <a:rPr lang="en-US" sz="1400" baseline="30000" dirty="0">
                          <a:solidFill>
                            <a:srgbClr val="1E2533"/>
                          </a:solidFill>
                          <a:latin typeface="Calibri" pitchFamily="34" charset="0"/>
                          <a:ea typeface="Calibri" pitchFamily="34" charset="-122"/>
                          <a:cs typeface="Calibri" pitchFamily="34" charset="-120"/>
                        </a:rPr>
                        <a:t>2</a:t>
                      </a:r>
                      <a:r>
                        <a:rPr lang="en-US" sz="1400" baseline="-40000" dirty="0">
                          <a:solidFill>
                            <a:srgbClr val="1E2533"/>
                          </a:solidFill>
                          <a:latin typeface="Calibri" pitchFamily="34" charset="0"/>
                          <a:ea typeface="Calibri" pitchFamily="34" charset="-122"/>
                          <a:cs typeface="Calibri" pitchFamily="34" charset="-120"/>
                        </a:rPr>
                        <a:t>ε</a:t>
                      </a:r>
                      <a:r>
                        <a:rPr lang="en-US" sz="1400" dirty="0">
                          <a:solidFill>
                            <a:srgbClr val="1E2533"/>
                          </a:solidFill>
                          <a:latin typeface="Calibri" pitchFamily="34" charset="0"/>
                          <a:ea typeface="Calibri" pitchFamily="34" charset="-122"/>
                          <a:cs typeface="Calibri" pitchFamily="34" charset="-120"/>
                        </a:rPr>
                        <a:t> = σ</a:t>
                      </a:r>
                      <a:r>
                        <a:rPr lang="en-US" sz="1400" baseline="30000" dirty="0">
                          <a:solidFill>
                            <a:srgbClr val="1E2533"/>
                          </a:solidFill>
                          <a:latin typeface="Calibri" pitchFamily="34" charset="0"/>
                          <a:ea typeface="Calibri" pitchFamily="34" charset="-122"/>
                          <a:cs typeface="Calibri" pitchFamily="34" charset="-120"/>
                        </a:rPr>
                        <a:t>2</a:t>
                      </a:r>
                      <a:r>
                        <a:rPr lang="en-US" sz="1400" baseline="-40000" dirty="0">
                          <a:solidFill>
                            <a:srgbClr val="1E2533"/>
                          </a:solidFill>
                          <a:latin typeface="Calibri" pitchFamily="34" charset="0"/>
                          <a:ea typeface="Calibri" pitchFamily="34" charset="-122"/>
                          <a:cs typeface="Calibri" pitchFamily="34" charset="-120"/>
                        </a:rPr>
                        <a:t>i</a:t>
                      </a:r>
                      <a:r>
                        <a:rPr lang="en-US" sz="1400" dirty="0">
                          <a:solidFill>
                            <a:srgbClr val="1E2533"/>
                          </a:solidFill>
                          <a:latin typeface="Calibri" pitchFamily="34" charset="0"/>
                          <a:ea typeface="Calibri" pitchFamily="34" charset="-122"/>
                          <a:cs typeface="Calibri" pitchFamily="34" charset="-120"/>
                        </a:rPr>
                        <a:t> − β</a:t>
                      </a:r>
                      <a:r>
                        <a:rPr lang="en-US" sz="1400" baseline="30000" dirty="0">
                          <a:solidFill>
                            <a:srgbClr val="1E2533"/>
                          </a:solidFill>
                          <a:latin typeface="Calibri" pitchFamily="34" charset="0"/>
                          <a:ea typeface="Calibri" pitchFamily="34" charset="-122"/>
                          <a:cs typeface="Calibri" pitchFamily="34" charset="-120"/>
                        </a:rPr>
                        <a:t>2</a:t>
                      </a:r>
                      <a:r>
                        <a:rPr lang="en-US" sz="1400" dirty="0">
                          <a:solidFill>
                            <a:srgbClr val="1E2533"/>
                          </a:solidFill>
                          <a:latin typeface="Calibri" pitchFamily="34" charset="0"/>
                          <a:ea typeface="Calibri" pitchFamily="34" charset="-122"/>
                          <a:cs typeface="Calibri" pitchFamily="34" charset="-120"/>
                        </a:rPr>
                        <a:t>σ</a:t>
                      </a:r>
                      <a:r>
                        <a:rPr lang="en-US" sz="1400" baseline="30000" dirty="0">
                          <a:solidFill>
                            <a:srgbClr val="1E2533"/>
                          </a:solidFill>
                          <a:latin typeface="Calibri" pitchFamily="34" charset="0"/>
                          <a:ea typeface="Calibri" pitchFamily="34" charset="-122"/>
                          <a:cs typeface="Calibri" pitchFamily="34" charset="-120"/>
                        </a:rPr>
                        <a:t>2</a:t>
                      </a:r>
                      <a:r>
                        <a:rPr lang="en-US" sz="1400" baseline="-40000" dirty="0">
                          <a:solidFill>
                            <a:srgbClr val="1E2533"/>
                          </a:solidFill>
                          <a:latin typeface="Calibri" pitchFamily="34" charset="0"/>
                          <a:ea typeface="Calibri" pitchFamily="34" charset="-122"/>
                          <a:cs typeface="Calibri" pitchFamily="34" charset="-120"/>
                        </a:rPr>
                        <a:t>m</a:t>
                      </a:r>
                      <a:r>
                        <a:rPr lang="en-US" sz="1400" dirty="0">
                          <a:solidFill>
                            <a:srgbClr val="1E2533"/>
                          </a:solidFill>
                          <a:latin typeface="Calibri" pitchFamily="34" charset="0"/>
                          <a:ea typeface="Calibri" pitchFamily="34" charset="-122"/>
                          <a:cs typeface="Calibri" pitchFamily="34" charset="-120"/>
                        </a:rPr>
                        <a:t>; (1 − R²) share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Priced by the market?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Yes: CAPM risk premium = β[E(R</a:t>
                      </a:r>
                      <a:r>
                        <a:rPr lang="en-US" sz="1400" baseline="-40000" dirty="0">
                          <a:solidFill>
                            <a:srgbClr val="1E2533"/>
                          </a:solidFill>
                          <a:latin typeface="Calibri" pitchFamily="34" charset="0"/>
                          <a:ea typeface="Calibri" pitchFamily="34" charset="-122"/>
                          <a:cs typeface="Calibri" pitchFamily="34" charset="-120"/>
                        </a:rPr>
                        <a:t>m</a:t>
                      </a:r>
                      <a:r>
                        <a:rPr lang="en-US" sz="1400" dirty="0">
                          <a:solidFill>
                            <a:srgbClr val="1E2533"/>
                          </a:solidFill>
                          <a:latin typeface="Calibri" pitchFamily="34" charset="0"/>
                          <a:ea typeface="Calibri" pitchFamily="34" charset="-122"/>
                          <a:cs typeface="Calibri" pitchFamily="34" charset="-120"/>
                        </a:rPr>
                        <a:t>) − R</a:t>
                      </a:r>
                      <a:r>
                        <a:rPr lang="en-US" sz="1400" baseline="-40000" dirty="0">
                          <a:solidFill>
                            <a:srgbClr val="1E2533"/>
                          </a:solidFill>
                          <a:latin typeface="Calibri" pitchFamily="34" charset="0"/>
                          <a:ea typeface="Calibri" pitchFamily="34" charset="-122"/>
                          <a:cs typeface="Calibri" pitchFamily="34" charset="-120"/>
                        </a:rPr>
                        <a:t>f</a:t>
                      </a:r>
                      <a:r>
                        <a:rPr lang="en-US" sz="1400" dirty="0">
                          <a:solidFill>
                            <a:srgbClr val="1E2533"/>
                          </a:solidFill>
                          <a:latin typeface="Calibri" pitchFamily="34" charset="0"/>
                          <a:ea typeface="Calibri" pitchFamily="34" charset="-122"/>
                          <a:cs typeface="Calibri" pitchFamily="34" charset="-120"/>
                        </a:rPr>
                        <a: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No: a rational investor can diversify it away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Sub-types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Interest rate, market (price), purchasing-power (inflation), exchange-rate, political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Business (operating), financial (leverage), management, liquidity of a specific stock, default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Management tool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Hedging with index futures/options, asset allocation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Diversification across stocks, sectors and asset classes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Examples: What Moves Everything vs What Moves One Stock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5541264"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731520" y="141732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52221" y="1538021"/>
            <a:ext cx="261518" cy="261518"/>
          </a:xfrm>
          <a:prstGeom prst="rect">
            <a:avLst/>
          </a:prstGeom>
        </p:spPr>
      </p:pic>
      <p:sp>
        <p:nvSpPr>
          <p:cNvPr id="9" name="Text 6"/>
          <p:cNvSpPr txBox="1"/>
          <p:nvPr/>
        </p:nvSpPr>
        <p:spPr>
          <a:xfrm>
            <a:off x="1371600" y="1444752"/>
            <a:ext cx="4480560" cy="45720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Systematic (market-wide)</a:t>
            </a:r>
            <a:endParaRPr lang="en-US" sz="1700" dirty="0"/>
          </a:p>
        </p:txBody>
      </p:sp>
      <p:sp>
        <p:nvSpPr>
          <p:cNvPr id="10" name="Text 7"/>
          <p:cNvSpPr txBox="1"/>
          <p:nvPr/>
        </p:nvSpPr>
        <p:spPr>
          <a:xfrm>
            <a:off x="777240" y="2057400"/>
            <a:ext cx="5029200" cy="4069080"/>
          </a:xfrm>
          <a:prstGeom prst="rect">
            <a:avLst/>
          </a:prstGeom>
          <a:noFill/>
          <a:ln/>
        </p:spPr>
        <p:txBody>
          <a:bodyPr wrap="square" lIns="0" tIns="0" rIns="0" bIns="0" rtlCol="0" anchor="t"/>
          <a:lstStyle/>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RBI rate cycle</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The repo rate rose from 4.00% (May 2022) to 6.50% (Feb 2023), repricing bonds, bank stocks and valuations across the market.</a:t>
            </a:r>
            <a:endParaRPr lang="en-US" sz="1450" dirty="0"/>
          </a:p>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COVID-19 crash</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In March 2020 the Nifty 50 lost roughly 38% from its January peak within weeks; almost every sector fell together.</a:t>
            </a:r>
            <a:endParaRPr lang="en-US" sz="1450" dirty="0"/>
          </a:p>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Tax policy</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The July 2024 Union Budget raised LTCG tax on listed equity from 10% to 12.5% and STCG from 15% to 20%, affecting all equity investors.</a:t>
            </a:r>
            <a:endParaRPr lang="en-US" sz="1450" dirty="0"/>
          </a:p>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Global shocks</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The 2008 global financial crisis and the 2013 "taper tantrum" hit Indian equities, bonds and the rupee simultaneously.</a:t>
            </a:r>
            <a:endParaRPr lang="en-US" sz="1450" dirty="0"/>
          </a:p>
        </p:txBody>
      </p:sp>
      <p:sp>
        <p:nvSpPr>
          <p:cNvPr id="11" name="Shape 8"/>
          <p:cNvSpPr/>
          <p:nvPr/>
        </p:nvSpPr>
        <p:spPr>
          <a:xfrm>
            <a:off x="6144768" y="1280160"/>
            <a:ext cx="5541264"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6373368" y="141732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6494069" y="1538021"/>
            <a:ext cx="261518" cy="261518"/>
          </a:xfrm>
          <a:prstGeom prst="rect">
            <a:avLst/>
          </a:prstGeom>
        </p:spPr>
      </p:pic>
      <p:sp>
        <p:nvSpPr>
          <p:cNvPr id="14" name="Text 10"/>
          <p:cNvSpPr txBox="1"/>
          <p:nvPr/>
        </p:nvSpPr>
        <p:spPr>
          <a:xfrm>
            <a:off x="7013448" y="1444752"/>
            <a:ext cx="4480560" cy="45720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Unsystematic (firm-specific)</a:t>
            </a:r>
            <a:endParaRPr lang="en-US" sz="1700" dirty="0"/>
          </a:p>
        </p:txBody>
      </p:sp>
      <p:sp>
        <p:nvSpPr>
          <p:cNvPr id="15" name="Text 11"/>
          <p:cNvSpPr txBox="1"/>
          <p:nvPr/>
        </p:nvSpPr>
        <p:spPr>
          <a:xfrm>
            <a:off x="6419088" y="2057400"/>
            <a:ext cx="5029200" cy="4069080"/>
          </a:xfrm>
          <a:prstGeom prst="rect">
            <a:avLst/>
          </a:prstGeom>
          <a:noFill/>
          <a:ln/>
        </p:spPr>
        <p:txBody>
          <a:bodyPr wrap="square" lIns="0" tIns="0" rIns="0" bIns="0" rtlCol="0" anchor="t"/>
          <a:lstStyle/>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Bank-specific failure</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RBI placed Yes Bank under a moratorium in March 2020; its shares collapsed while the broader market was not driven by Yes Bank alone.</a:t>
            </a:r>
            <a:endParaRPr lang="en-US" sz="1450" dirty="0"/>
          </a:p>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Regulatory action on one firm</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RBI restrictions on Paytm Payments Bank (Jan–Feb 2024) sent One97 Communications sharply lower, a firm-specific event.</a:t>
            </a:r>
            <a:endParaRPr lang="en-US" sz="1450" dirty="0"/>
          </a:p>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Product recall</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FSSAI's 2015 Maggi ban forced Nestlé India to recall and destroy stock; competitors were not hit the same way.</a:t>
            </a:r>
            <a:endParaRPr lang="en-US" sz="1450" dirty="0"/>
          </a:p>
          <a:p>
            <a:pPr marL="0" indent="0" algn="l">
              <a:spcBef>
                <a:spcPts val="400"/>
              </a:spcBef>
              <a:buNone/>
            </a:pPr>
            <a:r>
              <a:rPr lang="en-US" sz="1450" b="1" dirty="0">
                <a:solidFill>
                  <a:srgbClr val="8C6D0F"/>
                </a:solidFill>
                <a:latin typeface="Calibri" pitchFamily="34" charset="0"/>
                <a:ea typeface="Calibri" pitchFamily="34" charset="-122"/>
                <a:cs typeface="Calibri" pitchFamily="34" charset="-120"/>
              </a:rPr>
              <a:t>Accounting fraud</a:t>
            </a:r>
            <a:endParaRPr lang="en-US" sz="1450" dirty="0"/>
          </a:p>
          <a:p>
            <a:pPr marL="0" indent="0" algn="l">
              <a:spcAft>
                <a:spcPts val="400"/>
              </a:spcAft>
              <a:buNone/>
            </a:pPr>
            <a:r>
              <a:rPr lang="en-US" sz="1450" dirty="0">
                <a:solidFill>
                  <a:srgbClr val="1E2533"/>
                </a:solidFill>
                <a:latin typeface="Calibri" pitchFamily="34" charset="0"/>
                <a:ea typeface="Calibri" pitchFamily="34" charset="-122"/>
                <a:cs typeface="Calibri" pitchFamily="34" charset="-120"/>
              </a:rPr>
              <a:t>Satyam Computer's 2009 confession of inflated accounts wiped out its value; the IT index as a whole survived.</a:t>
            </a:r>
            <a:endParaRPr lang="en-US" sz="14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Measuring Systematic and Unsystematic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6035040"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89888"/>
            <a:ext cx="5577840"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Key formulas</a:t>
            </a:r>
            <a:endParaRPr lang="en-US" sz="1500" dirty="0"/>
          </a:p>
        </p:txBody>
      </p:sp>
      <p:sp>
        <p:nvSpPr>
          <p:cNvPr id="8" name="Text 6"/>
          <p:cNvSpPr txBox="1"/>
          <p:nvPr/>
        </p:nvSpPr>
        <p:spPr>
          <a:xfrm>
            <a:off x="731520" y="1783080"/>
            <a:ext cx="5577840" cy="4343400"/>
          </a:xfrm>
          <a:prstGeom prst="rect">
            <a:avLst/>
          </a:prstGeom>
          <a:noFill/>
          <a:ln/>
        </p:spPr>
        <p:txBody>
          <a:bodyPr wrap="square" lIns="0" tIns="0" rIns="0" bIns="0" rtlCol="0" anchor="t"/>
          <a:lstStyle/>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Beta (sensitivity to the market)</a:t>
            </a:r>
            <a:endParaRPr lang="en-US" sz="1450" dirty="0"/>
          </a:p>
          <a:p>
            <a:pPr marL="0" indent="0" algn="l">
              <a:spcAft>
                <a:spcPts val="200"/>
              </a:spcAft>
              <a:buNone/>
            </a:pPr>
            <a:r>
              <a:rPr lang="en-US" sz="1700" dirty="0">
                <a:solidFill>
                  <a:srgbClr val="1E2533"/>
                </a:solidFill>
                <a:latin typeface="Cambria" pitchFamily="34" charset="0"/>
                <a:ea typeface="Cambria" pitchFamily="34" charset="-122"/>
                <a:cs typeface="Cambria" pitchFamily="34" charset="-120"/>
              </a:rPr>
              <a:t>β</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 Cov(R</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R</a:t>
            </a:r>
            <a:r>
              <a:rPr lang="en-US" sz="1700" baseline="-40000" dirty="0">
                <a:solidFill>
                  <a:srgbClr val="1E2533"/>
                </a:solidFill>
                <a:latin typeface="Cambria" pitchFamily="34" charset="0"/>
                <a:ea typeface="Cambria" pitchFamily="34" charset="-122"/>
                <a:cs typeface="Cambria" pitchFamily="34" charset="-120"/>
              </a:rPr>
              <a:t>m</a:t>
            </a:r>
            <a:r>
              <a:rPr lang="en-US" sz="1700" dirty="0">
                <a:solidFill>
                  <a:srgbClr val="1E2533"/>
                </a:solidFill>
                <a:latin typeface="Cambria" pitchFamily="34" charset="0"/>
                <a:ea typeface="Cambria" pitchFamily="34" charset="-122"/>
                <a:cs typeface="Cambria" pitchFamily="34" charset="-120"/>
              </a:rPr>
              <a:t>) ÷ σ</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m</a:t>
            </a:r>
            <a:r>
              <a:rPr lang="en-US" sz="1700" dirty="0">
                <a:solidFill>
                  <a:srgbClr val="1E2533"/>
                </a:solidFill>
                <a:latin typeface="Cambria" pitchFamily="34" charset="0"/>
                <a:ea typeface="Cambria" pitchFamily="34" charset="-122"/>
                <a:cs typeface="Cambria" pitchFamily="34" charset="-120"/>
              </a:rPr>
              <a:t> = ρ</a:t>
            </a:r>
            <a:r>
              <a:rPr lang="en-US" sz="1700" baseline="-40000" dirty="0">
                <a:solidFill>
                  <a:srgbClr val="1E2533"/>
                </a:solidFill>
                <a:latin typeface="Cambria" pitchFamily="34" charset="0"/>
                <a:ea typeface="Cambria" pitchFamily="34" charset="-122"/>
                <a:cs typeface="Cambria" pitchFamily="34" charset="-120"/>
              </a:rPr>
              <a:t>im</a:t>
            </a:r>
            <a:r>
              <a:rPr lang="en-US" sz="1700" dirty="0">
                <a:solidFill>
                  <a:srgbClr val="1E2533"/>
                </a:solidFill>
                <a:latin typeface="Cambria" pitchFamily="34" charset="0"/>
                <a:ea typeface="Cambria" pitchFamily="34" charset="-122"/>
                <a:cs typeface="Cambria" pitchFamily="34" charset="-120"/>
              </a:rPr>
              <a:t> σ</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 σ</a:t>
            </a:r>
            <a:r>
              <a:rPr lang="en-US" sz="1700" baseline="-40000" dirty="0">
                <a:solidFill>
                  <a:srgbClr val="1E2533"/>
                </a:solidFill>
                <a:latin typeface="Cambria" pitchFamily="34" charset="0"/>
                <a:ea typeface="Cambria" pitchFamily="34" charset="-122"/>
                <a:cs typeface="Cambria" pitchFamily="34" charset="-120"/>
              </a:rPr>
              <a:t>m</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Single-index (market) model</a:t>
            </a:r>
            <a:endParaRPr lang="en-US" sz="1450" dirty="0"/>
          </a:p>
          <a:p>
            <a:pPr marL="0" indent="0" algn="l">
              <a:spcAft>
                <a:spcPts val="200"/>
              </a:spcAft>
              <a:buNone/>
            </a:pPr>
            <a:r>
              <a:rPr lang="en-US" sz="1700" dirty="0">
                <a:solidFill>
                  <a:srgbClr val="1E2533"/>
                </a:solidFill>
                <a:latin typeface="Cambria" pitchFamily="34" charset="0"/>
                <a:ea typeface="Cambria" pitchFamily="34" charset="-122"/>
                <a:cs typeface="Cambria" pitchFamily="34" charset="-120"/>
              </a:rPr>
              <a:t>R</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 α</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 β</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R</a:t>
            </a:r>
            <a:r>
              <a:rPr lang="en-US" sz="1700" baseline="-40000" dirty="0">
                <a:solidFill>
                  <a:srgbClr val="1E2533"/>
                </a:solidFill>
                <a:latin typeface="Cambria" pitchFamily="34" charset="0"/>
                <a:ea typeface="Cambria" pitchFamily="34" charset="-122"/>
                <a:cs typeface="Cambria" pitchFamily="34" charset="-120"/>
              </a:rPr>
              <a:t>m</a:t>
            </a:r>
            <a:r>
              <a:rPr lang="en-US" sz="1700" dirty="0">
                <a:solidFill>
                  <a:srgbClr val="1E2533"/>
                </a:solidFill>
                <a:latin typeface="Cambria" pitchFamily="34" charset="0"/>
                <a:ea typeface="Cambria" pitchFamily="34" charset="-122"/>
                <a:cs typeface="Cambria" pitchFamily="34" charset="-120"/>
              </a:rPr>
              <a:t> + ε</a:t>
            </a:r>
            <a:r>
              <a:rPr lang="en-US" sz="1700" baseline="-40000" dirty="0">
                <a:solidFill>
                  <a:srgbClr val="1E2533"/>
                </a:solidFill>
                <a:latin typeface="Cambria" pitchFamily="34" charset="0"/>
                <a:ea typeface="Cambria" pitchFamily="34" charset="-122"/>
                <a:cs typeface="Cambria" pitchFamily="34" charset="-120"/>
              </a:rPr>
              <a:t>i</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Variance decomposition</a:t>
            </a:r>
            <a:endParaRPr lang="en-US" sz="1450" dirty="0"/>
          </a:p>
          <a:p>
            <a:pPr marL="0" indent="0" algn="l">
              <a:spcAft>
                <a:spcPts val="200"/>
              </a:spcAft>
              <a:buNone/>
            </a:pPr>
            <a:r>
              <a:rPr lang="en-US" sz="1700" dirty="0">
                <a:solidFill>
                  <a:srgbClr val="1E2533"/>
                </a:solidFill>
                <a:latin typeface="Cambria" pitchFamily="34" charset="0"/>
                <a:ea typeface="Cambria" pitchFamily="34" charset="-122"/>
                <a:cs typeface="Cambria" pitchFamily="34" charset="-120"/>
              </a:rPr>
              <a:t>σ</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 β</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σ</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m</a:t>
            </a:r>
            <a:r>
              <a:rPr lang="en-US" sz="1700" dirty="0">
                <a:solidFill>
                  <a:srgbClr val="1E2533"/>
                </a:solidFill>
                <a:latin typeface="Cambria" pitchFamily="34" charset="0"/>
                <a:ea typeface="Cambria" pitchFamily="34" charset="-122"/>
                <a:cs typeface="Cambria" pitchFamily="34" charset="-120"/>
              </a:rPr>
              <a:t> + σ</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ε</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Share of systematic risk</a:t>
            </a:r>
            <a:endParaRPr lang="en-US" sz="1450" dirty="0"/>
          </a:p>
          <a:p>
            <a:pPr marL="0" indent="0" algn="l">
              <a:spcAft>
                <a:spcPts val="200"/>
              </a:spcAft>
              <a:buNone/>
            </a:pPr>
            <a:r>
              <a:rPr lang="en-US" sz="1700" dirty="0">
                <a:solidFill>
                  <a:srgbClr val="1E2533"/>
                </a:solidFill>
                <a:latin typeface="Cambria" pitchFamily="34" charset="0"/>
                <a:ea typeface="Cambria" pitchFamily="34" charset="-122"/>
                <a:cs typeface="Cambria" pitchFamily="34" charset="-120"/>
              </a:rPr>
              <a:t>R</a:t>
            </a:r>
            <a:r>
              <a:rPr lang="en-US" sz="1700" baseline="30000" dirty="0">
                <a:solidFill>
                  <a:srgbClr val="1E2533"/>
                </a:solidFill>
                <a:latin typeface="Cambria" pitchFamily="34" charset="0"/>
                <a:ea typeface="Cambria" pitchFamily="34" charset="-122"/>
                <a:cs typeface="Cambria" pitchFamily="34" charset="-120"/>
              </a:rPr>
              <a:t>2</a:t>
            </a:r>
            <a:r>
              <a:rPr lang="en-US" sz="1700" dirty="0">
                <a:solidFill>
                  <a:srgbClr val="1E2533"/>
                </a:solidFill>
                <a:latin typeface="Cambria" pitchFamily="34" charset="0"/>
                <a:ea typeface="Cambria" pitchFamily="34" charset="-122"/>
                <a:cs typeface="Cambria" pitchFamily="34" charset="-120"/>
              </a:rPr>
              <a:t> = β</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σ</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m</a:t>
            </a:r>
            <a:r>
              <a:rPr lang="en-US" sz="1700" dirty="0">
                <a:solidFill>
                  <a:srgbClr val="1E2533"/>
                </a:solidFill>
                <a:latin typeface="Cambria" pitchFamily="34" charset="0"/>
                <a:ea typeface="Cambria" pitchFamily="34" charset="-122"/>
                <a:cs typeface="Cambria" pitchFamily="34" charset="-120"/>
              </a:rPr>
              <a:t> ÷ σ</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i</a:t>
            </a:r>
            <a:r>
              <a:rPr lang="en-US" sz="1700" dirty="0">
                <a:solidFill>
                  <a:srgbClr val="1E2533"/>
                </a:solidFill>
                <a:latin typeface="Cambria" pitchFamily="34" charset="0"/>
                <a:ea typeface="Cambria" pitchFamily="34" charset="-122"/>
                <a:cs typeface="Cambria" pitchFamily="34" charset="-120"/>
              </a:rPr>
              <a:t> = ρ</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im</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Equally weighted n-stock portfolio</a:t>
            </a:r>
            <a:endParaRPr lang="en-US" sz="1450" dirty="0"/>
          </a:p>
          <a:p>
            <a:pPr marL="0" indent="0" algn="l">
              <a:spcAft>
                <a:spcPts val="200"/>
              </a:spcAft>
              <a:buNone/>
            </a:pPr>
            <a:r>
              <a:rPr lang="en-US" sz="1700" dirty="0">
                <a:solidFill>
                  <a:srgbClr val="1E2533"/>
                </a:solidFill>
                <a:latin typeface="Cambria" pitchFamily="34" charset="0"/>
                <a:ea typeface="Cambria" pitchFamily="34" charset="-122"/>
                <a:cs typeface="Cambria" pitchFamily="34" charset="-120"/>
              </a:rPr>
              <a:t>σ</a:t>
            </a:r>
            <a:r>
              <a:rPr lang="en-US" sz="1700" baseline="30000" dirty="0">
                <a:solidFill>
                  <a:srgbClr val="1E2533"/>
                </a:solidFill>
                <a:latin typeface="Cambria" pitchFamily="34" charset="0"/>
                <a:ea typeface="Cambria" pitchFamily="34" charset="-122"/>
                <a:cs typeface="Cambria" pitchFamily="34" charset="-120"/>
              </a:rPr>
              <a:t>2</a:t>
            </a:r>
            <a:r>
              <a:rPr lang="en-US" sz="1700" baseline="-40000" dirty="0">
                <a:solidFill>
                  <a:srgbClr val="1E2533"/>
                </a:solidFill>
                <a:latin typeface="Cambria" pitchFamily="34" charset="0"/>
                <a:ea typeface="Cambria" pitchFamily="34" charset="-122"/>
                <a:cs typeface="Cambria" pitchFamily="34" charset="-120"/>
              </a:rPr>
              <a:t>p</a:t>
            </a:r>
            <a:r>
              <a:rPr lang="en-US" sz="1700" dirty="0">
                <a:solidFill>
                  <a:srgbClr val="1E2533"/>
                </a:solidFill>
                <a:latin typeface="Cambria" pitchFamily="34" charset="0"/>
                <a:ea typeface="Cambria" pitchFamily="34" charset="-122"/>
                <a:cs typeface="Cambria" pitchFamily="34" charset="-120"/>
              </a:rPr>
              <a:t> = (1/n) σ̄</a:t>
            </a:r>
            <a:r>
              <a:rPr lang="en-US" sz="1700" baseline="30000" dirty="0">
                <a:solidFill>
                  <a:srgbClr val="1E2533"/>
                </a:solidFill>
                <a:latin typeface="Cambria" pitchFamily="34" charset="0"/>
                <a:ea typeface="Cambria" pitchFamily="34" charset="-122"/>
                <a:cs typeface="Cambria" pitchFamily="34" charset="-120"/>
              </a:rPr>
              <a:t>2</a:t>
            </a:r>
            <a:r>
              <a:rPr lang="en-US" sz="1700" dirty="0">
                <a:solidFill>
                  <a:srgbClr val="1E2533"/>
                </a:solidFill>
                <a:latin typeface="Cambria" pitchFamily="34" charset="0"/>
                <a:ea typeface="Cambria" pitchFamily="34" charset="-122"/>
                <a:cs typeface="Cambria" pitchFamily="34" charset="-120"/>
              </a:rPr>
              <a:t> + (1 − 1/n) Cov̄</a:t>
            </a:r>
            <a:endParaRPr lang="en-US" sz="1450" dirty="0"/>
          </a:p>
        </p:txBody>
      </p:sp>
      <p:sp>
        <p:nvSpPr>
          <p:cNvPr id="9" name="Shape 7"/>
          <p:cNvSpPr/>
          <p:nvPr/>
        </p:nvSpPr>
        <p:spPr>
          <a:xfrm>
            <a:off x="6812280" y="1280160"/>
            <a:ext cx="4873752" cy="4937760"/>
          </a:xfrm>
          <a:prstGeom prst="roundRect">
            <a:avLst>
              <a:gd name="adj" fmla="val 150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7040880" y="1389888"/>
            <a:ext cx="441655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Notation key</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040880" y="1810512"/>
          <a:ext cx="4416552" cy="3759200"/>
        </p:xfrm>
        <a:graphic>
          <a:graphicData uri="http://schemas.openxmlformats.org/drawingml/2006/table">
            <a:tbl>
              <a:tblPr/>
              <a:tblGrid>
                <a:gridCol w="1417320">
                  <a:extLst>
                    <a:ext uri="{9D8B030D-6E8A-4147-A177-3AD203B41FA5}">
                      <a16:colId xmlns:a16="http://schemas.microsoft.com/office/drawing/2014/main" val="20000"/>
                    </a:ext>
                  </a:extLst>
                </a:gridCol>
                <a:gridCol w="2999232">
                  <a:extLst>
                    <a:ext uri="{9D8B030D-6E8A-4147-A177-3AD203B41FA5}">
                      <a16:colId xmlns:a16="http://schemas.microsoft.com/office/drawing/2014/main" val="20001"/>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Symbol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R</a:t>
                      </a:r>
                      <a:r>
                        <a:rPr lang="en-US" sz="1200" b="1" baseline="-40000" dirty="0">
                          <a:solidFill>
                            <a:srgbClr val="1E2533"/>
                          </a:solidFill>
                          <a:latin typeface="Calibri" pitchFamily="34" charset="0"/>
                          <a:ea typeface="Calibri" pitchFamily="34" charset="-122"/>
                          <a:cs typeface="Calibri" pitchFamily="34" charset="-120"/>
                        </a:rPr>
                        <a:t>i</a:t>
                      </a:r>
                      <a:r>
                        <a:rPr lang="en-US" sz="1200" b="1" dirty="0">
                          <a:solidFill>
                            <a:srgbClr val="1E2533"/>
                          </a:solidFill>
                          <a:latin typeface="Calibri" pitchFamily="34" charset="0"/>
                          <a:ea typeface="Calibri" pitchFamily="34" charset="-122"/>
                          <a:cs typeface="Calibri" pitchFamily="34" charset="-120"/>
                        </a:rPr>
                        <a:t>, R</a:t>
                      </a:r>
                      <a:r>
                        <a:rPr lang="en-US" sz="1200" b="1" baseline="-40000" dirty="0">
                          <a:solidFill>
                            <a:srgbClr val="1E2533"/>
                          </a:solidFill>
                          <a:latin typeface="Calibri" pitchFamily="34" charset="0"/>
                          <a:ea typeface="Calibri" pitchFamily="34" charset="-122"/>
                          <a:cs typeface="Calibri" pitchFamily="34" charset="-120"/>
                        </a:rPr>
                        <a:t>m</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Return on security i and on the market index (e.g. Nifty 50)</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σ</a:t>
                      </a:r>
                      <a:r>
                        <a:rPr lang="en-US" sz="1200" b="1" baseline="-40000" dirty="0">
                          <a:solidFill>
                            <a:srgbClr val="1E2533"/>
                          </a:solidFill>
                          <a:latin typeface="Calibri" pitchFamily="34" charset="0"/>
                          <a:ea typeface="Calibri" pitchFamily="34" charset="-122"/>
                          <a:cs typeface="Calibri" pitchFamily="34" charset="-120"/>
                        </a:rPr>
                        <a:t>i</a:t>
                      </a:r>
                      <a:r>
                        <a:rPr lang="en-US" sz="1200" b="1" dirty="0">
                          <a:solidFill>
                            <a:srgbClr val="1E2533"/>
                          </a:solidFill>
                          <a:latin typeface="Calibri" pitchFamily="34" charset="0"/>
                          <a:ea typeface="Calibri" pitchFamily="34" charset="-122"/>
                          <a:cs typeface="Calibri" pitchFamily="34" charset="-120"/>
                        </a:rPr>
                        <a:t>, σ</a:t>
                      </a:r>
                      <a:r>
                        <a:rPr lang="en-US" sz="1200" b="1" baseline="-40000" dirty="0">
                          <a:solidFill>
                            <a:srgbClr val="1E2533"/>
                          </a:solidFill>
                          <a:latin typeface="Calibri" pitchFamily="34" charset="0"/>
                          <a:ea typeface="Calibri" pitchFamily="34" charset="-122"/>
                          <a:cs typeface="Calibri" pitchFamily="34" charset="-120"/>
                        </a:rPr>
                        <a:t>m</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Standard deviation of security and market returns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Cov(R</a:t>
                      </a:r>
                      <a:r>
                        <a:rPr lang="en-US" sz="1200" b="1" baseline="-40000" dirty="0">
                          <a:solidFill>
                            <a:srgbClr val="1E2533"/>
                          </a:solidFill>
                          <a:latin typeface="Calibri" pitchFamily="34" charset="0"/>
                          <a:ea typeface="Calibri" pitchFamily="34" charset="-122"/>
                          <a:cs typeface="Calibri" pitchFamily="34" charset="-120"/>
                        </a:rPr>
                        <a:t>i</a:t>
                      </a:r>
                      <a:r>
                        <a:rPr lang="en-US" sz="1200" b="1" dirty="0">
                          <a:solidFill>
                            <a:srgbClr val="1E2533"/>
                          </a:solidFill>
                          <a:latin typeface="Calibri" pitchFamily="34" charset="0"/>
                          <a:ea typeface="Calibri" pitchFamily="34" charset="-122"/>
                          <a:cs typeface="Calibri" pitchFamily="34" charset="-120"/>
                        </a:rPr>
                        <a:t>, R</a:t>
                      </a:r>
                      <a:r>
                        <a:rPr lang="en-US" sz="1200" b="1" baseline="-40000" dirty="0">
                          <a:solidFill>
                            <a:srgbClr val="1E2533"/>
                          </a:solidFill>
                          <a:latin typeface="Calibri" pitchFamily="34" charset="0"/>
                          <a:ea typeface="Calibri" pitchFamily="34" charset="-122"/>
                          <a:cs typeface="Calibri" pitchFamily="34" charset="-120"/>
                        </a:rPr>
                        <a:t>m</a:t>
                      </a:r>
                      <a:r>
                        <a:rPr lang="en-US" sz="1200" b="1" dirty="0">
                          <a:solidFill>
                            <a:srgbClr val="1E2533"/>
                          </a:solidFill>
                          <a:latin typeface="Calibri" pitchFamily="34" charset="0"/>
                          <a:ea typeface="Calibri" pitchFamily="34" charset="-122"/>
                          <a:cs typeface="Calibri" pitchFamily="34" charset="-120"/>
                        </a:rPr>
                        <a: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Covariance between security and market returns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ρ</a:t>
                      </a:r>
                      <a:r>
                        <a:rPr lang="en-US" sz="1200" b="1" baseline="-40000" dirty="0">
                          <a:solidFill>
                            <a:srgbClr val="1E2533"/>
                          </a:solidFill>
                          <a:latin typeface="Calibri" pitchFamily="34" charset="0"/>
                          <a:ea typeface="Calibri" pitchFamily="34" charset="-122"/>
                          <a:cs typeface="Calibri" pitchFamily="34" charset="-120"/>
                        </a:rPr>
                        <a:t>im</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Correlation between security and market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α</a:t>
                      </a:r>
                      <a:r>
                        <a:rPr lang="en-US" sz="1200" b="1" baseline="-40000" dirty="0">
                          <a:solidFill>
                            <a:srgbClr val="1E2533"/>
                          </a:solidFill>
                          <a:latin typeface="Calibri" pitchFamily="34" charset="0"/>
                          <a:ea typeface="Calibri" pitchFamily="34" charset="-122"/>
                          <a:cs typeface="Calibri" pitchFamily="34" charset="-120"/>
                        </a:rPr>
                        <a:t>i</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Intercept: return not explained by the market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ε</a:t>
                      </a:r>
                      <a:r>
                        <a:rPr lang="en-US" sz="1200" b="1" baseline="-40000" dirty="0">
                          <a:solidFill>
                            <a:srgbClr val="1E2533"/>
                          </a:solidFill>
                          <a:latin typeface="Calibri" pitchFamily="34" charset="0"/>
                          <a:ea typeface="Calibri" pitchFamily="34" charset="-122"/>
                          <a:cs typeface="Calibri" pitchFamily="34" charset="-120"/>
                        </a:rPr>
                        <a:t>i</a:t>
                      </a:r>
                      <a:r>
                        <a:rPr lang="en-US" sz="1200" b="1" dirty="0">
                          <a:solidFill>
                            <a:srgbClr val="1E2533"/>
                          </a:solidFill>
                          <a:latin typeface="Calibri" pitchFamily="34" charset="0"/>
                          <a:ea typeface="Calibri" pitchFamily="34" charset="-122"/>
                          <a:cs typeface="Calibri" pitchFamily="34" charset="-120"/>
                        </a:rPr>
                        <a:t>, σ</a:t>
                      </a:r>
                      <a:r>
                        <a:rPr lang="en-US" sz="1200" b="1" baseline="30000" dirty="0">
                          <a:solidFill>
                            <a:srgbClr val="1E2533"/>
                          </a:solidFill>
                          <a:latin typeface="Calibri" pitchFamily="34" charset="0"/>
                          <a:ea typeface="Calibri" pitchFamily="34" charset="-122"/>
                          <a:cs typeface="Calibri" pitchFamily="34" charset="-120"/>
                        </a:rPr>
                        <a:t>2</a:t>
                      </a:r>
                      <a:r>
                        <a:rPr lang="en-US" sz="1200" b="1" baseline="-40000" dirty="0">
                          <a:solidFill>
                            <a:srgbClr val="1E2533"/>
                          </a:solidFill>
                          <a:latin typeface="Calibri" pitchFamily="34" charset="0"/>
                          <a:ea typeface="Calibri" pitchFamily="34" charset="-122"/>
                          <a:cs typeface="Calibri" pitchFamily="34" charset="-120"/>
                        </a:rPr>
                        <a:t>ε</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Residual (firm-specific) return and its variance</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R</a:t>
                      </a:r>
                      <a:r>
                        <a:rPr lang="en-US" sz="1200" b="1" baseline="30000" dirty="0">
                          <a:solidFill>
                            <a:srgbClr val="1E2533"/>
                          </a:solidFill>
                          <a:latin typeface="Calibri" pitchFamily="34" charset="0"/>
                          <a:ea typeface="Calibri" pitchFamily="34" charset="-122"/>
                          <a:cs typeface="Calibri" pitchFamily="34" charset="-120"/>
                        </a:rPr>
                        <a:t>2</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Coefficient of determination: fraction of total variance that is systematic</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σ̄</a:t>
                      </a:r>
                      <a:r>
                        <a:rPr lang="en-US" sz="1200" b="1" baseline="30000" dirty="0">
                          <a:solidFill>
                            <a:srgbClr val="1E2533"/>
                          </a:solidFill>
                          <a:latin typeface="Calibri" pitchFamily="34" charset="0"/>
                          <a:ea typeface="Calibri" pitchFamily="34" charset="-122"/>
                          <a:cs typeface="Calibri" pitchFamily="34" charset="-120"/>
                        </a:rPr>
                        <a:t>2</a:t>
                      </a:r>
                      <a:r>
                        <a:rPr lang="en-US" sz="1200" b="1" dirty="0">
                          <a:solidFill>
                            <a:srgbClr val="1E2533"/>
                          </a:solidFill>
                          <a:latin typeface="Calibri" pitchFamily="34" charset="0"/>
                          <a:ea typeface="Calibri" pitchFamily="34" charset="-122"/>
                          <a:cs typeface="Calibri" pitchFamily="34" charset="-120"/>
                        </a:rPr>
                        <a:t>, Cov̄</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Average variance and average covariance of the n stocks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n</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Number of stocks in the portfolio</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Diversification Removes Unsystematic Risk, Not Systematic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6" name="Chart 0"/>
          <p:cNvGraphicFramePr/>
          <p:nvPr/>
        </p:nvGraphicFramePr>
        <p:xfrm>
          <a:off x="502920" y="1280160"/>
          <a:ext cx="69494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726680" y="1280160"/>
            <a:ext cx="3959352" cy="4937760"/>
          </a:xfrm>
          <a:prstGeom prst="roundRect">
            <a:avLst>
              <a:gd name="adj" fmla="val 184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Text 5"/>
          <p:cNvSpPr txBox="1"/>
          <p:nvPr/>
        </p:nvSpPr>
        <p:spPr>
          <a:xfrm>
            <a:off x="7909560" y="1417320"/>
            <a:ext cx="3611880" cy="4663440"/>
          </a:xfrm>
          <a:prstGeom prst="rect">
            <a:avLst/>
          </a:prstGeom>
          <a:noFill/>
          <a:ln/>
        </p:spPr>
        <p:txBody>
          <a:bodyPr wrap="square" lIns="0" tIns="0" rIns="0" bIns="0" rtlCol="0" anchor="t"/>
          <a:lstStyle/>
          <a:p>
            <a:pPr marL="0" indent="0" algn="l">
              <a:spcAft>
                <a:spcPts val="600"/>
              </a:spcAft>
              <a:buNone/>
            </a:pPr>
            <a:r>
              <a:rPr lang="en-US" sz="1500" b="1" dirty="0">
                <a:solidFill>
                  <a:srgbClr val="8C6D0F"/>
                </a:solidFill>
                <a:latin typeface="Calibri" pitchFamily="34" charset="0"/>
                <a:ea typeface="Calibri" pitchFamily="34" charset="-122"/>
                <a:cs typeface="Calibri" pitchFamily="34" charset="-120"/>
              </a:rPr>
              <a:t>Reading the curve</a:t>
            </a:r>
            <a:endParaRPr lang="en-US" sz="1500" dirty="0"/>
          </a:p>
          <a:p>
            <a:pPr marL="0" indent="0" algn="l">
              <a:spcAft>
                <a:spcPts val="500"/>
              </a:spcAft>
              <a:buNone/>
            </a:pPr>
            <a:r>
              <a:rPr lang="en-US" sz="1450" dirty="0">
                <a:solidFill>
                  <a:srgbClr val="1E2533"/>
                </a:solidFill>
                <a:latin typeface="Calibri" pitchFamily="34" charset="0"/>
                <a:ea typeface="Calibri" pitchFamily="34" charset="-122"/>
                <a:cs typeface="Calibri" pitchFamily="34" charset="-120"/>
              </a:rPr>
              <a:t>With σ̄ = 30% and ρ̄ = 0.30, Cov̄ = 0.30 × 30 × 30 = 270 (%</a:t>
            </a:r>
            <a:r>
              <a:rPr lang="en-US" sz="1450" baseline="30000" dirty="0">
                <a:solidFill>
                  <a:srgbClr val="1E2533"/>
                </a:solidFill>
                <a:latin typeface="Calibri" pitchFamily="34" charset="0"/>
                <a:ea typeface="Calibri" pitchFamily="34" charset="-122"/>
                <a:cs typeface="Calibri" pitchFamily="34" charset="-120"/>
              </a:rPr>
              <a:t>2</a:t>
            </a:r>
            <a:r>
              <a:rPr lang="en-US" sz="1450" dirty="0">
                <a:solidFill>
                  <a:srgbClr val="1E2533"/>
                </a:solidFill>
                <a:latin typeface="Calibri" pitchFamily="34" charset="0"/>
                <a:ea typeface="Calibri" pitchFamily="34" charset="-122"/>
                <a:cs typeface="Calibri" pitchFamily="34" charset="-120"/>
              </a:rPr>
              <a:t>).</a:t>
            </a:r>
            <a:endParaRPr lang="en-US" sz="1500" dirty="0"/>
          </a:p>
          <a:p>
            <a:pPr marL="0" indent="0" algn="l">
              <a:spcAft>
                <a:spcPts val="500"/>
              </a:spcAft>
              <a:buNone/>
            </a:pPr>
            <a:r>
              <a:rPr lang="en-US" sz="1450" b="1" dirty="0">
                <a:solidFill>
                  <a:srgbClr val="14213D"/>
                </a:solidFill>
                <a:latin typeface="Calibri" pitchFamily="34" charset="0"/>
                <a:ea typeface="Calibri" pitchFamily="34" charset="-122"/>
                <a:cs typeface="Calibri" pitchFamily="34" charset="-120"/>
              </a:rPr>
              <a:t>σ</a:t>
            </a:r>
            <a:r>
              <a:rPr lang="en-US" sz="1450" b="1" baseline="-40000" dirty="0">
                <a:solidFill>
                  <a:srgbClr val="14213D"/>
                </a:solidFill>
                <a:latin typeface="Calibri" pitchFamily="34" charset="0"/>
                <a:ea typeface="Calibri" pitchFamily="34" charset="-122"/>
                <a:cs typeface="Calibri" pitchFamily="34" charset="-120"/>
              </a:rPr>
              <a:t>p</a:t>
            </a:r>
            <a:r>
              <a:rPr lang="en-US" sz="1450" b="1" dirty="0">
                <a:solidFill>
                  <a:srgbClr val="14213D"/>
                </a:solidFill>
                <a:latin typeface="Calibri" pitchFamily="34" charset="0"/>
                <a:ea typeface="Calibri" pitchFamily="34" charset="-122"/>
                <a:cs typeface="Calibri" pitchFamily="34" charset="-120"/>
              </a:rPr>
              <a:t>(n) = √(270 + 630/n)</a:t>
            </a:r>
            <a:endParaRPr lang="en-US" sz="1500" dirty="0"/>
          </a:p>
          <a:p>
            <a:pPr marL="0" indent="0" algn="l">
              <a:spcAft>
                <a:spcPts val="500"/>
              </a:spcAft>
              <a:buNone/>
            </a:pPr>
            <a:r>
              <a:rPr lang="en-US" sz="1450" dirty="0">
                <a:solidFill>
                  <a:srgbClr val="1E2533"/>
                </a:solidFill>
                <a:latin typeface="Calibri" pitchFamily="34" charset="0"/>
                <a:ea typeface="Calibri" pitchFamily="34" charset="-122"/>
                <a:cs typeface="Calibri" pitchFamily="34" charset="-120"/>
              </a:rPr>
              <a:t>n = 1: 30.00%;  n = 10: 18.25%;  n = 20: 17.36%;  n = 100: 16.62%</a:t>
            </a:r>
            <a:endParaRPr lang="en-US" sz="1500" dirty="0"/>
          </a:p>
          <a:p>
            <a:pPr marL="0" indent="0" algn="l">
              <a:spcAft>
                <a:spcPts val="800"/>
              </a:spcAft>
              <a:buNone/>
            </a:pPr>
            <a:r>
              <a:rPr lang="en-US" sz="1450" dirty="0">
                <a:solidFill>
                  <a:srgbClr val="1E2533"/>
                </a:solidFill>
                <a:latin typeface="Calibri" pitchFamily="34" charset="0"/>
                <a:ea typeface="Calibri" pitchFamily="34" charset="-122"/>
                <a:cs typeface="Calibri" pitchFamily="34" charset="-120"/>
              </a:rPr>
              <a:t>As n → ∞, σ</a:t>
            </a:r>
            <a:r>
              <a:rPr lang="en-US" sz="1450" baseline="-40000" dirty="0">
                <a:solidFill>
                  <a:srgbClr val="1E2533"/>
                </a:solidFill>
                <a:latin typeface="Calibri" pitchFamily="34" charset="0"/>
                <a:ea typeface="Calibri" pitchFamily="34" charset="-122"/>
                <a:cs typeface="Calibri" pitchFamily="34" charset="-120"/>
              </a:rPr>
              <a:t>p</a:t>
            </a:r>
            <a:r>
              <a:rPr lang="en-US" sz="1450" dirty="0">
                <a:solidFill>
                  <a:srgbClr val="1E2533"/>
                </a:solidFill>
                <a:latin typeface="Calibri" pitchFamily="34" charset="0"/>
                <a:ea typeface="Calibri" pitchFamily="34" charset="-122"/>
                <a:cs typeface="Calibri" pitchFamily="34" charset="-120"/>
              </a:rPr>
              <a:t> → √270 = 16.43%. This floor is systematic risk.</a:t>
            </a:r>
            <a:endParaRPr lang="en-US" sz="1500" dirty="0"/>
          </a:p>
          <a:p>
            <a:pPr marL="0" indent="0" algn="l">
              <a:buNone/>
            </a:pPr>
            <a:r>
              <a:rPr lang="en-US" sz="1450" i="1" dirty="0">
                <a:solidFill>
                  <a:srgbClr val="5C6577"/>
                </a:solidFill>
                <a:latin typeface="Calibri" pitchFamily="34" charset="0"/>
                <a:ea typeface="Calibri" pitchFamily="34" charset="-122"/>
                <a:cs typeface="Calibri" pitchFamily="34" charset="-120"/>
              </a:rPr>
              <a:t>Most of the benefit arrives by 15–20 stocks, which is why diversified mutual funds hold 30–60 names.</a:t>
            </a:r>
            <a:endParaRPr lang="en-US" sz="15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Worked Example · Decomposing the Risk of Stock X</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Aft>
                <a:spcPts val="100"/>
              </a:spcAft>
              <a:buNone/>
            </a:pPr>
            <a:r>
              <a:rPr lang="en-US" sz="1500" b="1" dirty="0">
                <a:solidFill>
                  <a:srgbClr val="1E2533"/>
                </a:solidFill>
                <a:latin typeface="Calibri" pitchFamily="34" charset="0"/>
                <a:ea typeface="Calibri" pitchFamily="34" charset="-122"/>
                <a:cs typeface="Calibri" pitchFamily="34" charset="-120"/>
              </a:rPr>
              <a:t>Data:</a:t>
            </a:r>
            <a:r>
              <a:rPr lang="en-US" sz="1500" dirty="0">
                <a:solidFill>
                  <a:srgbClr val="1E2533"/>
                </a:solidFill>
                <a:latin typeface="Calibri" pitchFamily="34" charset="0"/>
                <a:ea typeface="Calibri" pitchFamily="34" charset="-122"/>
                <a:cs typeface="Calibri" pitchFamily="34" charset="-120"/>
              </a:rPr>
              <a:t> Stock X (a listed auto-component maker, illustrative): β = 1.2, σ</a:t>
            </a:r>
            <a:r>
              <a:rPr lang="en-US" sz="1500" baseline="-40000" dirty="0">
                <a:solidFill>
                  <a:srgbClr val="1E2533"/>
                </a:solidFill>
                <a:latin typeface="Calibri" pitchFamily="34" charset="0"/>
                <a:ea typeface="Calibri" pitchFamily="34" charset="-122"/>
                <a:cs typeface="Calibri" pitchFamily="34" charset="-120"/>
              </a:rPr>
              <a:t>m</a:t>
            </a:r>
            <a:r>
              <a:rPr lang="en-US" sz="1500" dirty="0">
                <a:solidFill>
                  <a:srgbClr val="1E2533"/>
                </a:solidFill>
                <a:latin typeface="Calibri" pitchFamily="34" charset="0"/>
                <a:ea typeface="Calibri" pitchFamily="34" charset="-122"/>
                <a:cs typeface="Calibri" pitchFamily="34" charset="-120"/>
              </a:rPr>
              <a:t> (Nifty 50) = 18%, σ</a:t>
            </a:r>
            <a:r>
              <a:rPr lang="en-US" sz="1500" baseline="-40000" dirty="0">
                <a:solidFill>
                  <a:srgbClr val="1E2533"/>
                </a:solidFill>
                <a:latin typeface="Calibri" pitchFamily="34" charset="0"/>
                <a:ea typeface="Calibri" pitchFamily="34" charset="-122"/>
                <a:cs typeface="Calibri" pitchFamily="34" charset="-120"/>
              </a:rPr>
              <a:t>i</a:t>
            </a:r>
            <a:r>
              <a:rPr lang="en-US" sz="1500" dirty="0">
                <a:solidFill>
                  <a:srgbClr val="1E2533"/>
                </a:solidFill>
                <a:latin typeface="Calibri" pitchFamily="34" charset="0"/>
                <a:ea typeface="Calibri" pitchFamily="34" charset="-122"/>
                <a:cs typeface="Calibri" pitchFamily="34" charset="-120"/>
              </a:rPr>
              <a:t> = 30%.</a:t>
            </a:r>
            <a:endParaRPr lang="en-US" sz="150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Step 1: Total variance</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30000" dirty="0">
                <a:solidFill>
                  <a:srgbClr val="14213D"/>
                </a:solidFill>
                <a:latin typeface="Cambria" pitchFamily="34" charset="0"/>
                <a:ea typeface="Cambria" pitchFamily="34" charset="-122"/>
                <a:cs typeface="Cambria" pitchFamily="34" charset="-120"/>
              </a:rPr>
              <a:t>2</a:t>
            </a:r>
            <a:r>
              <a:rPr lang="en-US" sz="1500" baseline="-40000" dirty="0">
                <a:solidFill>
                  <a:srgbClr val="14213D"/>
                </a:solidFill>
                <a:latin typeface="Cambria" pitchFamily="34" charset="0"/>
                <a:ea typeface="Cambria" pitchFamily="34" charset="-122"/>
                <a:cs typeface="Cambria" pitchFamily="34" charset="-120"/>
              </a:rPr>
              <a:t>i</a:t>
            </a:r>
            <a:r>
              <a:rPr lang="en-US" sz="1500" dirty="0">
                <a:solidFill>
                  <a:srgbClr val="14213D"/>
                </a:solidFill>
                <a:latin typeface="Cambria" pitchFamily="34" charset="0"/>
                <a:ea typeface="Cambria" pitchFamily="34" charset="-122"/>
                <a:cs typeface="Cambria" pitchFamily="34" charset="-120"/>
              </a:rPr>
              <a:t> = 30</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900 (%</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a:t>
            </a:r>
            <a:endParaRPr lang="en-US" sz="150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Step 2: Systematic variance</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β</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σ</a:t>
            </a:r>
            <a:r>
              <a:rPr lang="en-US" sz="1500" baseline="30000" dirty="0">
                <a:solidFill>
                  <a:srgbClr val="14213D"/>
                </a:solidFill>
                <a:latin typeface="Cambria" pitchFamily="34" charset="0"/>
                <a:ea typeface="Cambria" pitchFamily="34" charset="-122"/>
                <a:cs typeface="Cambria" pitchFamily="34" charset="-120"/>
              </a:rPr>
              <a:t>2</a:t>
            </a:r>
            <a:r>
              <a:rPr lang="en-US" sz="1500" baseline="-40000" dirty="0">
                <a:solidFill>
                  <a:srgbClr val="14213D"/>
                </a:solidFill>
                <a:latin typeface="Cambria" pitchFamily="34" charset="0"/>
                <a:ea typeface="Cambria" pitchFamily="34" charset="-122"/>
                <a:cs typeface="Cambria" pitchFamily="34" charset="-120"/>
              </a:rPr>
              <a:t>m</a:t>
            </a:r>
            <a:r>
              <a:rPr lang="en-US" sz="1500" dirty="0">
                <a:solidFill>
                  <a:srgbClr val="14213D"/>
                </a:solidFill>
                <a:latin typeface="Cambria" pitchFamily="34" charset="0"/>
                <a:ea typeface="Cambria" pitchFamily="34" charset="-122"/>
                <a:cs typeface="Cambria" pitchFamily="34" charset="-120"/>
              </a:rPr>
              <a:t> = 1.2</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18</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1.44 × 324 = 466.56 (%</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a:t>
            </a:r>
            <a:endParaRPr lang="en-US" sz="150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Step 3: Unsystematic variance</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30000" dirty="0">
                <a:solidFill>
                  <a:srgbClr val="14213D"/>
                </a:solidFill>
                <a:latin typeface="Cambria" pitchFamily="34" charset="0"/>
                <a:ea typeface="Cambria" pitchFamily="34" charset="-122"/>
                <a:cs typeface="Cambria" pitchFamily="34" charset="-120"/>
              </a:rPr>
              <a:t>2</a:t>
            </a:r>
            <a:r>
              <a:rPr lang="en-US" sz="1500" baseline="-40000" dirty="0">
                <a:solidFill>
                  <a:srgbClr val="14213D"/>
                </a:solidFill>
                <a:latin typeface="Cambria" pitchFamily="34" charset="0"/>
                <a:ea typeface="Cambria" pitchFamily="34" charset="-122"/>
                <a:cs typeface="Cambria" pitchFamily="34" charset="-120"/>
              </a:rPr>
              <a:t>ε</a:t>
            </a:r>
            <a:r>
              <a:rPr lang="en-US" sz="1500" dirty="0">
                <a:solidFill>
                  <a:srgbClr val="14213D"/>
                </a:solidFill>
                <a:latin typeface="Cambria" pitchFamily="34" charset="0"/>
                <a:ea typeface="Cambria" pitchFamily="34" charset="-122"/>
                <a:cs typeface="Cambria" pitchFamily="34" charset="-120"/>
              </a:rPr>
              <a:t> = σ</a:t>
            </a:r>
            <a:r>
              <a:rPr lang="en-US" sz="1500" baseline="30000" dirty="0">
                <a:solidFill>
                  <a:srgbClr val="14213D"/>
                </a:solidFill>
                <a:latin typeface="Cambria" pitchFamily="34" charset="0"/>
                <a:ea typeface="Cambria" pitchFamily="34" charset="-122"/>
                <a:cs typeface="Cambria" pitchFamily="34" charset="-120"/>
              </a:rPr>
              <a:t>2</a:t>
            </a:r>
            <a:r>
              <a:rPr lang="en-US" sz="1500" baseline="-40000" dirty="0">
                <a:solidFill>
                  <a:srgbClr val="14213D"/>
                </a:solidFill>
                <a:latin typeface="Cambria" pitchFamily="34" charset="0"/>
                <a:ea typeface="Cambria" pitchFamily="34" charset="-122"/>
                <a:cs typeface="Cambria" pitchFamily="34" charset="-120"/>
              </a:rPr>
              <a:t>i</a:t>
            </a:r>
            <a:r>
              <a:rPr lang="en-US" sz="1500" dirty="0">
                <a:solidFill>
                  <a:srgbClr val="14213D"/>
                </a:solidFill>
                <a:latin typeface="Cambria" pitchFamily="34" charset="0"/>
                <a:ea typeface="Cambria" pitchFamily="34" charset="-122"/>
                <a:cs typeface="Cambria" pitchFamily="34" charset="-120"/>
              </a:rPr>
              <a:t> − β</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σ</a:t>
            </a:r>
            <a:r>
              <a:rPr lang="en-US" sz="1500" baseline="30000" dirty="0">
                <a:solidFill>
                  <a:srgbClr val="14213D"/>
                </a:solidFill>
                <a:latin typeface="Cambria" pitchFamily="34" charset="0"/>
                <a:ea typeface="Cambria" pitchFamily="34" charset="-122"/>
                <a:cs typeface="Cambria" pitchFamily="34" charset="-120"/>
              </a:rPr>
              <a:t>2</a:t>
            </a:r>
            <a:r>
              <a:rPr lang="en-US" sz="1500" baseline="-40000" dirty="0">
                <a:solidFill>
                  <a:srgbClr val="14213D"/>
                </a:solidFill>
                <a:latin typeface="Cambria" pitchFamily="34" charset="0"/>
                <a:ea typeface="Cambria" pitchFamily="34" charset="-122"/>
                <a:cs typeface="Cambria" pitchFamily="34" charset="-120"/>
              </a:rPr>
              <a:t>m</a:t>
            </a:r>
            <a:r>
              <a:rPr lang="en-US" sz="1500" dirty="0">
                <a:solidFill>
                  <a:srgbClr val="14213D"/>
                </a:solidFill>
                <a:latin typeface="Cambria" pitchFamily="34" charset="0"/>
                <a:ea typeface="Cambria" pitchFamily="34" charset="-122"/>
                <a:cs typeface="Cambria" pitchFamily="34" charset="-120"/>
              </a:rPr>
              <a:t> = 900 − 466.56 = 433.44 (%</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a:t>
            </a:r>
            <a:endParaRPr lang="en-US" sz="150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Step 4: Shares and standard deviations</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R</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466.56 ÷ 900 = 0.5184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51.84% systematic; 48.16% unsystematic</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Systematic σ = √466.56 = 21.60%;  unsystematic σ = √433.44 = 20.82%</a:t>
            </a:r>
            <a:endParaRPr lang="en-US" sz="1500" dirty="0"/>
          </a:p>
          <a:p>
            <a:pPr marL="0" indent="0" algn="l">
              <a:spcAft>
                <a:spcPts val="100"/>
              </a:spcAft>
              <a:buNone/>
            </a:pPr>
            <a:r>
              <a:rPr lang="en-US" sz="1400" i="1" dirty="0">
                <a:solidFill>
                  <a:srgbClr val="5C6577"/>
                </a:solidFill>
                <a:latin typeface="Calibri" pitchFamily="34" charset="0"/>
                <a:ea typeface="Calibri" pitchFamily="34" charset="-122"/>
                <a:cs typeface="Calibri" pitchFamily="34" charset="-120"/>
              </a:rPr>
              <a:t>Note: variances add; standard deviations do not (21.60 + 20.82 ≠ 30).</a:t>
            </a:r>
            <a:endParaRPr lang="en-US" sz="150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Systematic share ≈ 51.8% of total variance</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Unsystematic share ≈ 48.2%</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Correlation with Nifty: ρ = √0.5184 = 0.72</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Nearly half of Stock X's variance is diversifiable. An investor holding only Stock X bears risk the market will not pay for.</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03</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3</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Market Risk</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The risk of loss from adverse movements in market prices and rates</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Meaning and the four market risk factors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How market risk arises: position × sensitivity × shock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Measurement: sensitivities, VaR, Expected Shortfall, stress tests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Five quantitative problems (VaR, portfolio VaR, historical simulation, beta hedging, backtesting)</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Market Risk: Meaning and the Four Risk Factors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Text 4"/>
          <p:cNvSpPr txBox="1"/>
          <p:nvPr/>
        </p:nvSpPr>
        <p:spPr>
          <a:xfrm>
            <a:off x="502920" y="1188720"/>
            <a:ext cx="11183112" cy="685800"/>
          </a:xfrm>
          <a:prstGeom prst="rect">
            <a:avLst/>
          </a:prstGeom>
          <a:noFill/>
          <a:ln/>
        </p:spPr>
        <p:txBody>
          <a:bodyPr wrap="square" lIns="0" tIns="0" rIns="0" bIns="0" rtlCol="0" anchor="t"/>
          <a:lstStyle/>
          <a:p>
            <a:pPr marL="0" indent="0" algn="l">
              <a:buNone/>
            </a:pPr>
            <a:r>
              <a:rPr lang="en-US" sz="1500" dirty="0">
                <a:solidFill>
                  <a:srgbClr val="1E2533"/>
                </a:solidFill>
                <a:latin typeface="Calibri" pitchFamily="34" charset="0"/>
                <a:ea typeface="Calibri" pitchFamily="34" charset="-122"/>
                <a:cs typeface="Calibri" pitchFamily="34" charset="-120"/>
              </a:rPr>
              <a:t>Market risk is the risk of losses in on- and off-balance-sheet positions arising from movements in market prices (Basel Committee). It is largely systematic, marked-to-market and measured daily.</a:t>
            </a:r>
            <a:endParaRPr lang="en-US" sz="1500" dirty="0"/>
          </a:p>
        </p:txBody>
      </p:sp>
      <p:sp>
        <p:nvSpPr>
          <p:cNvPr id="7" name="Shape 5"/>
          <p:cNvSpPr/>
          <p:nvPr/>
        </p:nvSpPr>
        <p:spPr>
          <a:xfrm>
            <a:off x="502920" y="2011680"/>
            <a:ext cx="2590038" cy="2514600"/>
          </a:xfrm>
          <a:prstGeom prst="roundRect">
            <a:avLst>
              <a:gd name="adj" fmla="val 290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Shape 6"/>
          <p:cNvSpPr/>
          <p:nvPr/>
        </p:nvSpPr>
        <p:spPr>
          <a:xfrm>
            <a:off x="685800" y="2176272"/>
            <a:ext cx="502920" cy="502920"/>
          </a:xfrm>
          <a:prstGeom prst="ellipse">
            <a:avLst/>
          </a:prstGeom>
          <a:solidFill>
            <a:srgbClr val="14213D"/>
          </a:solidFill>
          <a:ln w="12700">
            <a:solidFill>
              <a:srgbClr val="14213D"/>
            </a:solidFill>
            <a:prstDash val="solid"/>
          </a:ln>
        </p:spPr>
      </p:sp>
      <p:pic>
        <p:nvPicPr>
          <p:cNvPr id="9" name="Image 0" descr="preencoded.png"/>
          <p:cNvPicPr>
            <a:picLocks noChangeAspect="1"/>
          </p:cNvPicPr>
          <p:nvPr/>
        </p:nvPicPr>
        <p:blipFill>
          <a:blip r:embed="rId3"/>
          <a:stretch>
            <a:fillRect/>
          </a:stretch>
        </p:blipFill>
        <p:spPr>
          <a:xfrm>
            <a:off x="806501" y="2296973"/>
            <a:ext cx="261518" cy="261518"/>
          </a:xfrm>
          <a:prstGeom prst="rect">
            <a:avLst/>
          </a:prstGeom>
        </p:spPr>
      </p:pic>
      <p:sp>
        <p:nvSpPr>
          <p:cNvPr id="10" name="Text 7"/>
          <p:cNvSpPr txBox="1"/>
          <p:nvPr/>
        </p:nvSpPr>
        <p:spPr>
          <a:xfrm>
            <a:off x="685800" y="275234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Equity price risk</a:t>
            </a:r>
            <a:endParaRPr lang="en-US" sz="1700" dirty="0"/>
          </a:p>
        </p:txBody>
      </p:sp>
      <p:sp>
        <p:nvSpPr>
          <p:cNvPr id="11" name="Text 8"/>
          <p:cNvSpPr txBox="1"/>
          <p:nvPr/>
        </p:nvSpPr>
        <p:spPr>
          <a:xfrm>
            <a:off x="685800" y="3182112"/>
            <a:ext cx="2224278" cy="1234440"/>
          </a:xfrm>
          <a:prstGeom prst="rect">
            <a:avLst/>
          </a:prstGeom>
          <a:noFill/>
          <a:ln/>
        </p:spPr>
        <p:txBody>
          <a:bodyPr wrap="square" lIns="0" tIns="0" rIns="0" bIns="0" rtlCol="0" anchor="t"/>
          <a:lstStyle/>
          <a:p>
            <a:pPr marL="0" indent="0" algn="l">
              <a:buNone/>
            </a:pPr>
            <a:r>
              <a:rPr lang="en-US" sz="1500" dirty="0">
                <a:solidFill>
                  <a:srgbClr val="1E2533"/>
                </a:solidFill>
                <a:latin typeface="Calibri" pitchFamily="34" charset="0"/>
                <a:ea typeface="Calibri" pitchFamily="34" charset="-122"/>
                <a:cs typeface="Calibri" pitchFamily="34" charset="-120"/>
              </a:rPr>
              <a:t>Loss from falls in share prices or indices. Indian anchor: Nifty 50, Sensex, stock futures on NSE/BSE.</a:t>
            </a:r>
            <a:endParaRPr lang="en-US" sz="1500" dirty="0"/>
          </a:p>
        </p:txBody>
      </p:sp>
      <p:sp>
        <p:nvSpPr>
          <p:cNvPr id="12" name="Shape 9"/>
          <p:cNvSpPr/>
          <p:nvPr/>
        </p:nvSpPr>
        <p:spPr>
          <a:xfrm>
            <a:off x="3367278" y="2011680"/>
            <a:ext cx="2590038" cy="2514600"/>
          </a:xfrm>
          <a:prstGeom prst="roundRect">
            <a:avLst>
              <a:gd name="adj" fmla="val 290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0"/>
          <p:cNvSpPr/>
          <p:nvPr/>
        </p:nvSpPr>
        <p:spPr>
          <a:xfrm>
            <a:off x="3550158" y="2176272"/>
            <a:ext cx="502920" cy="502920"/>
          </a:xfrm>
          <a:prstGeom prst="ellipse">
            <a:avLst/>
          </a:prstGeom>
          <a:solidFill>
            <a:srgbClr val="14213D"/>
          </a:solidFill>
          <a:ln w="12700">
            <a:solidFill>
              <a:srgbClr val="14213D"/>
            </a:solidFill>
            <a:prstDash val="solid"/>
          </a:ln>
        </p:spPr>
      </p:sp>
      <p:pic>
        <p:nvPicPr>
          <p:cNvPr id="14" name="Image 1" descr="preencoded.png"/>
          <p:cNvPicPr>
            <a:picLocks noChangeAspect="1"/>
          </p:cNvPicPr>
          <p:nvPr/>
        </p:nvPicPr>
        <p:blipFill>
          <a:blip r:embed="rId4"/>
          <a:stretch>
            <a:fillRect/>
          </a:stretch>
        </p:blipFill>
        <p:spPr>
          <a:xfrm>
            <a:off x="3670859" y="2296973"/>
            <a:ext cx="261518" cy="261518"/>
          </a:xfrm>
          <a:prstGeom prst="rect">
            <a:avLst/>
          </a:prstGeom>
        </p:spPr>
      </p:pic>
      <p:sp>
        <p:nvSpPr>
          <p:cNvPr id="15" name="Text 11"/>
          <p:cNvSpPr txBox="1"/>
          <p:nvPr/>
        </p:nvSpPr>
        <p:spPr>
          <a:xfrm>
            <a:off x="3550158" y="275234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Interest rate risk</a:t>
            </a:r>
            <a:endParaRPr lang="en-US" sz="1700" dirty="0"/>
          </a:p>
        </p:txBody>
      </p:sp>
      <p:sp>
        <p:nvSpPr>
          <p:cNvPr id="16" name="Text 12"/>
          <p:cNvSpPr txBox="1"/>
          <p:nvPr/>
        </p:nvSpPr>
        <p:spPr>
          <a:xfrm>
            <a:off x="3550158" y="3182112"/>
            <a:ext cx="2224278" cy="1234440"/>
          </a:xfrm>
          <a:prstGeom prst="rect">
            <a:avLst/>
          </a:prstGeom>
          <a:noFill/>
          <a:ln/>
        </p:spPr>
        <p:txBody>
          <a:bodyPr wrap="square" lIns="0" tIns="0" rIns="0" bIns="0" rtlCol="0" anchor="t"/>
          <a:lstStyle/>
          <a:p>
            <a:pPr marL="0" indent="0" algn="l">
              <a:buNone/>
            </a:pPr>
            <a:r>
              <a:rPr lang="en-US" sz="1500" dirty="0">
                <a:solidFill>
                  <a:srgbClr val="1E2533"/>
                </a:solidFill>
                <a:latin typeface="Calibri" pitchFamily="34" charset="0"/>
                <a:ea typeface="Calibri" pitchFamily="34" charset="-122"/>
                <a:cs typeface="Calibri" pitchFamily="34" charset="-120"/>
              </a:rPr>
              <a:t>Loss from changes in yields. Anchor: G-sec yields traded on NDS-OM, repo rate, MIBOR/overnight rates.</a:t>
            </a:r>
            <a:endParaRPr lang="en-US" sz="1500" dirty="0"/>
          </a:p>
        </p:txBody>
      </p:sp>
      <p:sp>
        <p:nvSpPr>
          <p:cNvPr id="17" name="Shape 13"/>
          <p:cNvSpPr/>
          <p:nvPr/>
        </p:nvSpPr>
        <p:spPr>
          <a:xfrm>
            <a:off x="6231636" y="2011680"/>
            <a:ext cx="2590038" cy="2514600"/>
          </a:xfrm>
          <a:prstGeom prst="roundRect">
            <a:avLst>
              <a:gd name="adj" fmla="val 290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8" name="Shape 14"/>
          <p:cNvSpPr/>
          <p:nvPr/>
        </p:nvSpPr>
        <p:spPr>
          <a:xfrm>
            <a:off x="6414516" y="2176272"/>
            <a:ext cx="502920" cy="502920"/>
          </a:xfrm>
          <a:prstGeom prst="ellipse">
            <a:avLst/>
          </a:prstGeom>
          <a:solidFill>
            <a:srgbClr val="14213D"/>
          </a:solidFill>
          <a:ln w="12700">
            <a:solidFill>
              <a:srgbClr val="14213D"/>
            </a:solidFill>
            <a:prstDash val="solid"/>
          </a:ln>
        </p:spPr>
      </p:sp>
      <p:pic>
        <p:nvPicPr>
          <p:cNvPr id="19" name="Image 2" descr="preencoded.png"/>
          <p:cNvPicPr>
            <a:picLocks noChangeAspect="1"/>
          </p:cNvPicPr>
          <p:nvPr/>
        </p:nvPicPr>
        <p:blipFill>
          <a:blip r:embed="rId5"/>
          <a:stretch>
            <a:fillRect/>
          </a:stretch>
        </p:blipFill>
        <p:spPr>
          <a:xfrm>
            <a:off x="6535217" y="2296973"/>
            <a:ext cx="261518" cy="261518"/>
          </a:xfrm>
          <a:prstGeom prst="rect">
            <a:avLst/>
          </a:prstGeom>
        </p:spPr>
      </p:pic>
      <p:sp>
        <p:nvSpPr>
          <p:cNvPr id="20" name="Text 15"/>
          <p:cNvSpPr txBox="1"/>
          <p:nvPr/>
        </p:nvSpPr>
        <p:spPr>
          <a:xfrm>
            <a:off x="6414516" y="275234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Foreign exchange risk</a:t>
            </a:r>
            <a:endParaRPr lang="en-US" sz="1700" dirty="0"/>
          </a:p>
        </p:txBody>
      </p:sp>
      <p:sp>
        <p:nvSpPr>
          <p:cNvPr id="21" name="Text 16"/>
          <p:cNvSpPr txBox="1"/>
          <p:nvPr/>
        </p:nvSpPr>
        <p:spPr>
          <a:xfrm>
            <a:off x="6414516" y="3182112"/>
            <a:ext cx="2224278" cy="1234440"/>
          </a:xfrm>
          <a:prstGeom prst="rect">
            <a:avLst/>
          </a:prstGeom>
          <a:noFill/>
          <a:ln/>
        </p:spPr>
        <p:txBody>
          <a:bodyPr wrap="square" lIns="0" tIns="0" rIns="0" bIns="0" rtlCol="0" anchor="t"/>
          <a:lstStyle/>
          <a:p>
            <a:pPr marL="0" indent="0" algn="l">
              <a:buNone/>
            </a:pPr>
            <a:r>
              <a:rPr lang="en-US" sz="1500" dirty="0">
                <a:solidFill>
                  <a:srgbClr val="1E2533"/>
                </a:solidFill>
                <a:latin typeface="Calibri" pitchFamily="34" charset="0"/>
                <a:ea typeface="Calibri" pitchFamily="34" charset="-122"/>
                <a:cs typeface="Calibri" pitchFamily="34" charset="-120"/>
              </a:rPr>
              <a:t>Loss from currency movements. Anchor: USD-INR, EUR-INR futures on NSE; RBI reference rate.</a:t>
            </a:r>
            <a:endParaRPr lang="en-US" sz="1500" dirty="0"/>
          </a:p>
        </p:txBody>
      </p:sp>
      <p:sp>
        <p:nvSpPr>
          <p:cNvPr id="22" name="Shape 17"/>
          <p:cNvSpPr/>
          <p:nvPr/>
        </p:nvSpPr>
        <p:spPr>
          <a:xfrm>
            <a:off x="9095994" y="2011680"/>
            <a:ext cx="2590038" cy="2514600"/>
          </a:xfrm>
          <a:prstGeom prst="roundRect">
            <a:avLst>
              <a:gd name="adj" fmla="val 290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3" name="Shape 18"/>
          <p:cNvSpPr/>
          <p:nvPr/>
        </p:nvSpPr>
        <p:spPr>
          <a:xfrm>
            <a:off x="9278874" y="2176272"/>
            <a:ext cx="502920" cy="502920"/>
          </a:xfrm>
          <a:prstGeom prst="ellipse">
            <a:avLst/>
          </a:prstGeom>
          <a:solidFill>
            <a:srgbClr val="14213D"/>
          </a:solidFill>
          <a:ln w="12700">
            <a:solidFill>
              <a:srgbClr val="14213D"/>
            </a:solidFill>
            <a:prstDash val="solid"/>
          </a:ln>
        </p:spPr>
      </p:sp>
      <p:pic>
        <p:nvPicPr>
          <p:cNvPr id="24" name="Image 3" descr="preencoded.png"/>
          <p:cNvPicPr>
            <a:picLocks noChangeAspect="1"/>
          </p:cNvPicPr>
          <p:nvPr/>
        </p:nvPicPr>
        <p:blipFill>
          <a:blip r:embed="rId6"/>
          <a:stretch>
            <a:fillRect/>
          </a:stretch>
        </p:blipFill>
        <p:spPr>
          <a:xfrm>
            <a:off x="9399575" y="2296973"/>
            <a:ext cx="261518" cy="261518"/>
          </a:xfrm>
          <a:prstGeom prst="rect">
            <a:avLst/>
          </a:prstGeom>
        </p:spPr>
      </p:pic>
      <p:sp>
        <p:nvSpPr>
          <p:cNvPr id="25" name="Text 19"/>
          <p:cNvSpPr txBox="1"/>
          <p:nvPr/>
        </p:nvSpPr>
        <p:spPr>
          <a:xfrm>
            <a:off x="9278874" y="275234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Commodity price risk</a:t>
            </a:r>
            <a:endParaRPr lang="en-US" sz="1700" dirty="0"/>
          </a:p>
        </p:txBody>
      </p:sp>
      <p:sp>
        <p:nvSpPr>
          <p:cNvPr id="26" name="Text 20"/>
          <p:cNvSpPr txBox="1"/>
          <p:nvPr/>
        </p:nvSpPr>
        <p:spPr>
          <a:xfrm>
            <a:off x="9278874" y="3182112"/>
            <a:ext cx="2224278" cy="1234440"/>
          </a:xfrm>
          <a:prstGeom prst="rect">
            <a:avLst/>
          </a:prstGeom>
          <a:noFill/>
          <a:ln/>
        </p:spPr>
        <p:txBody>
          <a:bodyPr wrap="square" lIns="0" tIns="0" rIns="0" bIns="0" rtlCol="0" anchor="t"/>
          <a:lstStyle/>
          <a:p>
            <a:pPr marL="0" indent="0" algn="l">
              <a:buNone/>
            </a:pPr>
            <a:r>
              <a:rPr lang="en-US" sz="1500" dirty="0">
                <a:solidFill>
                  <a:srgbClr val="1E2533"/>
                </a:solidFill>
                <a:latin typeface="Calibri" pitchFamily="34" charset="0"/>
                <a:ea typeface="Calibri" pitchFamily="34" charset="-122"/>
                <a:cs typeface="Calibri" pitchFamily="34" charset="-120"/>
              </a:rPr>
              <a:t>Loss from changes in commodity prices. Anchor: MCX crude oil, gold, silver, copper, natural gas.</a:t>
            </a:r>
            <a:endParaRPr lang="en-US" sz="1500" dirty="0"/>
          </a:p>
        </p:txBody>
      </p:sp>
      <p:sp>
        <p:nvSpPr>
          <p:cNvPr id="27" name="Shape 21"/>
          <p:cNvSpPr/>
          <p:nvPr/>
        </p:nvSpPr>
        <p:spPr>
          <a:xfrm>
            <a:off x="502920" y="4892040"/>
            <a:ext cx="11183112" cy="1188720"/>
          </a:xfrm>
          <a:prstGeom prst="roundRect">
            <a:avLst>
              <a:gd name="adj" fmla="val 6154"/>
            </a:avLst>
          </a:prstGeom>
          <a:solidFill>
            <a:srgbClr val="14213D"/>
          </a:solidFill>
          <a:ln w="15875">
            <a:solidFill>
              <a:srgbClr val="C9A227"/>
            </a:solidFill>
            <a:prstDash val="solid"/>
          </a:ln>
        </p:spPr>
      </p:sp>
      <p:sp>
        <p:nvSpPr>
          <p:cNvPr id="28" name="Text 22"/>
          <p:cNvSpPr txBox="1"/>
          <p:nvPr/>
        </p:nvSpPr>
        <p:spPr>
          <a:xfrm>
            <a:off x="685800" y="4965192"/>
            <a:ext cx="10817352" cy="1042416"/>
          </a:xfrm>
          <a:prstGeom prst="rect">
            <a:avLst/>
          </a:prstGeom>
          <a:noFill/>
          <a:ln/>
        </p:spPr>
        <p:txBody>
          <a:bodyPr wrap="square" lIns="0" tIns="0" rIns="0" bIns="0" rtlCol="0" anchor="ctr"/>
          <a:lstStyle/>
          <a:p>
            <a:pPr marL="0" indent="0" algn="l">
              <a:buNone/>
            </a:pPr>
            <a:r>
              <a:rPr lang="en-US" sz="1600" i="1" dirty="0">
                <a:solidFill>
                  <a:srgbClr val="FFFFFF"/>
                </a:solidFill>
                <a:latin typeface="Calibri" pitchFamily="34" charset="0"/>
                <a:ea typeface="Calibri" pitchFamily="34" charset="-122"/>
                <a:cs typeface="Calibri" pitchFamily="34" charset="-120"/>
              </a:rPr>
              <a:t>Who faces it? Bank treasuries (trading book), mutual funds and PMS, insurers' investment portfolios, exporters and importers, oil marketing companies, jewellers, and even a university investing its corpus in bonds.</a:t>
            </a:r>
            <a:endParaRPr lang="en-US" sz="1600" dirty="0"/>
          </a:p>
        </p:txBody>
      </p:sp>
      <p:sp>
        <p:nvSpPr>
          <p:cNvPr id="29"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How Market Risk Arises: Position × Sensitivity × Shock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Text 4"/>
          <p:cNvSpPr txBox="1"/>
          <p:nvPr/>
        </p:nvSpPr>
        <p:spPr>
          <a:xfrm>
            <a:off x="502920" y="1188720"/>
            <a:ext cx="11183112" cy="548640"/>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Every market risk loss can be traced to three things: the size of the position, how sensitive it is to a risk factor, and how much that factor moves.</a:t>
            </a:r>
            <a:endParaRPr lang="en-US" sz="1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2724912"/>
        </p:xfrm>
        <a:graphic>
          <a:graphicData uri="http://schemas.openxmlformats.org/drawingml/2006/table">
            <a:tbl>
              <a:tblPr/>
              <a:tblGrid>
                <a:gridCol w="1600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gridCol w="1444752">
                  <a:extLst>
                    <a:ext uri="{9D8B030D-6E8A-4147-A177-3AD203B41FA5}">
                      <a16:colId xmlns:a16="http://schemas.microsoft.com/office/drawing/2014/main" val="20005"/>
                    </a:ext>
                  </a:extLst>
                </a:gridCol>
              </a:tblGrid>
              <a:tr h="457200">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Risk factor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Position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Sensitivity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Shock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Loss calculation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Loss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Equity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Portfolio ₹10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β = 1.10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Nifty −5%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10 cr × 1.10 × 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₹55.00 lakh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Interest rate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Bond portfolio ₹10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D</a:t>
                      </a:r>
                      <a:r>
                        <a:rPr lang="en-US" sz="1450" baseline="-40000" dirty="0">
                          <a:solidFill>
                            <a:srgbClr val="1E2533"/>
                          </a:solidFill>
                          <a:latin typeface="Calibri" pitchFamily="34" charset="0"/>
                          <a:ea typeface="Calibri" pitchFamily="34" charset="-122"/>
                          <a:cs typeface="Calibri" pitchFamily="34" charset="-120"/>
                        </a:rPr>
                        <a:t>mod</a:t>
                      </a:r>
                      <a:r>
                        <a:rPr lang="en-US" sz="1450" dirty="0">
                          <a:solidFill>
                            <a:srgbClr val="1E2533"/>
                          </a:solidFill>
                          <a:latin typeface="Calibri" pitchFamily="34" charset="0"/>
                          <a:ea typeface="Calibri" pitchFamily="34" charset="-122"/>
                          <a:cs typeface="Calibri" pitchFamily="34" charset="-120"/>
                        </a:rPr>
                        <a:t> = 4.5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Yield +50 bp</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10 cr × 4.5 × 0.005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₹22.50 lakh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56692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Foreign exchange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Unhedged payable $1 million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Open position $1 mn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USD-INR +₹2.00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$1,000,000 × ₹2.00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₹20.00 lakh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Commodity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Gold inventory 10 kg @ ₹1,00,000/10 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Value ₹10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Gold −4%</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10 cr × 4%</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₹40.00 lakh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8" name="Shape 5"/>
          <p:cNvSpPr/>
          <p:nvPr/>
        </p:nvSpPr>
        <p:spPr>
          <a:xfrm>
            <a:off x="502920" y="4526280"/>
            <a:ext cx="3544824" cy="1691640"/>
          </a:xfrm>
          <a:prstGeom prst="roundRect">
            <a:avLst>
              <a:gd name="adj" fmla="val 43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6"/>
          <p:cNvSpPr txBox="1"/>
          <p:nvPr/>
        </p:nvSpPr>
        <p:spPr>
          <a:xfrm>
            <a:off x="685800" y="4690872"/>
            <a:ext cx="3179064" cy="36576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Linear exposures</a:t>
            </a:r>
            <a:endParaRPr lang="en-US" sz="1550" dirty="0"/>
          </a:p>
        </p:txBody>
      </p:sp>
      <p:sp>
        <p:nvSpPr>
          <p:cNvPr id="10" name="Text 7"/>
          <p:cNvSpPr txBox="1"/>
          <p:nvPr/>
        </p:nvSpPr>
        <p:spPr>
          <a:xfrm>
            <a:off x="685800" y="5074920"/>
            <a:ext cx="3179064" cy="1033272"/>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Equity, FX and commodity positions lose roughly in proportion to the shock.</a:t>
            </a:r>
            <a:endParaRPr lang="en-US" sz="1450" dirty="0"/>
          </a:p>
        </p:txBody>
      </p:sp>
      <p:sp>
        <p:nvSpPr>
          <p:cNvPr id="11" name="Shape 8"/>
          <p:cNvSpPr/>
          <p:nvPr/>
        </p:nvSpPr>
        <p:spPr>
          <a:xfrm>
            <a:off x="4322064" y="4526280"/>
            <a:ext cx="3544824" cy="1691640"/>
          </a:xfrm>
          <a:prstGeom prst="roundRect">
            <a:avLst>
              <a:gd name="adj" fmla="val 43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Text 9"/>
          <p:cNvSpPr txBox="1"/>
          <p:nvPr/>
        </p:nvSpPr>
        <p:spPr>
          <a:xfrm>
            <a:off x="4504944" y="4690872"/>
            <a:ext cx="3179064" cy="36576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Non-linear exposures</a:t>
            </a:r>
            <a:endParaRPr lang="en-US" sz="1550" dirty="0"/>
          </a:p>
        </p:txBody>
      </p:sp>
      <p:sp>
        <p:nvSpPr>
          <p:cNvPr id="13" name="Text 10"/>
          <p:cNvSpPr txBox="1"/>
          <p:nvPr/>
        </p:nvSpPr>
        <p:spPr>
          <a:xfrm>
            <a:off x="4504944" y="5074920"/>
            <a:ext cx="3179064" cy="1033272"/>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Bonds (convexity) and options (gamma, vega) need second-order measures.</a:t>
            </a:r>
            <a:endParaRPr lang="en-US" sz="1450" dirty="0"/>
          </a:p>
        </p:txBody>
      </p:sp>
      <p:sp>
        <p:nvSpPr>
          <p:cNvPr id="14" name="Shape 11"/>
          <p:cNvSpPr/>
          <p:nvPr/>
        </p:nvSpPr>
        <p:spPr>
          <a:xfrm>
            <a:off x="8141208" y="4526280"/>
            <a:ext cx="3544824" cy="1691640"/>
          </a:xfrm>
          <a:prstGeom prst="roundRect">
            <a:avLst>
              <a:gd name="adj" fmla="val 43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5" name="Text 12"/>
          <p:cNvSpPr txBox="1"/>
          <p:nvPr/>
        </p:nvSpPr>
        <p:spPr>
          <a:xfrm>
            <a:off x="8324088" y="4690872"/>
            <a:ext cx="3179064" cy="36576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Portfolio view</a:t>
            </a:r>
            <a:endParaRPr lang="en-US" sz="1550" dirty="0"/>
          </a:p>
        </p:txBody>
      </p:sp>
      <p:sp>
        <p:nvSpPr>
          <p:cNvPr id="16" name="Text 13"/>
          <p:cNvSpPr txBox="1"/>
          <p:nvPr/>
        </p:nvSpPr>
        <p:spPr>
          <a:xfrm>
            <a:off x="8324088" y="5074920"/>
            <a:ext cx="3179064" cy="1033272"/>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Losses across factors do not simply add; correlations matter, which is why we use VaR.</a:t>
            </a:r>
            <a:endParaRPr lang="en-US" sz="14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Measuring Market Risk: The Toolkit</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2590038" cy="4937760"/>
          </a:xfrm>
          <a:prstGeom prst="roundRect">
            <a:avLst>
              <a:gd name="adj" fmla="val 28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44752"/>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65453"/>
            <a:ext cx="261518" cy="261518"/>
          </a:xfrm>
          <a:prstGeom prst="rect">
            <a:avLst/>
          </a:prstGeom>
        </p:spPr>
      </p:pic>
      <p:sp>
        <p:nvSpPr>
          <p:cNvPr id="9" name="Text 6"/>
          <p:cNvSpPr txBox="1"/>
          <p:nvPr/>
        </p:nvSpPr>
        <p:spPr>
          <a:xfrm>
            <a:off x="685800" y="202082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Sensitivity measures</a:t>
            </a:r>
            <a:endParaRPr lang="en-US" sz="1700" dirty="0"/>
          </a:p>
        </p:txBody>
      </p:sp>
      <p:sp>
        <p:nvSpPr>
          <p:cNvPr id="10" name="Text 7"/>
          <p:cNvSpPr txBox="1"/>
          <p:nvPr/>
        </p:nvSpPr>
        <p:spPr>
          <a:xfrm>
            <a:off x="685800" y="2450592"/>
            <a:ext cx="2224278" cy="3657600"/>
          </a:xfrm>
          <a:prstGeom prst="rect">
            <a:avLst/>
          </a:prstGeom>
          <a:noFill/>
          <a:ln/>
        </p:spPr>
        <p:txBody>
          <a:bodyPr wrap="square" lIns="0" tIns="0" rIns="0" bIns="0" rtlCol="0" anchor="t"/>
          <a:lstStyle/>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Equity: beta (β)</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Bonds: modified duration, PV01/DV01, convexity</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Options: delta, gamma, vega, theta</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FX/commodity: net open position</a:t>
            </a:r>
            <a:endParaRPr lang="en-US" sz="1500" dirty="0"/>
          </a:p>
        </p:txBody>
      </p:sp>
      <p:sp>
        <p:nvSpPr>
          <p:cNvPr id="11" name="Shape 8"/>
          <p:cNvSpPr/>
          <p:nvPr/>
        </p:nvSpPr>
        <p:spPr>
          <a:xfrm>
            <a:off x="3367278" y="1280160"/>
            <a:ext cx="2590038" cy="4937760"/>
          </a:xfrm>
          <a:prstGeom prst="roundRect">
            <a:avLst>
              <a:gd name="adj" fmla="val 28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3550158" y="1444752"/>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3670859" y="1565453"/>
            <a:ext cx="261518" cy="261518"/>
          </a:xfrm>
          <a:prstGeom prst="rect">
            <a:avLst/>
          </a:prstGeom>
        </p:spPr>
      </p:pic>
      <p:sp>
        <p:nvSpPr>
          <p:cNvPr id="14" name="Text 10"/>
          <p:cNvSpPr txBox="1"/>
          <p:nvPr/>
        </p:nvSpPr>
        <p:spPr>
          <a:xfrm>
            <a:off x="3550158" y="202082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Statistical measures</a:t>
            </a:r>
            <a:endParaRPr lang="en-US" sz="1700" dirty="0"/>
          </a:p>
        </p:txBody>
      </p:sp>
      <p:sp>
        <p:nvSpPr>
          <p:cNvPr id="15" name="Text 11"/>
          <p:cNvSpPr txBox="1"/>
          <p:nvPr/>
        </p:nvSpPr>
        <p:spPr>
          <a:xfrm>
            <a:off x="3550158" y="2450592"/>
            <a:ext cx="2224278" cy="3657600"/>
          </a:xfrm>
          <a:prstGeom prst="rect">
            <a:avLst/>
          </a:prstGeom>
          <a:noFill/>
          <a:ln/>
        </p:spPr>
        <p:txBody>
          <a:bodyPr wrap="square" lIns="0" tIns="0" rIns="0" bIns="0" rtlCol="0" anchor="t"/>
          <a:lstStyle/>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Standard deviation (volatility)</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Value at Risk (VaR): parametric, historical, Monte Carlo</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Expected Shortfall (ES / CVaR)</a:t>
            </a:r>
            <a:endParaRPr lang="en-US" sz="1500" dirty="0"/>
          </a:p>
        </p:txBody>
      </p:sp>
      <p:sp>
        <p:nvSpPr>
          <p:cNvPr id="16" name="Shape 12"/>
          <p:cNvSpPr/>
          <p:nvPr/>
        </p:nvSpPr>
        <p:spPr>
          <a:xfrm>
            <a:off x="6231636" y="1280160"/>
            <a:ext cx="2590038" cy="4937760"/>
          </a:xfrm>
          <a:prstGeom prst="roundRect">
            <a:avLst>
              <a:gd name="adj" fmla="val 28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6414516" y="1444752"/>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6535217" y="1565453"/>
            <a:ext cx="261518" cy="261518"/>
          </a:xfrm>
          <a:prstGeom prst="rect">
            <a:avLst/>
          </a:prstGeom>
        </p:spPr>
      </p:pic>
      <p:sp>
        <p:nvSpPr>
          <p:cNvPr id="19" name="Text 14"/>
          <p:cNvSpPr txBox="1"/>
          <p:nvPr/>
        </p:nvSpPr>
        <p:spPr>
          <a:xfrm>
            <a:off x="6414516" y="202082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Scenario measures</a:t>
            </a:r>
            <a:endParaRPr lang="en-US" sz="1700" dirty="0"/>
          </a:p>
        </p:txBody>
      </p:sp>
      <p:sp>
        <p:nvSpPr>
          <p:cNvPr id="20" name="Text 15"/>
          <p:cNvSpPr txBox="1"/>
          <p:nvPr/>
        </p:nvSpPr>
        <p:spPr>
          <a:xfrm>
            <a:off x="6414516" y="2450592"/>
            <a:ext cx="2224278" cy="3657600"/>
          </a:xfrm>
          <a:prstGeom prst="rect">
            <a:avLst/>
          </a:prstGeom>
          <a:noFill/>
          <a:ln/>
        </p:spPr>
        <p:txBody>
          <a:bodyPr wrap="square" lIns="0" tIns="0" rIns="0" bIns="0" rtlCol="0" anchor="t"/>
          <a:lstStyle/>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Stress tests (e.g. repeat of March 2020)</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Hypothetical shocks (+200 bp, rupee −10%)</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Reverse stress test: what breaks us?</a:t>
            </a:r>
            <a:endParaRPr lang="en-US" sz="1500" dirty="0"/>
          </a:p>
        </p:txBody>
      </p:sp>
      <p:sp>
        <p:nvSpPr>
          <p:cNvPr id="21" name="Shape 16"/>
          <p:cNvSpPr/>
          <p:nvPr/>
        </p:nvSpPr>
        <p:spPr>
          <a:xfrm>
            <a:off x="9095994" y="1280160"/>
            <a:ext cx="2590038" cy="4937760"/>
          </a:xfrm>
          <a:prstGeom prst="roundRect">
            <a:avLst>
              <a:gd name="adj" fmla="val 28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9278874" y="1444752"/>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9399575" y="1565453"/>
            <a:ext cx="261518" cy="261518"/>
          </a:xfrm>
          <a:prstGeom prst="rect">
            <a:avLst/>
          </a:prstGeom>
        </p:spPr>
      </p:pic>
      <p:sp>
        <p:nvSpPr>
          <p:cNvPr id="24" name="Text 18"/>
          <p:cNvSpPr txBox="1"/>
          <p:nvPr/>
        </p:nvSpPr>
        <p:spPr>
          <a:xfrm>
            <a:off x="9278874" y="2020824"/>
            <a:ext cx="2224278" cy="411480"/>
          </a:xfrm>
          <a:prstGeom prst="rect">
            <a:avLst/>
          </a:prstGeom>
          <a:noFill/>
          <a:ln/>
        </p:spPr>
        <p:txBody>
          <a:bodyPr wrap="square" lIns="0" tIns="0" rIns="0" bIns="0" rtlCol="0" anchor="t"/>
          <a:lstStyle/>
          <a:p>
            <a:pPr marL="0" indent="0" algn="l">
              <a:buNone/>
            </a:pPr>
            <a:r>
              <a:rPr lang="en-US" sz="1700" b="1" dirty="0">
                <a:solidFill>
                  <a:srgbClr val="14213D"/>
                </a:solidFill>
                <a:latin typeface="Cambria" pitchFamily="34" charset="0"/>
                <a:ea typeface="Cambria" pitchFamily="34" charset="-122"/>
                <a:cs typeface="Cambria" pitchFamily="34" charset="-120"/>
              </a:rPr>
              <a:t>Regulatory use</a:t>
            </a:r>
            <a:endParaRPr lang="en-US" sz="1700" dirty="0"/>
          </a:p>
        </p:txBody>
      </p:sp>
      <p:sp>
        <p:nvSpPr>
          <p:cNvPr id="25" name="Text 19"/>
          <p:cNvSpPr txBox="1"/>
          <p:nvPr/>
        </p:nvSpPr>
        <p:spPr>
          <a:xfrm>
            <a:off x="9278874" y="2450592"/>
            <a:ext cx="2224278" cy="3657600"/>
          </a:xfrm>
          <a:prstGeom prst="rect">
            <a:avLst/>
          </a:prstGeom>
          <a:noFill/>
          <a:ln/>
        </p:spPr>
        <p:txBody>
          <a:bodyPr wrap="square" lIns="0" tIns="0" rIns="0" bIns="0" rtlCol="0" anchor="t"/>
          <a:lstStyle/>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Basel FRTB replaces 99% VaR with 97.5% ES for internal models</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RBI prescribes capital charge for market risk in banks' trading book</a:t>
            </a:r>
            <a:endParaRPr lang="en-US" sz="1500" dirty="0"/>
          </a:p>
          <a:p>
            <a:pPr marL="177800" indent="-177800" algn="l">
              <a:spcAft>
                <a:spcPts val="500"/>
              </a:spcAft>
              <a:buSzPct val="100000"/>
              <a:buChar char="•"/>
            </a:pPr>
            <a:r>
              <a:rPr lang="en-US" sz="1500" dirty="0">
                <a:solidFill>
                  <a:srgbClr val="1E2533"/>
                </a:solidFill>
                <a:latin typeface="Calibri" pitchFamily="34" charset="0"/>
                <a:ea typeface="Calibri" pitchFamily="34" charset="-122"/>
                <a:cs typeface="Calibri" pitchFamily="34" charset="-120"/>
              </a:rPr>
              <a:t>Backtesting validates VaR models</a:t>
            </a:r>
            <a:endParaRPr lang="en-US" sz="1500" dirty="0"/>
          </a:p>
        </p:txBody>
      </p:sp>
      <p:sp>
        <p:nvSpPr>
          <p:cNvPr id="2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Three Ways to Compute Value at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Text 4"/>
          <p:cNvSpPr txBox="1"/>
          <p:nvPr/>
        </p:nvSpPr>
        <p:spPr>
          <a:xfrm>
            <a:off x="502920" y="1188720"/>
            <a:ext cx="11183112" cy="5486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VaR answers one question: over T days, what loss will not be exceeded with confidence c?</a:t>
            </a:r>
            <a:endParaRPr lang="en-US" sz="15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3822192"/>
        </p:xfrm>
        <a:graphic>
          <a:graphicData uri="http://schemas.openxmlformats.org/drawingml/2006/table">
            <a:tbl>
              <a:tblPr/>
              <a:tblGrid>
                <a:gridCol w="23774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587752">
                  <a:extLst>
                    <a:ext uri="{9D8B030D-6E8A-4147-A177-3AD203B41FA5}">
                      <a16:colId xmlns:a16="http://schemas.microsoft.com/office/drawing/2014/main" val="20003"/>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Approach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How it works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Strengths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Weaknesses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84124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Parametric (variance-covariance)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Assume normal returns; VaR = z × σ × position; combine assets with a correlation matrix</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Fast, transparent, easy to aggregate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Understates fat tails; poor for options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Historical simulation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Revalue today's portfolio under the last N days of actual market moves; read the loss percentile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No distribution assumption; captures fat tails and correlations actually observed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Depends on the look-back window; slow to react to regime change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84124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Monte Carlo simulation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Simulate thousands of paths of risk factors from a model; revalue; read the percentile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Handles non-linear instruments and complex portfolios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Model risk; computationally heavy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4124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Expected Shortfall (complement)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Average loss beyond the VaR threshold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Coherent (sub-additive); captures tail severity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Harder to backtest; needs more data</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Market Risk Formulas and Notation</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6309360"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89888"/>
            <a:ext cx="5852160"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Key formulas</a:t>
            </a:r>
            <a:endParaRPr lang="en-US" sz="1500" dirty="0"/>
          </a:p>
        </p:txBody>
      </p:sp>
      <p:sp>
        <p:nvSpPr>
          <p:cNvPr id="8" name="Text 6"/>
          <p:cNvSpPr txBox="1"/>
          <p:nvPr/>
        </p:nvSpPr>
        <p:spPr>
          <a:xfrm>
            <a:off x="731520" y="1783080"/>
            <a:ext cx="5852160" cy="4343400"/>
          </a:xfrm>
          <a:prstGeom prst="rect">
            <a:avLst/>
          </a:prstGeom>
          <a:noFill/>
          <a:ln/>
        </p:spPr>
        <p:txBody>
          <a:bodyPr wrap="square" lIns="0" tIns="0" rIns="0" bIns="0" rtlCol="0" anchor="t"/>
          <a:lstStyle/>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Parametric VaR (zero mean)</a:t>
            </a:r>
            <a:endParaRPr lang="en-US" sz="1350" dirty="0"/>
          </a:p>
          <a:p>
            <a:pPr marL="0" indent="0" algn="l">
              <a:spcAft>
                <a:spcPts val="200"/>
              </a:spcAft>
              <a:buNone/>
            </a:pPr>
            <a:r>
              <a:rPr lang="en-US" sz="1550" dirty="0">
                <a:solidFill>
                  <a:srgbClr val="1E2533"/>
                </a:solidFill>
                <a:latin typeface="Cambria" pitchFamily="34" charset="0"/>
                <a:ea typeface="Cambria" pitchFamily="34" charset="-122"/>
                <a:cs typeface="Cambria" pitchFamily="34" charset="-120"/>
              </a:rPr>
              <a:t>VaR</a:t>
            </a:r>
            <a:r>
              <a:rPr lang="en-US" sz="1550" baseline="-40000" dirty="0">
                <a:solidFill>
                  <a:srgbClr val="1E2533"/>
                </a:solidFill>
                <a:latin typeface="Cambria" pitchFamily="34" charset="0"/>
                <a:ea typeface="Cambria" pitchFamily="34" charset="-122"/>
                <a:cs typeface="Cambria" pitchFamily="34" charset="-120"/>
              </a:rPr>
              <a:t>c</a:t>
            </a:r>
            <a:r>
              <a:rPr lang="en-US" sz="1550" dirty="0">
                <a:solidFill>
                  <a:srgbClr val="1E2533"/>
                </a:solidFill>
                <a:latin typeface="Cambria" pitchFamily="34" charset="0"/>
                <a:ea typeface="Cambria" pitchFamily="34" charset="-122"/>
                <a:cs typeface="Cambria" pitchFamily="34" charset="-120"/>
              </a:rPr>
              <a:t> = z</a:t>
            </a:r>
            <a:r>
              <a:rPr lang="en-US" sz="1550" baseline="-40000" dirty="0">
                <a:solidFill>
                  <a:srgbClr val="1E2533"/>
                </a:solidFill>
                <a:latin typeface="Cambria" pitchFamily="34" charset="0"/>
                <a:ea typeface="Cambria" pitchFamily="34" charset="-122"/>
                <a:cs typeface="Cambria" pitchFamily="34" charset="-120"/>
              </a:rPr>
              <a:t>c</a:t>
            </a:r>
            <a:r>
              <a:rPr lang="en-US" sz="1550" dirty="0">
                <a:solidFill>
                  <a:srgbClr val="1E2533"/>
                </a:solidFill>
                <a:latin typeface="Cambria" pitchFamily="34" charset="0"/>
                <a:ea typeface="Cambria" pitchFamily="34" charset="-122"/>
                <a:cs typeface="Cambria" pitchFamily="34" charset="-120"/>
              </a:rPr>
              <a:t> × σ × V</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Parametric VaR (with mean)</a:t>
            </a:r>
            <a:endParaRPr lang="en-US" sz="1350" dirty="0"/>
          </a:p>
          <a:p>
            <a:pPr marL="0" indent="0" algn="l">
              <a:spcAft>
                <a:spcPts val="200"/>
              </a:spcAft>
              <a:buNone/>
            </a:pPr>
            <a:r>
              <a:rPr lang="en-US" sz="1550" dirty="0">
                <a:solidFill>
                  <a:srgbClr val="1E2533"/>
                </a:solidFill>
                <a:latin typeface="Cambria" pitchFamily="34" charset="0"/>
                <a:ea typeface="Cambria" pitchFamily="34" charset="-122"/>
                <a:cs typeface="Cambria" pitchFamily="34" charset="-120"/>
              </a:rPr>
              <a:t>VaR</a:t>
            </a:r>
            <a:r>
              <a:rPr lang="en-US" sz="1550" baseline="-40000" dirty="0">
                <a:solidFill>
                  <a:srgbClr val="1E2533"/>
                </a:solidFill>
                <a:latin typeface="Cambria" pitchFamily="34" charset="0"/>
                <a:ea typeface="Cambria" pitchFamily="34" charset="-122"/>
                <a:cs typeface="Cambria" pitchFamily="34" charset="-120"/>
              </a:rPr>
              <a:t>c</a:t>
            </a:r>
            <a:r>
              <a:rPr lang="en-US" sz="1550" dirty="0">
                <a:solidFill>
                  <a:srgbClr val="1E2533"/>
                </a:solidFill>
                <a:latin typeface="Cambria" pitchFamily="34" charset="0"/>
                <a:ea typeface="Cambria" pitchFamily="34" charset="-122"/>
                <a:cs typeface="Cambria" pitchFamily="34" charset="-120"/>
              </a:rPr>
              <a:t> = (z</a:t>
            </a:r>
            <a:r>
              <a:rPr lang="en-US" sz="1550" baseline="-40000" dirty="0">
                <a:solidFill>
                  <a:srgbClr val="1E2533"/>
                </a:solidFill>
                <a:latin typeface="Cambria" pitchFamily="34" charset="0"/>
                <a:ea typeface="Cambria" pitchFamily="34" charset="-122"/>
                <a:cs typeface="Cambria" pitchFamily="34" charset="-120"/>
              </a:rPr>
              <a:t>c</a:t>
            </a:r>
            <a:r>
              <a:rPr lang="en-US" sz="1550" dirty="0">
                <a:solidFill>
                  <a:srgbClr val="1E2533"/>
                </a:solidFill>
                <a:latin typeface="Cambria" pitchFamily="34" charset="0"/>
                <a:ea typeface="Cambria" pitchFamily="34" charset="-122"/>
                <a:cs typeface="Cambria" pitchFamily="34" charset="-120"/>
              </a:rPr>
              <a:t>σ − μ) × V</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Square-root-of-time rule</a:t>
            </a:r>
            <a:endParaRPr lang="en-US" sz="1350" dirty="0"/>
          </a:p>
          <a:p>
            <a:pPr marL="0" indent="0" algn="l">
              <a:spcAft>
                <a:spcPts val="200"/>
              </a:spcAft>
              <a:buNone/>
            </a:pPr>
            <a:r>
              <a:rPr lang="en-US" sz="1550" dirty="0">
                <a:solidFill>
                  <a:srgbClr val="1E2533"/>
                </a:solidFill>
                <a:latin typeface="Cambria" pitchFamily="34" charset="0"/>
                <a:ea typeface="Cambria" pitchFamily="34" charset="-122"/>
                <a:cs typeface="Cambria" pitchFamily="34" charset="-120"/>
              </a:rPr>
              <a:t>VaR</a:t>
            </a:r>
            <a:r>
              <a:rPr lang="en-US" sz="1550" baseline="-40000" dirty="0">
                <a:solidFill>
                  <a:srgbClr val="1E2533"/>
                </a:solidFill>
                <a:latin typeface="Cambria" pitchFamily="34" charset="0"/>
                <a:ea typeface="Cambria" pitchFamily="34" charset="-122"/>
                <a:cs typeface="Cambria" pitchFamily="34" charset="-120"/>
              </a:rPr>
              <a:t>T</a:t>
            </a:r>
            <a:r>
              <a:rPr lang="en-US" sz="1550" dirty="0">
                <a:solidFill>
                  <a:srgbClr val="1E2533"/>
                </a:solidFill>
                <a:latin typeface="Cambria" pitchFamily="34" charset="0"/>
                <a:ea typeface="Cambria" pitchFamily="34" charset="-122"/>
                <a:cs typeface="Cambria" pitchFamily="34" charset="-120"/>
              </a:rPr>
              <a:t> = VaR</a:t>
            </a:r>
            <a:r>
              <a:rPr lang="en-US" sz="1550" baseline="-40000" dirty="0">
                <a:solidFill>
                  <a:srgbClr val="1E2533"/>
                </a:solidFill>
                <a:latin typeface="Cambria" pitchFamily="34" charset="0"/>
                <a:ea typeface="Cambria" pitchFamily="34" charset="-122"/>
                <a:cs typeface="Cambria" pitchFamily="34" charset="-120"/>
              </a:rPr>
              <a:t>1</a:t>
            </a:r>
            <a:r>
              <a:rPr lang="en-US" sz="1550" dirty="0">
                <a:solidFill>
                  <a:srgbClr val="1E2533"/>
                </a:solidFill>
                <a:latin typeface="Cambria" pitchFamily="34" charset="0"/>
                <a:ea typeface="Cambria" pitchFamily="34" charset="-122"/>
                <a:cs typeface="Cambria" pitchFamily="34" charset="-120"/>
              </a:rPr>
              <a:t> × √T</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Two-asset portfolio volatility (₹)</a:t>
            </a:r>
            <a:endParaRPr lang="en-US" sz="1350" dirty="0"/>
          </a:p>
          <a:p>
            <a:pPr marL="0" indent="0" algn="l">
              <a:spcAft>
                <a:spcPts val="200"/>
              </a:spcAft>
              <a:buNone/>
            </a:pPr>
            <a:r>
              <a:rPr lang="en-US" sz="1550" dirty="0">
                <a:solidFill>
                  <a:srgbClr val="1E2533"/>
                </a:solidFill>
                <a:latin typeface="Cambria" pitchFamily="34" charset="0"/>
                <a:ea typeface="Cambria" pitchFamily="34" charset="-122"/>
                <a:cs typeface="Cambria" pitchFamily="34" charset="-120"/>
              </a:rPr>
              <a:t>σ</a:t>
            </a:r>
            <a:r>
              <a:rPr lang="en-US" sz="1550" baseline="-40000" dirty="0">
                <a:solidFill>
                  <a:srgbClr val="1E2533"/>
                </a:solidFill>
                <a:latin typeface="Cambria" pitchFamily="34" charset="0"/>
                <a:ea typeface="Cambria" pitchFamily="34" charset="-122"/>
                <a:cs typeface="Cambria" pitchFamily="34" charset="-120"/>
              </a:rPr>
              <a:t>P</a:t>
            </a:r>
            <a:r>
              <a:rPr lang="en-US" sz="1550" dirty="0">
                <a:solidFill>
                  <a:srgbClr val="1E2533"/>
                </a:solidFill>
                <a:latin typeface="Cambria" pitchFamily="34" charset="0"/>
                <a:ea typeface="Cambria" pitchFamily="34" charset="-122"/>
                <a:cs typeface="Cambria" pitchFamily="34" charset="-120"/>
              </a:rPr>
              <a:t> = √(a</a:t>
            </a:r>
            <a:r>
              <a:rPr lang="en-US" sz="1550" baseline="30000" dirty="0">
                <a:solidFill>
                  <a:srgbClr val="1E2533"/>
                </a:solidFill>
                <a:latin typeface="Cambria" pitchFamily="34" charset="0"/>
                <a:ea typeface="Cambria" pitchFamily="34" charset="-122"/>
                <a:cs typeface="Cambria" pitchFamily="34" charset="-120"/>
              </a:rPr>
              <a:t>2</a:t>
            </a:r>
            <a:r>
              <a:rPr lang="en-US" sz="1550" dirty="0">
                <a:solidFill>
                  <a:srgbClr val="1E2533"/>
                </a:solidFill>
                <a:latin typeface="Cambria" pitchFamily="34" charset="0"/>
                <a:ea typeface="Cambria" pitchFamily="34" charset="-122"/>
                <a:cs typeface="Cambria" pitchFamily="34" charset="-120"/>
              </a:rPr>
              <a:t> + b</a:t>
            </a:r>
            <a:r>
              <a:rPr lang="en-US" sz="1550" baseline="30000" dirty="0">
                <a:solidFill>
                  <a:srgbClr val="1E2533"/>
                </a:solidFill>
                <a:latin typeface="Cambria" pitchFamily="34" charset="0"/>
                <a:ea typeface="Cambria" pitchFamily="34" charset="-122"/>
                <a:cs typeface="Cambria" pitchFamily="34" charset="-120"/>
              </a:rPr>
              <a:t>2</a:t>
            </a:r>
            <a:r>
              <a:rPr lang="en-US" sz="1550" dirty="0">
                <a:solidFill>
                  <a:srgbClr val="1E2533"/>
                </a:solidFill>
                <a:latin typeface="Cambria" pitchFamily="34" charset="0"/>
                <a:ea typeface="Cambria" pitchFamily="34" charset="-122"/>
                <a:cs typeface="Cambria" pitchFamily="34" charset="-120"/>
              </a:rPr>
              <a:t> + 2ρab),  a = σ</a:t>
            </a:r>
            <a:r>
              <a:rPr lang="en-US" sz="1550" baseline="-40000" dirty="0">
                <a:solidFill>
                  <a:srgbClr val="1E2533"/>
                </a:solidFill>
                <a:latin typeface="Cambria" pitchFamily="34" charset="0"/>
                <a:ea typeface="Cambria" pitchFamily="34" charset="-122"/>
                <a:cs typeface="Cambria" pitchFamily="34" charset="-120"/>
              </a:rPr>
              <a:t>1</a:t>
            </a:r>
            <a:r>
              <a:rPr lang="en-US" sz="1550" dirty="0">
                <a:solidFill>
                  <a:srgbClr val="1E2533"/>
                </a:solidFill>
                <a:latin typeface="Cambria" pitchFamily="34" charset="0"/>
                <a:ea typeface="Cambria" pitchFamily="34" charset="-122"/>
                <a:cs typeface="Cambria" pitchFamily="34" charset="-120"/>
              </a:rPr>
              <a:t>V</a:t>
            </a:r>
            <a:r>
              <a:rPr lang="en-US" sz="1550" baseline="-40000" dirty="0">
                <a:solidFill>
                  <a:srgbClr val="1E2533"/>
                </a:solidFill>
                <a:latin typeface="Cambria" pitchFamily="34" charset="0"/>
                <a:ea typeface="Cambria" pitchFamily="34" charset="-122"/>
                <a:cs typeface="Cambria" pitchFamily="34" charset="-120"/>
              </a:rPr>
              <a:t>1</a:t>
            </a:r>
            <a:r>
              <a:rPr lang="en-US" sz="1550" dirty="0">
                <a:solidFill>
                  <a:srgbClr val="1E2533"/>
                </a:solidFill>
                <a:latin typeface="Cambria" pitchFamily="34" charset="0"/>
                <a:ea typeface="Cambria" pitchFamily="34" charset="-122"/>
                <a:cs typeface="Cambria" pitchFamily="34" charset="-120"/>
              </a:rPr>
              <a:t>, b = σ</a:t>
            </a:r>
            <a:r>
              <a:rPr lang="en-US" sz="1550" baseline="-40000" dirty="0">
                <a:solidFill>
                  <a:srgbClr val="1E2533"/>
                </a:solidFill>
                <a:latin typeface="Cambria" pitchFamily="34" charset="0"/>
                <a:ea typeface="Cambria" pitchFamily="34" charset="-122"/>
                <a:cs typeface="Cambria" pitchFamily="34" charset="-120"/>
              </a:rPr>
              <a:t>2</a:t>
            </a:r>
            <a:r>
              <a:rPr lang="en-US" sz="1550" dirty="0">
                <a:solidFill>
                  <a:srgbClr val="1E2533"/>
                </a:solidFill>
                <a:latin typeface="Cambria" pitchFamily="34" charset="0"/>
                <a:ea typeface="Cambria" pitchFamily="34" charset="-122"/>
                <a:cs typeface="Cambria" pitchFamily="34" charset="-120"/>
              </a:rPr>
              <a:t>V</a:t>
            </a:r>
            <a:r>
              <a:rPr lang="en-US" sz="1550" baseline="-40000" dirty="0">
                <a:solidFill>
                  <a:srgbClr val="1E2533"/>
                </a:solidFill>
                <a:latin typeface="Cambria" pitchFamily="34" charset="0"/>
                <a:ea typeface="Cambria" pitchFamily="34" charset="-122"/>
                <a:cs typeface="Cambria" pitchFamily="34" charset="-120"/>
              </a:rPr>
              <a:t>2</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Expected Shortfall (normal)</a:t>
            </a:r>
            <a:endParaRPr lang="en-US" sz="1350" dirty="0"/>
          </a:p>
          <a:p>
            <a:pPr marL="0" indent="0" algn="l">
              <a:spcAft>
                <a:spcPts val="200"/>
              </a:spcAft>
              <a:buNone/>
            </a:pPr>
            <a:r>
              <a:rPr lang="en-US" sz="1550" dirty="0">
                <a:solidFill>
                  <a:srgbClr val="1E2533"/>
                </a:solidFill>
                <a:latin typeface="Cambria" pitchFamily="34" charset="0"/>
                <a:ea typeface="Cambria" pitchFamily="34" charset="-122"/>
                <a:cs typeface="Cambria" pitchFamily="34" charset="-120"/>
              </a:rPr>
              <a:t>ES</a:t>
            </a:r>
            <a:r>
              <a:rPr lang="en-US" sz="1550" baseline="-40000" dirty="0">
                <a:solidFill>
                  <a:srgbClr val="1E2533"/>
                </a:solidFill>
                <a:latin typeface="Cambria" pitchFamily="34" charset="0"/>
                <a:ea typeface="Cambria" pitchFamily="34" charset="-122"/>
                <a:cs typeface="Cambria" pitchFamily="34" charset="-120"/>
              </a:rPr>
              <a:t>c</a:t>
            </a:r>
            <a:r>
              <a:rPr lang="en-US" sz="1550" dirty="0">
                <a:solidFill>
                  <a:srgbClr val="1E2533"/>
                </a:solidFill>
                <a:latin typeface="Cambria" pitchFamily="34" charset="0"/>
                <a:ea typeface="Cambria" pitchFamily="34" charset="-122"/>
                <a:cs typeface="Cambria" pitchFamily="34" charset="-120"/>
              </a:rPr>
              <a:t> = [σ φ(z</a:t>
            </a:r>
            <a:r>
              <a:rPr lang="en-US" sz="1550" baseline="-40000" dirty="0">
                <a:solidFill>
                  <a:srgbClr val="1E2533"/>
                </a:solidFill>
                <a:latin typeface="Cambria" pitchFamily="34" charset="0"/>
                <a:ea typeface="Cambria" pitchFamily="34" charset="-122"/>
                <a:cs typeface="Cambria" pitchFamily="34" charset="-120"/>
              </a:rPr>
              <a:t>c</a:t>
            </a:r>
            <a:r>
              <a:rPr lang="en-US" sz="1550" dirty="0">
                <a:solidFill>
                  <a:srgbClr val="1E2533"/>
                </a:solidFill>
                <a:latin typeface="Cambria" pitchFamily="34" charset="0"/>
                <a:ea typeface="Cambria" pitchFamily="34" charset="-122"/>
                <a:cs typeface="Cambria" pitchFamily="34" charset="-120"/>
              </a:rPr>
              <a:t>) ÷ (1 − c) − μ] × V</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Beta hedge with index futures</a:t>
            </a:r>
            <a:endParaRPr lang="en-US" sz="1350" dirty="0"/>
          </a:p>
          <a:p>
            <a:pPr marL="0" indent="0" algn="l">
              <a:spcAft>
                <a:spcPts val="200"/>
              </a:spcAft>
              <a:buNone/>
            </a:pPr>
            <a:r>
              <a:rPr lang="en-US" sz="1550" dirty="0">
                <a:solidFill>
                  <a:srgbClr val="1E2533"/>
                </a:solidFill>
                <a:latin typeface="Cambria" pitchFamily="34" charset="0"/>
                <a:ea typeface="Cambria" pitchFamily="34" charset="-122"/>
                <a:cs typeface="Cambria" pitchFamily="34" charset="-120"/>
              </a:rPr>
              <a:t>N = (β</a:t>
            </a:r>
            <a:r>
              <a:rPr lang="en-US" sz="1550" baseline="30000" dirty="0">
                <a:solidFill>
                  <a:srgbClr val="1E2533"/>
                </a:solidFill>
                <a:latin typeface="Cambria" pitchFamily="34" charset="0"/>
                <a:ea typeface="Cambria" pitchFamily="34" charset="-122"/>
                <a:cs typeface="Cambria" pitchFamily="34" charset="-120"/>
              </a:rPr>
              <a:t>*</a:t>
            </a:r>
            <a:r>
              <a:rPr lang="en-US" sz="1550" dirty="0">
                <a:solidFill>
                  <a:srgbClr val="1E2533"/>
                </a:solidFill>
                <a:latin typeface="Cambria" pitchFamily="34" charset="0"/>
                <a:ea typeface="Cambria" pitchFamily="34" charset="-122"/>
                <a:cs typeface="Cambria" pitchFamily="34" charset="-120"/>
              </a:rPr>
              <a:t> − β) × V</a:t>
            </a:r>
            <a:r>
              <a:rPr lang="en-US" sz="1550" baseline="-40000" dirty="0">
                <a:solidFill>
                  <a:srgbClr val="1E2533"/>
                </a:solidFill>
                <a:latin typeface="Cambria" pitchFamily="34" charset="0"/>
                <a:ea typeface="Cambria" pitchFamily="34" charset="-122"/>
                <a:cs typeface="Cambria" pitchFamily="34" charset="-120"/>
              </a:rPr>
              <a:t>P</a:t>
            </a:r>
            <a:r>
              <a:rPr lang="en-US" sz="1550" dirty="0">
                <a:solidFill>
                  <a:srgbClr val="1E2533"/>
                </a:solidFill>
                <a:latin typeface="Cambria" pitchFamily="34" charset="0"/>
                <a:ea typeface="Cambria" pitchFamily="34" charset="-122"/>
                <a:cs typeface="Cambria" pitchFamily="34" charset="-120"/>
              </a:rPr>
              <a:t> ÷ (F × Lot)</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Kupiec test</a:t>
            </a:r>
            <a:endParaRPr lang="en-US" sz="1350" dirty="0"/>
          </a:p>
          <a:p>
            <a:pPr marL="0" indent="0" algn="l">
              <a:spcAft>
                <a:spcPts val="200"/>
              </a:spcAft>
              <a:buNone/>
            </a:pPr>
            <a:r>
              <a:rPr lang="en-US" sz="1550" dirty="0">
                <a:solidFill>
                  <a:srgbClr val="1E2533"/>
                </a:solidFill>
                <a:latin typeface="Cambria" pitchFamily="34" charset="0"/>
                <a:ea typeface="Cambria" pitchFamily="34" charset="-122"/>
                <a:cs typeface="Cambria" pitchFamily="34" charset="-120"/>
              </a:rPr>
              <a:t>LR = −2 ln[(1−p)</a:t>
            </a:r>
            <a:r>
              <a:rPr lang="en-US" sz="1550" baseline="30000" dirty="0">
                <a:solidFill>
                  <a:srgbClr val="1E2533"/>
                </a:solidFill>
                <a:latin typeface="Cambria" pitchFamily="34" charset="0"/>
                <a:ea typeface="Cambria" pitchFamily="34" charset="-122"/>
                <a:cs typeface="Cambria" pitchFamily="34" charset="-120"/>
              </a:rPr>
              <a:t>n−x</a:t>
            </a:r>
            <a:r>
              <a:rPr lang="en-US" sz="1550" dirty="0">
                <a:solidFill>
                  <a:srgbClr val="1E2533"/>
                </a:solidFill>
                <a:latin typeface="Cambria" pitchFamily="34" charset="0"/>
                <a:ea typeface="Cambria" pitchFamily="34" charset="-122"/>
                <a:cs typeface="Cambria" pitchFamily="34" charset="-120"/>
              </a:rPr>
              <a:t>p</a:t>
            </a:r>
            <a:r>
              <a:rPr lang="en-US" sz="1550" baseline="30000" dirty="0">
                <a:solidFill>
                  <a:srgbClr val="1E2533"/>
                </a:solidFill>
                <a:latin typeface="Cambria" pitchFamily="34" charset="0"/>
                <a:ea typeface="Cambria" pitchFamily="34" charset="-122"/>
                <a:cs typeface="Cambria" pitchFamily="34" charset="-120"/>
              </a:rPr>
              <a:t>x</a:t>
            </a:r>
            <a:r>
              <a:rPr lang="en-US" sz="1550" dirty="0">
                <a:solidFill>
                  <a:srgbClr val="1E2533"/>
                </a:solidFill>
                <a:latin typeface="Cambria" pitchFamily="34" charset="0"/>
                <a:ea typeface="Cambria" pitchFamily="34" charset="-122"/>
                <a:cs typeface="Cambria" pitchFamily="34" charset="-120"/>
              </a:rPr>
              <a:t>] + 2 ln[(1−x/n)</a:t>
            </a:r>
            <a:r>
              <a:rPr lang="en-US" sz="1550" baseline="30000" dirty="0">
                <a:solidFill>
                  <a:srgbClr val="1E2533"/>
                </a:solidFill>
                <a:latin typeface="Cambria" pitchFamily="34" charset="0"/>
                <a:ea typeface="Cambria" pitchFamily="34" charset="-122"/>
                <a:cs typeface="Cambria" pitchFamily="34" charset="-120"/>
              </a:rPr>
              <a:t>n−x</a:t>
            </a:r>
            <a:r>
              <a:rPr lang="en-US" sz="1550" dirty="0">
                <a:solidFill>
                  <a:srgbClr val="1E2533"/>
                </a:solidFill>
                <a:latin typeface="Cambria" pitchFamily="34" charset="0"/>
                <a:ea typeface="Cambria" pitchFamily="34" charset="-122"/>
                <a:cs typeface="Cambria" pitchFamily="34" charset="-120"/>
              </a:rPr>
              <a:t>(x/n)</a:t>
            </a:r>
            <a:r>
              <a:rPr lang="en-US" sz="1550" baseline="30000" dirty="0">
                <a:solidFill>
                  <a:srgbClr val="1E2533"/>
                </a:solidFill>
                <a:latin typeface="Cambria" pitchFamily="34" charset="0"/>
                <a:ea typeface="Cambria" pitchFamily="34" charset="-122"/>
                <a:cs typeface="Cambria" pitchFamily="34" charset="-120"/>
              </a:rPr>
              <a:t>x</a:t>
            </a:r>
            <a:r>
              <a:rPr lang="en-US" sz="1550" dirty="0">
                <a:solidFill>
                  <a:srgbClr val="1E2533"/>
                </a:solidFill>
                <a:latin typeface="Cambria" pitchFamily="34" charset="0"/>
                <a:ea typeface="Cambria" pitchFamily="34" charset="-122"/>
                <a:cs typeface="Cambria" pitchFamily="34" charset="-120"/>
              </a:rPr>
              <a:t>]</a:t>
            </a:r>
            <a:endParaRPr lang="en-US" sz="1350" dirty="0"/>
          </a:p>
        </p:txBody>
      </p:sp>
      <p:sp>
        <p:nvSpPr>
          <p:cNvPr id="9" name="Shape 7"/>
          <p:cNvSpPr/>
          <p:nvPr/>
        </p:nvSpPr>
        <p:spPr>
          <a:xfrm>
            <a:off x="7086600" y="1280160"/>
            <a:ext cx="4599432" cy="4937760"/>
          </a:xfrm>
          <a:prstGeom prst="roundRect">
            <a:avLst>
              <a:gd name="adj" fmla="val 159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7315200" y="1389888"/>
            <a:ext cx="414223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Notation key</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315200" y="1810512"/>
          <a:ext cx="4142232" cy="3860800"/>
        </p:xfrm>
        <a:graphic>
          <a:graphicData uri="http://schemas.openxmlformats.org/drawingml/2006/table">
            <a:tbl>
              <a:tblPr/>
              <a:tblGrid>
                <a:gridCol w="1097280">
                  <a:extLst>
                    <a:ext uri="{9D8B030D-6E8A-4147-A177-3AD203B41FA5}">
                      <a16:colId xmlns:a16="http://schemas.microsoft.com/office/drawing/2014/main" val="20000"/>
                    </a:ext>
                  </a:extLst>
                </a:gridCol>
                <a:gridCol w="3044952">
                  <a:extLst>
                    <a:ext uri="{9D8B030D-6E8A-4147-A177-3AD203B41FA5}">
                      <a16:colId xmlns:a16="http://schemas.microsoft.com/office/drawing/2014/main" val="20001"/>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Symbol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V</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Current market value of the position (₹)</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σ, μ</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Daily standard deviation and mean of returns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c, z</a:t>
                      </a:r>
                      <a:r>
                        <a:rPr lang="en-US" sz="1200" b="1" baseline="-40000" dirty="0">
                          <a:solidFill>
                            <a:srgbClr val="1E2533"/>
                          </a:solidFill>
                          <a:latin typeface="Calibri" pitchFamily="34" charset="0"/>
                          <a:ea typeface="Calibri" pitchFamily="34" charset="-122"/>
                          <a:cs typeface="Calibri" pitchFamily="34" charset="-120"/>
                        </a:rPr>
                        <a:t>c</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Confidence level and its standard normal quantile (90%: 1.2816; 95%: 1.645; 99%: 2.326)</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Holding period in days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ρ</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Correlation between the two assets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φ(z)</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Standard normal density at z</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β, β</a:t>
                      </a:r>
                      <a:r>
                        <a:rPr lang="en-US" sz="1200" b="1" baseline="30000" dirty="0">
                          <a:solidFill>
                            <a:srgbClr val="1E2533"/>
                          </a:solidFill>
                          <a:latin typeface="Calibri" pitchFamily="34" charset="0"/>
                          <a:ea typeface="Calibri" pitchFamily="34" charset="-122"/>
                          <a:cs typeface="Calibri" pitchFamily="34" charset="-120"/>
                        </a:rPr>
                        <a: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Current and target portfolio beta</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F, Lot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Index futures price and lot size (Nifty = 65 from Jan 2026)</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N</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Number of futures contracts (negative = sell)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n, x, p</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Backtest days, VaR exceptions, expected exception rate (1 − c)</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M1 · Parametric VaR of a Single Stock Position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Basic</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bank's proprietary desk holds Reliance Industries shares worth ₹50,00,000. Daily returns are approximately normal with a mean of about zero. The risk manager must report VaR to the Asset-Liability Committee.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19812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Position value (V)</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₹50,00,000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Daily volatility (σ)</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1.60%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Mean daily return (μ)</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 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z at 95% / 99%</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1.645 / 2.326</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Regulatory horizon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 trading days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1-day VaR at 95% confidence.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1-day VaR at 99% confidence.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10-day VaR at 99% using the square-root-of-time rule.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Interpret the 99% 1-day figure in one sentence.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M1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1-day VaR at 95%</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95</a:t>
            </a:r>
            <a:r>
              <a:rPr lang="en-US" sz="1500" dirty="0">
                <a:solidFill>
                  <a:srgbClr val="14213D"/>
                </a:solidFill>
                <a:latin typeface="Cambria" pitchFamily="34" charset="0"/>
                <a:ea typeface="Cambria" pitchFamily="34" charset="-122"/>
                <a:cs typeface="Cambria" pitchFamily="34" charset="-120"/>
              </a:rPr>
              <a:t> = z × σ × V = 1.645 × 0.016 × 50,00,000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 0.02632 × 50,00,000 = ₹1,31,600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1-day VaR at 99%</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99</a:t>
            </a:r>
            <a:r>
              <a:rPr lang="en-US" sz="1500" dirty="0">
                <a:solidFill>
                  <a:srgbClr val="14213D"/>
                </a:solidFill>
                <a:latin typeface="Cambria" pitchFamily="34" charset="0"/>
                <a:ea typeface="Cambria" pitchFamily="34" charset="-122"/>
                <a:cs typeface="Cambria" pitchFamily="34" charset="-120"/>
              </a:rPr>
              <a:t> = 2.326 × 0.016 × 50,00,000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 0.037216 × 50,00,000 = ₹1,86,080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10-day VaR at 99%</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10</a:t>
            </a:r>
            <a:r>
              <a:rPr lang="en-US" sz="1500" dirty="0">
                <a:solidFill>
                  <a:srgbClr val="14213D"/>
                </a:solidFill>
                <a:latin typeface="Cambria" pitchFamily="34" charset="0"/>
                <a:ea typeface="Cambria" pitchFamily="34" charset="-122"/>
                <a:cs typeface="Cambria" pitchFamily="34" charset="-120"/>
              </a:rPr>
              <a:t> = VaR</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√10 = ₹1,86,080 × 3.1623 = ₹5,88,437</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Interpretation</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We are 99% confident the position will not lose more than ₹1,86,080 in one day; on about 1 day in 100 (2–3 days a year) the loss should exceed this.</a:t>
            </a:r>
            <a:endParaRPr lang="en-US" sz="1550" dirty="0"/>
          </a:p>
          <a:p>
            <a:pPr marL="0" indent="0" algn="l">
              <a:spcAft>
                <a:spcPts val="100"/>
              </a:spcAft>
              <a:buNone/>
            </a:pPr>
            <a:r>
              <a:rPr lang="en-US" sz="1400" i="1" dirty="0">
                <a:solidFill>
                  <a:srgbClr val="5C6577"/>
                </a:solidFill>
                <a:latin typeface="Calibri" pitchFamily="34" charset="0"/>
                <a:ea typeface="Calibri" pitchFamily="34" charset="-122"/>
                <a:cs typeface="Calibri" pitchFamily="34" charset="-120"/>
              </a:rPr>
              <a:t>Key: z = normal quantile; σ = daily volatility; V = position value; √T scales 1-day to T-day VaR.</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95% 1-day VaR = ₹1,31,600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99% 1-day VaR = ₹1,86,080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99% 10-day VaR = ₹5,88,437</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√T scaling assumes independent, identically distributed returns. Volatility clustering (as in March 2020) makes it understate multi-day risk.</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M2 · Portfolio VaR and the Diversification Benefit</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family office holds ₹1 crore split between Nifty BeES (equity ETF) and Gold BeES (gold ETF). Equity and gold returns have been mildly negatively correlated. Use the parametric method at 95% confidence, 1-day horizon.</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2311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Nifty BeES value (V</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₹60,00,000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Gold BeES value (V</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₹40,00,000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Daily σ, Nifty BeES (σ</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1.10%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Daily σ, Gold BeES (σ</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0.90%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Correlation (ρ)</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−0.10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z at 95%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1.645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Stand-alone 1-day VaR of each ETF.</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Undiversified VaR (simple sum).</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Diversified portfolio VaR.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Diversification benefit in ₹ and %.</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M2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Step 1: Rupee volatilities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 = σ</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V</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0.011 × 60,00,000 = ₹66,000;   b = σ</a:t>
            </a:r>
            <a:r>
              <a:rPr lang="en-US" sz="1500" baseline="-4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V</a:t>
            </a:r>
            <a:r>
              <a:rPr lang="en-US" sz="1500" baseline="-4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0.009 × 40,00,000 = ₹36,000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Stand-alone VaR</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1.645 × 66,000 = ₹1,08,570;   VaR</a:t>
            </a:r>
            <a:r>
              <a:rPr lang="en-US" sz="1500" baseline="-4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1.645 × 36,000 = ₹59,220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Undiversified VaR</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₹1,08,570 + ₹59,220 = ₹1,67,790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Portfolio VaR (work in ₹ thousand)</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40000" dirty="0">
                <a:solidFill>
                  <a:srgbClr val="14213D"/>
                </a:solidFill>
                <a:latin typeface="Cambria" pitchFamily="34" charset="0"/>
                <a:ea typeface="Cambria" pitchFamily="34" charset="-122"/>
                <a:cs typeface="Cambria" pitchFamily="34" charset="-120"/>
              </a:rPr>
              <a:t>P</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66</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+ 36</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+ 2(−0.10)(66)(36) = 4,356 + 1,296 − 475.2 = 5,176.8</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40000" dirty="0">
                <a:solidFill>
                  <a:srgbClr val="14213D"/>
                </a:solidFill>
                <a:latin typeface="Cambria" pitchFamily="34" charset="0"/>
                <a:ea typeface="Cambria" pitchFamily="34" charset="-122"/>
                <a:cs typeface="Cambria" pitchFamily="34" charset="-120"/>
              </a:rPr>
              <a:t>P</a:t>
            </a:r>
            <a:r>
              <a:rPr lang="en-US" sz="1500" dirty="0">
                <a:solidFill>
                  <a:srgbClr val="14213D"/>
                </a:solidFill>
                <a:latin typeface="Cambria" pitchFamily="34" charset="0"/>
                <a:ea typeface="Cambria" pitchFamily="34" charset="-122"/>
                <a:cs typeface="Cambria" pitchFamily="34" charset="-120"/>
              </a:rPr>
              <a:t> = √5,176.8 = 71.950 thousand = ₹71,950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P</a:t>
            </a:r>
            <a:r>
              <a:rPr lang="en-US" sz="1500" dirty="0">
                <a:solidFill>
                  <a:srgbClr val="14213D"/>
                </a:solidFill>
                <a:latin typeface="Cambria" pitchFamily="34" charset="0"/>
                <a:ea typeface="Cambria" pitchFamily="34" charset="-122"/>
                <a:cs typeface="Cambria" pitchFamily="34" charset="-120"/>
              </a:rPr>
              <a:t> = 1.645 × ₹71,950 = ₹1,18,358</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Diversification benefit</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₹1,67,790 − ₹1,18,358 = ₹49,432  (29.5% of undiversified VaR)</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VaR Nifty BeES = ₹1,08,570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VaR Gold BeES = ₹59,220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Portfolio VaR = ₹1,18,358</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Benefit = ₹49,432 (29.5%)</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VaR adds up only when ρ = +1. The lower the correlation, the bigger the benefit, which is why gold is a classic diversifier for Indian equity portfolios.</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M3 · Historical Simulation VaR and Expected Shortfall</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868680"/>
          </a:xfrm>
          <a:prstGeom prst="roundRect">
            <a:avLst>
              <a:gd name="adj" fmla="val 84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2237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PMS portfolio worth ₹1 crore recorded the 20 daily returns below. Using historical simulation, estimate the 1-day 90% VaR and ES, then compare with a normal-distribution estimate.</a:t>
            </a:r>
            <a:endParaRPr lang="en-US" sz="1550" dirty="0"/>
          </a:p>
        </p:txBody>
      </p:sp>
      <p:sp>
        <p:nvSpPr>
          <p:cNvPr id="10" name="Shape 8"/>
          <p:cNvSpPr/>
          <p:nvPr/>
        </p:nvSpPr>
        <p:spPr>
          <a:xfrm>
            <a:off x="502920" y="2377440"/>
            <a:ext cx="6309360" cy="3840480"/>
          </a:xfrm>
          <a:prstGeom prst="roundRect">
            <a:avLst>
              <a:gd name="adj" fmla="val 1905"/>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48716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2880360"/>
          <a:ext cx="5852160" cy="1130300"/>
        </p:xfrm>
        <a:graphic>
          <a:graphicData uri="http://schemas.openxmlformats.org/drawingml/2006/table">
            <a:tbl>
              <a:tblPr/>
              <a:tblGrid>
                <a:gridCol w="1170432">
                  <a:extLst>
                    <a:ext uri="{9D8B030D-6E8A-4147-A177-3AD203B41FA5}">
                      <a16:colId xmlns:a16="http://schemas.microsoft.com/office/drawing/2014/main" val="20000"/>
                    </a:ext>
                  </a:extLst>
                </a:gridCol>
                <a:gridCol w="1170432">
                  <a:extLst>
                    <a:ext uri="{9D8B030D-6E8A-4147-A177-3AD203B41FA5}">
                      <a16:colId xmlns:a16="http://schemas.microsoft.com/office/drawing/2014/main" val="20001"/>
                    </a:ext>
                  </a:extLst>
                </a:gridCol>
                <a:gridCol w="1170432">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 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 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 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 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 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 0.8%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2: −1.2%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3: 0.5%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4: −2.6%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5: 1.1%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6: 0.3%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7: −0.7%</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8: −3.4%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9: 1.6%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10: 0.2%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11: −1.9%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12: 0.9%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13: −0.4%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14: 2.1%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15: −1.5%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16: 0.6%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17: −2.2%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18: 1.3%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19: −0.9%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Day 20: 0.4%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13" name="Shape 10"/>
          <p:cNvSpPr/>
          <p:nvPr/>
        </p:nvSpPr>
        <p:spPr>
          <a:xfrm>
            <a:off x="7086600" y="2377440"/>
            <a:ext cx="4599432" cy="3840480"/>
          </a:xfrm>
          <a:prstGeom prst="roundRect">
            <a:avLst>
              <a:gd name="adj" fmla="val 1905"/>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48716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07792"/>
            <a:ext cx="4142232" cy="315468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Rank the returns and find the 90% 1-day historical VaR (in ₹).</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90% Expected Shortfall (average of losses beyond VaR).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Sample mean and standard deviation; the parametric 90% VaR.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Explain the gap between (a) and (c).</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M3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678180"/>
        </p:xfrm>
        <a:graphic>
          <a:graphicData uri="http://schemas.openxmlformats.org/drawingml/2006/table">
            <a:tbl>
              <a:tblPr/>
              <a:tblGrid>
                <a:gridCol w="118872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tblGrid>
              <a:tr h="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Rank</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150" dirty="0">
                          <a:solidFill>
                            <a:srgbClr val="1E2533"/>
                          </a:solidFill>
                          <a:latin typeface="Calibri" pitchFamily="34" charset="0"/>
                          <a:ea typeface="Calibri" pitchFamily="34" charset="-122"/>
                          <a:cs typeface="Calibri" pitchFamily="34" charset="-120"/>
                        </a:rPr>
                        <a:t>Return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−3.4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−2.6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−2.2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−1.9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−1.5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−1.2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50" dirty="0">
                          <a:solidFill>
                            <a:srgbClr val="1E2533"/>
                          </a:solidFill>
                          <a:latin typeface="Calibri" pitchFamily="34" charset="0"/>
                          <a:ea typeface="Calibri" pitchFamily="34" charset="-122"/>
                          <a:cs typeface="Calibri" pitchFamily="34" charset="-120"/>
                        </a:rPr>
                        <a:t>Loss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3,40,000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2,60,000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2,20,000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1,90,000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1,50,000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150" dirty="0">
                          <a:solidFill>
                            <a:srgbClr val="1E2533"/>
                          </a:solidFill>
                          <a:latin typeface="Calibri" pitchFamily="34" charset="0"/>
                          <a:ea typeface="Calibri" pitchFamily="34" charset="-122"/>
                          <a:cs typeface="Calibri" pitchFamily="34" charset="-120"/>
                        </a:rPr>
                        <a:t>1,20,000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bl>
          </a:graphicData>
        </a:graphic>
      </p:graphicFrame>
      <p:sp>
        <p:nvSpPr>
          <p:cNvPr id="8" name="Text 5"/>
          <p:cNvSpPr txBox="1"/>
          <p:nvPr/>
        </p:nvSpPr>
        <p:spPr>
          <a:xfrm>
            <a:off x="685800" y="2258568"/>
            <a:ext cx="7360920" cy="3886200"/>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Historical VaR: 10% of 20 observations = 2 → VaR is the 2nd-worst loss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90</a:t>
            </a:r>
            <a:r>
              <a:rPr lang="en-US" sz="1500" dirty="0">
                <a:solidFill>
                  <a:srgbClr val="14213D"/>
                </a:solidFill>
                <a:latin typeface="Cambria" pitchFamily="34" charset="0"/>
                <a:ea typeface="Cambria" pitchFamily="34" charset="-122"/>
                <a:cs typeface="Cambria" pitchFamily="34" charset="-120"/>
              </a:rPr>
              <a:t> = 2.6% × ₹1,00,00,000 = ₹2,60,000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Expected Shortfall: mean of the 2 worst losses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ES</a:t>
            </a:r>
            <a:r>
              <a:rPr lang="en-US" sz="1500" baseline="-40000" dirty="0">
                <a:solidFill>
                  <a:srgbClr val="14213D"/>
                </a:solidFill>
                <a:latin typeface="Cambria" pitchFamily="34" charset="0"/>
                <a:ea typeface="Cambria" pitchFamily="34" charset="-122"/>
                <a:cs typeface="Cambria" pitchFamily="34" charset="-120"/>
              </a:rPr>
              <a:t>90</a:t>
            </a:r>
            <a:r>
              <a:rPr lang="en-US" sz="1500" dirty="0">
                <a:solidFill>
                  <a:srgbClr val="14213D"/>
                </a:solidFill>
                <a:latin typeface="Cambria" pitchFamily="34" charset="0"/>
                <a:ea typeface="Cambria" pitchFamily="34" charset="-122"/>
                <a:cs typeface="Cambria" pitchFamily="34" charset="-120"/>
              </a:rPr>
              <a:t> = (3.4% + 2.6%) ÷ 2 = 3.0%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₹3,00,000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Parametric VaR</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μ = Σr ÷ 20 = −5.0 ÷ 20 = −0.25%;   σ = √[Σ(r − μ)</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19] = 1.5025%</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90</a:t>
            </a:r>
            <a:r>
              <a:rPr lang="en-US" sz="1500" dirty="0">
                <a:solidFill>
                  <a:srgbClr val="14213D"/>
                </a:solidFill>
                <a:latin typeface="Cambria" pitchFamily="34" charset="0"/>
                <a:ea typeface="Cambria" pitchFamily="34" charset="-122"/>
                <a:cs typeface="Cambria" pitchFamily="34" charset="-120"/>
              </a:rPr>
              <a:t> = (1.2816 × 1.5025 − (−0.25))% = 2.1755%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₹2,17,555</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Why the gap?</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Actual losses have a fatter left tail (−3.4%, −2.6%) than a normal curve implies, so the normal model understates tail risk.</a:t>
            </a:r>
            <a:endParaRPr lang="en-US" sz="155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Historical 90% VaR = ₹2,60,000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90% ES = ₹3,00,000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Parametric 90% VaR = ₹2,17,555</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20 observations is a teaching sample. Practice uses 250–500 days; at 99% with 500 days, VaR is the 5th-worst loss.</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M4 · Hedging Equity Market Risk with Nifty Futures</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portfolio manager expects a volatile month around a key policy event and wants to neutralise market risk on a diversified Indian equity portfolio without selling the stocks.</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22098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Portfolio value (V</a:t>
                      </a:r>
                      <a:r>
                        <a:rPr lang="en-US" sz="1500" baseline="-40000" dirty="0">
                          <a:solidFill>
                            <a:srgbClr val="1E2533"/>
                          </a:solidFill>
                          <a:latin typeface="Calibri" pitchFamily="34" charset="0"/>
                          <a:ea typeface="Calibri" pitchFamily="34" charset="-122"/>
                          <a:cs typeface="Calibri" pitchFamily="34" charset="-120"/>
                        </a:rPr>
                        <a:t>P</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₹5,00,00,000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Portfolio beta (β)</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1.25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Nifty futures price (F)</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25,000 (illustrative)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Nifty lot size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65 units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Scenario</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Nifty falls 8%; futures to 23,000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Number of futures contracts for a full hedge (β* = 0).</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Net P&amp;L of the hedged portfolio in the 8% fall scenario (ignore basis and dividends).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Contracts needed to cut beta to 0.50 instead; the resulting effective beta.</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M4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Contract value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 × Lot = 25,000 × 65 = ₹16,25,000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Full hedge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 = (0 − 1.25) × 5,00,00,000 ÷ 16,25,000 = −38.46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sell 38 contracts</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8% market fall</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Portfolio loss = β × 8% × V</a:t>
            </a:r>
            <a:r>
              <a:rPr lang="en-US" sz="1500" baseline="-40000" dirty="0">
                <a:solidFill>
                  <a:srgbClr val="14213D"/>
                </a:solidFill>
                <a:latin typeface="Cambria" pitchFamily="34" charset="0"/>
                <a:ea typeface="Cambria" pitchFamily="34" charset="-122"/>
                <a:cs typeface="Cambria" pitchFamily="34" charset="-120"/>
              </a:rPr>
              <a:t>P</a:t>
            </a:r>
            <a:r>
              <a:rPr lang="en-US" sz="1500" dirty="0">
                <a:solidFill>
                  <a:srgbClr val="14213D"/>
                </a:solidFill>
                <a:latin typeface="Cambria" pitchFamily="34" charset="0"/>
                <a:ea typeface="Cambria" pitchFamily="34" charset="-122"/>
                <a:cs typeface="Cambria" pitchFamily="34" charset="-120"/>
              </a:rPr>
              <a:t> = 1.25 × 0.08 × 5,00,00,000 = −₹50,00,000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Futures gain = 38 × 65 × (25,000 − 23,000) = ₹49,40,000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Net P&amp;L = −₹50,00,000 + ₹49,40,000 = −₹60,000 (residual from rounding to whole contracts)</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Reduce beta to 0.50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 = (0.50 − 1.25) × 5,00,00,000 ÷ 16,25,000 = −23.08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sell 23 contracts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Effective β = 1.25 − (23 × 16,25,000 ÷ 5,00,00,000) = 1.25 − 0.7475 = 0.5025</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Full hedge: sell 38 Nifty futures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Hedged P&amp;L ≈ −₹60,000 vs −₹50,00,000 unhedged</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β → 0.50: sell 23 contracts (β ≈ 0.502)</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The hedge removes systematic risk only. Stock-specific risk and basis risk remain, and the hedge also gives up gains if the market rises.</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200" b="1" dirty="0">
                <a:solidFill>
                  <a:srgbClr val="14213D"/>
                </a:solidFill>
                <a:latin typeface="Cambria" pitchFamily="34" charset="0"/>
                <a:ea typeface="Cambria" pitchFamily="34" charset="-122"/>
                <a:cs typeface="Cambria" pitchFamily="34" charset="-120"/>
              </a:rPr>
              <a:t>Problem M5 · Backtesting a VaR Model (Basel Traffic Light and Kupiec Test)</a:t>
            </a:r>
            <a:endParaRPr lang="en-US" sz="22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Advanced</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bank's treasury uses a 99% 1-day VaR model for its trading book. Over the last 250 trading days, actual losses exceeded the reported VaR on 7 days. The CRO must judge whether the model is reliable.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25400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Confidence level (c)</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99% → p = 0.01</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Observation days (n)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250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Exceptions observed (x)</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7</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Basel zones (250 days, 99%)</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Green 0–4, Yellow 5–9, Red ≥ 10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Basel plus factor for 7 exceptions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0.65 (base multiplier 3)</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χ</a:t>
                      </a:r>
                      <a:r>
                        <a:rPr lang="en-US" sz="1500" baseline="3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(1) critical value at 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3.841</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Expected number of exceptions.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Traffic-light zone and resulting capital multiplier.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Probability of 7 or more exceptions if the model were correct (binomial).</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Kupiec proportion-of-failures LR statistic and conclusion.</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M5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Expected exceptions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E(x) = n × p = 250 × 0.01 = 2.5 days</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Traffic light</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7 exceptions lies in the Yellow zone (5–9)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multiplier = 3 + 0.65 = 3.65</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Binomial tail probability</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P(X ≥ 7) = 1 − Σ</a:t>
            </a:r>
            <a:r>
              <a:rPr lang="en-US" sz="1500" baseline="-40000" dirty="0">
                <a:solidFill>
                  <a:srgbClr val="14213D"/>
                </a:solidFill>
                <a:latin typeface="Cambria" pitchFamily="34" charset="0"/>
                <a:ea typeface="Cambria" pitchFamily="34" charset="-122"/>
                <a:cs typeface="Cambria" pitchFamily="34" charset="-120"/>
              </a:rPr>
              <a:t>k=0</a:t>
            </a:r>
            <a:r>
              <a:rPr lang="en-US" sz="1500" baseline="30000" dirty="0">
                <a:solidFill>
                  <a:srgbClr val="14213D"/>
                </a:solidFill>
                <a:latin typeface="Cambria" pitchFamily="34" charset="0"/>
                <a:ea typeface="Cambria" pitchFamily="34" charset="-122"/>
                <a:cs typeface="Cambria" pitchFamily="34" charset="-120"/>
              </a:rPr>
              <a:t>6</a:t>
            </a:r>
            <a:r>
              <a:rPr lang="en-US" sz="1500" dirty="0">
                <a:solidFill>
                  <a:srgbClr val="14213D"/>
                </a:solidFill>
                <a:latin typeface="Cambria" pitchFamily="34" charset="0"/>
                <a:ea typeface="Cambria" pitchFamily="34" charset="-122"/>
                <a:cs typeface="Cambria" pitchFamily="34" charset="-120"/>
              </a:rPr>
              <a:t> C(250,k)(0.01)</a:t>
            </a:r>
            <a:r>
              <a:rPr lang="en-US" sz="1500" baseline="30000" dirty="0">
                <a:solidFill>
                  <a:srgbClr val="14213D"/>
                </a:solidFill>
                <a:latin typeface="Cambria" pitchFamily="34" charset="0"/>
                <a:ea typeface="Cambria" pitchFamily="34" charset="-122"/>
                <a:cs typeface="Cambria" pitchFamily="34" charset="-120"/>
              </a:rPr>
              <a:t>k</a:t>
            </a:r>
            <a:r>
              <a:rPr lang="en-US" sz="1500" dirty="0">
                <a:solidFill>
                  <a:srgbClr val="14213D"/>
                </a:solidFill>
                <a:latin typeface="Cambria" pitchFamily="34" charset="0"/>
                <a:ea typeface="Cambria" pitchFamily="34" charset="-122"/>
                <a:cs typeface="Cambria" pitchFamily="34" charset="-120"/>
              </a:rPr>
              <a:t>(0.99)</a:t>
            </a:r>
            <a:r>
              <a:rPr lang="en-US" sz="1500" baseline="30000" dirty="0">
                <a:solidFill>
                  <a:srgbClr val="14213D"/>
                </a:solidFill>
                <a:latin typeface="Cambria" pitchFamily="34" charset="0"/>
                <a:ea typeface="Cambria" pitchFamily="34" charset="-122"/>
                <a:cs typeface="Cambria" pitchFamily="34" charset="-120"/>
              </a:rPr>
              <a:t>250−k</a:t>
            </a:r>
            <a:r>
              <a:rPr lang="en-US" sz="1500" dirty="0">
                <a:solidFill>
                  <a:srgbClr val="14213D"/>
                </a:solidFill>
                <a:latin typeface="Cambria" pitchFamily="34" charset="0"/>
                <a:ea typeface="Cambria" pitchFamily="34" charset="-122"/>
                <a:cs typeface="Cambria" pitchFamily="34" charset="-120"/>
              </a:rPr>
              <a:t> = 0.0137 (1.37%)</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Kupiec LR statistic</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ln L</a:t>
            </a:r>
            <a:r>
              <a:rPr lang="en-US" sz="1500" baseline="-40000" dirty="0">
                <a:solidFill>
                  <a:srgbClr val="14213D"/>
                </a:solidFill>
                <a:latin typeface="Cambria" pitchFamily="34" charset="0"/>
                <a:ea typeface="Cambria" pitchFamily="34" charset="-122"/>
                <a:cs typeface="Cambria" pitchFamily="34" charset="-120"/>
              </a:rPr>
              <a:t>0</a:t>
            </a:r>
            <a:r>
              <a:rPr lang="en-US" sz="1500" dirty="0">
                <a:solidFill>
                  <a:srgbClr val="14213D"/>
                </a:solidFill>
                <a:latin typeface="Cambria" pitchFamily="34" charset="0"/>
                <a:ea typeface="Cambria" pitchFamily="34" charset="-122"/>
                <a:cs typeface="Cambria" pitchFamily="34" charset="-120"/>
              </a:rPr>
              <a:t> = 243 ln(0.99) + 7 ln(0.01) = −34.6784</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ln L</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243 ln(0.972) + 7 ln(0.028) = −31.9299</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LR = −2(−34.6784 − (−31.9299)) = 5.497</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5.497 &gt; 3.841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reject H</a:t>
            </a:r>
            <a:r>
              <a:rPr lang="en-US" sz="1500" baseline="-40000" dirty="0">
                <a:solidFill>
                  <a:srgbClr val="14213D"/>
                </a:solidFill>
                <a:latin typeface="Cambria" pitchFamily="34" charset="0"/>
                <a:ea typeface="Cambria" pitchFamily="34" charset="-122"/>
                <a:cs typeface="Cambria" pitchFamily="34" charset="-120"/>
              </a:rPr>
              <a:t>0</a:t>
            </a:r>
            <a:r>
              <a:rPr lang="en-US" sz="1500" dirty="0">
                <a:solidFill>
                  <a:srgbClr val="14213D"/>
                </a:solidFill>
                <a:latin typeface="Cambria" pitchFamily="34" charset="0"/>
                <a:ea typeface="Cambria" pitchFamily="34" charset="-122"/>
                <a:cs typeface="Cambria" pitchFamily="34" charset="-120"/>
              </a:rPr>
              <a:t> that the true exception rate is 1%.</a:t>
            </a:r>
            <a:endParaRPr lang="en-US" sz="1550" dirty="0"/>
          </a:p>
          <a:p>
            <a:pPr marL="0" indent="0" algn="l">
              <a:spcAft>
                <a:spcPts val="100"/>
              </a:spcAft>
              <a:buNone/>
            </a:pPr>
            <a:r>
              <a:rPr lang="en-US" sz="1400" i="1" dirty="0">
                <a:solidFill>
                  <a:srgbClr val="5C6577"/>
                </a:solidFill>
                <a:latin typeface="Calibri" pitchFamily="34" charset="0"/>
                <a:ea typeface="Calibri" pitchFamily="34" charset="-122"/>
                <a:cs typeface="Calibri" pitchFamily="34" charset="-120"/>
              </a:rPr>
              <a:t>Key: L</a:t>
            </a:r>
            <a:r>
              <a:rPr lang="en-US" sz="1400" i="1" baseline="-40000" dirty="0">
                <a:solidFill>
                  <a:srgbClr val="5C6577"/>
                </a:solidFill>
                <a:latin typeface="Calibri" pitchFamily="34" charset="0"/>
                <a:ea typeface="Calibri" pitchFamily="34" charset="-122"/>
                <a:cs typeface="Calibri" pitchFamily="34" charset="-120"/>
              </a:rPr>
              <a:t>0</a:t>
            </a:r>
            <a:r>
              <a:rPr lang="en-US" sz="1400" i="1" dirty="0">
                <a:solidFill>
                  <a:srgbClr val="5C6577"/>
                </a:solidFill>
                <a:latin typeface="Calibri" pitchFamily="34" charset="0"/>
                <a:ea typeface="Calibri" pitchFamily="34" charset="-122"/>
                <a:cs typeface="Calibri" pitchFamily="34" charset="-120"/>
              </a:rPr>
              <a:t> = likelihood under p = 0.01; L</a:t>
            </a:r>
            <a:r>
              <a:rPr lang="en-US" sz="1400" i="1" baseline="-40000" dirty="0">
                <a:solidFill>
                  <a:srgbClr val="5C6577"/>
                </a:solidFill>
                <a:latin typeface="Calibri" pitchFamily="34" charset="0"/>
                <a:ea typeface="Calibri" pitchFamily="34" charset="-122"/>
                <a:cs typeface="Calibri" pitchFamily="34" charset="-120"/>
              </a:rPr>
              <a:t>1</a:t>
            </a:r>
            <a:r>
              <a:rPr lang="en-US" sz="1400" i="1" dirty="0">
                <a:solidFill>
                  <a:srgbClr val="5C6577"/>
                </a:solidFill>
                <a:latin typeface="Calibri" pitchFamily="34" charset="0"/>
                <a:ea typeface="Calibri" pitchFamily="34" charset="-122"/>
                <a:cs typeface="Calibri" pitchFamily="34" charset="-120"/>
              </a:rPr>
              <a:t> = likelihood under observed rate x/n = 0.028.</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Expected: 2.5 exceptions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Zone: Yellow; multiplier 3.65</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P(X ≥ 7) ≈ 1.37%</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LR = 5.50 → model rejected at 5%</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The model underestimates risk. Capital rises through the plus factor, and the risk team must investigate: fat tails, stale volatility, or missing risk factors.</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04</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4</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What is Risk Management?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Managing uncertainty so that objectives are met within an acceptable level of risk</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Definition and the core cycle</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What risk management is, and what it is not</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How the discipline evolved: from insurance buying to enterprise-wide risk</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04</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Risk Management: Definition and the Core Cycle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11183112" cy="1234440"/>
          </a:xfrm>
          <a:prstGeom prst="roundRect">
            <a:avLst>
              <a:gd name="adj" fmla="val 5926"/>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53312"/>
            <a:ext cx="10789920" cy="109728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Risk management is the systematic, continuous process of </a:t>
            </a:r>
            <a:r>
              <a:rPr lang="en-US" sz="1600" b="1" dirty="0">
                <a:solidFill>
                  <a:srgbClr val="FFFFFF"/>
                </a:solidFill>
                <a:latin typeface="Calibri" pitchFamily="34" charset="0"/>
                <a:ea typeface="Calibri" pitchFamily="34" charset="-122"/>
                <a:cs typeface="Calibri" pitchFamily="34" charset="-120"/>
              </a:rPr>
              <a:t>identifying, assessing, treating, monitoring and reporting</a:t>
            </a:r>
            <a:r>
              <a:rPr lang="en-US" sz="1600" dirty="0">
                <a:solidFill>
                  <a:srgbClr val="FFFFFF"/>
                </a:solidFill>
                <a:latin typeface="Calibri" pitchFamily="34" charset="0"/>
                <a:ea typeface="Calibri" pitchFamily="34" charset="-122"/>
                <a:cs typeface="Calibri" pitchFamily="34" charset="-120"/>
              </a:rPr>
              <a:t> risks so that an organisation achieves its objectives within an acceptable level of risk.</a:t>
            </a:r>
            <a:endParaRPr lang="en-US" sz="1600" dirty="0"/>
          </a:p>
          <a:p>
            <a:pPr marL="0" indent="0" algn="l">
              <a:buNone/>
            </a:pPr>
            <a:r>
              <a:rPr lang="en-US" sz="1400" i="1" dirty="0">
                <a:solidFill>
                  <a:srgbClr val="EAD9A0"/>
                </a:solidFill>
                <a:latin typeface="Calibri" pitchFamily="34" charset="0"/>
                <a:ea typeface="Calibri" pitchFamily="34" charset="-122"/>
                <a:cs typeface="Calibri" pitchFamily="34" charset="-120"/>
              </a:rPr>
              <a:t>ISO 31000 describes it as coordinated activities to direct and control an organisation with regard to risk.</a:t>
            </a:r>
            <a:endParaRPr lang="en-US" sz="1600" dirty="0"/>
          </a:p>
        </p:txBody>
      </p:sp>
      <p:sp>
        <p:nvSpPr>
          <p:cNvPr id="8" name="Shape 6"/>
          <p:cNvSpPr/>
          <p:nvPr/>
        </p:nvSpPr>
        <p:spPr>
          <a:xfrm>
            <a:off x="502920" y="3108960"/>
            <a:ext cx="2624328" cy="3108960"/>
          </a:xfrm>
          <a:prstGeom prst="roundRect">
            <a:avLst>
              <a:gd name="adj" fmla="val 27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Shape 7"/>
          <p:cNvSpPr/>
          <p:nvPr/>
        </p:nvSpPr>
        <p:spPr>
          <a:xfrm>
            <a:off x="1495044" y="2788920"/>
            <a:ext cx="640080" cy="640080"/>
          </a:xfrm>
          <a:prstGeom prst="ellipse">
            <a:avLst/>
          </a:prstGeom>
          <a:solidFill>
            <a:srgbClr val="14213D"/>
          </a:solidFill>
          <a:ln w="19050">
            <a:solidFill>
              <a:srgbClr val="C9A227"/>
            </a:solidFill>
            <a:prstDash val="solid"/>
          </a:ln>
        </p:spPr>
      </p:sp>
      <p:sp>
        <p:nvSpPr>
          <p:cNvPr id="10" name="Text 8"/>
          <p:cNvSpPr txBox="1"/>
          <p:nvPr/>
        </p:nvSpPr>
        <p:spPr>
          <a:xfrm>
            <a:off x="1495044" y="278892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1</a:t>
            </a:r>
            <a:endParaRPr lang="en-US" sz="1800" dirty="0"/>
          </a:p>
        </p:txBody>
      </p:sp>
      <p:sp>
        <p:nvSpPr>
          <p:cNvPr id="11" name="Text 9"/>
          <p:cNvSpPr txBox="1"/>
          <p:nvPr/>
        </p:nvSpPr>
        <p:spPr>
          <a:xfrm>
            <a:off x="612648" y="3520440"/>
            <a:ext cx="2404872" cy="566928"/>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Identify</a:t>
            </a:r>
            <a:endParaRPr lang="en-US" sz="1700" dirty="0"/>
          </a:p>
        </p:txBody>
      </p:sp>
      <p:sp>
        <p:nvSpPr>
          <p:cNvPr id="12" name="Text 10"/>
          <p:cNvSpPr txBox="1"/>
          <p:nvPr/>
        </p:nvSpPr>
        <p:spPr>
          <a:xfrm>
            <a:off x="640080" y="4114800"/>
            <a:ext cx="2350008" cy="201168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What could go wrong (or right)? Risk registers, workshops, process maps, scenario analysis.</a:t>
            </a:r>
            <a:endParaRPr lang="en-US" sz="1650" dirty="0"/>
          </a:p>
        </p:txBody>
      </p:sp>
      <p:sp>
        <p:nvSpPr>
          <p:cNvPr id="13" name="Shape 11"/>
          <p:cNvSpPr/>
          <p:nvPr/>
        </p:nvSpPr>
        <p:spPr>
          <a:xfrm>
            <a:off x="3159252" y="2990088"/>
            <a:ext cx="164592" cy="237744"/>
          </a:xfrm>
          <a:prstGeom prst="chevron">
            <a:avLst/>
          </a:prstGeom>
          <a:solidFill>
            <a:srgbClr val="C9A227"/>
          </a:solidFill>
          <a:ln w="12700">
            <a:solidFill>
              <a:srgbClr val="C9A227"/>
            </a:solidFill>
            <a:prstDash val="solid"/>
          </a:ln>
        </p:spPr>
      </p:sp>
      <p:sp>
        <p:nvSpPr>
          <p:cNvPr id="14" name="Shape 12"/>
          <p:cNvSpPr/>
          <p:nvPr/>
        </p:nvSpPr>
        <p:spPr>
          <a:xfrm>
            <a:off x="3355848" y="3108960"/>
            <a:ext cx="2624328" cy="3108960"/>
          </a:xfrm>
          <a:prstGeom prst="roundRect">
            <a:avLst>
              <a:gd name="adj" fmla="val 27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5" name="Shape 13"/>
          <p:cNvSpPr/>
          <p:nvPr/>
        </p:nvSpPr>
        <p:spPr>
          <a:xfrm>
            <a:off x="4347972" y="2788920"/>
            <a:ext cx="640080" cy="640080"/>
          </a:xfrm>
          <a:prstGeom prst="ellipse">
            <a:avLst/>
          </a:prstGeom>
          <a:solidFill>
            <a:srgbClr val="14213D"/>
          </a:solidFill>
          <a:ln w="19050">
            <a:solidFill>
              <a:srgbClr val="C9A227"/>
            </a:solidFill>
            <a:prstDash val="solid"/>
          </a:ln>
        </p:spPr>
      </p:sp>
      <p:sp>
        <p:nvSpPr>
          <p:cNvPr id="16" name="Text 14"/>
          <p:cNvSpPr txBox="1"/>
          <p:nvPr/>
        </p:nvSpPr>
        <p:spPr>
          <a:xfrm>
            <a:off x="4347972" y="278892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2</a:t>
            </a:r>
            <a:endParaRPr lang="en-US" sz="1800" dirty="0"/>
          </a:p>
        </p:txBody>
      </p:sp>
      <p:sp>
        <p:nvSpPr>
          <p:cNvPr id="17" name="Text 15"/>
          <p:cNvSpPr txBox="1"/>
          <p:nvPr/>
        </p:nvSpPr>
        <p:spPr>
          <a:xfrm>
            <a:off x="3465576" y="3520440"/>
            <a:ext cx="2404872" cy="566928"/>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Assess</a:t>
            </a:r>
            <a:endParaRPr lang="en-US" sz="1700" dirty="0"/>
          </a:p>
        </p:txBody>
      </p:sp>
      <p:sp>
        <p:nvSpPr>
          <p:cNvPr id="18" name="Text 16"/>
          <p:cNvSpPr txBox="1"/>
          <p:nvPr/>
        </p:nvSpPr>
        <p:spPr>
          <a:xfrm>
            <a:off x="3493008" y="4114800"/>
            <a:ext cx="2350008" cy="201168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How likely and how severe? σ, VaR, duration, PD × LGD × EAD, heat maps</a:t>
            </a:r>
            <a:r>
              <a:rPr lang="en-US" sz="1650" dirty="0" smtClean="0">
                <a:solidFill>
                  <a:srgbClr val="1E2533"/>
                </a:solidFill>
                <a:latin typeface="Calibri" pitchFamily="34" charset="0"/>
                <a:ea typeface="Calibri" pitchFamily="34" charset="-122"/>
                <a:cs typeface="Calibri" pitchFamily="34" charset="-120"/>
              </a:rPr>
              <a:t>. </a:t>
            </a:r>
          </a:p>
          <a:p>
            <a:pPr marL="0" indent="0" algn="l">
              <a:buNone/>
            </a:pPr>
            <a:r>
              <a:rPr lang="en-US" sz="1000" dirty="0" smtClean="0">
                <a:solidFill>
                  <a:srgbClr val="1E2533"/>
                </a:solidFill>
                <a:latin typeface="Calibri" pitchFamily="34" charset="0"/>
                <a:ea typeface="Calibri" pitchFamily="34" charset="-122"/>
                <a:cs typeface="Calibri" pitchFamily="34" charset="-120"/>
              </a:rPr>
              <a:t>Duration measures severity,</a:t>
            </a:r>
            <a:endParaRPr lang="en-US" sz="1000" dirty="0">
              <a:solidFill>
                <a:srgbClr val="1E2533"/>
              </a:solidFill>
              <a:latin typeface="Calibri" pitchFamily="34" charset="0"/>
              <a:ea typeface="Calibri" pitchFamily="34" charset="-122"/>
              <a:cs typeface="Calibri" pitchFamily="34" charset="-120"/>
            </a:endParaRPr>
          </a:p>
          <a:p>
            <a:pPr marL="0" indent="0" algn="l">
              <a:buNone/>
            </a:pPr>
            <a:r>
              <a:rPr lang="en-US" sz="1000" dirty="0" smtClean="0">
                <a:solidFill>
                  <a:srgbClr val="1E2533"/>
                </a:solidFill>
                <a:latin typeface="Calibri" pitchFamily="34" charset="0"/>
                <a:ea typeface="Calibri" pitchFamily="34" charset="-122"/>
                <a:cs typeface="Calibri" pitchFamily="34" charset="-120"/>
              </a:rPr>
              <a:t>Probability of Default, Loss Given Default, Exposure at Default</a:t>
            </a:r>
            <a:endParaRPr lang="en-US" sz="1000" dirty="0"/>
          </a:p>
        </p:txBody>
      </p:sp>
      <p:sp>
        <p:nvSpPr>
          <p:cNvPr id="19" name="Shape 17"/>
          <p:cNvSpPr/>
          <p:nvPr/>
        </p:nvSpPr>
        <p:spPr>
          <a:xfrm>
            <a:off x="6012180" y="2990088"/>
            <a:ext cx="164592" cy="237744"/>
          </a:xfrm>
          <a:prstGeom prst="chevron">
            <a:avLst/>
          </a:prstGeom>
          <a:solidFill>
            <a:srgbClr val="C9A227"/>
          </a:solidFill>
          <a:ln w="12700">
            <a:solidFill>
              <a:srgbClr val="C9A227"/>
            </a:solidFill>
            <a:prstDash val="solid"/>
          </a:ln>
        </p:spPr>
      </p:sp>
      <p:sp>
        <p:nvSpPr>
          <p:cNvPr id="20" name="Shape 18"/>
          <p:cNvSpPr/>
          <p:nvPr/>
        </p:nvSpPr>
        <p:spPr>
          <a:xfrm>
            <a:off x="6208776" y="3108960"/>
            <a:ext cx="2624328" cy="3108960"/>
          </a:xfrm>
          <a:prstGeom prst="roundRect">
            <a:avLst>
              <a:gd name="adj" fmla="val 27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1" name="Shape 19"/>
          <p:cNvSpPr/>
          <p:nvPr/>
        </p:nvSpPr>
        <p:spPr>
          <a:xfrm>
            <a:off x="7200900" y="2788920"/>
            <a:ext cx="640080" cy="640080"/>
          </a:xfrm>
          <a:prstGeom prst="ellipse">
            <a:avLst/>
          </a:prstGeom>
          <a:solidFill>
            <a:srgbClr val="14213D"/>
          </a:solidFill>
          <a:ln w="19050">
            <a:solidFill>
              <a:srgbClr val="C9A227"/>
            </a:solidFill>
            <a:prstDash val="solid"/>
          </a:ln>
        </p:spPr>
      </p:sp>
      <p:sp>
        <p:nvSpPr>
          <p:cNvPr id="22" name="Text 20"/>
          <p:cNvSpPr txBox="1"/>
          <p:nvPr/>
        </p:nvSpPr>
        <p:spPr>
          <a:xfrm>
            <a:off x="7200900" y="278892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3</a:t>
            </a:r>
            <a:endParaRPr lang="en-US" sz="1800" dirty="0"/>
          </a:p>
        </p:txBody>
      </p:sp>
      <p:sp>
        <p:nvSpPr>
          <p:cNvPr id="23" name="Text 21"/>
          <p:cNvSpPr txBox="1"/>
          <p:nvPr/>
        </p:nvSpPr>
        <p:spPr>
          <a:xfrm>
            <a:off x="6318504" y="3520440"/>
            <a:ext cx="2404872" cy="566928"/>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Respond</a:t>
            </a:r>
            <a:endParaRPr lang="en-US" sz="1700" dirty="0"/>
          </a:p>
        </p:txBody>
      </p:sp>
      <p:sp>
        <p:nvSpPr>
          <p:cNvPr id="24" name="Text 22"/>
          <p:cNvSpPr txBox="1"/>
          <p:nvPr/>
        </p:nvSpPr>
        <p:spPr>
          <a:xfrm>
            <a:off x="6345936" y="4114800"/>
            <a:ext cx="2350008" cy="201168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Avoid, reduce, transfer or accept, in line with risk appetite and cost-benefit.</a:t>
            </a:r>
            <a:endParaRPr lang="en-US" sz="1650" dirty="0"/>
          </a:p>
        </p:txBody>
      </p:sp>
      <p:sp>
        <p:nvSpPr>
          <p:cNvPr id="25" name="Shape 23"/>
          <p:cNvSpPr/>
          <p:nvPr/>
        </p:nvSpPr>
        <p:spPr>
          <a:xfrm>
            <a:off x="8865108" y="2990088"/>
            <a:ext cx="164592" cy="237744"/>
          </a:xfrm>
          <a:prstGeom prst="chevron">
            <a:avLst/>
          </a:prstGeom>
          <a:solidFill>
            <a:srgbClr val="C9A227"/>
          </a:solidFill>
          <a:ln w="12700">
            <a:solidFill>
              <a:srgbClr val="C9A227"/>
            </a:solidFill>
            <a:prstDash val="solid"/>
          </a:ln>
        </p:spPr>
      </p:sp>
      <p:sp>
        <p:nvSpPr>
          <p:cNvPr id="26" name="Shape 24"/>
          <p:cNvSpPr/>
          <p:nvPr/>
        </p:nvSpPr>
        <p:spPr>
          <a:xfrm>
            <a:off x="9061704" y="3108960"/>
            <a:ext cx="2624328" cy="3108960"/>
          </a:xfrm>
          <a:prstGeom prst="roundRect">
            <a:avLst>
              <a:gd name="adj" fmla="val 27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5"/>
          <p:cNvSpPr/>
          <p:nvPr/>
        </p:nvSpPr>
        <p:spPr>
          <a:xfrm>
            <a:off x="10053828" y="2788920"/>
            <a:ext cx="640080" cy="640080"/>
          </a:xfrm>
          <a:prstGeom prst="ellipse">
            <a:avLst/>
          </a:prstGeom>
          <a:solidFill>
            <a:srgbClr val="14213D"/>
          </a:solidFill>
          <a:ln w="19050">
            <a:solidFill>
              <a:srgbClr val="C9A227"/>
            </a:solidFill>
            <a:prstDash val="solid"/>
          </a:ln>
        </p:spPr>
      </p:sp>
      <p:sp>
        <p:nvSpPr>
          <p:cNvPr id="28" name="Text 26"/>
          <p:cNvSpPr txBox="1"/>
          <p:nvPr/>
        </p:nvSpPr>
        <p:spPr>
          <a:xfrm>
            <a:off x="10053828" y="278892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4</a:t>
            </a:r>
            <a:endParaRPr lang="en-US" sz="1800" dirty="0"/>
          </a:p>
        </p:txBody>
      </p:sp>
      <p:sp>
        <p:nvSpPr>
          <p:cNvPr id="29" name="Text 27"/>
          <p:cNvSpPr txBox="1"/>
          <p:nvPr/>
        </p:nvSpPr>
        <p:spPr>
          <a:xfrm>
            <a:off x="9171432" y="3520440"/>
            <a:ext cx="2404872" cy="566928"/>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Monitor &amp; report</a:t>
            </a:r>
            <a:endParaRPr lang="en-US" sz="1700" dirty="0"/>
          </a:p>
        </p:txBody>
      </p:sp>
      <p:sp>
        <p:nvSpPr>
          <p:cNvPr id="30" name="Text 28"/>
          <p:cNvSpPr txBox="1"/>
          <p:nvPr/>
        </p:nvSpPr>
        <p:spPr>
          <a:xfrm>
            <a:off x="9198864" y="4114800"/>
            <a:ext cx="2350008" cy="201168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KRIs, limits and dashboards; escalate breaches; feed lessons back into identification.</a:t>
            </a:r>
            <a:endParaRPr lang="en-US" sz="1650" dirty="0"/>
          </a:p>
        </p:txBody>
      </p:sp>
      <p:sp>
        <p:nvSpPr>
          <p:cNvPr id="31"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04</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What Risk Management Is, and What It Is Not</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5541264" cy="3749040"/>
          </a:xfrm>
          <a:prstGeom prst="roundRect">
            <a:avLst>
              <a:gd name="adj" fmla="val 195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731520" y="1444752"/>
            <a:ext cx="548640" cy="548640"/>
          </a:xfrm>
          <a:prstGeom prst="ellipse">
            <a:avLst/>
          </a:prstGeom>
          <a:solidFill>
            <a:srgbClr val="2E7D4F"/>
          </a:solidFill>
          <a:ln w="12700">
            <a:solidFill>
              <a:srgbClr val="2E7D4F"/>
            </a:solidFill>
            <a:prstDash val="solid"/>
          </a:ln>
        </p:spPr>
      </p:sp>
      <p:pic>
        <p:nvPicPr>
          <p:cNvPr id="8" name="Image 0" descr="preencoded.png"/>
          <p:cNvPicPr>
            <a:picLocks noChangeAspect="1"/>
          </p:cNvPicPr>
          <p:nvPr/>
        </p:nvPicPr>
        <p:blipFill>
          <a:blip r:embed="rId3"/>
          <a:stretch>
            <a:fillRect/>
          </a:stretch>
        </p:blipFill>
        <p:spPr>
          <a:xfrm>
            <a:off x="863194" y="1576426"/>
            <a:ext cx="285293" cy="285293"/>
          </a:xfrm>
          <a:prstGeom prst="rect">
            <a:avLst/>
          </a:prstGeom>
        </p:spPr>
      </p:pic>
      <p:sp>
        <p:nvSpPr>
          <p:cNvPr id="9" name="Text 6"/>
          <p:cNvSpPr txBox="1"/>
          <p:nvPr/>
        </p:nvSpPr>
        <p:spPr>
          <a:xfrm>
            <a:off x="1463040" y="1463040"/>
            <a:ext cx="4389120" cy="502920"/>
          </a:xfrm>
          <a:prstGeom prst="rect">
            <a:avLst/>
          </a:prstGeom>
          <a:noFill/>
          <a:ln/>
        </p:spPr>
        <p:txBody>
          <a:bodyPr wrap="square" lIns="0" tIns="0" rIns="0" bIns="0" rtlCol="0" anchor="ctr"/>
          <a:lstStyle/>
          <a:p>
            <a:pPr marL="0" indent="0" algn="l">
              <a:buNone/>
            </a:pPr>
            <a:r>
              <a:rPr lang="en-US" sz="1900" b="1" dirty="0">
                <a:solidFill>
                  <a:srgbClr val="14213D"/>
                </a:solidFill>
                <a:latin typeface="Cambria" pitchFamily="34" charset="0"/>
                <a:ea typeface="Cambria" pitchFamily="34" charset="-122"/>
                <a:cs typeface="Cambria" pitchFamily="34" charset="-120"/>
              </a:rPr>
              <a:t>Risk management IS</a:t>
            </a:r>
            <a:endParaRPr lang="en-US" sz="1900" dirty="0"/>
          </a:p>
        </p:txBody>
      </p:sp>
      <p:sp>
        <p:nvSpPr>
          <p:cNvPr id="10" name="Text 7"/>
          <p:cNvSpPr txBox="1"/>
          <p:nvPr/>
        </p:nvSpPr>
        <p:spPr>
          <a:xfrm>
            <a:off x="777240" y="2148840"/>
            <a:ext cx="5029200" cy="2788920"/>
          </a:xfrm>
          <a:prstGeom prst="rect">
            <a:avLst/>
          </a:prstGeom>
          <a:noFill/>
          <a:ln/>
        </p:spPr>
        <p:txBody>
          <a:bodyPr wrap="square" lIns="0" tIns="0" rIns="0" bIns="0" rtlCol="0" anchor="t"/>
          <a:lstStyle/>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Optimising the risk-return trade-off, not minimising risk at any cost</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Forward-looking: preparing for what may happen</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Everyone's job, from the board to the branch</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Integrated into strategy, pricing and capital decisions</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Continuous: risks change, so the process repeats</a:t>
            </a:r>
            <a:endParaRPr lang="en-US" sz="1650" dirty="0"/>
          </a:p>
        </p:txBody>
      </p:sp>
      <p:sp>
        <p:nvSpPr>
          <p:cNvPr id="11" name="Shape 8"/>
          <p:cNvSpPr/>
          <p:nvPr/>
        </p:nvSpPr>
        <p:spPr>
          <a:xfrm>
            <a:off x="6144768" y="1280160"/>
            <a:ext cx="5541264" cy="3749040"/>
          </a:xfrm>
          <a:prstGeom prst="roundRect">
            <a:avLst>
              <a:gd name="adj" fmla="val 195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6373368" y="1444752"/>
            <a:ext cx="548640" cy="548640"/>
          </a:xfrm>
          <a:prstGeom prst="ellipse">
            <a:avLst/>
          </a:prstGeom>
          <a:solidFill>
            <a:srgbClr val="A63232"/>
          </a:solidFill>
          <a:ln w="12700">
            <a:solidFill>
              <a:srgbClr val="A63232"/>
            </a:solidFill>
            <a:prstDash val="solid"/>
          </a:ln>
        </p:spPr>
      </p:sp>
      <p:pic>
        <p:nvPicPr>
          <p:cNvPr id="13" name="Image 1" descr="preencoded.png"/>
          <p:cNvPicPr>
            <a:picLocks noChangeAspect="1"/>
          </p:cNvPicPr>
          <p:nvPr/>
        </p:nvPicPr>
        <p:blipFill>
          <a:blip r:embed="rId4"/>
          <a:stretch>
            <a:fillRect/>
          </a:stretch>
        </p:blipFill>
        <p:spPr>
          <a:xfrm>
            <a:off x="6505042" y="1576426"/>
            <a:ext cx="285293" cy="285293"/>
          </a:xfrm>
          <a:prstGeom prst="rect">
            <a:avLst/>
          </a:prstGeom>
        </p:spPr>
      </p:pic>
      <p:sp>
        <p:nvSpPr>
          <p:cNvPr id="14" name="Text 10"/>
          <p:cNvSpPr txBox="1"/>
          <p:nvPr/>
        </p:nvSpPr>
        <p:spPr>
          <a:xfrm>
            <a:off x="7104888" y="1463040"/>
            <a:ext cx="4389120" cy="502920"/>
          </a:xfrm>
          <a:prstGeom prst="rect">
            <a:avLst/>
          </a:prstGeom>
          <a:noFill/>
          <a:ln/>
        </p:spPr>
        <p:txBody>
          <a:bodyPr wrap="square" lIns="0" tIns="0" rIns="0" bIns="0" rtlCol="0" anchor="ctr"/>
          <a:lstStyle/>
          <a:p>
            <a:pPr marL="0" indent="0" algn="l">
              <a:buNone/>
            </a:pPr>
            <a:r>
              <a:rPr lang="en-US" sz="1900" b="1" dirty="0">
                <a:solidFill>
                  <a:srgbClr val="14213D"/>
                </a:solidFill>
                <a:latin typeface="Cambria" pitchFamily="34" charset="0"/>
                <a:ea typeface="Cambria" pitchFamily="34" charset="-122"/>
                <a:cs typeface="Cambria" pitchFamily="34" charset="-120"/>
              </a:rPr>
              <a:t>Risk management is NOT</a:t>
            </a:r>
            <a:endParaRPr lang="en-US" sz="1900" dirty="0"/>
          </a:p>
        </p:txBody>
      </p:sp>
      <p:sp>
        <p:nvSpPr>
          <p:cNvPr id="15" name="Text 11"/>
          <p:cNvSpPr txBox="1"/>
          <p:nvPr/>
        </p:nvSpPr>
        <p:spPr>
          <a:xfrm>
            <a:off x="6419088" y="2148840"/>
            <a:ext cx="5029200" cy="2788920"/>
          </a:xfrm>
          <a:prstGeom prst="rect">
            <a:avLst/>
          </a:prstGeom>
          <a:noFill/>
          <a:ln/>
        </p:spPr>
        <p:txBody>
          <a:bodyPr wrap="square" lIns="0" tIns="0" rIns="0" bIns="0" rtlCol="0" anchor="t"/>
          <a:lstStyle/>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Eliminating all risk (a bank that takes no credit risk earns no interest)</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Only buying insurance</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Only a compliance or box-ticking exercise</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The job of the risk department alone</a:t>
            </a:r>
            <a:endParaRPr lang="en-US" sz="1650" dirty="0"/>
          </a:p>
          <a:p>
            <a:pPr marL="177800" indent="-177800" algn="l">
              <a:spcAft>
                <a:spcPts val="1100"/>
              </a:spcAft>
              <a:buSzPct val="100000"/>
              <a:buChar char="•"/>
            </a:pPr>
            <a:r>
              <a:rPr lang="en-US" sz="1650" dirty="0">
                <a:solidFill>
                  <a:srgbClr val="1E2533"/>
                </a:solidFill>
                <a:latin typeface="Calibri" pitchFamily="34" charset="0"/>
                <a:ea typeface="Calibri" pitchFamily="34" charset="-122"/>
                <a:cs typeface="Calibri" pitchFamily="34" charset="-120"/>
              </a:rPr>
              <a:t>A one-time project that ends with a report</a:t>
            </a:r>
            <a:endParaRPr lang="en-US" sz="1650" dirty="0"/>
          </a:p>
        </p:txBody>
      </p:sp>
      <p:sp>
        <p:nvSpPr>
          <p:cNvPr id="16" name="Shape 12"/>
          <p:cNvSpPr/>
          <p:nvPr/>
        </p:nvSpPr>
        <p:spPr>
          <a:xfrm>
            <a:off x="502920" y="5257800"/>
            <a:ext cx="11183112" cy="960120"/>
          </a:xfrm>
          <a:prstGeom prst="roundRect">
            <a:avLst>
              <a:gd name="adj" fmla="val 7619"/>
            </a:avLst>
          </a:prstGeom>
          <a:solidFill>
            <a:srgbClr val="14213D"/>
          </a:solidFill>
          <a:ln w="15875">
            <a:solidFill>
              <a:srgbClr val="C9A227"/>
            </a:solidFill>
            <a:prstDash val="solid"/>
          </a:ln>
        </p:spPr>
      </p:sp>
      <p:sp>
        <p:nvSpPr>
          <p:cNvPr id="17" name="Text 13"/>
          <p:cNvSpPr txBox="1"/>
          <p:nvPr/>
        </p:nvSpPr>
        <p:spPr>
          <a:xfrm>
            <a:off x="685800" y="5330952"/>
            <a:ext cx="10817352" cy="813816"/>
          </a:xfrm>
          <a:prstGeom prst="rect">
            <a:avLst/>
          </a:prstGeom>
          <a:noFill/>
          <a:ln/>
        </p:spPr>
        <p:txBody>
          <a:bodyPr wrap="square" lIns="0" tIns="0" rIns="0" bIns="0" rtlCol="0" anchor="ctr"/>
          <a:lstStyle/>
          <a:p>
            <a:pPr marL="0" indent="0" algn="l">
              <a:buNone/>
            </a:pPr>
            <a:r>
              <a:rPr lang="en-US" sz="1450" i="1" dirty="0">
                <a:solidFill>
                  <a:srgbClr val="FFFFFF"/>
                </a:solidFill>
                <a:latin typeface="Calibri" pitchFamily="34" charset="0"/>
                <a:ea typeface="Calibri" pitchFamily="34" charset="-122"/>
                <a:cs typeface="Calibri" pitchFamily="34" charset="-120"/>
              </a:rPr>
              <a:t>Example: a mutual fund that keeps 100% of its money in overnight funds has almost no market risk, and almost no chance of meeting an equity investor's objective. Good risk management takes the right risks, in the right size, knowingly.</a:t>
            </a:r>
            <a:endParaRPr lang="en-US" sz="14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04</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Evolution of Risk Management</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731520" y="2487168"/>
            <a:ext cx="10698480" cy="0"/>
          </a:xfrm>
          <a:prstGeom prst="line">
            <a:avLst/>
          </a:prstGeom>
          <a:noFill/>
          <a:ln w="25400">
            <a:solidFill>
              <a:srgbClr val="8C6D0F"/>
            </a:solidFill>
            <a:prstDash val="solid"/>
          </a:ln>
        </p:spPr>
      </p:sp>
      <p:sp>
        <p:nvSpPr>
          <p:cNvPr id="7" name="Shape 5"/>
          <p:cNvSpPr/>
          <p:nvPr/>
        </p:nvSpPr>
        <p:spPr>
          <a:xfrm>
            <a:off x="1037273" y="2322576"/>
            <a:ext cx="329184" cy="329184"/>
          </a:xfrm>
          <a:prstGeom prst="ellipse">
            <a:avLst/>
          </a:prstGeom>
          <a:solidFill>
            <a:srgbClr val="14213D"/>
          </a:solidFill>
          <a:ln w="19050">
            <a:solidFill>
              <a:srgbClr val="FFFFFF"/>
            </a:solidFill>
            <a:prstDash val="solid"/>
          </a:ln>
        </p:spPr>
      </p:sp>
      <p:sp>
        <p:nvSpPr>
          <p:cNvPr id="8" name="Text 6"/>
          <p:cNvSpPr txBox="1"/>
          <p:nvPr/>
        </p:nvSpPr>
        <p:spPr>
          <a:xfrm>
            <a:off x="530352"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1950s–60s</a:t>
            </a:r>
            <a:endParaRPr lang="en-US" sz="1400" dirty="0"/>
          </a:p>
        </p:txBody>
      </p:sp>
      <p:sp>
        <p:nvSpPr>
          <p:cNvPr id="9" name="Shape 7"/>
          <p:cNvSpPr/>
          <p:nvPr/>
        </p:nvSpPr>
        <p:spPr>
          <a:xfrm>
            <a:off x="557784"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630936"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Insurance-centred: risk = insurable hazards</a:t>
            </a:r>
            <a:endParaRPr lang="en-US" sz="1250" dirty="0"/>
          </a:p>
        </p:txBody>
      </p:sp>
      <p:sp>
        <p:nvSpPr>
          <p:cNvPr id="11" name="Shape 9"/>
          <p:cNvSpPr/>
          <p:nvPr/>
        </p:nvSpPr>
        <p:spPr>
          <a:xfrm>
            <a:off x="2435162" y="2322576"/>
            <a:ext cx="329184" cy="329184"/>
          </a:xfrm>
          <a:prstGeom prst="ellipse">
            <a:avLst/>
          </a:prstGeom>
          <a:solidFill>
            <a:srgbClr val="C9A227"/>
          </a:solidFill>
          <a:ln w="19050">
            <a:solidFill>
              <a:srgbClr val="FFFFFF"/>
            </a:solidFill>
            <a:prstDash val="solid"/>
          </a:ln>
        </p:spPr>
      </p:sp>
      <p:sp>
        <p:nvSpPr>
          <p:cNvPr id="12" name="Text 10"/>
          <p:cNvSpPr txBox="1"/>
          <p:nvPr/>
        </p:nvSpPr>
        <p:spPr>
          <a:xfrm>
            <a:off x="1928241"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1973</a:t>
            </a:r>
            <a:endParaRPr lang="en-US" sz="1400" dirty="0"/>
          </a:p>
        </p:txBody>
      </p:sp>
      <p:sp>
        <p:nvSpPr>
          <p:cNvPr id="13" name="Shape 11"/>
          <p:cNvSpPr/>
          <p:nvPr/>
        </p:nvSpPr>
        <p:spPr>
          <a:xfrm>
            <a:off x="1955673"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4" name="Text 12"/>
          <p:cNvSpPr txBox="1"/>
          <p:nvPr/>
        </p:nvSpPr>
        <p:spPr>
          <a:xfrm>
            <a:off x="2028825"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Bretton Woods ends; Black–Scholes model; derivatives era begins</a:t>
            </a:r>
            <a:endParaRPr lang="en-US" sz="1250" dirty="0"/>
          </a:p>
        </p:txBody>
      </p:sp>
      <p:sp>
        <p:nvSpPr>
          <p:cNvPr id="15" name="Shape 13"/>
          <p:cNvSpPr/>
          <p:nvPr/>
        </p:nvSpPr>
        <p:spPr>
          <a:xfrm>
            <a:off x="3833051" y="2322576"/>
            <a:ext cx="329184" cy="329184"/>
          </a:xfrm>
          <a:prstGeom prst="ellipse">
            <a:avLst/>
          </a:prstGeom>
          <a:solidFill>
            <a:srgbClr val="14213D"/>
          </a:solidFill>
          <a:ln w="19050">
            <a:solidFill>
              <a:srgbClr val="FFFFFF"/>
            </a:solidFill>
            <a:prstDash val="solid"/>
          </a:ln>
        </p:spPr>
      </p:sp>
      <p:sp>
        <p:nvSpPr>
          <p:cNvPr id="16" name="Text 14"/>
          <p:cNvSpPr txBox="1"/>
          <p:nvPr/>
        </p:nvSpPr>
        <p:spPr>
          <a:xfrm>
            <a:off x="3326130"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1988</a:t>
            </a:r>
            <a:endParaRPr lang="en-US" sz="1400" dirty="0"/>
          </a:p>
        </p:txBody>
      </p:sp>
      <p:sp>
        <p:nvSpPr>
          <p:cNvPr id="17" name="Shape 15"/>
          <p:cNvSpPr/>
          <p:nvPr/>
        </p:nvSpPr>
        <p:spPr>
          <a:xfrm>
            <a:off x="3353562"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8" name="Text 16"/>
          <p:cNvSpPr txBox="1"/>
          <p:nvPr/>
        </p:nvSpPr>
        <p:spPr>
          <a:xfrm>
            <a:off x="3426714"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Basel I: capital for credit risk</a:t>
            </a:r>
            <a:endParaRPr lang="en-US" sz="1250" dirty="0"/>
          </a:p>
        </p:txBody>
      </p:sp>
      <p:sp>
        <p:nvSpPr>
          <p:cNvPr id="19" name="Shape 17"/>
          <p:cNvSpPr/>
          <p:nvPr/>
        </p:nvSpPr>
        <p:spPr>
          <a:xfrm>
            <a:off x="5230940" y="2322576"/>
            <a:ext cx="329184" cy="329184"/>
          </a:xfrm>
          <a:prstGeom prst="ellipse">
            <a:avLst/>
          </a:prstGeom>
          <a:solidFill>
            <a:srgbClr val="C9A227"/>
          </a:solidFill>
          <a:ln w="19050">
            <a:solidFill>
              <a:srgbClr val="FFFFFF"/>
            </a:solidFill>
            <a:prstDash val="solid"/>
          </a:ln>
        </p:spPr>
      </p:sp>
      <p:sp>
        <p:nvSpPr>
          <p:cNvPr id="20" name="Text 18"/>
          <p:cNvSpPr txBox="1"/>
          <p:nvPr/>
        </p:nvSpPr>
        <p:spPr>
          <a:xfrm>
            <a:off x="4724019"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1994–96</a:t>
            </a:r>
            <a:endParaRPr lang="en-US" sz="1400" dirty="0"/>
          </a:p>
        </p:txBody>
      </p:sp>
      <p:sp>
        <p:nvSpPr>
          <p:cNvPr id="21" name="Shape 19"/>
          <p:cNvSpPr/>
          <p:nvPr/>
        </p:nvSpPr>
        <p:spPr>
          <a:xfrm>
            <a:off x="4751451"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Text 20"/>
          <p:cNvSpPr txBox="1"/>
          <p:nvPr/>
        </p:nvSpPr>
        <p:spPr>
          <a:xfrm>
            <a:off x="4824603"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RiskMetrics (VaR) published; Basel market risk amendment</a:t>
            </a:r>
            <a:endParaRPr lang="en-US" sz="1250" dirty="0"/>
          </a:p>
        </p:txBody>
      </p:sp>
      <p:sp>
        <p:nvSpPr>
          <p:cNvPr id="23" name="Shape 21"/>
          <p:cNvSpPr/>
          <p:nvPr/>
        </p:nvSpPr>
        <p:spPr>
          <a:xfrm>
            <a:off x="6628829" y="2322576"/>
            <a:ext cx="329184" cy="329184"/>
          </a:xfrm>
          <a:prstGeom prst="ellipse">
            <a:avLst/>
          </a:prstGeom>
          <a:solidFill>
            <a:srgbClr val="14213D"/>
          </a:solidFill>
          <a:ln w="19050">
            <a:solidFill>
              <a:srgbClr val="FFFFFF"/>
            </a:solidFill>
            <a:prstDash val="solid"/>
          </a:ln>
        </p:spPr>
      </p:sp>
      <p:sp>
        <p:nvSpPr>
          <p:cNvPr id="24" name="Text 22"/>
          <p:cNvSpPr txBox="1"/>
          <p:nvPr/>
        </p:nvSpPr>
        <p:spPr>
          <a:xfrm>
            <a:off x="6121908"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2004</a:t>
            </a:r>
            <a:endParaRPr lang="en-US" sz="1400" dirty="0"/>
          </a:p>
        </p:txBody>
      </p:sp>
      <p:sp>
        <p:nvSpPr>
          <p:cNvPr id="25" name="Shape 23"/>
          <p:cNvSpPr/>
          <p:nvPr/>
        </p:nvSpPr>
        <p:spPr>
          <a:xfrm>
            <a:off x="6149340"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6" name="Text 24"/>
          <p:cNvSpPr txBox="1"/>
          <p:nvPr/>
        </p:nvSpPr>
        <p:spPr>
          <a:xfrm>
            <a:off x="6222492"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COSO ERM framework; Basel II three pillars</a:t>
            </a:r>
            <a:endParaRPr lang="en-US" sz="1250" dirty="0"/>
          </a:p>
        </p:txBody>
      </p:sp>
      <p:sp>
        <p:nvSpPr>
          <p:cNvPr id="27" name="Shape 25"/>
          <p:cNvSpPr/>
          <p:nvPr/>
        </p:nvSpPr>
        <p:spPr>
          <a:xfrm>
            <a:off x="8026718" y="2322576"/>
            <a:ext cx="329184" cy="329184"/>
          </a:xfrm>
          <a:prstGeom prst="ellipse">
            <a:avLst/>
          </a:prstGeom>
          <a:solidFill>
            <a:srgbClr val="C9A227"/>
          </a:solidFill>
          <a:ln w="19050">
            <a:solidFill>
              <a:srgbClr val="FFFFFF"/>
            </a:solidFill>
            <a:prstDash val="solid"/>
          </a:ln>
        </p:spPr>
      </p:sp>
      <p:sp>
        <p:nvSpPr>
          <p:cNvPr id="28" name="Text 26"/>
          <p:cNvSpPr txBox="1"/>
          <p:nvPr/>
        </p:nvSpPr>
        <p:spPr>
          <a:xfrm>
            <a:off x="7519797"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2008–10</a:t>
            </a:r>
            <a:endParaRPr lang="en-US" sz="1400" dirty="0"/>
          </a:p>
        </p:txBody>
      </p:sp>
      <p:sp>
        <p:nvSpPr>
          <p:cNvPr id="29" name="Shape 27"/>
          <p:cNvSpPr/>
          <p:nvPr/>
        </p:nvSpPr>
        <p:spPr>
          <a:xfrm>
            <a:off x="7547229"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0" name="Text 28"/>
          <p:cNvSpPr txBox="1"/>
          <p:nvPr/>
        </p:nvSpPr>
        <p:spPr>
          <a:xfrm>
            <a:off x="7620381"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Global financial crisis; Basel III (liquidity, leverage)</a:t>
            </a:r>
            <a:endParaRPr lang="en-US" sz="1250" dirty="0"/>
          </a:p>
        </p:txBody>
      </p:sp>
      <p:sp>
        <p:nvSpPr>
          <p:cNvPr id="31" name="Shape 29"/>
          <p:cNvSpPr/>
          <p:nvPr/>
        </p:nvSpPr>
        <p:spPr>
          <a:xfrm>
            <a:off x="9424607" y="2322576"/>
            <a:ext cx="329184" cy="329184"/>
          </a:xfrm>
          <a:prstGeom prst="ellipse">
            <a:avLst/>
          </a:prstGeom>
          <a:solidFill>
            <a:srgbClr val="14213D"/>
          </a:solidFill>
          <a:ln w="19050">
            <a:solidFill>
              <a:srgbClr val="FFFFFF"/>
            </a:solidFill>
            <a:prstDash val="solid"/>
          </a:ln>
        </p:spPr>
      </p:sp>
      <p:sp>
        <p:nvSpPr>
          <p:cNvPr id="32" name="Text 30"/>
          <p:cNvSpPr txBox="1"/>
          <p:nvPr/>
        </p:nvSpPr>
        <p:spPr>
          <a:xfrm>
            <a:off x="8917686"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2009 / 2018</a:t>
            </a:r>
            <a:endParaRPr lang="en-US" sz="1400" dirty="0"/>
          </a:p>
        </p:txBody>
      </p:sp>
      <p:sp>
        <p:nvSpPr>
          <p:cNvPr id="33" name="Shape 31"/>
          <p:cNvSpPr/>
          <p:nvPr/>
        </p:nvSpPr>
        <p:spPr>
          <a:xfrm>
            <a:off x="8945118"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4" name="Text 32"/>
          <p:cNvSpPr txBox="1"/>
          <p:nvPr/>
        </p:nvSpPr>
        <p:spPr>
          <a:xfrm>
            <a:off x="9018270"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ISO 31000 issued and revised</a:t>
            </a:r>
            <a:endParaRPr lang="en-US" sz="1250" dirty="0"/>
          </a:p>
        </p:txBody>
      </p:sp>
      <p:sp>
        <p:nvSpPr>
          <p:cNvPr id="35" name="Shape 33"/>
          <p:cNvSpPr/>
          <p:nvPr/>
        </p:nvSpPr>
        <p:spPr>
          <a:xfrm>
            <a:off x="10822496" y="2322576"/>
            <a:ext cx="329184" cy="329184"/>
          </a:xfrm>
          <a:prstGeom prst="ellipse">
            <a:avLst/>
          </a:prstGeom>
          <a:solidFill>
            <a:srgbClr val="C9A227"/>
          </a:solidFill>
          <a:ln w="19050">
            <a:solidFill>
              <a:srgbClr val="FFFFFF"/>
            </a:solidFill>
            <a:prstDash val="solid"/>
          </a:ln>
        </p:spPr>
      </p:sp>
      <p:sp>
        <p:nvSpPr>
          <p:cNvPr id="36" name="Text 34"/>
          <p:cNvSpPr txBox="1"/>
          <p:nvPr/>
        </p:nvSpPr>
        <p:spPr>
          <a:xfrm>
            <a:off x="10315575" y="1600200"/>
            <a:ext cx="1343025" cy="548640"/>
          </a:xfrm>
          <a:prstGeom prst="rect">
            <a:avLst/>
          </a:prstGeom>
          <a:noFill/>
          <a:ln/>
        </p:spPr>
        <p:txBody>
          <a:bodyPr wrap="square" lIns="0" tIns="0" rIns="0" bIns="0" rtlCol="0" anchor="b"/>
          <a:lstStyle/>
          <a:p>
            <a:pPr marL="0" indent="0" algn="ctr">
              <a:buNone/>
            </a:pPr>
            <a:r>
              <a:rPr lang="en-US" sz="1400" b="1" dirty="0">
                <a:solidFill>
                  <a:srgbClr val="14213D"/>
                </a:solidFill>
                <a:latin typeface="Cambria" pitchFamily="34" charset="0"/>
                <a:ea typeface="Cambria" pitchFamily="34" charset="-122"/>
                <a:cs typeface="Cambria" pitchFamily="34" charset="-120"/>
              </a:rPr>
              <a:t>2017–19</a:t>
            </a:r>
            <a:endParaRPr lang="en-US" sz="1400" dirty="0"/>
          </a:p>
        </p:txBody>
      </p:sp>
      <p:sp>
        <p:nvSpPr>
          <p:cNvPr id="37" name="Shape 35"/>
          <p:cNvSpPr/>
          <p:nvPr/>
        </p:nvSpPr>
        <p:spPr>
          <a:xfrm>
            <a:off x="10343007" y="2880360"/>
            <a:ext cx="1288161" cy="1600200"/>
          </a:xfrm>
          <a:prstGeom prst="roundRect">
            <a:avLst>
              <a:gd name="adj" fmla="val 567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8" name="Text 36"/>
          <p:cNvSpPr txBox="1"/>
          <p:nvPr/>
        </p:nvSpPr>
        <p:spPr>
          <a:xfrm>
            <a:off x="10416159" y="2944368"/>
            <a:ext cx="1141857" cy="1481328"/>
          </a:xfrm>
          <a:prstGeom prst="rect">
            <a:avLst/>
          </a:prstGeom>
          <a:noFill/>
          <a:ln/>
        </p:spPr>
        <p:txBody>
          <a:bodyPr wrap="square" lIns="0" tIns="0" rIns="0" bIns="0" rtlCol="0" anchor="ctr"/>
          <a:lstStyle/>
          <a:p>
            <a:pPr marL="0" indent="0" algn="ctr">
              <a:buNone/>
            </a:pPr>
            <a:r>
              <a:rPr lang="en-US" sz="1250" dirty="0">
                <a:solidFill>
                  <a:srgbClr val="1E2533"/>
                </a:solidFill>
                <a:latin typeface="Calibri" pitchFamily="34" charset="0"/>
                <a:ea typeface="Calibri" pitchFamily="34" charset="-122"/>
                <a:cs typeface="Calibri" pitchFamily="34" charset="-120"/>
              </a:rPr>
              <a:t>COSO ERM update; FRTB finalised (ES replaces VaR)</a:t>
            </a:r>
            <a:endParaRPr lang="en-US" sz="1250" dirty="0"/>
          </a:p>
        </p:txBody>
      </p:sp>
      <p:sp>
        <p:nvSpPr>
          <p:cNvPr id="39" name="Shape 37"/>
          <p:cNvSpPr/>
          <p:nvPr/>
        </p:nvSpPr>
        <p:spPr>
          <a:xfrm>
            <a:off x="502920" y="4754880"/>
            <a:ext cx="11183112"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40" name="Shape 38"/>
          <p:cNvSpPr/>
          <p:nvPr/>
        </p:nvSpPr>
        <p:spPr>
          <a:xfrm>
            <a:off x="731520" y="4956048"/>
            <a:ext cx="548640" cy="548640"/>
          </a:xfrm>
          <a:prstGeom prst="ellipse">
            <a:avLst/>
          </a:prstGeom>
          <a:solidFill>
            <a:srgbClr val="14213D"/>
          </a:solidFill>
          <a:ln w="12700">
            <a:solidFill>
              <a:srgbClr val="14213D"/>
            </a:solidFill>
            <a:prstDash val="solid"/>
          </a:ln>
        </p:spPr>
      </p:sp>
      <p:pic>
        <p:nvPicPr>
          <p:cNvPr id="41" name="Image 0" descr="preencoded.png"/>
          <p:cNvPicPr>
            <a:picLocks noChangeAspect="1"/>
          </p:cNvPicPr>
          <p:nvPr/>
        </p:nvPicPr>
        <p:blipFill>
          <a:blip r:embed="rId3"/>
          <a:stretch>
            <a:fillRect/>
          </a:stretch>
        </p:blipFill>
        <p:spPr>
          <a:xfrm>
            <a:off x="863194" y="5087722"/>
            <a:ext cx="285293" cy="285293"/>
          </a:xfrm>
          <a:prstGeom prst="rect">
            <a:avLst/>
          </a:prstGeom>
        </p:spPr>
      </p:pic>
      <p:sp>
        <p:nvSpPr>
          <p:cNvPr id="42" name="Text 39"/>
          <p:cNvSpPr txBox="1"/>
          <p:nvPr/>
        </p:nvSpPr>
        <p:spPr>
          <a:xfrm>
            <a:off x="1463040" y="4846320"/>
            <a:ext cx="10058400" cy="1325880"/>
          </a:xfrm>
          <a:prstGeom prst="rect">
            <a:avLst/>
          </a:prstGeom>
          <a:noFill/>
          <a:ln/>
        </p:spPr>
        <p:txBody>
          <a:bodyPr wrap="square" lIns="0" tIns="0" rIns="0" bIns="0" rtlCol="0" anchor="ctr"/>
          <a:lstStyle/>
          <a:p>
            <a:pPr marL="0" indent="0" algn="l">
              <a:buNone/>
            </a:pPr>
            <a:r>
              <a:rPr lang="en-US" sz="1500" b="1" dirty="0">
                <a:solidFill>
                  <a:srgbClr val="8C6D0F"/>
                </a:solidFill>
                <a:latin typeface="Calibri" pitchFamily="34" charset="0"/>
                <a:ea typeface="Calibri" pitchFamily="34" charset="-122"/>
                <a:cs typeface="Calibri" pitchFamily="34" charset="-120"/>
              </a:rPr>
              <a:t>Indian milestones</a:t>
            </a:r>
            <a:endParaRPr lang="en-US" sz="1500" dirty="0"/>
          </a:p>
          <a:p>
            <a:pPr marL="0" indent="0" algn="l">
              <a:buNone/>
            </a:pPr>
            <a:r>
              <a:rPr lang="en-US" sz="1400" dirty="0">
                <a:solidFill>
                  <a:srgbClr val="1E2533"/>
                </a:solidFill>
                <a:latin typeface="Calibri" pitchFamily="34" charset="0"/>
                <a:ea typeface="Calibri" pitchFamily="34" charset="-122"/>
                <a:cs typeface="Calibri" pitchFamily="34" charset="-120"/>
              </a:rPr>
              <a:t>SEBI given statutory powers (1992) · IRDA Act (1999) · RBI ALM guidelines for banks (1999) · Companies Act 2013 (risk policy disclosure) · SEBI LODR 2015 (Risk Management Committee) · RBI Basel III implementation (from 2013) · SEBI BRSR (mandatory for top 1,000 listed firms from FY 2022–23).</a:t>
            </a:r>
            <a:endParaRPr lang="en-US" sz="1500" dirty="0"/>
          </a:p>
        </p:txBody>
      </p:sp>
      <p:sp>
        <p:nvSpPr>
          <p:cNvPr id="43"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05</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5</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Why Risk Management?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Five reasons boards invest in risk management</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Reduces earnings volatility</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Adds value to shareholders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Fewer surprises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Better decision making</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Maximises capital utilisation and profit</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Five Reasons Why Risk Management Matters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325880"/>
            <a:ext cx="2039112" cy="4846320"/>
          </a:xfrm>
          <a:prstGeom prst="roundRect">
            <a:avLst>
              <a:gd name="adj" fmla="val 35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1110996" y="1554480"/>
            <a:ext cx="822960" cy="82296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1308506" y="1751990"/>
            <a:ext cx="427939" cy="427939"/>
          </a:xfrm>
          <a:prstGeom prst="rect">
            <a:avLst/>
          </a:prstGeom>
        </p:spPr>
      </p:pic>
      <p:sp>
        <p:nvSpPr>
          <p:cNvPr id="9" name="Text 6"/>
          <p:cNvSpPr txBox="1"/>
          <p:nvPr/>
        </p:nvSpPr>
        <p:spPr>
          <a:xfrm>
            <a:off x="640080" y="2560320"/>
            <a:ext cx="1764792" cy="91440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i. Reduces earnings volatility</a:t>
            </a:r>
            <a:endParaRPr lang="en-US" sz="1600" dirty="0"/>
          </a:p>
        </p:txBody>
      </p:sp>
      <p:sp>
        <p:nvSpPr>
          <p:cNvPr id="10" name="Text 7"/>
          <p:cNvSpPr txBox="1"/>
          <p:nvPr/>
        </p:nvSpPr>
        <p:spPr>
          <a:xfrm>
            <a:off x="667512" y="3566160"/>
            <a:ext cx="1709928" cy="1325880"/>
          </a:xfrm>
          <a:prstGeom prst="rect">
            <a:avLst/>
          </a:prstGeom>
          <a:noFill/>
          <a:ln/>
        </p:spPr>
        <p:txBody>
          <a:bodyPr wrap="square" lIns="0" tIns="0" rIns="0" bIns="0" rtlCol="0" anchor="t"/>
          <a:lstStyle/>
          <a:p>
            <a:pPr marL="0" indent="0" algn="ctr">
              <a:buNone/>
            </a:pPr>
            <a:r>
              <a:rPr lang="en-US" sz="1450" dirty="0">
                <a:solidFill>
                  <a:srgbClr val="1E2533"/>
                </a:solidFill>
                <a:latin typeface="Calibri" pitchFamily="34" charset="0"/>
                <a:ea typeface="Calibri" pitchFamily="34" charset="-122"/>
                <a:cs typeface="Calibri" pitchFamily="34" charset="-120"/>
              </a:rPr>
              <a:t>Hedging and limits smooth profits across rate, price and currency cycles.</a:t>
            </a:r>
            <a:endParaRPr lang="en-US" sz="1450" dirty="0"/>
          </a:p>
        </p:txBody>
      </p:sp>
      <p:sp>
        <p:nvSpPr>
          <p:cNvPr id="11" name="Text 8"/>
          <p:cNvSpPr txBox="1"/>
          <p:nvPr/>
        </p:nvSpPr>
        <p:spPr>
          <a:xfrm>
            <a:off x="667512" y="4937760"/>
            <a:ext cx="1709928" cy="1097280"/>
          </a:xfrm>
          <a:prstGeom prst="rect">
            <a:avLst/>
          </a:prstGeom>
          <a:noFill/>
          <a:ln/>
        </p:spPr>
        <p:txBody>
          <a:bodyPr wrap="square" lIns="0" tIns="0" rIns="0" bIns="0" rtlCol="0" anchor="t"/>
          <a:lstStyle/>
          <a:p>
            <a:pPr marL="0" indent="0" algn="ctr">
              <a:buNone/>
            </a:pPr>
            <a:r>
              <a:rPr lang="en-US" sz="1250" i="1" dirty="0">
                <a:solidFill>
                  <a:srgbClr val="8C6D0F"/>
                </a:solidFill>
                <a:latin typeface="Calibri" pitchFamily="34" charset="0"/>
                <a:ea typeface="Calibri" pitchFamily="34" charset="-122"/>
                <a:cs typeface="Calibri" pitchFamily="34" charset="-120"/>
              </a:rPr>
              <a:t>e.g. an IT exporter selling dollars forward</a:t>
            </a:r>
            <a:endParaRPr lang="en-US" sz="1250" dirty="0"/>
          </a:p>
        </p:txBody>
      </p:sp>
      <p:sp>
        <p:nvSpPr>
          <p:cNvPr id="12" name="Shape 9"/>
          <p:cNvSpPr/>
          <p:nvPr/>
        </p:nvSpPr>
        <p:spPr>
          <a:xfrm>
            <a:off x="2788920" y="1325880"/>
            <a:ext cx="2039112" cy="4846320"/>
          </a:xfrm>
          <a:prstGeom prst="roundRect">
            <a:avLst>
              <a:gd name="adj" fmla="val 35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0"/>
          <p:cNvSpPr/>
          <p:nvPr/>
        </p:nvSpPr>
        <p:spPr>
          <a:xfrm>
            <a:off x="3396996" y="1554480"/>
            <a:ext cx="822960" cy="822960"/>
          </a:xfrm>
          <a:prstGeom prst="ellipse">
            <a:avLst/>
          </a:prstGeom>
          <a:solidFill>
            <a:srgbClr val="14213D"/>
          </a:solidFill>
          <a:ln w="12700">
            <a:solidFill>
              <a:srgbClr val="14213D"/>
            </a:solidFill>
            <a:prstDash val="solid"/>
          </a:ln>
        </p:spPr>
      </p:sp>
      <p:pic>
        <p:nvPicPr>
          <p:cNvPr id="14" name="Image 1" descr="preencoded.png"/>
          <p:cNvPicPr>
            <a:picLocks noChangeAspect="1"/>
          </p:cNvPicPr>
          <p:nvPr/>
        </p:nvPicPr>
        <p:blipFill>
          <a:blip r:embed="rId4"/>
          <a:stretch>
            <a:fillRect/>
          </a:stretch>
        </p:blipFill>
        <p:spPr>
          <a:xfrm>
            <a:off x="3594506" y="1751990"/>
            <a:ext cx="427939" cy="427939"/>
          </a:xfrm>
          <a:prstGeom prst="rect">
            <a:avLst/>
          </a:prstGeom>
        </p:spPr>
      </p:pic>
      <p:sp>
        <p:nvSpPr>
          <p:cNvPr id="15" name="Text 11"/>
          <p:cNvSpPr txBox="1"/>
          <p:nvPr/>
        </p:nvSpPr>
        <p:spPr>
          <a:xfrm>
            <a:off x="2926080" y="2560320"/>
            <a:ext cx="1764792" cy="91440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ii. Adds value to shareholders</a:t>
            </a:r>
            <a:endParaRPr lang="en-US" sz="1600" dirty="0"/>
          </a:p>
        </p:txBody>
      </p:sp>
      <p:sp>
        <p:nvSpPr>
          <p:cNvPr id="16" name="Text 12"/>
          <p:cNvSpPr txBox="1"/>
          <p:nvPr/>
        </p:nvSpPr>
        <p:spPr>
          <a:xfrm>
            <a:off x="2953512" y="3566160"/>
            <a:ext cx="1709928" cy="1325880"/>
          </a:xfrm>
          <a:prstGeom prst="rect">
            <a:avLst/>
          </a:prstGeom>
          <a:noFill/>
          <a:ln/>
        </p:spPr>
        <p:txBody>
          <a:bodyPr wrap="square" lIns="0" tIns="0" rIns="0" bIns="0" rtlCol="0" anchor="t"/>
          <a:lstStyle/>
          <a:p>
            <a:pPr marL="0" indent="0" algn="ctr">
              <a:buNone/>
            </a:pPr>
            <a:r>
              <a:rPr lang="en-US" sz="1450" dirty="0">
                <a:solidFill>
                  <a:srgbClr val="1E2533"/>
                </a:solidFill>
                <a:latin typeface="Calibri" pitchFamily="34" charset="0"/>
                <a:ea typeface="Calibri" pitchFamily="34" charset="-122"/>
                <a:cs typeface="Calibri" pitchFamily="34" charset="-120"/>
              </a:rPr>
              <a:t>Lower distress costs, taxes and cost of capital raise firm value.</a:t>
            </a:r>
            <a:endParaRPr lang="en-US" sz="1450" dirty="0"/>
          </a:p>
        </p:txBody>
      </p:sp>
      <p:sp>
        <p:nvSpPr>
          <p:cNvPr id="17" name="Text 13"/>
          <p:cNvSpPr txBox="1"/>
          <p:nvPr/>
        </p:nvSpPr>
        <p:spPr>
          <a:xfrm>
            <a:off x="2953512" y="4937760"/>
            <a:ext cx="1709928" cy="1097280"/>
          </a:xfrm>
          <a:prstGeom prst="rect">
            <a:avLst/>
          </a:prstGeom>
          <a:noFill/>
          <a:ln/>
        </p:spPr>
        <p:txBody>
          <a:bodyPr wrap="square" lIns="0" tIns="0" rIns="0" bIns="0" rtlCol="0" anchor="t"/>
          <a:lstStyle/>
          <a:p>
            <a:pPr marL="0" indent="0" algn="ctr">
              <a:buNone/>
            </a:pPr>
            <a:r>
              <a:rPr lang="en-US" sz="1250" i="1" dirty="0">
                <a:solidFill>
                  <a:srgbClr val="8C6D0F"/>
                </a:solidFill>
                <a:latin typeface="Calibri" pitchFamily="34" charset="0"/>
                <a:ea typeface="Calibri" pitchFamily="34" charset="-122"/>
                <a:cs typeface="Calibri" pitchFamily="34" charset="-120"/>
              </a:rPr>
              <a:t>e.g. lower default risk lifts the credit rating</a:t>
            </a:r>
            <a:endParaRPr lang="en-US" sz="1250" dirty="0"/>
          </a:p>
        </p:txBody>
      </p:sp>
      <p:sp>
        <p:nvSpPr>
          <p:cNvPr id="18" name="Shape 14"/>
          <p:cNvSpPr/>
          <p:nvPr/>
        </p:nvSpPr>
        <p:spPr>
          <a:xfrm>
            <a:off x="5074920" y="1325880"/>
            <a:ext cx="2039112" cy="4846320"/>
          </a:xfrm>
          <a:prstGeom prst="roundRect">
            <a:avLst>
              <a:gd name="adj" fmla="val 35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Shape 15"/>
          <p:cNvSpPr/>
          <p:nvPr/>
        </p:nvSpPr>
        <p:spPr>
          <a:xfrm>
            <a:off x="5682996" y="1554480"/>
            <a:ext cx="822960" cy="822960"/>
          </a:xfrm>
          <a:prstGeom prst="ellipse">
            <a:avLst/>
          </a:prstGeom>
          <a:solidFill>
            <a:srgbClr val="14213D"/>
          </a:solidFill>
          <a:ln w="12700">
            <a:solidFill>
              <a:srgbClr val="14213D"/>
            </a:solidFill>
            <a:prstDash val="solid"/>
          </a:ln>
        </p:spPr>
      </p:sp>
      <p:pic>
        <p:nvPicPr>
          <p:cNvPr id="20" name="Image 2" descr="preencoded.png"/>
          <p:cNvPicPr>
            <a:picLocks noChangeAspect="1"/>
          </p:cNvPicPr>
          <p:nvPr/>
        </p:nvPicPr>
        <p:blipFill>
          <a:blip r:embed="rId5"/>
          <a:stretch>
            <a:fillRect/>
          </a:stretch>
        </p:blipFill>
        <p:spPr>
          <a:xfrm>
            <a:off x="5880506" y="1751990"/>
            <a:ext cx="427939" cy="427939"/>
          </a:xfrm>
          <a:prstGeom prst="rect">
            <a:avLst/>
          </a:prstGeom>
        </p:spPr>
      </p:pic>
      <p:sp>
        <p:nvSpPr>
          <p:cNvPr id="21" name="Text 16"/>
          <p:cNvSpPr txBox="1"/>
          <p:nvPr/>
        </p:nvSpPr>
        <p:spPr>
          <a:xfrm>
            <a:off x="5212080" y="2560320"/>
            <a:ext cx="1764792" cy="91440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iii. Fewer surprises</a:t>
            </a:r>
            <a:endParaRPr lang="en-US" sz="1600" dirty="0"/>
          </a:p>
        </p:txBody>
      </p:sp>
      <p:sp>
        <p:nvSpPr>
          <p:cNvPr id="22" name="Text 17"/>
          <p:cNvSpPr txBox="1"/>
          <p:nvPr/>
        </p:nvSpPr>
        <p:spPr>
          <a:xfrm>
            <a:off x="5239512" y="3566160"/>
            <a:ext cx="1709928" cy="1325880"/>
          </a:xfrm>
          <a:prstGeom prst="rect">
            <a:avLst/>
          </a:prstGeom>
          <a:noFill/>
          <a:ln/>
        </p:spPr>
        <p:txBody>
          <a:bodyPr wrap="square" lIns="0" tIns="0" rIns="0" bIns="0" rtlCol="0" anchor="t"/>
          <a:lstStyle/>
          <a:p>
            <a:pPr marL="0" indent="0" algn="ctr">
              <a:buNone/>
            </a:pPr>
            <a:r>
              <a:rPr lang="en-US" sz="1450" dirty="0">
                <a:solidFill>
                  <a:srgbClr val="1E2533"/>
                </a:solidFill>
                <a:latin typeface="Calibri" pitchFamily="34" charset="0"/>
                <a:ea typeface="Calibri" pitchFamily="34" charset="-122"/>
                <a:cs typeface="Calibri" pitchFamily="34" charset="-120"/>
              </a:rPr>
              <a:t>Early warning indicators and stress tests reveal problems before they become crises.</a:t>
            </a:r>
            <a:endParaRPr lang="en-US" sz="1450" dirty="0"/>
          </a:p>
        </p:txBody>
      </p:sp>
      <p:sp>
        <p:nvSpPr>
          <p:cNvPr id="23" name="Text 18"/>
          <p:cNvSpPr txBox="1"/>
          <p:nvPr/>
        </p:nvSpPr>
        <p:spPr>
          <a:xfrm>
            <a:off x="5239512" y="4937760"/>
            <a:ext cx="1709928" cy="1097280"/>
          </a:xfrm>
          <a:prstGeom prst="rect">
            <a:avLst/>
          </a:prstGeom>
          <a:noFill/>
          <a:ln/>
        </p:spPr>
        <p:txBody>
          <a:bodyPr wrap="square" lIns="0" tIns="0" rIns="0" bIns="0" rtlCol="0" anchor="t"/>
          <a:lstStyle/>
          <a:p>
            <a:pPr marL="0" indent="0" algn="ctr">
              <a:buNone/>
            </a:pPr>
            <a:r>
              <a:rPr lang="en-US" sz="1250" i="1" dirty="0">
                <a:solidFill>
                  <a:srgbClr val="8C6D0F"/>
                </a:solidFill>
                <a:latin typeface="Calibri" pitchFamily="34" charset="0"/>
                <a:ea typeface="Calibri" pitchFamily="34" charset="-122"/>
                <a:cs typeface="Calibri" pitchFamily="34" charset="-120"/>
              </a:rPr>
              <a:t>e.g. SMA-1 alerts before a loan turns NPA</a:t>
            </a:r>
            <a:endParaRPr lang="en-US" sz="1250" dirty="0"/>
          </a:p>
        </p:txBody>
      </p:sp>
      <p:sp>
        <p:nvSpPr>
          <p:cNvPr id="24" name="Shape 19"/>
          <p:cNvSpPr/>
          <p:nvPr/>
        </p:nvSpPr>
        <p:spPr>
          <a:xfrm>
            <a:off x="7360920" y="1325880"/>
            <a:ext cx="2039112" cy="4846320"/>
          </a:xfrm>
          <a:prstGeom prst="roundRect">
            <a:avLst>
              <a:gd name="adj" fmla="val 35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5" name="Shape 20"/>
          <p:cNvSpPr/>
          <p:nvPr/>
        </p:nvSpPr>
        <p:spPr>
          <a:xfrm>
            <a:off x="7968996" y="1554480"/>
            <a:ext cx="822960" cy="822960"/>
          </a:xfrm>
          <a:prstGeom prst="ellipse">
            <a:avLst/>
          </a:prstGeom>
          <a:solidFill>
            <a:srgbClr val="14213D"/>
          </a:solidFill>
          <a:ln w="12700">
            <a:solidFill>
              <a:srgbClr val="14213D"/>
            </a:solidFill>
            <a:prstDash val="solid"/>
          </a:ln>
        </p:spPr>
      </p:sp>
      <p:pic>
        <p:nvPicPr>
          <p:cNvPr id="26" name="Image 3" descr="preencoded.png"/>
          <p:cNvPicPr>
            <a:picLocks noChangeAspect="1"/>
          </p:cNvPicPr>
          <p:nvPr/>
        </p:nvPicPr>
        <p:blipFill>
          <a:blip r:embed="rId6"/>
          <a:stretch>
            <a:fillRect/>
          </a:stretch>
        </p:blipFill>
        <p:spPr>
          <a:xfrm>
            <a:off x="8166506" y="1751990"/>
            <a:ext cx="427939" cy="427939"/>
          </a:xfrm>
          <a:prstGeom prst="rect">
            <a:avLst/>
          </a:prstGeom>
        </p:spPr>
      </p:pic>
      <p:sp>
        <p:nvSpPr>
          <p:cNvPr id="27" name="Text 21"/>
          <p:cNvSpPr txBox="1"/>
          <p:nvPr/>
        </p:nvSpPr>
        <p:spPr>
          <a:xfrm>
            <a:off x="7498080" y="2560320"/>
            <a:ext cx="1764792" cy="91440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iv. Better decision making</a:t>
            </a:r>
            <a:endParaRPr lang="en-US" sz="1600" dirty="0"/>
          </a:p>
        </p:txBody>
      </p:sp>
      <p:sp>
        <p:nvSpPr>
          <p:cNvPr id="28" name="Text 22"/>
          <p:cNvSpPr txBox="1"/>
          <p:nvPr/>
        </p:nvSpPr>
        <p:spPr>
          <a:xfrm>
            <a:off x="7525512" y="3566160"/>
            <a:ext cx="1709928" cy="1325880"/>
          </a:xfrm>
          <a:prstGeom prst="rect">
            <a:avLst/>
          </a:prstGeom>
          <a:noFill/>
          <a:ln/>
        </p:spPr>
        <p:txBody>
          <a:bodyPr wrap="square" lIns="0" tIns="0" rIns="0" bIns="0" rtlCol="0" anchor="t"/>
          <a:lstStyle/>
          <a:p>
            <a:pPr marL="0" indent="0" algn="ctr">
              <a:buNone/>
            </a:pPr>
            <a:r>
              <a:rPr lang="en-US" sz="1450" dirty="0">
                <a:solidFill>
                  <a:srgbClr val="1E2533"/>
                </a:solidFill>
                <a:latin typeface="Calibri" pitchFamily="34" charset="0"/>
                <a:ea typeface="Calibri" pitchFamily="34" charset="-122"/>
                <a:cs typeface="Calibri" pitchFamily="34" charset="-120"/>
              </a:rPr>
              <a:t>Risk-adjusted pricing and scenario analysis improve investment and lending choices.</a:t>
            </a:r>
            <a:endParaRPr lang="en-US" sz="1450" dirty="0"/>
          </a:p>
        </p:txBody>
      </p:sp>
      <p:sp>
        <p:nvSpPr>
          <p:cNvPr id="29" name="Text 23"/>
          <p:cNvSpPr txBox="1"/>
          <p:nvPr/>
        </p:nvSpPr>
        <p:spPr>
          <a:xfrm>
            <a:off x="7525512" y="4937760"/>
            <a:ext cx="1709928" cy="1097280"/>
          </a:xfrm>
          <a:prstGeom prst="rect">
            <a:avLst/>
          </a:prstGeom>
          <a:noFill/>
          <a:ln/>
        </p:spPr>
        <p:txBody>
          <a:bodyPr wrap="square" lIns="0" tIns="0" rIns="0" bIns="0" rtlCol="0" anchor="t"/>
          <a:lstStyle/>
          <a:p>
            <a:pPr marL="0" indent="0" algn="ctr">
              <a:buNone/>
            </a:pPr>
            <a:r>
              <a:rPr lang="en-US" sz="1250" i="1" dirty="0">
                <a:solidFill>
                  <a:srgbClr val="8C6D0F"/>
                </a:solidFill>
                <a:latin typeface="Calibri" pitchFamily="34" charset="0"/>
                <a:ea typeface="Calibri" pitchFamily="34" charset="-122"/>
                <a:cs typeface="Calibri" pitchFamily="34" charset="-120"/>
              </a:rPr>
              <a:t>e.g. pricing a loan for its expected loss</a:t>
            </a:r>
            <a:endParaRPr lang="en-US" sz="1250" dirty="0"/>
          </a:p>
        </p:txBody>
      </p:sp>
      <p:sp>
        <p:nvSpPr>
          <p:cNvPr id="30" name="Shape 24"/>
          <p:cNvSpPr/>
          <p:nvPr/>
        </p:nvSpPr>
        <p:spPr>
          <a:xfrm>
            <a:off x="9646920" y="1325880"/>
            <a:ext cx="2039112" cy="4846320"/>
          </a:xfrm>
          <a:prstGeom prst="roundRect">
            <a:avLst>
              <a:gd name="adj" fmla="val 358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1" name="Shape 25"/>
          <p:cNvSpPr/>
          <p:nvPr/>
        </p:nvSpPr>
        <p:spPr>
          <a:xfrm>
            <a:off x="10254996" y="1554480"/>
            <a:ext cx="822960" cy="822960"/>
          </a:xfrm>
          <a:prstGeom prst="ellipse">
            <a:avLst/>
          </a:prstGeom>
          <a:solidFill>
            <a:srgbClr val="14213D"/>
          </a:solidFill>
          <a:ln w="12700">
            <a:solidFill>
              <a:srgbClr val="14213D"/>
            </a:solidFill>
            <a:prstDash val="solid"/>
          </a:ln>
        </p:spPr>
      </p:sp>
      <p:pic>
        <p:nvPicPr>
          <p:cNvPr id="32" name="Image 4" descr="preencoded.png"/>
          <p:cNvPicPr>
            <a:picLocks noChangeAspect="1"/>
          </p:cNvPicPr>
          <p:nvPr/>
        </p:nvPicPr>
        <p:blipFill>
          <a:blip r:embed="rId7"/>
          <a:stretch>
            <a:fillRect/>
          </a:stretch>
        </p:blipFill>
        <p:spPr>
          <a:xfrm>
            <a:off x="10452506" y="1751990"/>
            <a:ext cx="427939" cy="427939"/>
          </a:xfrm>
          <a:prstGeom prst="rect">
            <a:avLst/>
          </a:prstGeom>
        </p:spPr>
      </p:pic>
      <p:sp>
        <p:nvSpPr>
          <p:cNvPr id="33" name="Text 26"/>
          <p:cNvSpPr txBox="1"/>
          <p:nvPr/>
        </p:nvSpPr>
        <p:spPr>
          <a:xfrm>
            <a:off x="9784080" y="2560320"/>
            <a:ext cx="1764792" cy="91440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v. Maximises capital utilisation</a:t>
            </a:r>
            <a:endParaRPr lang="en-US" sz="1600" dirty="0"/>
          </a:p>
        </p:txBody>
      </p:sp>
      <p:sp>
        <p:nvSpPr>
          <p:cNvPr id="34" name="Text 27"/>
          <p:cNvSpPr txBox="1"/>
          <p:nvPr/>
        </p:nvSpPr>
        <p:spPr>
          <a:xfrm>
            <a:off x="9811512" y="3566160"/>
            <a:ext cx="1709928" cy="1325880"/>
          </a:xfrm>
          <a:prstGeom prst="rect">
            <a:avLst/>
          </a:prstGeom>
          <a:noFill/>
          <a:ln/>
        </p:spPr>
        <p:txBody>
          <a:bodyPr wrap="square" lIns="0" tIns="0" rIns="0" bIns="0" rtlCol="0" anchor="t"/>
          <a:lstStyle/>
          <a:p>
            <a:pPr marL="0" indent="0" algn="ctr">
              <a:buNone/>
            </a:pPr>
            <a:r>
              <a:rPr lang="en-US" sz="1450" dirty="0">
                <a:solidFill>
                  <a:srgbClr val="1E2533"/>
                </a:solidFill>
                <a:latin typeface="Calibri" pitchFamily="34" charset="0"/>
                <a:ea typeface="Calibri" pitchFamily="34" charset="-122"/>
                <a:cs typeface="Calibri" pitchFamily="34" charset="-120"/>
              </a:rPr>
              <a:t>Capital flows to activities with the best return per unit of risk (RAROC).</a:t>
            </a:r>
            <a:endParaRPr lang="en-US" sz="1450" dirty="0"/>
          </a:p>
        </p:txBody>
      </p:sp>
      <p:sp>
        <p:nvSpPr>
          <p:cNvPr id="35" name="Text 28"/>
          <p:cNvSpPr txBox="1"/>
          <p:nvPr/>
        </p:nvSpPr>
        <p:spPr>
          <a:xfrm>
            <a:off x="9811512" y="4937760"/>
            <a:ext cx="1709928" cy="1097280"/>
          </a:xfrm>
          <a:prstGeom prst="rect">
            <a:avLst/>
          </a:prstGeom>
          <a:noFill/>
          <a:ln/>
        </p:spPr>
        <p:txBody>
          <a:bodyPr wrap="square" lIns="0" tIns="0" rIns="0" bIns="0" rtlCol="0" anchor="t"/>
          <a:lstStyle/>
          <a:p>
            <a:pPr marL="0" indent="0" algn="ctr">
              <a:buNone/>
            </a:pPr>
            <a:r>
              <a:rPr lang="en-US" sz="1250" i="1" dirty="0">
                <a:solidFill>
                  <a:srgbClr val="8C6D0F"/>
                </a:solidFill>
                <a:latin typeface="Calibri" pitchFamily="34" charset="0"/>
                <a:ea typeface="Calibri" pitchFamily="34" charset="-122"/>
                <a:cs typeface="Calibri" pitchFamily="34" charset="-120"/>
              </a:rPr>
              <a:t>e.g. shifting capital to the highest-RAROC unit</a:t>
            </a:r>
            <a:endParaRPr lang="en-US" sz="1250" dirty="0"/>
          </a:p>
        </p:txBody>
      </p:sp>
      <p:sp>
        <p:nvSpPr>
          <p:cNvPr id="3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 Reducing Earnings Volatility: An IT Exporter Example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6" name="Chart 0"/>
          <p:cNvGraphicFramePr/>
          <p:nvPr/>
        </p:nvGraphicFramePr>
        <p:xfrm>
          <a:off x="502920" y="1280160"/>
          <a:ext cx="676656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543800" y="1280160"/>
            <a:ext cx="4142232" cy="4937760"/>
          </a:xfrm>
          <a:prstGeom prst="roundRect">
            <a:avLst>
              <a:gd name="adj" fmla="val 176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Text 5"/>
          <p:cNvSpPr txBox="1"/>
          <p:nvPr/>
        </p:nvSpPr>
        <p:spPr>
          <a:xfrm>
            <a:off x="7726680" y="1417320"/>
            <a:ext cx="3794760" cy="4709160"/>
          </a:xfrm>
          <a:prstGeom prst="rect">
            <a:avLst/>
          </a:prstGeom>
          <a:noFill/>
          <a:ln/>
        </p:spPr>
        <p:txBody>
          <a:bodyPr wrap="square" lIns="0" tIns="0" rIns="0" bIns="0" rtlCol="0" anchor="t"/>
          <a:lstStyle/>
          <a:p>
            <a:pPr marL="0" indent="0" algn="l">
              <a:spcAft>
                <a:spcPts val="500"/>
              </a:spcAft>
              <a:buNone/>
            </a:pPr>
            <a:r>
              <a:rPr lang="en-US" sz="1500" b="1" dirty="0">
                <a:solidFill>
                  <a:srgbClr val="8C6D0F"/>
                </a:solidFill>
                <a:latin typeface="Calibri" pitchFamily="34" charset="0"/>
                <a:ea typeface="Calibri" pitchFamily="34" charset="-122"/>
                <a:cs typeface="Calibri" pitchFamily="34" charset="-120"/>
              </a:rPr>
              <a:t>Set-up (illustrative)</a:t>
            </a:r>
            <a:endParaRPr lang="en-US" sz="1500" dirty="0"/>
          </a:p>
          <a:p>
            <a:pPr marL="0" indent="0" algn="l">
              <a:spcAft>
                <a:spcPts val="700"/>
              </a:spcAft>
              <a:buNone/>
            </a:pPr>
            <a:r>
              <a:rPr lang="en-US" sz="1400" dirty="0">
                <a:solidFill>
                  <a:srgbClr val="1E2533"/>
                </a:solidFill>
                <a:latin typeface="Calibri" pitchFamily="34" charset="0"/>
                <a:ea typeface="Calibri" pitchFamily="34" charset="-122"/>
                <a:cs typeface="Calibri" pitchFamily="34" charset="-120"/>
              </a:rPr>
              <a:t>Revenue $50 million; rupee costs ₹300 crore. EBIT = 50 mn × rate − 300 crore.</a:t>
            </a:r>
            <a:endParaRPr lang="en-US" sz="1500" dirty="0"/>
          </a:p>
          <a:p>
            <a:pPr marL="0" indent="0" algn="l">
              <a:spcAft>
                <a:spcPts val="700"/>
              </a:spcAft>
              <a:buNone/>
            </a:pPr>
            <a:r>
              <a:rPr lang="en-US" sz="1400" dirty="0">
                <a:solidFill>
                  <a:srgbClr val="1E2533"/>
                </a:solidFill>
                <a:latin typeface="Calibri" pitchFamily="34" charset="0"/>
                <a:ea typeface="Calibri" pitchFamily="34" charset="-122"/>
                <a:cs typeface="Calibri" pitchFamily="34" charset="-120"/>
              </a:rPr>
              <a:t>Unhedged EBIT ranges from ₹100 crore to ₹160 crore; σ = ₹21.21 crore.</a:t>
            </a:r>
            <a:endParaRPr lang="en-US" sz="1500" dirty="0"/>
          </a:p>
          <a:p>
            <a:pPr marL="0" indent="0" algn="l">
              <a:spcAft>
                <a:spcPts val="700"/>
              </a:spcAft>
              <a:buNone/>
            </a:pPr>
            <a:r>
              <a:rPr lang="en-US" sz="1400" dirty="0">
                <a:solidFill>
                  <a:srgbClr val="1E2533"/>
                </a:solidFill>
                <a:latin typeface="Calibri" pitchFamily="34" charset="0"/>
                <a:ea typeface="Calibri" pitchFamily="34" charset="-122"/>
                <a:cs typeface="Calibri" pitchFamily="34" charset="-120"/>
              </a:rPr>
              <a:t>Selling dollars forward at ₹86 locks EBIT at ₹130 crore in every scenario; σ = 0.</a:t>
            </a:r>
            <a:endParaRPr lang="en-US" sz="1500" dirty="0"/>
          </a:p>
          <a:p>
            <a:pPr marL="0" indent="0" algn="l">
              <a:spcAft>
                <a:spcPts val="500"/>
              </a:spcAft>
              <a:buNone/>
            </a:pPr>
            <a:r>
              <a:rPr lang="en-US" sz="1500" b="1" dirty="0">
                <a:solidFill>
                  <a:srgbClr val="8C6D0F"/>
                </a:solidFill>
                <a:latin typeface="Calibri" pitchFamily="34" charset="0"/>
                <a:ea typeface="Calibri" pitchFamily="34" charset="-122"/>
                <a:cs typeface="Calibri" pitchFamily="34" charset="-120"/>
              </a:rPr>
              <a:t>Why it matters</a:t>
            </a:r>
            <a:endParaRPr lang="en-US" sz="1500" dirty="0"/>
          </a:p>
          <a:p>
            <a:pPr marL="0" indent="0" algn="l">
              <a:buNone/>
            </a:pPr>
            <a:r>
              <a:rPr lang="en-US" sz="1400" dirty="0">
                <a:solidFill>
                  <a:srgbClr val="1E2533"/>
                </a:solidFill>
                <a:latin typeface="Calibri" pitchFamily="34" charset="0"/>
                <a:ea typeface="Calibri" pitchFamily="34" charset="-122"/>
                <a:cs typeface="Calibri" pitchFamily="34" charset="-120"/>
              </a:rPr>
              <a:t>Stable earnings support stable dividends, credible guidance to analysts and easier budgeting of salaries and capex. The price: the firm gives up the upside if the rupee weakens to ₹92.</a:t>
            </a:r>
            <a:endParaRPr lang="en-US" sz="15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ii. Adding Value to Shareholders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246120"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2286000"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Lower costs of financial distress</a:t>
            </a:r>
            <a:endParaRPr lang="en-US" sz="1700" dirty="0"/>
          </a:p>
        </p:txBody>
      </p:sp>
      <p:sp>
        <p:nvSpPr>
          <p:cNvPr id="10" name="Text 7"/>
          <p:cNvSpPr txBox="1"/>
          <p:nvPr/>
        </p:nvSpPr>
        <p:spPr>
          <a:xfrm>
            <a:off x="685800" y="2039112"/>
            <a:ext cx="2880360"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Hedging cuts the probability of default, and with it legal costs, lost customers and fire-sale losses.</a:t>
            </a:r>
            <a:endParaRPr lang="en-US" sz="1550" dirty="0"/>
          </a:p>
        </p:txBody>
      </p:sp>
      <p:sp>
        <p:nvSpPr>
          <p:cNvPr id="11" name="Shape 8"/>
          <p:cNvSpPr/>
          <p:nvPr/>
        </p:nvSpPr>
        <p:spPr>
          <a:xfrm>
            <a:off x="4023360" y="1280160"/>
            <a:ext cx="3246120"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206240"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326941" y="1583741"/>
            <a:ext cx="261518" cy="261518"/>
          </a:xfrm>
          <a:prstGeom prst="rect">
            <a:avLst/>
          </a:prstGeom>
        </p:spPr>
      </p:pic>
      <p:sp>
        <p:nvSpPr>
          <p:cNvPr id="14" name="Text 10"/>
          <p:cNvSpPr txBox="1"/>
          <p:nvPr/>
        </p:nvSpPr>
        <p:spPr>
          <a:xfrm>
            <a:off x="4800600" y="1426464"/>
            <a:ext cx="2286000"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Lower expected taxes</a:t>
            </a:r>
            <a:endParaRPr lang="en-US" sz="1700" dirty="0"/>
          </a:p>
        </p:txBody>
      </p:sp>
      <p:sp>
        <p:nvSpPr>
          <p:cNvPr id="15" name="Text 11"/>
          <p:cNvSpPr txBox="1"/>
          <p:nvPr/>
        </p:nvSpPr>
        <p:spPr>
          <a:xfrm>
            <a:off x="4206240" y="2039112"/>
            <a:ext cx="2880360"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With progressive or loss-limited tax rules, smoother income lowers the average tax bill.</a:t>
            </a:r>
            <a:endParaRPr lang="en-US" sz="1550" dirty="0"/>
          </a:p>
        </p:txBody>
      </p:sp>
      <p:sp>
        <p:nvSpPr>
          <p:cNvPr id="16" name="Shape 12"/>
          <p:cNvSpPr/>
          <p:nvPr/>
        </p:nvSpPr>
        <p:spPr>
          <a:xfrm>
            <a:off x="502920" y="3886200"/>
            <a:ext cx="3246120"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685800" y="406908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06501" y="4189781"/>
            <a:ext cx="261518" cy="261518"/>
          </a:xfrm>
          <a:prstGeom prst="rect">
            <a:avLst/>
          </a:prstGeom>
        </p:spPr>
      </p:pic>
      <p:sp>
        <p:nvSpPr>
          <p:cNvPr id="19" name="Text 14"/>
          <p:cNvSpPr txBox="1"/>
          <p:nvPr/>
        </p:nvSpPr>
        <p:spPr>
          <a:xfrm>
            <a:off x="1280160" y="4032504"/>
            <a:ext cx="2286000"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Higher debt capacity</a:t>
            </a:r>
            <a:endParaRPr lang="en-US" sz="1700" dirty="0"/>
          </a:p>
        </p:txBody>
      </p:sp>
      <p:sp>
        <p:nvSpPr>
          <p:cNvPr id="20" name="Text 15"/>
          <p:cNvSpPr txBox="1"/>
          <p:nvPr/>
        </p:nvSpPr>
        <p:spPr>
          <a:xfrm>
            <a:off x="685800" y="4645152"/>
            <a:ext cx="2880360"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Stable cash flows let the firm borrow more safely and enjoy a larger interest tax shield.</a:t>
            </a:r>
            <a:endParaRPr lang="en-US" sz="1550" dirty="0"/>
          </a:p>
        </p:txBody>
      </p:sp>
      <p:sp>
        <p:nvSpPr>
          <p:cNvPr id="21" name="Shape 16"/>
          <p:cNvSpPr/>
          <p:nvPr/>
        </p:nvSpPr>
        <p:spPr>
          <a:xfrm>
            <a:off x="4023360" y="3886200"/>
            <a:ext cx="3246120"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4206240"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4326941" y="4189781"/>
            <a:ext cx="261518" cy="261518"/>
          </a:xfrm>
          <a:prstGeom prst="rect">
            <a:avLst/>
          </a:prstGeom>
        </p:spPr>
      </p:pic>
      <p:sp>
        <p:nvSpPr>
          <p:cNvPr id="24" name="Text 18"/>
          <p:cNvSpPr txBox="1"/>
          <p:nvPr/>
        </p:nvSpPr>
        <p:spPr>
          <a:xfrm>
            <a:off x="4800600" y="4032504"/>
            <a:ext cx="2286000"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No under-investment</a:t>
            </a:r>
            <a:endParaRPr lang="en-US" sz="1700" dirty="0"/>
          </a:p>
        </p:txBody>
      </p:sp>
      <p:sp>
        <p:nvSpPr>
          <p:cNvPr id="25" name="Text 19"/>
          <p:cNvSpPr txBox="1"/>
          <p:nvPr/>
        </p:nvSpPr>
        <p:spPr>
          <a:xfrm>
            <a:off x="4206240" y="4645152"/>
            <a:ext cx="2880360"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Hedged firms can fund good projects from internal cash even in bad years (Froot, Scharfstein &amp; Stein, 1993).</a:t>
            </a:r>
            <a:endParaRPr lang="en-US" sz="1550" dirty="0"/>
          </a:p>
        </p:txBody>
      </p:sp>
      <p:sp>
        <p:nvSpPr>
          <p:cNvPr id="26" name="Shape 20"/>
          <p:cNvSpPr/>
          <p:nvPr/>
        </p:nvSpPr>
        <p:spPr>
          <a:xfrm>
            <a:off x="7543800" y="1280160"/>
            <a:ext cx="4142232" cy="4937760"/>
          </a:xfrm>
          <a:prstGeom prst="roundRect">
            <a:avLst>
              <a:gd name="adj" fmla="val 1766"/>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27" name="Text 21"/>
          <p:cNvSpPr txBox="1"/>
          <p:nvPr/>
        </p:nvSpPr>
        <p:spPr>
          <a:xfrm>
            <a:off x="7726680" y="1417320"/>
            <a:ext cx="3794760" cy="4709160"/>
          </a:xfrm>
          <a:prstGeom prst="rect">
            <a:avLst/>
          </a:prstGeom>
          <a:noFill/>
          <a:ln/>
        </p:spPr>
        <p:txBody>
          <a:bodyPr wrap="square" lIns="0" tIns="0" rIns="0" bIns="0" rtlCol="0" anchor="t"/>
          <a:lstStyle/>
          <a:p>
            <a:pPr marL="0" indent="0" algn="l">
              <a:spcAft>
                <a:spcPts val="800"/>
              </a:spcAft>
              <a:buNone/>
            </a:pPr>
            <a:r>
              <a:rPr lang="en-US" sz="1600" b="1" dirty="0">
                <a:solidFill>
                  <a:srgbClr val="C9A227"/>
                </a:solidFill>
                <a:latin typeface="Calibri" pitchFamily="34" charset="0"/>
                <a:ea typeface="Calibri" pitchFamily="34" charset="-122"/>
                <a:cs typeface="Calibri" pitchFamily="34" charset="-120"/>
              </a:rPr>
              <a:t>Quick numerical view</a:t>
            </a:r>
            <a:endParaRPr lang="en-US" sz="1600" dirty="0"/>
          </a:p>
          <a:p>
            <a:pPr marL="0" indent="0" algn="l">
              <a:spcAft>
                <a:spcPts val="800"/>
              </a:spcAft>
              <a:buNone/>
            </a:pPr>
            <a:r>
              <a:rPr lang="en-US" sz="1400" dirty="0">
                <a:solidFill>
                  <a:srgbClr val="FFFFFF"/>
                </a:solidFill>
                <a:latin typeface="Calibri" pitchFamily="34" charset="0"/>
                <a:ea typeface="Calibri" pitchFamily="34" charset="-122"/>
                <a:cs typeface="Calibri" pitchFamily="34" charset="-120"/>
              </a:rPr>
              <a:t>Distress would cost ₹100 crore (legal fees, lost sales, supplier flight).</a:t>
            </a:r>
            <a:endParaRPr lang="en-US" sz="1600" dirty="0"/>
          </a:p>
          <a:p>
            <a:pPr marL="0" indent="0" algn="l">
              <a:spcAft>
                <a:spcPts val="600"/>
              </a:spcAft>
              <a:buNone/>
            </a:pPr>
            <a:r>
              <a:rPr lang="en-US" sz="1400" dirty="0">
                <a:solidFill>
                  <a:srgbClr val="FFFFFF"/>
                </a:solidFill>
                <a:latin typeface="Calibri" pitchFamily="34" charset="0"/>
                <a:ea typeface="Calibri" pitchFamily="34" charset="-122"/>
                <a:cs typeface="Calibri" pitchFamily="34" charset="-120"/>
              </a:rPr>
              <a:t>Unhedged: P(distress) = 20% → expected cost = 0.20 × 100 = ₹20 crore</a:t>
            </a:r>
            <a:endParaRPr lang="en-US" sz="1600" dirty="0"/>
          </a:p>
          <a:p>
            <a:pPr marL="0" indent="0" algn="l">
              <a:spcAft>
                <a:spcPts val="600"/>
              </a:spcAft>
              <a:buNone/>
            </a:pPr>
            <a:r>
              <a:rPr lang="en-US" sz="1400" dirty="0">
                <a:solidFill>
                  <a:srgbClr val="FFFFFF"/>
                </a:solidFill>
                <a:latin typeface="Calibri" pitchFamily="34" charset="0"/>
                <a:ea typeface="Calibri" pitchFamily="34" charset="-122"/>
                <a:cs typeface="Calibri" pitchFamily="34" charset="-120"/>
              </a:rPr>
              <a:t>Hedged: P(distress) = 5% → expected cost = 0.05 × 100 = ₹5 crore</a:t>
            </a:r>
            <a:endParaRPr lang="en-US" sz="1600" dirty="0"/>
          </a:p>
          <a:p>
            <a:pPr marL="0" indent="0" algn="l">
              <a:spcAft>
                <a:spcPts val="800"/>
              </a:spcAft>
              <a:buNone/>
            </a:pPr>
            <a:r>
              <a:rPr lang="en-US" sz="1400" dirty="0">
                <a:solidFill>
                  <a:srgbClr val="FFFFFF"/>
                </a:solidFill>
                <a:latin typeface="Calibri" pitchFamily="34" charset="0"/>
                <a:ea typeface="Calibri" pitchFamily="34" charset="-122"/>
                <a:cs typeface="Calibri" pitchFamily="34" charset="-120"/>
              </a:rPr>
              <a:t>Hedging programme cost = ₹2 crore</a:t>
            </a:r>
            <a:endParaRPr lang="en-US" sz="1600" dirty="0"/>
          </a:p>
          <a:p>
            <a:pPr marL="0" indent="0" algn="l">
              <a:spcAft>
                <a:spcPts val="800"/>
              </a:spcAft>
              <a:buNone/>
            </a:pPr>
            <a:r>
              <a:rPr lang="en-US" sz="1700" b="1" dirty="0">
                <a:solidFill>
                  <a:srgbClr val="C9A227"/>
                </a:solidFill>
                <a:latin typeface="Calibri" pitchFamily="34" charset="0"/>
                <a:ea typeface="Calibri" pitchFamily="34" charset="-122"/>
                <a:cs typeface="Calibri" pitchFamily="34" charset="-120"/>
              </a:rPr>
              <a:t>Value added = 20 − 5 − 2 = ₹13 crore</a:t>
            </a:r>
            <a:endParaRPr lang="en-US" sz="1600" dirty="0"/>
          </a:p>
          <a:p>
            <a:pPr marL="0" indent="0" algn="l">
              <a:buNone/>
            </a:pPr>
            <a:r>
              <a:rPr lang="en-US" sz="1400" i="1" dirty="0">
                <a:solidFill>
                  <a:srgbClr val="EAD9A0"/>
                </a:solidFill>
                <a:latin typeface="Calibri" pitchFamily="34" charset="0"/>
                <a:ea typeface="Calibri" pitchFamily="34" charset="-122"/>
                <a:cs typeface="Calibri" pitchFamily="34" charset="-120"/>
              </a:rPr>
              <a:t>Risk management creates value only when the reduction in expected costs exceeds what the programme costs.</a:t>
            </a:r>
            <a:endParaRPr lang="en-US" sz="1600" dirty="0"/>
          </a:p>
        </p:txBody>
      </p:sp>
      <p:sp>
        <p:nvSpPr>
          <p:cNvPr id="28"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iii. Fewer Surprises and iv. Better Decision Making</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5541264"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731520" y="1444752"/>
            <a:ext cx="548640" cy="54864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63194" y="1576426"/>
            <a:ext cx="285293" cy="285293"/>
          </a:xfrm>
          <a:prstGeom prst="rect">
            <a:avLst/>
          </a:prstGeom>
        </p:spPr>
      </p:pic>
      <p:sp>
        <p:nvSpPr>
          <p:cNvPr id="9" name="Text 6"/>
          <p:cNvSpPr txBox="1"/>
          <p:nvPr/>
        </p:nvSpPr>
        <p:spPr>
          <a:xfrm>
            <a:off x="1417320" y="1463040"/>
            <a:ext cx="4389120" cy="502920"/>
          </a:xfrm>
          <a:prstGeom prst="rect">
            <a:avLst/>
          </a:prstGeom>
          <a:noFill/>
          <a:ln/>
        </p:spPr>
        <p:txBody>
          <a:bodyPr wrap="square" lIns="0" tIns="0" rIns="0" bIns="0" rtlCol="0" anchor="ctr"/>
          <a:lstStyle/>
          <a:p>
            <a:pPr marL="0" indent="0" algn="l">
              <a:buNone/>
            </a:pPr>
            <a:r>
              <a:rPr lang="en-US" sz="1900" b="1" dirty="0">
                <a:solidFill>
                  <a:srgbClr val="14213D"/>
                </a:solidFill>
                <a:latin typeface="Cambria" pitchFamily="34" charset="0"/>
                <a:ea typeface="Cambria" pitchFamily="34" charset="-122"/>
                <a:cs typeface="Cambria" pitchFamily="34" charset="-120"/>
              </a:rPr>
              <a:t>Fewer surprises</a:t>
            </a:r>
            <a:endParaRPr lang="en-US" sz="1900" dirty="0"/>
          </a:p>
        </p:txBody>
      </p:sp>
      <p:sp>
        <p:nvSpPr>
          <p:cNvPr id="10" name="Text 7"/>
          <p:cNvSpPr txBox="1"/>
          <p:nvPr/>
        </p:nvSpPr>
        <p:spPr>
          <a:xfrm>
            <a:off x="731520" y="2148840"/>
            <a:ext cx="5120640" cy="3931920"/>
          </a:xfrm>
          <a:prstGeom prst="rect">
            <a:avLst/>
          </a:prstGeom>
          <a:noFill/>
          <a:ln/>
        </p:spPr>
        <p:txBody>
          <a:bodyPr wrap="square" lIns="0" tIns="0" rIns="0" bIns="0" rtlCol="0" anchor="t"/>
          <a:lstStyle/>
          <a:p>
            <a:pPr marL="177800" indent="-177800" algn="l">
              <a:spcAft>
                <a:spcPts val="900"/>
              </a:spcAft>
              <a:buSzPct val="100000"/>
              <a:buChar char="•"/>
            </a:pPr>
            <a:r>
              <a:rPr lang="en-US" sz="1550" b="1" dirty="0">
                <a:solidFill>
                  <a:srgbClr val="1E2533"/>
                </a:solidFill>
                <a:latin typeface="Calibri" pitchFamily="34" charset="0"/>
                <a:ea typeface="Calibri" pitchFamily="34" charset="-122"/>
                <a:cs typeface="Calibri" pitchFamily="34" charset="-120"/>
              </a:rPr>
              <a:t>Early warning:</a:t>
            </a:r>
            <a:r>
              <a:rPr lang="en-US" sz="1550" dirty="0">
                <a:solidFill>
                  <a:srgbClr val="1E2533"/>
                </a:solidFill>
                <a:latin typeface="Calibri" pitchFamily="34" charset="0"/>
                <a:ea typeface="Calibri" pitchFamily="34" charset="-122"/>
                <a:cs typeface="Calibri" pitchFamily="34" charset="-120"/>
              </a:rPr>
              <a:t> RBI's SMA classification (SMA-0: 1–30 days overdue, SMA-1: 31–60, SMA-2: 61–90) flags stress before a loan becomes an NPA at 90 days.</a:t>
            </a:r>
            <a:endParaRPr lang="en-US" sz="1550" dirty="0"/>
          </a:p>
          <a:p>
            <a:pPr marL="177800" indent="-177800" algn="l">
              <a:spcAft>
                <a:spcPts val="900"/>
              </a:spcAft>
              <a:buSzPct val="100000"/>
              <a:buChar char="•"/>
            </a:pPr>
            <a:r>
              <a:rPr lang="en-US" sz="1550" b="1" dirty="0">
                <a:solidFill>
                  <a:srgbClr val="1E2533"/>
                </a:solidFill>
                <a:latin typeface="Calibri" pitchFamily="34" charset="0"/>
                <a:ea typeface="Calibri" pitchFamily="34" charset="-122"/>
                <a:cs typeface="Calibri" pitchFamily="34" charset="-120"/>
              </a:rPr>
              <a:t>Stress testing:</a:t>
            </a:r>
            <a:r>
              <a:rPr lang="en-US" sz="1550" dirty="0">
                <a:solidFill>
                  <a:srgbClr val="1E2533"/>
                </a:solidFill>
                <a:latin typeface="Calibri" pitchFamily="34" charset="0"/>
                <a:ea typeface="Calibri" pitchFamily="34" charset="-122"/>
                <a:cs typeface="Calibri" pitchFamily="34" charset="-120"/>
              </a:rPr>
              <a:t> a treasury that tests a +200 bp shock knows its bond loss before the RBI moves.</a:t>
            </a:r>
            <a:endParaRPr lang="en-US" sz="1550" dirty="0"/>
          </a:p>
          <a:p>
            <a:pPr marL="177800" indent="-177800" algn="l">
              <a:spcAft>
                <a:spcPts val="900"/>
              </a:spcAft>
              <a:buSzPct val="100000"/>
              <a:buChar char="•"/>
            </a:pPr>
            <a:r>
              <a:rPr lang="en-US" sz="1550" b="1" dirty="0">
                <a:solidFill>
                  <a:srgbClr val="1E2533"/>
                </a:solidFill>
                <a:latin typeface="Calibri" pitchFamily="34" charset="0"/>
                <a:ea typeface="Calibri" pitchFamily="34" charset="-122"/>
                <a:cs typeface="Calibri" pitchFamily="34" charset="-120"/>
              </a:rPr>
              <a:t>Limit monitoring:</a:t>
            </a:r>
            <a:r>
              <a:rPr lang="en-US" sz="1550" dirty="0">
                <a:solidFill>
                  <a:srgbClr val="1E2533"/>
                </a:solidFill>
                <a:latin typeface="Calibri" pitchFamily="34" charset="0"/>
                <a:ea typeface="Calibri" pitchFamily="34" charset="-122"/>
                <a:cs typeface="Calibri" pitchFamily="34" charset="-120"/>
              </a:rPr>
              <a:t> VaR, stop-loss and exposure limits force early action.</a:t>
            </a:r>
            <a:endParaRPr lang="en-US" sz="1550" dirty="0"/>
          </a:p>
          <a:p>
            <a:pPr marL="177800" indent="-177800" algn="l">
              <a:spcAft>
                <a:spcPts val="900"/>
              </a:spcAft>
              <a:buSzPct val="100000"/>
              <a:buChar char="•"/>
            </a:pPr>
            <a:r>
              <a:rPr lang="en-US" sz="1550" b="1" dirty="0">
                <a:solidFill>
                  <a:srgbClr val="1E2533"/>
                </a:solidFill>
                <a:latin typeface="Calibri" pitchFamily="34" charset="0"/>
                <a:ea typeface="Calibri" pitchFamily="34" charset="-122"/>
                <a:cs typeface="Calibri" pitchFamily="34" charset="-120"/>
              </a:rPr>
              <a:t>Risk registers:</a:t>
            </a:r>
            <a:r>
              <a:rPr lang="en-US" sz="1550" dirty="0">
                <a:solidFill>
                  <a:srgbClr val="1E2533"/>
                </a:solidFill>
                <a:latin typeface="Calibri" pitchFamily="34" charset="0"/>
                <a:ea typeface="Calibri" pitchFamily="34" charset="-122"/>
                <a:cs typeface="Calibri" pitchFamily="34" charset="-120"/>
              </a:rPr>
              <a:t> emerging risks (cyber, climate, regulation) are logged and reviewed each quarter.</a:t>
            </a:r>
            <a:endParaRPr lang="en-US" sz="1550" dirty="0"/>
          </a:p>
        </p:txBody>
      </p:sp>
      <p:sp>
        <p:nvSpPr>
          <p:cNvPr id="11" name="Shape 8"/>
          <p:cNvSpPr/>
          <p:nvPr/>
        </p:nvSpPr>
        <p:spPr>
          <a:xfrm>
            <a:off x="6144768" y="1280160"/>
            <a:ext cx="5541264"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6373368" y="1444752"/>
            <a:ext cx="548640" cy="54864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6505042" y="1576426"/>
            <a:ext cx="285293" cy="285293"/>
          </a:xfrm>
          <a:prstGeom prst="rect">
            <a:avLst/>
          </a:prstGeom>
        </p:spPr>
      </p:pic>
      <p:sp>
        <p:nvSpPr>
          <p:cNvPr id="14" name="Text 10"/>
          <p:cNvSpPr txBox="1"/>
          <p:nvPr/>
        </p:nvSpPr>
        <p:spPr>
          <a:xfrm>
            <a:off x="7059168" y="1463040"/>
            <a:ext cx="4389120" cy="502920"/>
          </a:xfrm>
          <a:prstGeom prst="rect">
            <a:avLst/>
          </a:prstGeom>
          <a:noFill/>
          <a:ln/>
        </p:spPr>
        <p:txBody>
          <a:bodyPr wrap="square" lIns="0" tIns="0" rIns="0" bIns="0" rtlCol="0" anchor="ctr"/>
          <a:lstStyle/>
          <a:p>
            <a:pPr marL="0" indent="0" algn="l">
              <a:buNone/>
            </a:pPr>
            <a:r>
              <a:rPr lang="en-US" sz="1900" b="1" dirty="0">
                <a:solidFill>
                  <a:srgbClr val="14213D"/>
                </a:solidFill>
                <a:latin typeface="Cambria" pitchFamily="34" charset="0"/>
                <a:ea typeface="Cambria" pitchFamily="34" charset="-122"/>
                <a:cs typeface="Cambria" pitchFamily="34" charset="-120"/>
              </a:rPr>
              <a:t>Better decision making</a:t>
            </a:r>
            <a:endParaRPr lang="en-US" sz="1900" dirty="0"/>
          </a:p>
        </p:txBody>
      </p:sp>
      <p:sp>
        <p:nvSpPr>
          <p:cNvPr id="15" name="Text 11"/>
          <p:cNvSpPr txBox="1"/>
          <p:nvPr/>
        </p:nvSpPr>
        <p:spPr>
          <a:xfrm>
            <a:off x="6373368" y="2148840"/>
            <a:ext cx="5120640" cy="3931920"/>
          </a:xfrm>
          <a:prstGeom prst="rect">
            <a:avLst/>
          </a:prstGeom>
          <a:noFill/>
          <a:ln/>
        </p:spPr>
        <p:txBody>
          <a:bodyPr wrap="square" lIns="0" tIns="0" rIns="0" bIns="0" rtlCol="0" anchor="t"/>
          <a:lstStyle/>
          <a:p>
            <a:pPr marL="177800" indent="-177800" algn="l">
              <a:spcAft>
                <a:spcPts val="800"/>
              </a:spcAft>
              <a:buSzPct val="100000"/>
              <a:buChar char="•"/>
            </a:pPr>
            <a:r>
              <a:rPr lang="en-US" sz="1450" b="1" dirty="0">
                <a:solidFill>
                  <a:srgbClr val="1E2533"/>
                </a:solidFill>
                <a:latin typeface="Calibri" pitchFamily="34" charset="0"/>
                <a:ea typeface="Calibri" pitchFamily="34" charset="-122"/>
                <a:cs typeface="Calibri" pitchFamily="34" charset="-120"/>
              </a:rPr>
              <a:t>Risk-based pricing:</a:t>
            </a:r>
            <a:r>
              <a:rPr lang="en-US" sz="1450" dirty="0">
                <a:solidFill>
                  <a:srgbClr val="1E2533"/>
                </a:solidFill>
                <a:latin typeface="Calibri" pitchFamily="34" charset="0"/>
                <a:ea typeface="Calibri" pitchFamily="34" charset="-122"/>
                <a:cs typeface="Calibri" pitchFamily="34" charset="-120"/>
              </a:rPr>
              <a:t> price each loan for its expected loss and the capital it consumes.</a:t>
            </a:r>
            <a:endParaRPr lang="en-US" sz="1450" dirty="0"/>
          </a:p>
          <a:p>
            <a:pPr marL="177800" indent="-177800" algn="l">
              <a:spcAft>
                <a:spcPts val="800"/>
              </a:spcAft>
              <a:buSzPct val="100000"/>
              <a:buChar char="•"/>
            </a:pPr>
            <a:r>
              <a:rPr lang="en-US" sz="1450" b="1" dirty="0">
                <a:solidFill>
                  <a:srgbClr val="1E2533"/>
                </a:solidFill>
                <a:latin typeface="Calibri" pitchFamily="34" charset="0"/>
                <a:ea typeface="Calibri" pitchFamily="34" charset="-122"/>
                <a:cs typeface="Calibri" pitchFamily="34" charset="-120"/>
              </a:rPr>
              <a:t>Scenario analysis:</a:t>
            </a:r>
            <a:r>
              <a:rPr lang="en-US" sz="1450" dirty="0">
                <a:solidFill>
                  <a:srgbClr val="1E2533"/>
                </a:solidFill>
                <a:latin typeface="Calibri" pitchFamily="34" charset="0"/>
                <a:ea typeface="Calibri" pitchFamily="34" charset="-122"/>
                <a:cs typeface="Calibri" pitchFamily="34" charset="-120"/>
              </a:rPr>
              <a:t> evaluate projects under base, bull and bear cases, not a single forecast.</a:t>
            </a:r>
            <a:endParaRPr lang="en-US" sz="1450" dirty="0"/>
          </a:p>
          <a:p>
            <a:pPr marL="177800" indent="-177800" algn="l">
              <a:spcAft>
                <a:spcPts val="800"/>
              </a:spcAft>
              <a:buSzPct val="100000"/>
              <a:buChar char="•"/>
            </a:pPr>
            <a:r>
              <a:rPr lang="en-US" sz="1450" b="1" dirty="0">
                <a:solidFill>
                  <a:srgbClr val="1E2533"/>
                </a:solidFill>
                <a:latin typeface="Calibri" pitchFamily="34" charset="0"/>
                <a:ea typeface="Calibri" pitchFamily="34" charset="-122"/>
                <a:cs typeface="Calibri" pitchFamily="34" charset="-120"/>
              </a:rPr>
              <a:t>Portfolio view:</a:t>
            </a:r>
            <a:r>
              <a:rPr lang="en-US" sz="1450" dirty="0">
                <a:solidFill>
                  <a:srgbClr val="1E2533"/>
                </a:solidFill>
                <a:latin typeface="Calibri" pitchFamily="34" charset="0"/>
                <a:ea typeface="Calibri" pitchFamily="34" charset="-122"/>
                <a:cs typeface="Calibri" pitchFamily="34" charset="-120"/>
              </a:rPr>
              <a:t> a new exposure is judged by how it changes total risk, not in isolation.</a:t>
            </a:r>
            <a:endParaRPr lang="en-US" sz="1450" dirty="0"/>
          </a:p>
          <a:p>
            <a:pPr marL="0" indent="0" algn="l">
              <a:spcBef>
                <a:spcPts val="600"/>
              </a:spcBef>
              <a:spcAft>
                <a:spcPts val="300"/>
              </a:spcAft>
              <a:buNone/>
            </a:pPr>
            <a:r>
              <a:rPr lang="en-US" sz="1450" b="1" dirty="0">
                <a:solidFill>
                  <a:srgbClr val="8C6D0F"/>
                </a:solidFill>
                <a:latin typeface="Calibri" pitchFamily="34" charset="0"/>
                <a:ea typeface="Calibri" pitchFamily="34" charset="-122"/>
                <a:cs typeface="Calibri" pitchFamily="34" charset="-120"/>
              </a:rPr>
              <a:t>Loan pricing example (illustrative)</a:t>
            </a:r>
            <a:endParaRPr lang="en-US" sz="1450" dirty="0"/>
          </a:p>
          <a:p>
            <a:pPr marL="0" indent="0" algn="l">
              <a:buNone/>
            </a:pPr>
            <a:r>
              <a:rPr lang="en-US" sz="1450" dirty="0">
                <a:solidFill>
                  <a:srgbClr val="14213D"/>
                </a:solidFill>
                <a:latin typeface="Calibri" pitchFamily="34" charset="0"/>
                <a:ea typeface="Calibri" pitchFamily="34" charset="-122"/>
                <a:cs typeface="Calibri" pitchFamily="34" charset="-120"/>
              </a:rPr>
              <a:t>Rate = cost of funds 7.0% + opex 1.0% + EL (2% × 60% = 1.2%) + capital charge 1.2% = </a:t>
            </a:r>
            <a:r>
              <a:rPr lang="en-US" sz="1450" b="1" dirty="0">
                <a:solidFill>
                  <a:srgbClr val="14213D"/>
                </a:solidFill>
                <a:latin typeface="Calibri" pitchFamily="34" charset="0"/>
                <a:ea typeface="Calibri" pitchFamily="34" charset="-122"/>
                <a:cs typeface="Calibri" pitchFamily="34" charset="-120"/>
              </a:rPr>
              <a:t>10.4%</a:t>
            </a:r>
            <a:endParaRPr lang="en-US" sz="14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v. Maximising Capital Utilisation and Profit: RAROC</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7665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Business line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Revenue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Operating cost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Expected loss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Economic capital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RAROC</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Retail loans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120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40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400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2533"/>
                          </a:solidFill>
                          <a:latin typeface="Calibri" pitchFamily="34" charset="0"/>
                          <a:ea typeface="Calibri" pitchFamily="34" charset="-122"/>
                          <a:cs typeface="Calibri" pitchFamily="34" charset="-120"/>
                        </a:rPr>
                        <a:t>15.00%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DCEFE3"/>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Corporate loans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90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25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250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400" b="1" dirty="0">
                          <a:solidFill>
                            <a:srgbClr val="1E2533"/>
                          </a:solidFill>
                          <a:latin typeface="Calibri" pitchFamily="34" charset="0"/>
                          <a:ea typeface="Calibri" pitchFamily="34" charset="-122"/>
                          <a:cs typeface="Calibri" pitchFamily="34" charset="-120"/>
                        </a:rPr>
                        <a:t>18.00%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DCEFE3"/>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Treasury trading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60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15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320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2533"/>
                          </a:solidFill>
                          <a:latin typeface="Calibri" pitchFamily="34" charset="0"/>
                          <a:ea typeface="Calibri" pitchFamily="34" charset="-122"/>
                          <a:cs typeface="Calibri" pitchFamily="34" charset="-120"/>
                        </a:rPr>
                        <a:t>12.50%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4DADA"/>
                    </a:solidFill>
                  </a:tcPr>
                </a:tc>
                <a:extLst>
                  <a:ext uri="{0D108BD9-81ED-4DB2-BD59-A6C34878D82A}">
                    <a16:rowId xmlns:a16="http://schemas.microsoft.com/office/drawing/2014/main" val="10003"/>
                  </a:ext>
                </a:extLst>
              </a:tr>
            </a:tbl>
          </a:graphicData>
        </a:graphic>
      </p:graphicFrame>
      <p:graphicFrame>
        <p:nvGraphicFramePr>
          <p:cNvPr id="7" name="Chart 0"/>
          <p:cNvGraphicFramePr/>
          <p:nvPr/>
        </p:nvGraphicFramePr>
        <p:xfrm>
          <a:off x="502920" y="3337560"/>
          <a:ext cx="676656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7543800" y="1325880"/>
            <a:ext cx="4142232" cy="4892040"/>
          </a:xfrm>
          <a:prstGeom prst="roundRect">
            <a:avLst>
              <a:gd name="adj" fmla="val 176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5"/>
          <p:cNvSpPr txBox="1"/>
          <p:nvPr/>
        </p:nvSpPr>
        <p:spPr>
          <a:xfrm>
            <a:off x="7726680" y="1444752"/>
            <a:ext cx="3794760" cy="4663440"/>
          </a:xfrm>
          <a:prstGeom prst="rect">
            <a:avLst/>
          </a:prstGeom>
          <a:noFill/>
          <a:ln/>
        </p:spPr>
        <p:txBody>
          <a:bodyPr wrap="square" lIns="0" tIns="0" rIns="0" bIns="0" rtlCol="0" anchor="t"/>
          <a:lstStyle/>
          <a:p>
            <a:pPr marL="0" indent="0" algn="l">
              <a:spcAft>
                <a:spcPts val="400"/>
              </a:spcAft>
              <a:buNone/>
            </a:pPr>
            <a:r>
              <a:rPr lang="en-US" sz="1500" b="1" dirty="0">
                <a:solidFill>
                  <a:srgbClr val="8C6D0F"/>
                </a:solidFill>
                <a:latin typeface="Calibri" pitchFamily="34" charset="0"/>
                <a:ea typeface="Calibri" pitchFamily="34" charset="-122"/>
                <a:cs typeface="Calibri" pitchFamily="34" charset="-120"/>
              </a:rPr>
              <a:t>RAROC formula</a:t>
            </a:r>
            <a:endParaRPr lang="en-US" sz="1500" dirty="0"/>
          </a:p>
          <a:p>
            <a:pPr marL="0" indent="0" algn="l">
              <a:spcAft>
                <a:spcPts val="600"/>
              </a:spcAft>
              <a:buNone/>
            </a:pPr>
            <a:r>
              <a:rPr lang="en-US" sz="1400" b="1" dirty="0">
                <a:solidFill>
                  <a:srgbClr val="14213D"/>
                </a:solidFill>
                <a:latin typeface="Calibri" pitchFamily="34" charset="0"/>
                <a:ea typeface="Calibri" pitchFamily="34" charset="-122"/>
                <a:cs typeface="Calibri" pitchFamily="34" charset="-120"/>
              </a:rPr>
              <a:t>RAROC = (Revenue − Cost − EL) ÷ Economic capital</a:t>
            </a:r>
            <a:endParaRPr lang="en-US" sz="1500" dirty="0"/>
          </a:p>
          <a:p>
            <a:pPr marL="0" indent="0" algn="l">
              <a:spcAft>
                <a:spcPts val="200"/>
              </a:spcAft>
              <a:buNone/>
            </a:pPr>
            <a:r>
              <a:rPr lang="en-US" sz="1400" dirty="0">
                <a:solidFill>
                  <a:srgbClr val="1E2533"/>
                </a:solidFill>
                <a:latin typeface="Calibri" pitchFamily="34" charset="0"/>
                <a:ea typeface="Calibri" pitchFamily="34" charset="-122"/>
                <a:cs typeface="Calibri" pitchFamily="34" charset="-120"/>
              </a:rPr>
              <a:t>Retail: (120 − 40 − 20) ÷ 400 = 15.00%</a:t>
            </a:r>
            <a:endParaRPr lang="en-US" sz="1500" dirty="0"/>
          </a:p>
          <a:p>
            <a:pPr marL="0" indent="0" algn="l">
              <a:spcAft>
                <a:spcPts val="200"/>
              </a:spcAft>
              <a:buNone/>
            </a:pPr>
            <a:r>
              <a:rPr lang="en-US" sz="1400" dirty="0">
                <a:solidFill>
                  <a:srgbClr val="1E2533"/>
                </a:solidFill>
                <a:latin typeface="Calibri" pitchFamily="34" charset="0"/>
                <a:ea typeface="Calibri" pitchFamily="34" charset="-122"/>
                <a:cs typeface="Calibri" pitchFamily="34" charset="-120"/>
              </a:rPr>
              <a:t>Corporate: (90 − 20 − 25) ÷ 250 = 18.00%</a:t>
            </a:r>
            <a:endParaRPr lang="en-US" sz="1500" dirty="0"/>
          </a:p>
          <a:p>
            <a:pPr marL="0" indent="0" algn="l">
              <a:spcAft>
                <a:spcPts val="800"/>
              </a:spcAft>
              <a:buNone/>
            </a:pPr>
            <a:r>
              <a:rPr lang="en-US" sz="1400" dirty="0">
                <a:solidFill>
                  <a:srgbClr val="1E2533"/>
                </a:solidFill>
                <a:latin typeface="Calibri" pitchFamily="34" charset="0"/>
                <a:ea typeface="Calibri" pitchFamily="34" charset="-122"/>
                <a:cs typeface="Calibri" pitchFamily="34" charset="-120"/>
              </a:rPr>
              <a:t>Treasury: (60 − 15 − 5) ÷ 320 = 12.50%</a:t>
            </a:r>
            <a:endParaRPr lang="en-US" sz="1500" dirty="0"/>
          </a:p>
          <a:p>
            <a:pPr marL="0" indent="0" algn="l">
              <a:spcAft>
                <a:spcPts val="600"/>
              </a:spcAft>
              <a:buNone/>
            </a:pPr>
            <a:r>
              <a:rPr lang="en-US" sz="1400" dirty="0">
                <a:solidFill>
                  <a:srgbClr val="1E2533"/>
                </a:solidFill>
                <a:latin typeface="Calibri" pitchFamily="34" charset="0"/>
                <a:ea typeface="Calibri" pitchFamily="34" charset="-122"/>
                <a:cs typeface="Calibri" pitchFamily="34" charset="-120"/>
              </a:rPr>
              <a:t>Decision: grow corporate lending, hold retail, and cut or re-price treasury trading, which earns less than the 14% cost of equity per unit of risk capital.</a:t>
            </a:r>
            <a:endParaRPr lang="en-US" sz="1500" dirty="0"/>
          </a:p>
          <a:p>
            <a:pPr marL="0" indent="0" algn="l">
              <a:buNone/>
            </a:pPr>
            <a:r>
              <a:rPr lang="en-US" sz="1150" i="1" dirty="0">
                <a:solidFill>
                  <a:srgbClr val="5C6577"/>
                </a:solidFill>
                <a:latin typeface="Calibri" pitchFamily="34" charset="0"/>
                <a:ea typeface="Calibri" pitchFamily="34" charset="-122"/>
                <a:cs typeface="Calibri" pitchFamily="34" charset="-120"/>
              </a:rPr>
              <a:t>Key: EL = expected loss; economic capital = capital needed to absorb unexpected loss at a chosen confidence level. Figures in ₹ crore, illustrative.</a:t>
            </a:r>
            <a:endParaRPr lang="en-US" sz="15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06</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6</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Principles of Risk Management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ISO 31000:2018 principles and the foundational rules of financial risk management</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Eight ISO 31000 principles built around value creation and protection</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Eight practical principles every finance professional should apply</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ISO 31000:2018 Principles: Value Creation and Protection at the Core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11183112" cy="566928"/>
          </a:xfrm>
          <a:prstGeom prst="roundRect">
            <a:avLst>
              <a:gd name="adj" fmla="val 12903"/>
            </a:avLst>
          </a:prstGeom>
          <a:solidFill>
            <a:srgbClr val="14213D"/>
          </a:solidFill>
          <a:ln w="15875">
            <a:solidFill>
              <a:srgbClr val="C9A227"/>
            </a:solidFill>
            <a:prstDash val="solid"/>
          </a:ln>
        </p:spPr>
      </p:sp>
      <p:sp>
        <p:nvSpPr>
          <p:cNvPr id="7" name="Text 5"/>
          <p:cNvSpPr txBox="1"/>
          <p:nvPr/>
        </p:nvSpPr>
        <p:spPr>
          <a:xfrm>
            <a:off x="685800" y="1307592"/>
            <a:ext cx="10817352" cy="420624"/>
          </a:xfrm>
          <a:prstGeom prst="rect">
            <a:avLst/>
          </a:prstGeom>
          <a:noFill/>
          <a:ln/>
        </p:spPr>
        <p:txBody>
          <a:bodyPr wrap="square" lIns="0" tIns="0" rIns="0" bIns="0" rtlCol="0" anchor="ctr"/>
          <a:lstStyle/>
          <a:p>
            <a:pPr marL="0" indent="0" algn="ctr">
              <a:buNone/>
            </a:pPr>
            <a:r>
              <a:rPr lang="en-US" sz="1700" b="1" dirty="0">
                <a:solidFill>
                  <a:srgbClr val="C9A227"/>
                </a:solidFill>
                <a:latin typeface="Cambria" pitchFamily="34" charset="0"/>
                <a:ea typeface="Cambria" pitchFamily="34" charset="-122"/>
                <a:cs typeface="Cambria" pitchFamily="34" charset="-120"/>
              </a:rPr>
              <a:t>Purpose of risk management: the creation and protection of value</a:t>
            </a:r>
            <a:endParaRPr lang="en-US" sz="1700" dirty="0"/>
          </a:p>
        </p:txBody>
      </p:sp>
      <p:sp>
        <p:nvSpPr>
          <p:cNvPr id="8" name="Shape 6"/>
          <p:cNvSpPr/>
          <p:nvPr/>
        </p:nvSpPr>
        <p:spPr>
          <a:xfrm>
            <a:off x="502920" y="201168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Shape 7"/>
          <p:cNvSpPr/>
          <p:nvPr/>
        </p:nvSpPr>
        <p:spPr>
          <a:xfrm>
            <a:off x="685800" y="2194560"/>
            <a:ext cx="457200" cy="457200"/>
          </a:xfrm>
          <a:prstGeom prst="ellipse">
            <a:avLst/>
          </a:prstGeom>
          <a:solidFill>
            <a:srgbClr val="14213D"/>
          </a:solidFill>
          <a:ln w="12700">
            <a:solidFill>
              <a:srgbClr val="14213D"/>
            </a:solidFill>
            <a:prstDash val="solid"/>
          </a:ln>
        </p:spPr>
      </p:sp>
      <p:pic>
        <p:nvPicPr>
          <p:cNvPr id="10" name="Image 0" descr="preencoded.png"/>
          <p:cNvPicPr>
            <a:picLocks noChangeAspect="1"/>
          </p:cNvPicPr>
          <p:nvPr/>
        </p:nvPicPr>
        <p:blipFill>
          <a:blip r:embed="rId3"/>
          <a:stretch>
            <a:fillRect/>
          </a:stretch>
        </p:blipFill>
        <p:spPr>
          <a:xfrm>
            <a:off x="795528" y="2304288"/>
            <a:ext cx="237744" cy="237744"/>
          </a:xfrm>
          <a:prstGeom prst="rect">
            <a:avLst/>
          </a:prstGeom>
        </p:spPr>
      </p:pic>
      <p:sp>
        <p:nvSpPr>
          <p:cNvPr id="11" name="Text 8"/>
          <p:cNvSpPr txBox="1"/>
          <p:nvPr/>
        </p:nvSpPr>
        <p:spPr>
          <a:xfrm>
            <a:off x="1234440" y="215798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Integrated</a:t>
            </a:r>
            <a:endParaRPr lang="en-US" sz="1550" dirty="0"/>
          </a:p>
        </p:txBody>
      </p:sp>
      <p:sp>
        <p:nvSpPr>
          <p:cNvPr id="12" name="Text 9"/>
          <p:cNvSpPr txBox="1"/>
          <p:nvPr/>
        </p:nvSpPr>
        <p:spPr>
          <a:xfrm>
            <a:off x="685800" y="272491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Part of all organisational activities, not a separate function.</a:t>
            </a:r>
            <a:endParaRPr lang="en-US" sz="1600" dirty="0"/>
          </a:p>
        </p:txBody>
      </p:sp>
      <p:sp>
        <p:nvSpPr>
          <p:cNvPr id="13" name="Shape 10"/>
          <p:cNvSpPr/>
          <p:nvPr/>
        </p:nvSpPr>
        <p:spPr>
          <a:xfrm>
            <a:off x="3367278" y="201168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4" name="Shape 11"/>
          <p:cNvSpPr/>
          <p:nvPr/>
        </p:nvSpPr>
        <p:spPr>
          <a:xfrm>
            <a:off x="3550158" y="2194560"/>
            <a:ext cx="457200" cy="457200"/>
          </a:xfrm>
          <a:prstGeom prst="ellipse">
            <a:avLst/>
          </a:prstGeom>
          <a:solidFill>
            <a:srgbClr val="14213D"/>
          </a:solidFill>
          <a:ln w="12700">
            <a:solidFill>
              <a:srgbClr val="14213D"/>
            </a:solidFill>
            <a:prstDash val="solid"/>
          </a:ln>
        </p:spPr>
      </p:sp>
      <p:pic>
        <p:nvPicPr>
          <p:cNvPr id="15" name="Image 1" descr="preencoded.png"/>
          <p:cNvPicPr>
            <a:picLocks noChangeAspect="1"/>
          </p:cNvPicPr>
          <p:nvPr/>
        </p:nvPicPr>
        <p:blipFill>
          <a:blip r:embed="rId4"/>
          <a:stretch>
            <a:fillRect/>
          </a:stretch>
        </p:blipFill>
        <p:spPr>
          <a:xfrm>
            <a:off x="3659886" y="2304288"/>
            <a:ext cx="237744" cy="237744"/>
          </a:xfrm>
          <a:prstGeom prst="rect">
            <a:avLst/>
          </a:prstGeom>
        </p:spPr>
      </p:pic>
      <p:sp>
        <p:nvSpPr>
          <p:cNvPr id="16" name="Text 12"/>
          <p:cNvSpPr txBox="1"/>
          <p:nvPr/>
        </p:nvSpPr>
        <p:spPr>
          <a:xfrm>
            <a:off x="4098798" y="215798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Structured &amp; comprehensive</a:t>
            </a:r>
            <a:endParaRPr lang="en-US" sz="1550" dirty="0"/>
          </a:p>
        </p:txBody>
      </p:sp>
      <p:sp>
        <p:nvSpPr>
          <p:cNvPr id="17" name="Text 13"/>
          <p:cNvSpPr txBox="1"/>
          <p:nvPr/>
        </p:nvSpPr>
        <p:spPr>
          <a:xfrm>
            <a:off x="3550158" y="272491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 consistent approach gives comparable, reliable results.</a:t>
            </a:r>
            <a:endParaRPr lang="en-US" sz="1600" dirty="0"/>
          </a:p>
        </p:txBody>
      </p:sp>
      <p:sp>
        <p:nvSpPr>
          <p:cNvPr id="18" name="Shape 14"/>
          <p:cNvSpPr/>
          <p:nvPr/>
        </p:nvSpPr>
        <p:spPr>
          <a:xfrm>
            <a:off x="6231636" y="201168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Shape 15"/>
          <p:cNvSpPr/>
          <p:nvPr/>
        </p:nvSpPr>
        <p:spPr>
          <a:xfrm>
            <a:off x="6414516" y="2194560"/>
            <a:ext cx="457200" cy="457200"/>
          </a:xfrm>
          <a:prstGeom prst="ellipse">
            <a:avLst/>
          </a:prstGeom>
          <a:solidFill>
            <a:srgbClr val="14213D"/>
          </a:solidFill>
          <a:ln w="12700">
            <a:solidFill>
              <a:srgbClr val="14213D"/>
            </a:solidFill>
            <a:prstDash val="solid"/>
          </a:ln>
        </p:spPr>
      </p:sp>
      <p:pic>
        <p:nvPicPr>
          <p:cNvPr id="20" name="Image 2" descr="preencoded.png"/>
          <p:cNvPicPr>
            <a:picLocks noChangeAspect="1"/>
          </p:cNvPicPr>
          <p:nvPr/>
        </p:nvPicPr>
        <p:blipFill>
          <a:blip r:embed="rId5"/>
          <a:stretch>
            <a:fillRect/>
          </a:stretch>
        </p:blipFill>
        <p:spPr>
          <a:xfrm>
            <a:off x="6524244" y="2304288"/>
            <a:ext cx="237744" cy="237744"/>
          </a:xfrm>
          <a:prstGeom prst="rect">
            <a:avLst/>
          </a:prstGeom>
        </p:spPr>
      </p:pic>
      <p:sp>
        <p:nvSpPr>
          <p:cNvPr id="21" name="Text 16"/>
          <p:cNvSpPr txBox="1"/>
          <p:nvPr/>
        </p:nvSpPr>
        <p:spPr>
          <a:xfrm>
            <a:off x="6963156" y="215798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Customised</a:t>
            </a:r>
            <a:endParaRPr lang="en-US" sz="1550" dirty="0"/>
          </a:p>
        </p:txBody>
      </p:sp>
      <p:sp>
        <p:nvSpPr>
          <p:cNvPr id="22" name="Text 17"/>
          <p:cNvSpPr txBox="1"/>
          <p:nvPr/>
        </p:nvSpPr>
        <p:spPr>
          <a:xfrm>
            <a:off x="6414516" y="272491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Tailored to the organisation's context and objectives.</a:t>
            </a:r>
            <a:endParaRPr lang="en-US" sz="1600" dirty="0"/>
          </a:p>
        </p:txBody>
      </p:sp>
      <p:sp>
        <p:nvSpPr>
          <p:cNvPr id="23" name="Shape 18"/>
          <p:cNvSpPr/>
          <p:nvPr/>
        </p:nvSpPr>
        <p:spPr>
          <a:xfrm>
            <a:off x="9095994" y="201168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4" name="Shape 19"/>
          <p:cNvSpPr/>
          <p:nvPr/>
        </p:nvSpPr>
        <p:spPr>
          <a:xfrm>
            <a:off x="9278874" y="2194560"/>
            <a:ext cx="457200" cy="457200"/>
          </a:xfrm>
          <a:prstGeom prst="ellipse">
            <a:avLst/>
          </a:prstGeom>
          <a:solidFill>
            <a:srgbClr val="14213D"/>
          </a:solidFill>
          <a:ln w="12700">
            <a:solidFill>
              <a:srgbClr val="14213D"/>
            </a:solidFill>
            <a:prstDash val="solid"/>
          </a:ln>
        </p:spPr>
      </p:sp>
      <p:pic>
        <p:nvPicPr>
          <p:cNvPr id="25" name="Image 3" descr="preencoded.png"/>
          <p:cNvPicPr>
            <a:picLocks noChangeAspect="1"/>
          </p:cNvPicPr>
          <p:nvPr/>
        </p:nvPicPr>
        <p:blipFill>
          <a:blip r:embed="rId6"/>
          <a:stretch>
            <a:fillRect/>
          </a:stretch>
        </p:blipFill>
        <p:spPr>
          <a:xfrm>
            <a:off x="9388602" y="2304288"/>
            <a:ext cx="237744" cy="237744"/>
          </a:xfrm>
          <a:prstGeom prst="rect">
            <a:avLst/>
          </a:prstGeom>
        </p:spPr>
      </p:pic>
      <p:sp>
        <p:nvSpPr>
          <p:cNvPr id="26" name="Text 20"/>
          <p:cNvSpPr txBox="1"/>
          <p:nvPr/>
        </p:nvSpPr>
        <p:spPr>
          <a:xfrm>
            <a:off x="9827514" y="215798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Inclusive</a:t>
            </a:r>
            <a:endParaRPr lang="en-US" sz="1550" dirty="0"/>
          </a:p>
        </p:txBody>
      </p:sp>
      <p:sp>
        <p:nvSpPr>
          <p:cNvPr id="27" name="Text 21"/>
          <p:cNvSpPr txBox="1"/>
          <p:nvPr/>
        </p:nvSpPr>
        <p:spPr>
          <a:xfrm>
            <a:off x="9278874" y="272491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Stakeholders are involved so their knowledge and views count.</a:t>
            </a:r>
            <a:endParaRPr lang="en-US" sz="1600" dirty="0"/>
          </a:p>
        </p:txBody>
      </p:sp>
      <p:sp>
        <p:nvSpPr>
          <p:cNvPr id="28" name="Shape 22"/>
          <p:cNvSpPr/>
          <p:nvPr/>
        </p:nvSpPr>
        <p:spPr>
          <a:xfrm>
            <a:off x="502920" y="425196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9" name="Shape 23"/>
          <p:cNvSpPr/>
          <p:nvPr/>
        </p:nvSpPr>
        <p:spPr>
          <a:xfrm>
            <a:off x="685800" y="4434840"/>
            <a:ext cx="457200" cy="457200"/>
          </a:xfrm>
          <a:prstGeom prst="ellipse">
            <a:avLst/>
          </a:prstGeom>
          <a:solidFill>
            <a:srgbClr val="14213D"/>
          </a:solidFill>
          <a:ln w="12700">
            <a:solidFill>
              <a:srgbClr val="14213D"/>
            </a:solidFill>
            <a:prstDash val="solid"/>
          </a:ln>
        </p:spPr>
      </p:sp>
      <p:pic>
        <p:nvPicPr>
          <p:cNvPr id="30" name="Image 4" descr="preencoded.png"/>
          <p:cNvPicPr>
            <a:picLocks noChangeAspect="1"/>
          </p:cNvPicPr>
          <p:nvPr/>
        </p:nvPicPr>
        <p:blipFill>
          <a:blip r:embed="rId7"/>
          <a:stretch>
            <a:fillRect/>
          </a:stretch>
        </p:blipFill>
        <p:spPr>
          <a:xfrm>
            <a:off x="795528" y="4544568"/>
            <a:ext cx="237744" cy="237744"/>
          </a:xfrm>
          <a:prstGeom prst="rect">
            <a:avLst/>
          </a:prstGeom>
        </p:spPr>
      </p:pic>
      <p:sp>
        <p:nvSpPr>
          <p:cNvPr id="31" name="Text 24"/>
          <p:cNvSpPr txBox="1"/>
          <p:nvPr/>
        </p:nvSpPr>
        <p:spPr>
          <a:xfrm>
            <a:off x="1234440" y="43982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Dynamic</a:t>
            </a:r>
            <a:endParaRPr lang="en-US" sz="1550" dirty="0"/>
          </a:p>
        </p:txBody>
      </p:sp>
      <p:sp>
        <p:nvSpPr>
          <p:cNvPr id="32" name="Text 25"/>
          <p:cNvSpPr txBox="1"/>
          <p:nvPr/>
        </p:nvSpPr>
        <p:spPr>
          <a:xfrm>
            <a:off x="685800" y="496519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Anticipates, detects and responds to change in a timely way.</a:t>
            </a:r>
            <a:endParaRPr lang="en-US" sz="1600" dirty="0"/>
          </a:p>
        </p:txBody>
      </p:sp>
      <p:sp>
        <p:nvSpPr>
          <p:cNvPr id="33" name="Shape 26"/>
          <p:cNvSpPr/>
          <p:nvPr/>
        </p:nvSpPr>
        <p:spPr>
          <a:xfrm>
            <a:off x="3367278" y="425196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4" name="Shape 27"/>
          <p:cNvSpPr/>
          <p:nvPr/>
        </p:nvSpPr>
        <p:spPr>
          <a:xfrm>
            <a:off x="3550158" y="4434840"/>
            <a:ext cx="457200" cy="457200"/>
          </a:xfrm>
          <a:prstGeom prst="ellipse">
            <a:avLst/>
          </a:prstGeom>
          <a:solidFill>
            <a:srgbClr val="14213D"/>
          </a:solidFill>
          <a:ln w="12700">
            <a:solidFill>
              <a:srgbClr val="14213D"/>
            </a:solidFill>
            <a:prstDash val="solid"/>
          </a:ln>
        </p:spPr>
      </p:sp>
      <p:pic>
        <p:nvPicPr>
          <p:cNvPr id="35" name="Image 5" descr="preencoded.png"/>
          <p:cNvPicPr>
            <a:picLocks noChangeAspect="1"/>
          </p:cNvPicPr>
          <p:nvPr/>
        </p:nvPicPr>
        <p:blipFill>
          <a:blip r:embed="rId8"/>
          <a:stretch>
            <a:fillRect/>
          </a:stretch>
        </p:blipFill>
        <p:spPr>
          <a:xfrm>
            <a:off x="3659886" y="4544568"/>
            <a:ext cx="237744" cy="237744"/>
          </a:xfrm>
          <a:prstGeom prst="rect">
            <a:avLst/>
          </a:prstGeom>
        </p:spPr>
      </p:pic>
      <p:sp>
        <p:nvSpPr>
          <p:cNvPr id="36" name="Text 28"/>
          <p:cNvSpPr txBox="1"/>
          <p:nvPr/>
        </p:nvSpPr>
        <p:spPr>
          <a:xfrm>
            <a:off x="4098798" y="43982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Best available information</a:t>
            </a:r>
            <a:endParaRPr lang="en-US" sz="1550" dirty="0"/>
          </a:p>
        </p:txBody>
      </p:sp>
      <p:sp>
        <p:nvSpPr>
          <p:cNvPr id="37" name="Text 29"/>
          <p:cNvSpPr txBox="1"/>
          <p:nvPr/>
        </p:nvSpPr>
        <p:spPr>
          <a:xfrm>
            <a:off x="3550158" y="496519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Uses historical data, forecasts and expert judgement, noting their limits.</a:t>
            </a:r>
            <a:endParaRPr lang="en-US" sz="1600" dirty="0"/>
          </a:p>
        </p:txBody>
      </p:sp>
      <p:sp>
        <p:nvSpPr>
          <p:cNvPr id="38" name="Shape 30"/>
          <p:cNvSpPr/>
          <p:nvPr/>
        </p:nvSpPr>
        <p:spPr>
          <a:xfrm>
            <a:off x="6231636" y="425196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9" name="Shape 31"/>
          <p:cNvSpPr/>
          <p:nvPr/>
        </p:nvSpPr>
        <p:spPr>
          <a:xfrm>
            <a:off x="6414516" y="4434840"/>
            <a:ext cx="457200" cy="457200"/>
          </a:xfrm>
          <a:prstGeom prst="ellipse">
            <a:avLst/>
          </a:prstGeom>
          <a:solidFill>
            <a:srgbClr val="14213D"/>
          </a:solidFill>
          <a:ln w="12700">
            <a:solidFill>
              <a:srgbClr val="14213D"/>
            </a:solidFill>
            <a:prstDash val="solid"/>
          </a:ln>
        </p:spPr>
      </p:sp>
      <p:pic>
        <p:nvPicPr>
          <p:cNvPr id="40" name="Image 6" descr="preencoded.png"/>
          <p:cNvPicPr>
            <a:picLocks noChangeAspect="1"/>
          </p:cNvPicPr>
          <p:nvPr/>
        </p:nvPicPr>
        <p:blipFill>
          <a:blip r:embed="rId9"/>
          <a:stretch>
            <a:fillRect/>
          </a:stretch>
        </p:blipFill>
        <p:spPr>
          <a:xfrm>
            <a:off x="6524244" y="4544568"/>
            <a:ext cx="237744" cy="237744"/>
          </a:xfrm>
          <a:prstGeom prst="rect">
            <a:avLst/>
          </a:prstGeom>
        </p:spPr>
      </p:pic>
      <p:sp>
        <p:nvSpPr>
          <p:cNvPr id="41" name="Text 32"/>
          <p:cNvSpPr txBox="1"/>
          <p:nvPr/>
        </p:nvSpPr>
        <p:spPr>
          <a:xfrm>
            <a:off x="6963156" y="43982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Human &amp; cultural factors</a:t>
            </a:r>
            <a:endParaRPr lang="en-US" sz="1550" dirty="0"/>
          </a:p>
        </p:txBody>
      </p:sp>
      <p:sp>
        <p:nvSpPr>
          <p:cNvPr id="42" name="Text 33"/>
          <p:cNvSpPr txBox="1"/>
          <p:nvPr/>
        </p:nvSpPr>
        <p:spPr>
          <a:xfrm>
            <a:off x="6414516" y="496519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Behaviour and culture shape every stage of risk management.</a:t>
            </a:r>
            <a:endParaRPr lang="en-US" sz="1600" dirty="0"/>
          </a:p>
        </p:txBody>
      </p:sp>
      <p:sp>
        <p:nvSpPr>
          <p:cNvPr id="43" name="Shape 34"/>
          <p:cNvSpPr/>
          <p:nvPr/>
        </p:nvSpPr>
        <p:spPr>
          <a:xfrm>
            <a:off x="9095994" y="4251960"/>
            <a:ext cx="2590038" cy="1965960"/>
          </a:xfrm>
          <a:prstGeom prst="roundRect">
            <a:avLst>
              <a:gd name="adj" fmla="val 372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44" name="Shape 35"/>
          <p:cNvSpPr/>
          <p:nvPr/>
        </p:nvSpPr>
        <p:spPr>
          <a:xfrm>
            <a:off x="9278874" y="4434840"/>
            <a:ext cx="457200" cy="457200"/>
          </a:xfrm>
          <a:prstGeom prst="ellipse">
            <a:avLst/>
          </a:prstGeom>
          <a:solidFill>
            <a:srgbClr val="14213D"/>
          </a:solidFill>
          <a:ln w="12700">
            <a:solidFill>
              <a:srgbClr val="14213D"/>
            </a:solidFill>
            <a:prstDash val="solid"/>
          </a:ln>
        </p:spPr>
      </p:sp>
      <p:pic>
        <p:nvPicPr>
          <p:cNvPr id="45" name="Image 7" descr="preencoded.png"/>
          <p:cNvPicPr>
            <a:picLocks noChangeAspect="1"/>
          </p:cNvPicPr>
          <p:nvPr/>
        </p:nvPicPr>
        <p:blipFill>
          <a:blip r:embed="rId10"/>
          <a:stretch>
            <a:fillRect/>
          </a:stretch>
        </p:blipFill>
        <p:spPr>
          <a:xfrm>
            <a:off x="9388602" y="4544568"/>
            <a:ext cx="237744" cy="237744"/>
          </a:xfrm>
          <a:prstGeom prst="rect">
            <a:avLst/>
          </a:prstGeom>
        </p:spPr>
      </p:pic>
      <p:sp>
        <p:nvSpPr>
          <p:cNvPr id="46" name="Text 36"/>
          <p:cNvSpPr txBox="1"/>
          <p:nvPr/>
        </p:nvSpPr>
        <p:spPr>
          <a:xfrm>
            <a:off x="9827514" y="43982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Continual improvement</a:t>
            </a:r>
            <a:endParaRPr lang="en-US" sz="1550" dirty="0"/>
          </a:p>
        </p:txBody>
      </p:sp>
      <p:sp>
        <p:nvSpPr>
          <p:cNvPr id="47" name="Text 37"/>
          <p:cNvSpPr txBox="1"/>
          <p:nvPr/>
        </p:nvSpPr>
        <p:spPr>
          <a:xfrm>
            <a:off x="9278874" y="4965192"/>
            <a:ext cx="2224278" cy="114300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Learning and experience improve the process over time.</a:t>
            </a:r>
            <a:endParaRPr lang="en-US" sz="1600" dirty="0"/>
          </a:p>
        </p:txBody>
      </p:sp>
      <p:sp>
        <p:nvSpPr>
          <p:cNvPr id="48"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Foundational Principles of Financial Risk Management</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44475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1. Risk and return travel together</a:t>
            </a:r>
            <a:endParaRPr lang="en-US" sz="1600" dirty="0"/>
          </a:p>
        </p:txBody>
      </p:sp>
      <p:sp>
        <p:nvSpPr>
          <p:cNvPr id="8" name="Text 6"/>
          <p:cNvSpPr txBox="1"/>
          <p:nvPr/>
        </p:nvSpPr>
        <p:spPr>
          <a:xfrm>
            <a:off x="685800" y="219456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Higher expected return requires bearing more risk; no free lunch.</a:t>
            </a:r>
            <a:endParaRPr lang="en-US" sz="1600" dirty="0"/>
          </a:p>
        </p:txBody>
      </p:sp>
      <p:sp>
        <p:nvSpPr>
          <p:cNvPr id="9" name="Shape 7"/>
          <p:cNvSpPr/>
          <p:nvPr/>
        </p:nvSpPr>
        <p:spPr>
          <a:xfrm>
            <a:off x="3367278"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3550158" y="144475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2. Diversify</a:t>
            </a:r>
            <a:endParaRPr lang="en-US" sz="1600" dirty="0"/>
          </a:p>
        </p:txBody>
      </p:sp>
      <p:sp>
        <p:nvSpPr>
          <p:cNvPr id="11" name="Text 9"/>
          <p:cNvSpPr txBox="1"/>
          <p:nvPr/>
        </p:nvSpPr>
        <p:spPr>
          <a:xfrm>
            <a:off x="3550158" y="219456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Low-correlated exposures reduce total risk without cutting expected return.</a:t>
            </a:r>
            <a:endParaRPr lang="en-US" sz="1600" dirty="0"/>
          </a:p>
        </p:txBody>
      </p:sp>
      <p:sp>
        <p:nvSpPr>
          <p:cNvPr id="12" name="Shape 10"/>
          <p:cNvSpPr/>
          <p:nvPr/>
        </p:nvSpPr>
        <p:spPr>
          <a:xfrm>
            <a:off x="6231636"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Text 11"/>
          <p:cNvSpPr txBox="1"/>
          <p:nvPr/>
        </p:nvSpPr>
        <p:spPr>
          <a:xfrm>
            <a:off x="6414516" y="144475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3. Know what you own</a:t>
            </a:r>
            <a:endParaRPr lang="en-US" sz="1600" dirty="0"/>
          </a:p>
        </p:txBody>
      </p:sp>
      <p:sp>
        <p:nvSpPr>
          <p:cNvPr id="14" name="Text 12"/>
          <p:cNvSpPr txBox="1"/>
          <p:nvPr/>
        </p:nvSpPr>
        <p:spPr>
          <a:xfrm>
            <a:off x="6414516" y="219456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Map every exposure: notional, sensitivity, counterparty, liquidity.</a:t>
            </a:r>
            <a:endParaRPr lang="en-US" sz="1600" dirty="0"/>
          </a:p>
        </p:txBody>
      </p:sp>
      <p:sp>
        <p:nvSpPr>
          <p:cNvPr id="15" name="Shape 13"/>
          <p:cNvSpPr/>
          <p:nvPr/>
        </p:nvSpPr>
        <p:spPr>
          <a:xfrm>
            <a:off x="9095994"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6" name="Text 14"/>
          <p:cNvSpPr txBox="1"/>
          <p:nvPr/>
        </p:nvSpPr>
        <p:spPr>
          <a:xfrm>
            <a:off x="9278874" y="144475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4. Never risk more than you can afford to lose</a:t>
            </a:r>
            <a:endParaRPr lang="en-US" sz="1600" dirty="0"/>
          </a:p>
        </p:txBody>
      </p:sp>
      <p:sp>
        <p:nvSpPr>
          <p:cNvPr id="17" name="Text 15"/>
          <p:cNvSpPr txBox="1"/>
          <p:nvPr/>
        </p:nvSpPr>
        <p:spPr>
          <a:xfrm>
            <a:off x="9278874" y="219456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Stay within risk capacity; survival comes before return.</a:t>
            </a:r>
            <a:endParaRPr lang="en-US" sz="1600" dirty="0"/>
          </a:p>
        </p:txBody>
      </p:sp>
      <p:sp>
        <p:nvSpPr>
          <p:cNvPr id="18" name="Shape 16"/>
          <p:cNvSpPr/>
          <p:nvPr/>
        </p:nvSpPr>
        <p:spPr>
          <a:xfrm>
            <a:off x="502920"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Text 17"/>
          <p:cNvSpPr txBox="1"/>
          <p:nvPr/>
        </p:nvSpPr>
        <p:spPr>
          <a:xfrm>
            <a:off x="685800" y="405079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5. Consider both odds and impact</a:t>
            </a:r>
            <a:endParaRPr lang="en-US" sz="1600" dirty="0"/>
          </a:p>
        </p:txBody>
      </p:sp>
      <p:sp>
        <p:nvSpPr>
          <p:cNvPr id="20" name="Text 18"/>
          <p:cNvSpPr txBox="1"/>
          <p:nvPr/>
        </p:nvSpPr>
        <p:spPr>
          <a:xfrm>
            <a:off x="685800" y="480060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Low-probability, high-severity events can be fatal (tail risk).</a:t>
            </a:r>
            <a:endParaRPr lang="en-US" sz="1600" dirty="0"/>
          </a:p>
        </p:txBody>
      </p:sp>
      <p:sp>
        <p:nvSpPr>
          <p:cNvPr id="21" name="Shape 19"/>
          <p:cNvSpPr/>
          <p:nvPr/>
        </p:nvSpPr>
        <p:spPr>
          <a:xfrm>
            <a:off x="3367278"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Text 20"/>
          <p:cNvSpPr txBox="1"/>
          <p:nvPr/>
        </p:nvSpPr>
        <p:spPr>
          <a:xfrm>
            <a:off x="3550158" y="405079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6. Independence</a:t>
            </a:r>
            <a:endParaRPr lang="en-US" sz="1600" dirty="0"/>
          </a:p>
        </p:txBody>
      </p:sp>
      <p:sp>
        <p:nvSpPr>
          <p:cNvPr id="23" name="Text 21"/>
          <p:cNvSpPr txBox="1"/>
          <p:nvPr/>
        </p:nvSpPr>
        <p:spPr>
          <a:xfrm>
            <a:off x="3550158" y="480060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Those who take risk should not be the ones who measure and approve it.</a:t>
            </a:r>
            <a:endParaRPr lang="en-US" sz="1600" dirty="0"/>
          </a:p>
        </p:txBody>
      </p:sp>
      <p:sp>
        <p:nvSpPr>
          <p:cNvPr id="24" name="Shape 22"/>
          <p:cNvSpPr/>
          <p:nvPr/>
        </p:nvSpPr>
        <p:spPr>
          <a:xfrm>
            <a:off x="6231636"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5" name="Text 23"/>
          <p:cNvSpPr txBox="1"/>
          <p:nvPr/>
        </p:nvSpPr>
        <p:spPr>
          <a:xfrm>
            <a:off x="6414516" y="405079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7. Proportionality</a:t>
            </a:r>
            <a:endParaRPr lang="en-US" sz="1600" dirty="0"/>
          </a:p>
        </p:txBody>
      </p:sp>
      <p:sp>
        <p:nvSpPr>
          <p:cNvPr id="26" name="Text 24"/>
          <p:cNvSpPr txBox="1"/>
          <p:nvPr/>
        </p:nvSpPr>
        <p:spPr>
          <a:xfrm>
            <a:off x="6414516" y="480060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The cost of a control should not exceed the loss it prevents.</a:t>
            </a:r>
            <a:endParaRPr lang="en-US" sz="1600" dirty="0"/>
          </a:p>
        </p:txBody>
      </p:sp>
      <p:sp>
        <p:nvSpPr>
          <p:cNvPr id="27" name="Shape 25"/>
          <p:cNvSpPr/>
          <p:nvPr/>
        </p:nvSpPr>
        <p:spPr>
          <a:xfrm>
            <a:off x="9095994"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8" name="Text 26"/>
          <p:cNvSpPr txBox="1"/>
          <p:nvPr/>
        </p:nvSpPr>
        <p:spPr>
          <a:xfrm>
            <a:off x="9278874" y="4050792"/>
            <a:ext cx="2224278" cy="731520"/>
          </a:xfrm>
          <a:prstGeom prst="rect">
            <a:avLst/>
          </a:prstGeom>
          <a:noFill/>
          <a:ln/>
        </p:spPr>
        <p:txBody>
          <a:bodyPr wrap="square" lIns="0" tIns="0" rIns="0" bIns="0" rtlCol="0" anchor="t"/>
          <a:lstStyle/>
          <a:p>
            <a:pPr marL="0" indent="0" algn="l">
              <a:buNone/>
            </a:pPr>
            <a:r>
              <a:rPr lang="en-US" sz="1600" b="1" dirty="0">
                <a:solidFill>
                  <a:srgbClr val="14213D"/>
                </a:solidFill>
                <a:latin typeface="Cambria" pitchFamily="34" charset="0"/>
                <a:ea typeface="Cambria" pitchFamily="34" charset="-122"/>
                <a:cs typeface="Cambria" pitchFamily="34" charset="-120"/>
              </a:rPr>
              <a:t>8. Look at the whole</a:t>
            </a:r>
            <a:endParaRPr lang="en-US" sz="1600" dirty="0"/>
          </a:p>
        </p:txBody>
      </p:sp>
      <p:sp>
        <p:nvSpPr>
          <p:cNvPr id="29" name="Text 27"/>
          <p:cNvSpPr txBox="1"/>
          <p:nvPr/>
        </p:nvSpPr>
        <p:spPr>
          <a:xfrm>
            <a:off x="9278874" y="4800600"/>
            <a:ext cx="2224278" cy="130759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Aggregate risks across units; correlations rise in a crisis.</a:t>
            </a:r>
            <a:endParaRPr lang="en-US" sz="1600" dirty="0"/>
          </a:p>
        </p:txBody>
      </p:sp>
      <p:sp>
        <p:nvSpPr>
          <p:cNvPr id="30"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07</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7</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Risk Management vs Enterprise Risk Management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From managing risks one at a time to managing the portfolio of risks as a whole</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Point-by-point comparison</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COSO ERM (2017) components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Illustration: silo hedging vs enterprise netting</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Traditional Risk Management vs Enterprise Risk Management (ERM)</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553712"/>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Basis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Traditional (silo) risk management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Enterprise risk management (ERM)</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Scope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Individual risks, mainly financial and insurable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All risks: strategic, financial, operational, compliance, reputational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Approach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Silo-based: each department manages its own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Integrated, portfolio view across the enterprise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Focus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Loss avoidance, hazards, downside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Value creation and protection; upside and downside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Aggregation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Risks added up (or ignored) separately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Correlations and natural hedges recognised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Link to strategy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Weak; risk treated after strategy is set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Strong; risk considered while setting strategy and objectives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Ownership</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Risk or insurance manager, treasury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Board, CRO and every business head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Reporting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Periodic, departmental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Enterprise risk profile to the board, forward-looking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2064">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Frameworks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Policy-specific rules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COSO ERM (2017), ISO 31000 (2018)</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r>
              <a:rPr lang="en-US" sz="2600" b="1" dirty="0">
                <a:solidFill>
                  <a:srgbClr val="14213D"/>
                </a:solidFill>
                <a:latin typeface="Cambria" pitchFamily="34" charset="0"/>
                <a:ea typeface="Cambria" pitchFamily="34" charset="-122"/>
                <a:cs typeface="Cambria" pitchFamily="34" charset="-120"/>
              </a:rPr>
              <a:t>COSO ERM (2017): Integrating with Strategy and </a:t>
            </a:r>
            <a:r>
              <a:rPr lang="en-US" sz="2600" b="1" dirty="0" smtClean="0">
                <a:solidFill>
                  <a:srgbClr val="14213D"/>
                </a:solidFill>
                <a:latin typeface="Cambria" pitchFamily="34" charset="0"/>
                <a:ea typeface="Cambria" pitchFamily="34" charset="-122"/>
                <a:cs typeface="Cambria" pitchFamily="34" charset="-120"/>
              </a:rPr>
              <a:t>Performance         </a:t>
            </a:r>
            <a:r>
              <a:rPr lang="en-GB" sz="1000" b="1" dirty="0" smtClean="0"/>
              <a:t>Committee </a:t>
            </a:r>
            <a:r>
              <a:rPr lang="en-GB" sz="1000" b="1" dirty="0"/>
              <a:t>of Sponsoring Organizations of the </a:t>
            </a:r>
            <a:r>
              <a:rPr lang="en-GB" sz="1000" b="1" dirty="0" err="1"/>
              <a:t>Treadway</a:t>
            </a:r>
            <a:r>
              <a:rPr lang="en-GB" sz="1000" b="1" dirty="0"/>
              <a:t> Commission (COSO)</a:t>
            </a:r>
            <a:r>
              <a:rPr lang="en-GB" sz="1000" dirty="0"/>
              <a:t> </a:t>
            </a:r>
            <a:endParaRPr lang="en-US" sz="10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645920"/>
            <a:ext cx="2053742" cy="3429000"/>
          </a:xfrm>
          <a:prstGeom prst="roundRect">
            <a:avLst>
              <a:gd name="adj" fmla="val 35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1209751" y="1325880"/>
            <a:ext cx="640080" cy="640080"/>
          </a:xfrm>
          <a:prstGeom prst="ellipse">
            <a:avLst/>
          </a:prstGeom>
          <a:solidFill>
            <a:srgbClr val="14213D"/>
          </a:solidFill>
          <a:ln w="19050">
            <a:solidFill>
              <a:srgbClr val="C9A227"/>
            </a:solidFill>
            <a:prstDash val="solid"/>
          </a:ln>
        </p:spPr>
      </p:sp>
      <p:sp>
        <p:nvSpPr>
          <p:cNvPr id="8" name="Text 6"/>
          <p:cNvSpPr txBox="1"/>
          <p:nvPr/>
        </p:nvSpPr>
        <p:spPr>
          <a:xfrm>
            <a:off x="1209751"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612648" y="2057400"/>
            <a:ext cx="1834286" cy="777240"/>
          </a:xfrm>
          <a:prstGeom prst="rect">
            <a:avLst/>
          </a:prstGeom>
          <a:noFill/>
          <a:ln/>
        </p:spPr>
        <p:txBody>
          <a:bodyPr wrap="square" lIns="0" tIns="0" rIns="0" bIns="0" rtlCol="0" anchor="ctr"/>
          <a:lstStyle/>
          <a:p>
            <a:pPr marL="0" indent="0" algn="ctr">
              <a:buNone/>
            </a:pPr>
            <a:r>
              <a:rPr lang="en-US" sz="1450" b="1" dirty="0">
                <a:solidFill>
                  <a:srgbClr val="14213D"/>
                </a:solidFill>
                <a:latin typeface="Cambria" pitchFamily="34" charset="0"/>
                <a:ea typeface="Cambria" pitchFamily="34" charset="-122"/>
                <a:cs typeface="Cambria" pitchFamily="34" charset="-120"/>
              </a:rPr>
              <a:t>Governance &amp; Culture</a:t>
            </a:r>
            <a:endParaRPr lang="en-US" sz="1450" dirty="0"/>
          </a:p>
        </p:txBody>
      </p:sp>
      <p:sp>
        <p:nvSpPr>
          <p:cNvPr id="10" name="Text 8"/>
          <p:cNvSpPr txBox="1"/>
          <p:nvPr/>
        </p:nvSpPr>
        <p:spPr>
          <a:xfrm>
            <a:off x="640080" y="2862072"/>
            <a:ext cx="1779422" cy="212140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Board risk oversight, operating structures, desired culture, core values, talent.</a:t>
            </a:r>
            <a:endParaRPr lang="en-US" sz="1450" dirty="0"/>
          </a:p>
        </p:txBody>
      </p:sp>
      <p:sp>
        <p:nvSpPr>
          <p:cNvPr id="11" name="Shape 9"/>
          <p:cNvSpPr/>
          <p:nvPr/>
        </p:nvSpPr>
        <p:spPr>
          <a:xfrm>
            <a:off x="2588666" y="1527048"/>
            <a:ext cx="164592" cy="237744"/>
          </a:xfrm>
          <a:prstGeom prst="chevron">
            <a:avLst/>
          </a:prstGeom>
          <a:solidFill>
            <a:srgbClr val="C9A227"/>
          </a:solidFill>
          <a:ln w="12700">
            <a:solidFill>
              <a:srgbClr val="C9A227"/>
            </a:solidFill>
            <a:prstDash val="solid"/>
          </a:ln>
        </p:spPr>
      </p:sp>
      <p:sp>
        <p:nvSpPr>
          <p:cNvPr id="12" name="Shape 10"/>
          <p:cNvSpPr/>
          <p:nvPr/>
        </p:nvSpPr>
        <p:spPr>
          <a:xfrm>
            <a:off x="2785262" y="1645920"/>
            <a:ext cx="2053742" cy="3429000"/>
          </a:xfrm>
          <a:prstGeom prst="roundRect">
            <a:avLst>
              <a:gd name="adj" fmla="val 35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1"/>
          <p:cNvSpPr/>
          <p:nvPr/>
        </p:nvSpPr>
        <p:spPr>
          <a:xfrm>
            <a:off x="3492094" y="1325880"/>
            <a:ext cx="640080" cy="640080"/>
          </a:xfrm>
          <a:prstGeom prst="ellipse">
            <a:avLst/>
          </a:prstGeom>
          <a:solidFill>
            <a:srgbClr val="14213D"/>
          </a:solidFill>
          <a:ln w="19050">
            <a:solidFill>
              <a:srgbClr val="C9A227"/>
            </a:solidFill>
            <a:prstDash val="solid"/>
          </a:ln>
        </p:spPr>
      </p:sp>
      <p:sp>
        <p:nvSpPr>
          <p:cNvPr id="14" name="Text 12"/>
          <p:cNvSpPr txBox="1"/>
          <p:nvPr/>
        </p:nvSpPr>
        <p:spPr>
          <a:xfrm>
            <a:off x="3492094"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2894990" y="2057400"/>
            <a:ext cx="1834286" cy="777240"/>
          </a:xfrm>
          <a:prstGeom prst="rect">
            <a:avLst/>
          </a:prstGeom>
          <a:noFill/>
          <a:ln/>
        </p:spPr>
        <p:txBody>
          <a:bodyPr wrap="square" lIns="0" tIns="0" rIns="0" bIns="0" rtlCol="0" anchor="ctr"/>
          <a:lstStyle/>
          <a:p>
            <a:pPr marL="0" indent="0" algn="ctr">
              <a:buNone/>
            </a:pPr>
            <a:r>
              <a:rPr lang="en-US" sz="1450" b="1" dirty="0">
                <a:solidFill>
                  <a:srgbClr val="14213D"/>
                </a:solidFill>
                <a:latin typeface="Cambria" pitchFamily="34" charset="0"/>
                <a:ea typeface="Cambria" pitchFamily="34" charset="-122"/>
                <a:cs typeface="Cambria" pitchFamily="34" charset="-120"/>
              </a:rPr>
              <a:t>Strategy &amp; Objective-Setting</a:t>
            </a:r>
            <a:endParaRPr lang="en-US" sz="1450" dirty="0"/>
          </a:p>
        </p:txBody>
      </p:sp>
      <p:sp>
        <p:nvSpPr>
          <p:cNvPr id="16" name="Text 14"/>
          <p:cNvSpPr txBox="1"/>
          <p:nvPr/>
        </p:nvSpPr>
        <p:spPr>
          <a:xfrm>
            <a:off x="2922422" y="2862072"/>
            <a:ext cx="1779422" cy="212140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Analyse business context, define risk appetite, evaluate alternative strategies.</a:t>
            </a:r>
            <a:endParaRPr lang="en-US" sz="1450" dirty="0"/>
          </a:p>
        </p:txBody>
      </p:sp>
      <p:sp>
        <p:nvSpPr>
          <p:cNvPr id="17" name="Shape 15"/>
          <p:cNvSpPr/>
          <p:nvPr/>
        </p:nvSpPr>
        <p:spPr>
          <a:xfrm>
            <a:off x="4871009" y="1527048"/>
            <a:ext cx="164592" cy="237744"/>
          </a:xfrm>
          <a:prstGeom prst="chevron">
            <a:avLst/>
          </a:prstGeom>
          <a:solidFill>
            <a:srgbClr val="C9A227"/>
          </a:solidFill>
          <a:ln w="12700">
            <a:solidFill>
              <a:srgbClr val="C9A227"/>
            </a:solidFill>
            <a:prstDash val="solid"/>
          </a:ln>
        </p:spPr>
      </p:sp>
      <p:sp>
        <p:nvSpPr>
          <p:cNvPr id="18" name="Shape 16"/>
          <p:cNvSpPr/>
          <p:nvPr/>
        </p:nvSpPr>
        <p:spPr>
          <a:xfrm>
            <a:off x="5067605" y="1645920"/>
            <a:ext cx="2053742" cy="3429000"/>
          </a:xfrm>
          <a:prstGeom prst="roundRect">
            <a:avLst>
              <a:gd name="adj" fmla="val 35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Shape 17"/>
          <p:cNvSpPr/>
          <p:nvPr/>
        </p:nvSpPr>
        <p:spPr>
          <a:xfrm>
            <a:off x="5774436" y="1325880"/>
            <a:ext cx="640080" cy="640080"/>
          </a:xfrm>
          <a:prstGeom prst="ellipse">
            <a:avLst/>
          </a:prstGeom>
          <a:solidFill>
            <a:srgbClr val="14213D"/>
          </a:solidFill>
          <a:ln w="19050">
            <a:solidFill>
              <a:srgbClr val="C9A227"/>
            </a:solidFill>
            <a:prstDash val="solid"/>
          </a:ln>
        </p:spPr>
      </p:sp>
      <p:sp>
        <p:nvSpPr>
          <p:cNvPr id="20" name="Text 18"/>
          <p:cNvSpPr txBox="1"/>
          <p:nvPr/>
        </p:nvSpPr>
        <p:spPr>
          <a:xfrm>
            <a:off x="5774436"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5177333" y="2057400"/>
            <a:ext cx="1834286" cy="777240"/>
          </a:xfrm>
          <a:prstGeom prst="rect">
            <a:avLst/>
          </a:prstGeom>
          <a:noFill/>
          <a:ln/>
        </p:spPr>
        <p:txBody>
          <a:bodyPr wrap="square" lIns="0" tIns="0" rIns="0" bIns="0" rtlCol="0" anchor="ctr"/>
          <a:lstStyle/>
          <a:p>
            <a:pPr marL="0" indent="0" algn="ctr">
              <a:buNone/>
            </a:pPr>
            <a:r>
              <a:rPr lang="en-US" sz="1450" b="1" dirty="0">
                <a:solidFill>
                  <a:srgbClr val="14213D"/>
                </a:solidFill>
                <a:latin typeface="Cambria" pitchFamily="34" charset="0"/>
                <a:ea typeface="Cambria" pitchFamily="34" charset="-122"/>
                <a:cs typeface="Cambria" pitchFamily="34" charset="-120"/>
              </a:rPr>
              <a:t>Performance</a:t>
            </a:r>
            <a:endParaRPr lang="en-US" sz="1450" dirty="0"/>
          </a:p>
        </p:txBody>
      </p:sp>
      <p:sp>
        <p:nvSpPr>
          <p:cNvPr id="22" name="Text 20"/>
          <p:cNvSpPr txBox="1"/>
          <p:nvPr/>
        </p:nvSpPr>
        <p:spPr>
          <a:xfrm>
            <a:off x="5204765" y="2862072"/>
            <a:ext cx="1779422" cy="212140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Identify, assess and prioritise risks; implement responses; take a portfolio view.</a:t>
            </a:r>
            <a:endParaRPr lang="en-US" sz="1450" dirty="0"/>
          </a:p>
        </p:txBody>
      </p:sp>
      <p:sp>
        <p:nvSpPr>
          <p:cNvPr id="23" name="Shape 21"/>
          <p:cNvSpPr/>
          <p:nvPr/>
        </p:nvSpPr>
        <p:spPr>
          <a:xfrm>
            <a:off x="7153351" y="1527048"/>
            <a:ext cx="164592" cy="237744"/>
          </a:xfrm>
          <a:prstGeom prst="chevron">
            <a:avLst/>
          </a:prstGeom>
          <a:solidFill>
            <a:srgbClr val="C9A227"/>
          </a:solidFill>
          <a:ln w="12700">
            <a:solidFill>
              <a:srgbClr val="C9A227"/>
            </a:solidFill>
            <a:prstDash val="solid"/>
          </a:ln>
        </p:spPr>
      </p:sp>
      <p:sp>
        <p:nvSpPr>
          <p:cNvPr id="24" name="Shape 22"/>
          <p:cNvSpPr/>
          <p:nvPr/>
        </p:nvSpPr>
        <p:spPr>
          <a:xfrm>
            <a:off x="7349947" y="1645920"/>
            <a:ext cx="2053742" cy="3429000"/>
          </a:xfrm>
          <a:prstGeom prst="roundRect">
            <a:avLst>
              <a:gd name="adj" fmla="val 35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5" name="Shape 23"/>
          <p:cNvSpPr/>
          <p:nvPr/>
        </p:nvSpPr>
        <p:spPr>
          <a:xfrm>
            <a:off x="8056778" y="1325880"/>
            <a:ext cx="640080" cy="640080"/>
          </a:xfrm>
          <a:prstGeom prst="ellipse">
            <a:avLst/>
          </a:prstGeom>
          <a:solidFill>
            <a:srgbClr val="14213D"/>
          </a:solidFill>
          <a:ln w="19050">
            <a:solidFill>
              <a:srgbClr val="C9A227"/>
            </a:solidFill>
            <a:prstDash val="solid"/>
          </a:ln>
        </p:spPr>
      </p:sp>
      <p:sp>
        <p:nvSpPr>
          <p:cNvPr id="26" name="Text 24"/>
          <p:cNvSpPr txBox="1"/>
          <p:nvPr/>
        </p:nvSpPr>
        <p:spPr>
          <a:xfrm>
            <a:off x="8056778"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4</a:t>
            </a:r>
            <a:endParaRPr lang="en-US" sz="1800" dirty="0"/>
          </a:p>
        </p:txBody>
      </p:sp>
      <p:sp>
        <p:nvSpPr>
          <p:cNvPr id="27" name="Text 25"/>
          <p:cNvSpPr txBox="1"/>
          <p:nvPr/>
        </p:nvSpPr>
        <p:spPr>
          <a:xfrm>
            <a:off x="7459675" y="2057400"/>
            <a:ext cx="1834286" cy="777240"/>
          </a:xfrm>
          <a:prstGeom prst="rect">
            <a:avLst/>
          </a:prstGeom>
          <a:noFill/>
          <a:ln/>
        </p:spPr>
        <p:txBody>
          <a:bodyPr wrap="square" lIns="0" tIns="0" rIns="0" bIns="0" rtlCol="0" anchor="ctr"/>
          <a:lstStyle/>
          <a:p>
            <a:pPr marL="0" indent="0" algn="ctr">
              <a:buNone/>
            </a:pPr>
            <a:r>
              <a:rPr lang="en-US" sz="1450" b="1" dirty="0">
                <a:solidFill>
                  <a:srgbClr val="14213D"/>
                </a:solidFill>
                <a:latin typeface="Cambria" pitchFamily="34" charset="0"/>
                <a:ea typeface="Cambria" pitchFamily="34" charset="-122"/>
                <a:cs typeface="Cambria" pitchFamily="34" charset="-120"/>
              </a:rPr>
              <a:t>Review &amp; Revision</a:t>
            </a:r>
            <a:endParaRPr lang="en-US" sz="1450" dirty="0"/>
          </a:p>
        </p:txBody>
      </p:sp>
      <p:sp>
        <p:nvSpPr>
          <p:cNvPr id="28" name="Text 26"/>
          <p:cNvSpPr txBox="1"/>
          <p:nvPr/>
        </p:nvSpPr>
        <p:spPr>
          <a:xfrm>
            <a:off x="7487107" y="2862072"/>
            <a:ext cx="1779422" cy="212140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Assess substantial change; review risk and performance; improve ERM.</a:t>
            </a:r>
            <a:endParaRPr lang="en-US" sz="1450" dirty="0"/>
          </a:p>
        </p:txBody>
      </p:sp>
      <p:sp>
        <p:nvSpPr>
          <p:cNvPr id="29" name="Shape 27"/>
          <p:cNvSpPr/>
          <p:nvPr/>
        </p:nvSpPr>
        <p:spPr>
          <a:xfrm>
            <a:off x="9435694" y="1527048"/>
            <a:ext cx="164592" cy="237744"/>
          </a:xfrm>
          <a:prstGeom prst="chevron">
            <a:avLst/>
          </a:prstGeom>
          <a:solidFill>
            <a:srgbClr val="C9A227"/>
          </a:solidFill>
          <a:ln w="12700">
            <a:solidFill>
              <a:srgbClr val="C9A227"/>
            </a:solidFill>
            <a:prstDash val="solid"/>
          </a:ln>
        </p:spPr>
      </p:sp>
      <p:sp>
        <p:nvSpPr>
          <p:cNvPr id="30" name="Shape 28"/>
          <p:cNvSpPr/>
          <p:nvPr/>
        </p:nvSpPr>
        <p:spPr>
          <a:xfrm>
            <a:off x="9632290" y="1645920"/>
            <a:ext cx="2053742" cy="3429000"/>
          </a:xfrm>
          <a:prstGeom prst="roundRect">
            <a:avLst>
              <a:gd name="adj" fmla="val 356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1" name="Shape 29"/>
          <p:cNvSpPr/>
          <p:nvPr/>
        </p:nvSpPr>
        <p:spPr>
          <a:xfrm>
            <a:off x="10339121" y="1325880"/>
            <a:ext cx="640080" cy="640080"/>
          </a:xfrm>
          <a:prstGeom prst="ellipse">
            <a:avLst/>
          </a:prstGeom>
          <a:solidFill>
            <a:srgbClr val="14213D"/>
          </a:solidFill>
          <a:ln w="19050">
            <a:solidFill>
              <a:srgbClr val="C9A227"/>
            </a:solidFill>
            <a:prstDash val="solid"/>
          </a:ln>
        </p:spPr>
      </p:sp>
      <p:sp>
        <p:nvSpPr>
          <p:cNvPr id="32" name="Text 30"/>
          <p:cNvSpPr txBox="1"/>
          <p:nvPr/>
        </p:nvSpPr>
        <p:spPr>
          <a:xfrm>
            <a:off x="10339121"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5</a:t>
            </a:r>
            <a:endParaRPr lang="en-US" sz="1800" dirty="0"/>
          </a:p>
        </p:txBody>
      </p:sp>
      <p:sp>
        <p:nvSpPr>
          <p:cNvPr id="33" name="Text 31"/>
          <p:cNvSpPr txBox="1"/>
          <p:nvPr/>
        </p:nvSpPr>
        <p:spPr>
          <a:xfrm>
            <a:off x="9742018" y="2057400"/>
            <a:ext cx="1834286" cy="777240"/>
          </a:xfrm>
          <a:prstGeom prst="rect">
            <a:avLst/>
          </a:prstGeom>
          <a:noFill/>
          <a:ln/>
        </p:spPr>
        <p:txBody>
          <a:bodyPr wrap="square" lIns="0" tIns="0" rIns="0" bIns="0" rtlCol="0" anchor="ctr"/>
          <a:lstStyle/>
          <a:p>
            <a:pPr marL="0" indent="0" algn="ctr">
              <a:buNone/>
            </a:pPr>
            <a:r>
              <a:rPr lang="en-US" sz="1450" b="1" dirty="0">
                <a:solidFill>
                  <a:srgbClr val="14213D"/>
                </a:solidFill>
                <a:latin typeface="Cambria" pitchFamily="34" charset="0"/>
                <a:ea typeface="Cambria" pitchFamily="34" charset="-122"/>
                <a:cs typeface="Cambria" pitchFamily="34" charset="-120"/>
              </a:rPr>
              <a:t>Information, Communication &amp; Reporting</a:t>
            </a:r>
            <a:endParaRPr lang="en-US" sz="1450" dirty="0"/>
          </a:p>
        </p:txBody>
      </p:sp>
      <p:sp>
        <p:nvSpPr>
          <p:cNvPr id="34" name="Text 32"/>
          <p:cNvSpPr txBox="1"/>
          <p:nvPr/>
        </p:nvSpPr>
        <p:spPr>
          <a:xfrm>
            <a:off x="9769450" y="2862072"/>
            <a:ext cx="1779422" cy="212140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Use information and technology; communicate risk information; report on risk, culture and performance.</a:t>
            </a:r>
            <a:endParaRPr lang="en-US" sz="1450" dirty="0"/>
          </a:p>
        </p:txBody>
      </p:sp>
      <p:sp>
        <p:nvSpPr>
          <p:cNvPr id="35" name="Shape 33"/>
          <p:cNvSpPr/>
          <p:nvPr/>
        </p:nvSpPr>
        <p:spPr>
          <a:xfrm>
            <a:off x="502920" y="5303520"/>
            <a:ext cx="11183112" cy="914400"/>
          </a:xfrm>
          <a:prstGeom prst="roundRect">
            <a:avLst>
              <a:gd name="adj" fmla="val 8000"/>
            </a:avLst>
          </a:prstGeom>
          <a:solidFill>
            <a:srgbClr val="14213D"/>
          </a:solidFill>
          <a:ln w="15875">
            <a:solidFill>
              <a:srgbClr val="C9A227"/>
            </a:solidFill>
            <a:prstDash val="solid"/>
          </a:ln>
        </p:spPr>
      </p:sp>
      <p:sp>
        <p:nvSpPr>
          <p:cNvPr id="36" name="Text 34"/>
          <p:cNvSpPr txBox="1"/>
          <p:nvPr/>
        </p:nvSpPr>
        <p:spPr>
          <a:xfrm>
            <a:off x="685800" y="5376672"/>
            <a:ext cx="10817352" cy="768096"/>
          </a:xfrm>
          <a:prstGeom prst="rect">
            <a:avLst/>
          </a:prstGeom>
          <a:noFill/>
          <a:ln/>
        </p:spPr>
        <p:txBody>
          <a:bodyPr wrap="square" lIns="0" tIns="0" rIns="0" bIns="0" rtlCol="0" anchor="ctr"/>
          <a:lstStyle/>
          <a:p>
            <a:pPr marL="0" indent="0" algn="l">
              <a:buNone/>
            </a:pPr>
            <a:r>
              <a:rPr lang="en-US" sz="1500" i="1" dirty="0">
                <a:solidFill>
                  <a:srgbClr val="FFFFFF"/>
                </a:solidFill>
                <a:latin typeface="Calibri" pitchFamily="34" charset="0"/>
                <a:ea typeface="Calibri" pitchFamily="34" charset="-122"/>
                <a:cs typeface="Calibri" pitchFamily="34" charset="-120"/>
              </a:rPr>
              <a:t>Five components supported by 20 principles. The shift: ERM is not a list of risks but a way of setting and executing strategy with risk in mind.</a:t>
            </a:r>
            <a:endParaRPr lang="en-US" sz="1500" dirty="0"/>
          </a:p>
        </p:txBody>
      </p:sp>
      <p:sp>
        <p:nvSpPr>
          <p:cNvPr id="37"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Illustration: Silo Hedging vs Enterprise Netting</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Text 4"/>
          <p:cNvSpPr txBox="1"/>
          <p:nvPr/>
        </p:nvSpPr>
        <p:spPr>
          <a:xfrm>
            <a:off x="502920" y="1188720"/>
            <a:ext cx="11183112" cy="640080"/>
          </a:xfrm>
          <a:prstGeom prst="rect">
            <a:avLst/>
          </a:prstGeom>
          <a:noFill/>
          <a:ln/>
        </p:spPr>
        <p:txBody>
          <a:bodyPr wrap="square" lIns="0" tIns="0" rIns="0" bIns="0" rtlCol="0" anchor="t"/>
          <a:lstStyle/>
          <a:p>
            <a:pPr marL="0" indent="0" algn="l">
              <a:buNone/>
            </a:pPr>
            <a:r>
              <a:rPr lang="en-US" sz="1500" dirty="0">
                <a:solidFill>
                  <a:srgbClr val="1E2533"/>
                </a:solidFill>
                <a:latin typeface="Calibri" pitchFamily="34" charset="0"/>
                <a:ea typeface="Calibri" pitchFamily="34" charset="-122"/>
                <a:cs typeface="Calibri" pitchFamily="34" charset="-120"/>
              </a:rPr>
              <a:t>Coromandel Group (illustrative) has a textile export division and a chemicals import division, both exposed to USD-INR over the same quarter. Assume forward hedging costs 0.25% of notional.</a:t>
            </a:r>
            <a:endParaRPr lang="en-US" sz="1500" dirty="0"/>
          </a:p>
        </p:txBody>
      </p:sp>
      <p:sp>
        <p:nvSpPr>
          <p:cNvPr id="7" name="Shape 5"/>
          <p:cNvSpPr/>
          <p:nvPr/>
        </p:nvSpPr>
        <p:spPr>
          <a:xfrm>
            <a:off x="502920" y="2011680"/>
            <a:ext cx="5541264" cy="2834640"/>
          </a:xfrm>
          <a:prstGeom prst="roundRect">
            <a:avLst>
              <a:gd name="adj" fmla="val 25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Shape 6"/>
          <p:cNvSpPr/>
          <p:nvPr/>
        </p:nvSpPr>
        <p:spPr>
          <a:xfrm>
            <a:off x="731520" y="2176272"/>
            <a:ext cx="548640" cy="548640"/>
          </a:xfrm>
          <a:prstGeom prst="ellipse">
            <a:avLst/>
          </a:prstGeom>
          <a:solidFill>
            <a:srgbClr val="14213D"/>
          </a:solidFill>
          <a:ln w="12700">
            <a:solidFill>
              <a:srgbClr val="14213D"/>
            </a:solidFill>
            <a:prstDash val="solid"/>
          </a:ln>
        </p:spPr>
      </p:sp>
      <p:pic>
        <p:nvPicPr>
          <p:cNvPr id="9" name="Image 0" descr="preencoded.png"/>
          <p:cNvPicPr>
            <a:picLocks noChangeAspect="1"/>
          </p:cNvPicPr>
          <p:nvPr/>
        </p:nvPicPr>
        <p:blipFill>
          <a:blip r:embed="rId3"/>
          <a:stretch>
            <a:fillRect/>
          </a:stretch>
        </p:blipFill>
        <p:spPr>
          <a:xfrm>
            <a:off x="863194" y="2307946"/>
            <a:ext cx="285293" cy="285293"/>
          </a:xfrm>
          <a:prstGeom prst="rect">
            <a:avLst/>
          </a:prstGeom>
        </p:spPr>
      </p:pic>
      <p:sp>
        <p:nvSpPr>
          <p:cNvPr id="10" name="Text 7"/>
          <p:cNvSpPr txBox="1"/>
          <p:nvPr/>
        </p:nvSpPr>
        <p:spPr>
          <a:xfrm>
            <a:off x="1463040" y="2194560"/>
            <a:ext cx="4389120" cy="502920"/>
          </a:xfrm>
          <a:prstGeom prst="rect">
            <a:avLst/>
          </a:prstGeom>
          <a:noFill/>
          <a:ln/>
        </p:spPr>
        <p:txBody>
          <a:bodyPr wrap="square" lIns="0" tIns="0" rIns="0" bIns="0" rtlCol="0" anchor="ctr"/>
          <a:lstStyle/>
          <a:p>
            <a:pPr marL="0" indent="0" algn="l">
              <a:buNone/>
            </a:pPr>
            <a:r>
              <a:rPr lang="en-US" sz="1900" b="1" dirty="0">
                <a:solidFill>
                  <a:srgbClr val="14213D"/>
                </a:solidFill>
                <a:latin typeface="Cambria" pitchFamily="34" charset="0"/>
                <a:ea typeface="Cambria" pitchFamily="34" charset="-122"/>
                <a:cs typeface="Cambria" pitchFamily="34" charset="-120"/>
              </a:rPr>
              <a:t>Silo approach</a:t>
            </a:r>
            <a:endParaRPr lang="en-US" sz="1900" dirty="0"/>
          </a:p>
        </p:txBody>
      </p:sp>
      <p:sp>
        <p:nvSpPr>
          <p:cNvPr id="11" name="Text 8"/>
          <p:cNvSpPr txBox="1"/>
          <p:nvPr/>
        </p:nvSpPr>
        <p:spPr>
          <a:xfrm>
            <a:off x="777240" y="2880360"/>
            <a:ext cx="5029200" cy="1874520"/>
          </a:xfrm>
          <a:prstGeom prst="rect">
            <a:avLst/>
          </a:prstGeom>
          <a:noFill/>
          <a:ln/>
        </p:spPr>
        <p:txBody>
          <a:bodyPr wrap="square" lIns="0" tIns="0" rIns="0" bIns="0" rtlCol="0" anchor="t"/>
          <a:lstStyle/>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Textile division hedges receivables: $30 million</a:t>
            </a:r>
            <a:endParaRPr lang="en-US" sz="15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Chemicals division hedges payables: $22 million</a:t>
            </a:r>
            <a:endParaRPr lang="en-US" sz="15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Gross notional hedged: $52 million</a:t>
            </a:r>
            <a:endParaRPr lang="en-US" sz="15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Hedging cost = 52 mn × 0.25% = $130,000</a:t>
            </a:r>
            <a:endParaRPr lang="en-US" sz="1500" dirty="0"/>
          </a:p>
        </p:txBody>
      </p:sp>
      <p:sp>
        <p:nvSpPr>
          <p:cNvPr id="12" name="Shape 9"/>
          <p:cNvSpPr/>
          <p:nvPr/>
        </p:nvSpPr>
        <p:spPr>
          <a:xfrm>
            <a:off x="6144768" y="2011680"/>
            <a:ext cx="5541264" cy="2834640"/>
          </a:xfrm>
          <a:prstGeom prst="roundRect">
            <a:avLst>
              <a:gd name="adj" fmla="val 2581"/>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3" name="Shape 10"/>
          <p:cNvSpPr/>
          <p:nvPr/>
        </p:nvSpPr>
        <p:spPr>
          <a:xfrm>
            <a:off x="6373368" y="2176272"/>
            <a:ext cx="548640" cy="548640"/>
          </a:xfrm>
          <a:prstGeom prst="ellipse">
            <a:avLst/>
          </a:prstGeom>
          <a:solidFill>
            <a:srgbClr val="C9A227"/>
          </a:solidFill>
          <a:ln w="12700">
            <a:solidFill>
              <a:srgbClr val="C9A227"/>
            </a:solidFill>
            <a:prstDash val="solid"/>
          </a:ln>
        </p:spPr>
      </p:sp>
      <p:pic>
        <p:nvPicPr>
          <p:cNvPr id="14" name="Image 1" descr="preencoded.png"/>
          <p:cNvPicPr>
            <a:picLocks noChangeAspect="1"/>
          </p:cNvPicPr>
          <p:nvPr/>
        </p:nvPicPr>
        <p:blipFill>
          <a:blip r:embed="rId4"/>
          <a:stretch>
            <a:fillRect/>
          </a:stretch>
        </p:blipFill>
        <p:spPr>
          <a:xfrm>
            <a:off x="6505042" y="2307946"/>
            <a:ext cx="285293" cy="285293"/>
          </a:xfrm>
          <a:prstGeom prst="rect">
            <a:avLst/>
          </a:prstGeom>
        </p:spPr>
      </p:pic>
      <p:sp>
        <p:nvSpPr>
          <p:cNvPr id="15" name="Text 11"/>
          <p:cNvSpPr txBox="1"/>
          <p:nvPr/>
        </p:nvSpPr>
        <p:spPr>
          <a:xfrm>
            <a:off x="7104888" y="2194560"/>
            <a:ext cx="4389120" cy="502920"/>
          </a:xfrm>
          <a:prstGeom prst="rect">
            <a:avLst/>
          </a:prstGeom>
          <a:noFill/>
          <a:ln/>
        </p:spPr>
        <p:txBody>
          <a:bodyPr wrap="square" lIns="0" tIns="0" rIns="0" bIns="0" rtlCol="0" anchor="ctr"/>
          <a:lstStyle/>
          <a:p>
            <a:pPr marL="0" indent="0" algn="l">
              <a:buNone/>
            </a:pPr>
            <a:r>
              <a:rPr lang="en-US" sz="1900" b="1" dirty="0">
                <a:solidFill>
                  <a:srgbClr val="C9A227"/>
                </a:solidFill>
                <a:latin typeface="Cambria" pitchFamily="34" charset="0"/>
                <a:ea typeface="Cambria" pitchFamily="34" charset="-122"/>
                <a:cs typeface="Cambria" pitchFamily="34" charset="-120"/>
              </a:rPr>
              <a:t>ERM approach</a:t>
            </a:r>
            <a:endParaRPr lang="en-US" sz="1900" dirty="0"/>
          </a:p>
        </p:txBody>
      </p:sp>
      <p:sp>
        <p:nvSpPr>
          <p:cNvPr id="16" name="Text 12"/>
          <p:cNvSpPr txBox="1"/>
          <p:nvPr/>
        </p:nvSpPr>
        <p:spPr>
          <a:xfrm>
            <a:off x="6419088" y="2880360"/>
            <a:ext cx="5029200" cy="1874520"/>
          </a:xfrm>
          <a:prstGeom prst="rect">
            <a:avLst/>
          </a:prstGeom>
          <a:noFill/>
          <a:ln/>
        </p:spPr>
        <p:txBody>
          <a:bodyPr wrap="square" lIns="0" tIns="0" rIns="0" bIns="0" rtlCol="0" anchor="t"/>
          <a:lstStyle/>
          <a:p>
            <a:pPr marL="177800" indent="-177800" algn="l">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Group treasury nets the flows: $30 mn − $22 mn</a:t>
            </a:r>
            <a:endParaRPr lang="en-US" sz="1500" dirty="0"/>
          </a:p>
          <a:p>
            <a:pPr marL="177800" indent="-177800" algn="l">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Net exposure = $8 million receivable</a:t>
            </a:r>
            <a:endParaRPr lang="en-US" sz="1500" dirty="0"/>
          </a:p>
          <a:p>
            <a:pPr marL="177800" indent="-177800" algn="l">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Hedge only the net exposure</a:t>
            </a:r>
            <a:endParaRPr lang="en-US" sz="1500" dirty="0"/>
          </a:p>
          <a:p>
            <a:pPr marL="177800" indent="-177800" algn="l">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Hedging cost = 8 mn × 0.25% = $20,000</a:t>
            </a:r>
            <a:endParaRPr lang="en-US" sz="1500" dirty="0"/>
          </a:p>
        </p:txBody>
      </p:sp>
      <p:sp>
        <p:nvSpPr>
          <p:cNvPr id="17" name="Shape 13"/>
          <p:cNvSpPr/>
          <p:nvPr/>
        </p:nvSpPr>
        <p:spPr>
          <a:xfrm>
            <a:off x="502920" y="5120640"/>
            <a:ext cx="11183112" cy="1051560"/>
          </a:xfrm>
          <a:prstGeom prst="roundRect">
            <a:avLst>
              <a:gd name="adj" fmla="val 6957"/>
            </a:avLst>
          </a:prstGeom>
          <a:solidFill>
            <a:srgbClr val="FFFFFF"/>
          </a:solidFill>
          <a:ln w="15875">
            <a:solidFill>
              <a:srgbClr val="C9A227"/>
            </a:solidFill>
            <a:prstDash val="solid"/>
          </a:ln>
        </p:spPr>
      </p:sp>
      <p:sp>
        <p:nvSpPr>
          <p:cNvPr id="18" name="Text 14"/>
          <p:cNvSpPr txBox="1"/>
          <p:nvPr/>
        </p:nvSpPr>
        <p:spPr>
          <a:xfrm>
            <a:off x="685800" y="5193792"/>
            <a:ext cx="10817352" cy="905256"/>
          </a:xfrm>
          <a:prstGeom prst="rect">
            <a:avLst/>
          </a:prstGeom>
          <a:noFill/>
          <a:ln/>
        </p:spPr>
        <p:txBody>
          <a:bodyPr wrap="square" lIns="0" tIns="0" rIns="0" bIns="0" rtlCol="0" anchor="ctr"/>
          <a:lstStyle/>
          <a:p>
            <a:pPr marL="0" indent="0" algn="l">
              <a:buNone/>
            </a:pPr>
            <a:r>
              <a:rPr lang="en-US" sz="1600" b="1" dirty="0">
                <a:solidFill>
                  <a:srgbClr val="14213D"/>
                </a:solidFill>
                <a:latin typeface="Calibri" pitchFamily="34" charset="0"/>
                <a:ea typeface="Calibri" pitchFamily="34" charset="-122"/>
                <a:cs typeface="Calibri" pitchFamily="34" charset="-120"/>
              </a:rPr>
              <a:t>Saving: $110,000 a quarter (84.6%), with the same residual risk. ERM also reveals the natural hedge that silo managers cannot see.</a:t>
            </a:r>
            <a:endParaRPr lang="en-US" sz="16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08</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8</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Corporate Governance and Risk Management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The board owns risk; management runs it; independent functions check it</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Governance structure for risk oversight</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Indian legal and regulatory requirements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Board responsibilities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Lessons from governance failures</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Governance Structure for Risk Oversight</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3657600" y="1783080"/>
            <a:ext cx="0" cy="274320"/>
          </a:xfrm>
          <a:prstGeom prst="line">
            <a:avLst/>
          </a:prstGeom>
          <a:noFill/>
          <a:ln w="19050">
            <a:solidFill>
              <a:srgbClr val="8C6D0F"/>
            </a:solidFill>
            <a:prstDash val="solid"/>
          </a:ln>
        </p:spPr>
      </p:sp>
      <p:sp>
        <p:nvSpPr>
          <p:cNvPr id="7" name="Shape 5"/>
          <p:cNvSpPr/>
          <p:nvPr/>
        </p:nvSpPr>
        <p:spPr>
          <a:xfrm>
            <a:off x="3657600" y="2606040"/>
            <a:ext cx="0" cy="228600"/>
          </a:xfrm>
          <a:prstGeom prst="line">
            <a:avLst/>
          </a:prstGeom>
          <a:noFill/>
          <a:ln w="19050">
            <a:solidFill>
              <a:srgbClr val="8C6D0F"/>
            </a:solidFill>
            <a:prstDash val="solid"/>
          </a:ln>
        </p:spPr>
      </p:sp>
      <p:sp>
        <p:nvSpPr>
          <p:cNvPr id="8" name="Shape 6"/>
          <p:cNvSpPr/>
          <p:nvPr/>
        </p:nvSpPr>
        <p:spPr>
          <a:xfrm>
            <a:off x="1417320" y="2834640"/>
            <a:ext cx="4480560" cy="0"/>
          </a:xfrm>
          <a:prstGeom prst="line">
            <a:avLst/>
          </a:prstGeom>
          <a:noFill/>
          <a:ln w="19050">
            <a:solidFill>
              <a:srgbClr val="8C6D0F"/>
            </a:solidFill>
            <a:prstDash val="solid"/>
          </a:ln>
        </p:spPr>
      </p:sp>
      <p:sp>
        <p:nvSpPr>
          <p:cNvPr id="9" name="Shape 7"/>
          <p:cNvSpPr/>
          <p:nvPr/>
        </p:nvSpPr>
        <p:spPr>
          <a:xfrm>
            <a:off x="1417320" y="2834640"/>
            <a:ext cx="0" cy="182880"/>
          </a:xfrm>
          <a:prstGeom prst="line">
            <a:avLst/>
          </a:prstGeom>
          <a:noFill/>
          <a:ln w="19050">
            <a:solidFill>
              <a:srgbClr val="8C6D0F"/>
            </a:solidFill>
            <a:prstDash val="solid"/>
          </a:ln>
        </p:spPr>
      </p:sp>
      <p:sp>
        <p:nvSpPr>
          <p:cNvPr id="10" name="Shape 8"/>
          <p:cNvSpPr/>
          <p:nvPr/>
        </p:nvSpPr>
        <p:spPr>
          <a:xfrm>
            <a:off x="3657600" y="2834640"/>
            <a:ext cx="0" cy="182880"/>
          </a:xfrm>
          <a:prstGeom prst="line">
            <a:avLst/>
          </a:prstGeom>
          <a:noFill/>
          <a:ln w="19050">
            <a:solidFill>
              <a:srgbClr val="8C6D0F"/>
            </a:solidFill>
            <a:prstDash val="solid"/>
          </a:ln>
        </p:spPr>
      </p:sp>
      <p:sp>
        <p:nvSpPr>
          <p:cNvPr id="11" name="Shape 9"/>
          <p:cNvSpPr/>
          <p:nvPr/>
        </p:nvSpPr>
        <p:spPr>
          <a:xfrm>
            <a:off x="5897880" y="2834640"/>
            <a:ext cx="0" cy="182880"/>
          </a:xfrm>
          <a:prstGeom prst="line">
            <a:avLst/>
          </a:prstGeom>
          <a:noFill/>
          <a:ln w="19050">
            <a:solidFill>
              <a:srgbClr val="8C6D0F"/>
            </a:solidFill>
            <a:prstDash val="solid"/>
          </a:ln>
        </p:spPr>
      </p:sp>
      <p:sp>
        <p:nvSpPr>
          <p:cNvPr id="12" name="Shape 10"/>
          <p:cNvSpPr/>
          <p:nvPr/>
        </p:nvSpPr>
        <p:spPr>
          <a:xfrm>
            <a:off x="3657600" y="3566160"/>
            <a:ext cx="0" cy="365760"/>
          </a:xfrm>
          <a:prstGeom prst="line">
            <a:avLst/>
          </a:prstGeom>
          <a:noFill/>
          <a:ln w="19050">
            <a:solidFill>
              <a:srgbClr val="8C6D0F"/>
            </a:solidFill>
            <a:prstDash val="solid"/>
          </a:ln>
        </p:spPr>
      </p:sp>
      <p:sp>
        <p:nvSpPr>
          <p:cNvPr id="13" name="Shape 11"/>
          <p:cNvSpPr/>
          <p:nvPr/>
        </p:nvSpPr>
        <p:spPr>
          <a:xfrm>
            <a:off x="3657600" y="4480560"/>
            <a:ext cx="0" cy="228600"/>
          </a:xfrm>
          <a:prstGeom prst="line">
            <a:avLst/>
          </a:prstGeom>
          <a:noFill/>
          <a:ln w="19050">
            <a:solidFill>
              <a:srgbClr val="8C6D0F"/>
            </a:solidFill>
            <a:prstDash val="solid"/>
          </a:ln>
        </p:spPr>
      </p:sp>
      <p:sp>
        <p:nvSpPr>
          <p:cNvPr id="14" name="Shape 12"/>
          <p:cNvSpPr/>
          <p:nvPr/>
        </p:nvSpPr>
        <p:spPr>
          <a:xfrm>
            <a:off x="1417320" y="4709160"/>
            <a:ext cx="4480560" cy="0"/>
          </a:xfrm>
          <a:prstGeom prst="line">
            <a:avLst/>
          </a:prstGeom>
          <a:noFill/>
          <a:ln w="19050">
            <a:solidFill>
              <a:srgbClr val="8C6D0F"/>
            </a:solidFill>
            <a:prstDash val="solid"/>
          </a:ln>
        </p:spPr>
      </p:sp>
      <p:sp>
        <p:nvSpPr>
          <p:cNvPr id="15" name="Shape 13"/>
          <p:cNvSpPr/>
          <p:nvPr/>
        </p:nvSpPr>
        <p:spPr>
          <a:xfrm>
            <a:off x="1417320" y="4709160"/>
            <a:ext cx="0" cy="228600"/>
          </a:xfrm>
          <a:prstGeom prst="line">
            <a:avLst/>
          </a:prstGeom>
          <a:noFill/>
          <a:ln w="19050">
            <a:solidFill>
              <a:srgbClr val="8C6D0F"/>
            </a:solidFill>
            <a:prstDash val="solid"/>
          </a:ln>
        </p:spPr>
      </p:sp>
      <p:sp>
        <p:nvSpPr>
          <p:cNvPr id="16" name="Shape 14"/>
          <p:cNvSpPr/>
          <p:nvPr/>
        </p:nvSpPr>
        <p:spPr>
          <a:xfrm>
            <a:off x="3657600" y="4709160"/>
            <a:ext cx="0" cy="228600"/>
          </a:xfrm>
          <a:prstGeom prst="line">
            <a:avLst/>
          </a:prstGeom>
          <a:noFill/>
          <a:ln w="19050">
            <a:solidFill>
              <a:srgbClr val="8C6D0F"/>
            </a:solidFill>
            <a:prstDash val="solid"/>
          </a:ln>
        </p:spPr>
      </p:sp>
      <p:sp>
        <p:nvSpPr>
          <p:cNvPr id="17" name="Shape 15"/>
          <p:cNvSpPr/>
          <p:nvPr/>
        </p:nvSpPr>
        <p:spPr>
          <a:xfrm>
            <a:off x="5897880" y="4709160"/>
            <a:ext cx="0" cy="228600"/>
          </a:xfrm>
          <a:prstGeom prst="line">
            <a:avLst/>
          </a:prstGeom>
          <a:noFill/>
          <a:ln w="19050">
            <a:solidFill>
              <a:srgbClr val="8C6D0F"/>
            </a:solidFill>
            <a:prstDash val="solid"/>
          </a:ln>
        </p:spPr>
      </p:sp>
      <p:sp>
        <p:nvSpPr>
          <p:cNvPr id="18" name="Shape 16"/>
          <p:cNvSpPr/>
          <p:nvPr/>
        </p:nvSpPr>
        <p:spPr>
          <a:xfrm>
            <a:off x="2514600" y="1280160"/>
            <a:ext cx="2286000" cy="502920"/>
          </a:xfrm>
          <a:prstGeom prst="roundRect">
            <a:avLst>
              <a:gd name="adj" fmla="val 10909"/>
            </a:avLst>
          </a:prstGeom>
          <a:solidFill>
            <a:srgbClr val="EFE8D6"/>
          </a:solidFill>
          <a:ln w="9525">
            <a:solidFill>
              <a:srgbClr val="EFE8D6"/>
            </a:solidFill>
            <a:prstDash val="solid"/>
          </a:ln>
          <a:effectLst>
            <a:outerShdw blurRad="63500" dist="19050" dir="5400000" algn="bl" rotWithShape="0">
              <a:srgbClr val="000000">
                <a:alpha val="13000"/>
              </a:srgbClr>
            </a:outerShdw>
          </a:effectLst>
        </p:spPr>
      </p:sp>
      <p:sp>
        <p:nvSpPr>
          <p:cNvPr id="19" name="Text 17"/>
          <p:cNvSpPr txBox="1"/>
          <p:nvPr/>
        </p:nvSpPr>
        <p:spPr>
          <a:xfrm>
            <a:off x="2560320" y="1280160"/>
            <a:ext cx="2194560" cy="502920"/>
          </a:xfrm>
          <a:prstGeom prst="rect">
            <a:avLst/>
          </a:prstGeom>
          <a:noFill/>
          <a:ln/>
        </p:spPr>
        <p:txBody>
          <a:bodyPr wrap="square" lIns="0" tIns="0" rIns="0" bIns="0"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Shareholders</a:t>
            </a:r>
            <a:endParaRPr lang="en-US" sz="1400" dirty="0"/>
          </a:p>
        </p:txBody>
      </p:sp>
      <p:sp>
        <p:nvSpPr>
          <p:cNvPr id="20" name="Shape 18"/>
          <p:cNvSpPr/>
          <p:nvPr/>
        </p:nvSpPr>
        <p:spPr>
          <a:xfrm>
            <a:off x="2286000" y="2057400"/>
            <a:ext cx="2743200" cy="548640"/>
          </a:xfrm>
          <a:prstGeom prst="roundRect">
            <a:avLst>
              <a:gd name="adj" fmla="val 10000"/>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21" name="Text 19"/>
          <p:cNvSpPr txBox="1"/>
          <p:nvPr/>
        </p:nvSpPr>
        <p:spPr>
          <a:xfrm>
            <a:off x="2331720" y="2057400"/>
            <a:ext cx="2651760" cy="548640"/>
          </a:xfrm>
          <a:prstGeom prst="rect">
            <a:avLst/>
          </a:prstGeom>
          <a:noFill/>
          <a:ln/>
        </p:spPr>
        <p:txBody>
          <a:bodyPr wrap="square" lIns="0" tIns="0" rIns="0" bIns="0" rtlCol="0" anchor="ctr"/>
          <a:lstStyle/>
          <a:p>
            <a:pPr marL="0" indent="0" algn="ctr">
              <a:buNone/>
            </a:pPr>
            <a:r>
              <a:rPr lang="en-US" sz="1500" b="1" dirty="0">
                <a:solidFill>
                  <a:srgbClr val="C9A227"/>
                </a:solidFill>
                <a:latin typeface="Cambria" pitchFamily="34" charset="0"/>
                <a:ea typeface="Cambria" pitchFamily="34" charset="-122"/>
                <a:cs typeface="Cambria" pitchFamily="34" charset="-120"/>
              </a:rPr>
              <a:t>Board of Directors</a:t>
            </a:r>
            <a:endParaRPr lang="en-US" sz="1500" dirty="0"/>
          </a:p>
        </p:txBody>
      </p:sp>
      <p:sp>
        <p:nvSpPr>
          <p:cNvPr id="22" name="Shape 20"/>
          <p:cNvSpPr/>
          <p:nvPr/>
        </p:nvSpPr>
        <p:spPr>
          <a:xfrm>
            <a:off x="502920" y="3017520"/>
            <a:ext cx="1828800" cy="548640"/>
          </a:xfrm>
          <a:prstGeom prst="roundRect">
            <a:avLst>
              <a:gd name="adj" fmla="val 10000"/>
            </a:avLst>
          </a:prstGeom>
          <a:solidFill>
            <a:srgbClr val="22335C"/>
          </a:solidFill>
          <a:ln w="9525">
            <a:solidFill>
              <a:srgbClr val="22335C"/>
            </a:solidFill>
            <a:prstDash val="solid"/>
          </a:ln>
          <a:effectLst>
            <a:outerShdw blurRad="63500" dist="19050" dir="5400000" algn="bl" rotWithShape="0">
              <a:srgbClr val="000000">
                <a:alpha val="13000"/>
              </a:srgbClr>
            </a:outerShdw>
          </a:effectLst>
        </p:spPr>
      </p:sp>
      <p:sp>
        <p:nvSpPr>
          <p:cNvPr id="23" name="Text 21"/>
          <p:cNvSpPr txBox="1"/>
          <p:nvPr/>
        </p:nvSpPr>
        <p:spPr>
          <a:xfrm>
            <a:off x="548640" y="3017520"/>
            <a:ext cx="17373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Audit Committee</a:t>
            </a:r>
            <a:endParaRPr lang="en-US" sz="1300" dirty="0"/>
          </a:p>
        </p:txBody>
      </p:sp>
      <p:sp>
        <p:nvSpPr>
          <p:cNvPr id="24" name="Shape 22"/>
          <p:cNvSpPr/>
          <p:nvPr/>
        </p:nvSpPr>
        <p:spPr>
          <a:xfrm>
            <a:off x="2560320" y="3017520"/>
            <a:ext cx="2194560" cy="548640"/>
          </a:xfrm>
          <a:prstGeom prst="roundRect">
            <a:avLst>
              <a:gd name="adj" fmla="val 10000"/>
            </a:avLst>
          </a:prstGeom>
          <a:solidFill>
            <a:srgbClr val="22335C"/>
          </a:solidFill>
          <a:ln w="9525">
            <a:solidFill>
              <a:srgbClr val="22335C"/>
            </a:solidFill>
            <a:prstDash val="solid"/>
          </a:ln>
          <a:effectLst>
            <a:outerShdw blurRad="63500" dist="19050" dir="5400000" algn="bl" rotWithShape="0">
              <a:srgbClr val="000000">
                <a:alpha val="13000"/>
              </a:srgbClr>
            </a:outerShdw>
          </a:effectLst>
        </p:spPr>
      </p:sp>
      <p:sp>
        <p:nvSpPr>
          <p:cNvPr id="25" name="Text 23"/>
          <p:cNvSpPr txBox="1"/>
          <p:nvPr/>
        </p:nvSpPr>
        <p:spPr>
          <a:xfrm>
            <a:off x="2606040" y="3017520"/>
            <a:ext cx="210312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Risk Management Committee</a:t>
            </a:r>
            <a:endParaRPr lang="en-US" sz="1300" dirty="0"/>
          </a:p>
        </p:txBody>
      </p:sp>
      <p:sp>
        <p:nvSpPr>
          <p:cNvPr id="26" name="Shape 24"/>
          <p:cNvSpPr/>
          <p:nvPr/>
        </p:nvSpPr>
        <p:spPr>
          <a:xfrm>
            <a:off x="4983480" y="3017520"/>
            <a:ext cx="1828800" cy="548640"/>
          </a:xfrm>
          <a:prstGeom prst="roundRect">
            <a:avLst>
              <a:gd name="adj" fmla="val 10000"/>
            </a:avLst>
          </a:prstGeom>
          <a:solidFill>
            <a:srgbClr val="22335C"/>
          </a:solidFill>
          <a:ln w="9525">
            <a:solidFill>
              <a:srgbClr val="22335C"/>
            </a:solidFill>
            <a:prstDash val="solid"/>
          </a:ln>
          <a:effectLst>
            <a:outerShdw blurRad="63500" dist="19050" dir="5400000" algn="bl" rotWithShape="0">
              <a:srgbClr val="000000">
                <a:alpha val="13000"/>
              </a:srgbClr>
            </a:outerShdw>
          </a:effectLst>
        </p:spPr>
      </p:sp>
      <p:sp>
        <p:nvSpPr>
          <p:cNvPr id="27" name="Text 25"/>
          <p:cNvSpPr txBox="1"/>
          <p:nvPr/>
        </p:nvSpPr>
        <p:spPr>
          <a:xfrm>
            <a:off x="5029200" y="3017520"/>
            <a:ext cx="17373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Other committees</a:t>
            </a:r>
            <a:endParaRPr lang="en-US" sz="1300" dirty="0"/>
          </a:p>
        </p:txBody>
      </p:sp>
      <p:sp>
        <p:nvSpPr>
          <p:cNvPr id="28" name="Shape 26"/>
          <p:cNvSpPr/>
          <p:nvPr/>
        </p:nvSpPr>
        <p:spPr>
          <a:xfrm>
            <a:off x="2514600" y="3931920"/>
            <a:ext cx="2286000" cy="548640"/>
          </a:xfrm>
          <a:prstGeom prst="roundRect">
            <a:avLst>
              <a:gd name="adj" fmla="val 10000"/>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29" name="Text 27"/>
          <p:cNvSpPr txBox="1"/>
          <p:nvPr/>
        </p:nvSpPr>
        <p:spPr>
          <a:xfrm>
            <a:off x="2560320" y="3931920"/>
            <a:ext cx="2194560" cy="548640"/>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MD &amp; CEO</a:t>
            </a:r>
            <a:endParaRPr lang="en-US" sz="1400" dirty="0"/>
          </a:p>
        </p:txBody>
      </p:sp>
      <p:sp>
        <p:nvSpPr>
          <p:cNvPr id="30" name="Shape 28"/>
          <p:cNvSpPr/>
          <p:nvPr/>
        </p:nvSpPr>
        <p:spPr>
          <a:xfrm>
            <a:off x="502920" y="4937760"/>
            <a:ext cx="1828800" cy="777240"/>
          </a:xfrm>
          <a:prstGeom prst="roundRect">
            <a:avLst>
              <a:gd name="adj" fmla="val 705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1" name="Text 29"/>
          <p:cNvSpPr txBox="1"/>
          <p:nvPr/>
        </p:nvSpPr>
        <p:spPr>
          <a:xfrm>
            <a:off x="548640" y="4937760"/>
            <a:ext cx="1737360" cy="777240"/>
          </a:xfrm>
          <a:prstGeom prst="rect">
            <a:avLst/>
          </a:prstGeom>
          <a:noFill/>
          <a:ln/>
        </p:spPr>
        <p:txBody>
          <a:bodyPr wrap="square" lIns="0" tIns="0" rIns="0" bIns="0"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Business units</a:t>
            </a:r>
            <a:endParaRPr lang="en-US" sz="1300" dirty="0"/>
          </a:p>
          <a:p>
            <a:pPr marL="0" indent="0" algn="ctr">
              <a:buNone/>
            </a:pPr>
            <a:r>
              <a:rPr lang="en-US" sz="1300" b="1" dirty="0">
                <a:solidFill>
                  <a:srgbClr val="14213D"/>
                </a:solidFill>
                <a:latin typeface="Cambria" pitchFamily="34" charset="0"/>
                <a:ea typeface="Cambria" pitchFamily="34" charset="-122"/>
                <a:cs typeface="Cambria" pitchFamily="34" charset="-120"/>
              </a:rPr>
              <a:t>(1st line)</a:t>
            </a:r>
            <a:endParaRPr lang="en-US" sz="1300" dirty="0"/>
          </a:p>
        </p:txBody>
      </p:sp>
      <p:sp>
        <p:nvSpPr>
          <p:cNvPr id="32" name="Shape 30"/>
          <p:cNvSpPr/>
          <p:nvPr/>
        </p:nvSpPr>
        <p:spPr>
          <a:xfrm>
            <a:off x="2560320" y="4937760"/>
            <a:ext cx="2194560" cy="777240"/>
          </a:xfrm>
          <a:prstGeom prst="roundRect">
            <a:avLst>
              <a:gd name="adj" fmla="val 705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3" name="Text 31"/>
          <p:cNvSpPr txBox="1"/>
          <p:nvPr/>
        </p:nvSpPr>
        <p:spPr>
          <a:xfrm>
            <a:off x="2606040" y="4937760"/>
            <a:ext cx="2103120" cy="777240"/>
          </a:xfrm>
          <a:prstGeom prst="rect">
            <a:avLst/>
          </a:prstGeom>
          <a:noFill/>
          <a:ln/>
        </p:spPr>
        <p:txBody>
          <a:bodyPr wrap="square" lIns="0" tIns="0" rIns="0" bIns="0"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CRO, risk &amp; compliance</a:t>
            </a:r>
            <a:endParaRPr lang="en-US" sz="1300" dirty="0"/>
          </a:p>
          <a:p>
            <a:pPr marL="0" indent="0" algn="ctr">
              <a:buNone/>
            </a:pPr>
            <a:r>
              <a:rPr lang="en-US" sz="1300" b="1" dirty="0">
                <a:solidFill>
                  <a:srgbClr val="14213D"/>
                </a:solidFill>
                <a:latin typeface="Cambria" pitchFamily="34" charset="0"/>
                <a:ea typeface="Cambria" pitchFamily="34" charset="-122"/>
                <a:cs typeface="Cambria" pitchFamily="34" charset="-120"/>
              </a:rPr>
              <a:t>(2nd line)</a:t>
            </a:r>
            <a:endParaRPr lang="en-US" sz="1300" dirty="0"/>
          </a:p>
        </p:txBody>
      </p:sp>
      <p:sp>
        <p:nvSpPr>
          <p:cNvPr id="34" name="Shape 32"/>
          <p:cNvSpPr/>
          <p:nvPr/>
        </p:nvSpPr>
        <p:spPr>
          <a:xfrm>
            <a:off x="4983480" y="4937760"/>
            <a:ext cx="1828800" cy="777240"/>
          </a:xfrm>
          <a:prstGeom prst="roundRect">
            <a:avLst>
              <a:gd name="adj" fmla="val 7059"/>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5" name="Text 33"/>
          <p:cNvSpPr txBox="1"/>
          <p:nvPr/>
        </p:nvSpPr>
        <p:spPr>
          <a:xfrm>
            <a:off x="5029200" y="4937760"/>
            <a:ext cx="1737360" cy="777240"/>
          </a:xfrm>
          <a:prstGeom prst="rect">
            <a:avLst/>
          </a:prstGeom>
          <a:noFill/>
          <a:ln/>
        </p:spPr>
        <p:txBody>
          <a:bodyPr wrap="square" lIns="0" tIns="0" rIns="0" bIns="0"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Internal audit</a:t>
            </a:r>
            <a:endParaRPr lang="en-US" sz="1300" dirty="0"/>
          </a:p>
          <a:p>
            <a:pPr marL="0" indent="0" algn="ctr">
              <a:buNone/>
            </a:pPr>
            <a:r>
              <a:rPr lang="en-US" sz="1300" b="1" dirty="0">
                <a:solidFill>
                  <a:srgbClr val="14213D"/>
                </a:solidFill>
                <a:latin typeface="Cambria" pitchFamily="34" charset="0"/>
                <a:ea typeface="Cambria" pitchFamily="34" charset="-122"/>
                <a:cs typeface="Cambria" pitchFamily="34" charset="-120"/>
              </a:rPr>
              <a:t>(3rd line)</a:t>
            </a:r>
            <a:endParaRPr lang="en-US" sz="1300" dirty="0"/>
          </a:p>
        </p:txBody>
      </p:sp>
      <p:sp>
        <p:nvSpPr>
          <p:cNvPr id="36" name="Text 34"/>
          <p:cNvSpPr txBox="1"/>
          <p:nvPr/>
        </p:nvSpPr>
        <p:spPr>
          <a:xfrm>
            <a:off x="502920" y="5852160"/>
            <a:ext cx="6492240" cy="411480"/>
          </a:xfrm>
          <a:prstGeom prst="rect">
            <a:avLst/>
          </a:prstGeom>
          <a:noFill/>
          <a:ln/>
        </p:spPr>
        <p:txBody>
          <a:bodyPr wrap="square" lIns="0" tIns="0" rIns="0" bIns="0" rtlCol="0" anchor="t"/>
          <a:lstStyle/>
          <a:p>
            <a:pPr marL="0" indent="0" algn="l">
              <a:buNone/>
            </a:pPr>
            <a:r>
              <a:rPr lang="en-US" sz="1100" i="1" dirty="0">
                <a:solidFill>
                  <a:srgbClr val="5C6577"/>
                </a:solidFill>
                <a:latin typeface="Calibri" pitchFamily="34" charset="0"/>
                <a:ea typeface="Calibri" pitchFamily="34" charset="-122"/>
                <a:cs typeface="Calibri" pitchFamily="34" charset="-120"/>
              </a:rPr>
              <a:t>Independent reporting lines: internal audit reports to the Audit Committee; the CRO has direct access to the Risk Management Committee.</a:t>
            </a:r>
            <a:endParaRPr lang="en-US" sz="1100" dirty="0"/>
          </a:p>
        </p:txBody>
      </p:sp>
      <p:sp>
        <p:nvSpPr>
          <p:cNvPr id="37" name="Shape 35"/>
          <p:cNvSpPr/>
          <p:nvPr/>
        </p:nvSpPr>
        <p:spPr>
          <a:xfrm>
            <a:off x="7315200" y="1280160"/>
            <a:ext cx="4370832" cy="4937760"/>
          </a:xfrm>
          <a:prstGeom prst="roundRect">
            <a:avLst>
              <a:gd name="adj" fmla="val 167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8" name="Text 36"/>
          <p:cNvSpPr txBox="1"/>
          <p:nvPr/>
        </p:nvSpPr>
        <p:spPr>
          <a:xfrm>
            <a:off x="7498080" y="1417320"/>
            <a:ext cx="4023360" cy="4709160"/>
          </a:xfrm>
          <a:prstGeom prst="rect">
            <a:avLst/>
          </a:prstGeom>
          <a:noFill/>
          <a:ln/>
        </p:spPr>
        <p:txBody>
          <a:bodyPr wrap="square" lIns="0" tIns="0" rIns="0" bIns="0" rtlCol="0" anchor="t"/>
          <a:lstStyle/>
          <a:p>
            <a:pPr marL="0" indent="0" algn="l">
              <a:spcAft>
                <a:spcPts val="600"/>
              </a:spcAft>
              <a:buNone/>
            </a:pPr>
            <a:r>
              <a:rPr lang="en-US" sz="1500" b="1" dirty="0">
                <a:solidFill>
                  <a:srgbClr val="8C6D0F"/>
                </a:solidFill>
                <a:latin typeface="Calibri" pitchFamily="34" charset="0"/>
                <a:ea typeface="Calibri" pitchFamily="34" charset="-122"/>
                <a:cs typeface="Calibri" pitchFamily="34" charset="-120"/>
              </a:rPr>
              <a:t>Why governance and risk are inseparable</a:t>
            </a:r>
            <a:endParaRPr lang="en-US" sz="1500" dirty="0"/>
          </a:p>
          <a:p>
            <a:pPr marL="177800" indent="-177800" algn="l">
              <a:spcAft>
                <a:spcPts val="800"/>
              </a:spcAft>
              <a:buSzPct val="100000"/>
              <a:buChar char="•"/>
            </a:pPr>
            <a:r>
              <a:rPr lang="en-US" sz="1400" b="1" dirty="0">
                <a:solidFill>
                  <a:srgbClr val="1E2533"/>
                </a:solidFill>
                <a:latin typeface="Calibri" pitchFamily="34" charset="0"/>
                <a:ea typeface="Calibri" pitchFamily="34" charset="-122"/>
                <a:cs typeface="Calibri" pitchFamily="34" charset="-120"/>
              </a:rPr>
              <a:t>Agency problem:</a:t>
            </a:r>
            <a:r>
              <a:rPr lang="en-US" sz="1400" dirty="0">
                <a:solidFill>
                  <a:srgbClr val="1E2533"/>
                </a:solidFill>
                <a:latin typeface="Calibri" pitchFamily="34" charset="0"/>
                <a:ea typeface="Calibri" pitchFamily="34" charset="-122"/>
                <a:cs typeface="Calibri" pitchFamily="34" charset="-120"/>
              </a:rPr>
              <a:t> managers may take risks shareholders would not approve; the board aligns them.</a:t>
            </a:r>
            <a:endParaRPr lang="en-US" sz="1500" dirty="0"/>
          </a:p>
          <a:p>
            <a:pPr marL="177800" indent="-177800" algn="l">
              <a:spcAft>
                <a:spcPts val="800"/>
              </a:spcAft>
              <a:buSzPct val="100000"/>
              <a:buChar char="•"/>
            </a:pPr>
            <a:r>
              <a:rPr lang="en-US" sz="1400" b="1" dirty="0">
                <a:solidFill>
                  <a:srgbClr val="1E2533"/>
                </a:solidFill>
                <a:latin typeface="Calibri" pitchFamily="34" charset="0"/>
                <a:ea typeface="Calibri" pitchFamily="34" charset="-122"/>
                <a:cs typeface="Calibri" pitchFamily="34" charset="-120"/>
              </a:rPr>
              <a:t>Tone at the top:</a:t>
            </a:r>
            <a:r>
              <a:rPr lang="en-US" sz="1400" dirty="0">
                <a:solidFill>
                  <a:srgbClr val="1E2533"/>
                </a:solidFill>
                <a:latin typeface="Calibri" pitchFamily="34" charset="0"/>
                <a:ea typeface="Calibri" pitchFamily="34" charset="-122"/>
                <a:cs typeface="Calibri" pitchFamily="34" charset="-120"/>
              </a:rPr>
              <a:t> culture and incentives decide whether limits are respected.</a:t>
            </a:r>
            <a:endParaRPr lang="en-US" sz="1500" dirty="0"/>
          </a:p>
          <a:p>
            <a:pPr marL="177800" indent="-177800" algn="l">
              <a:spcAft>
                <a:spcPts val="800"/>
              </a:spcAft>
              <a:buSzPct val="100000"/>
              <a:buChar char="•"/>
            </a:pPr>
            <a:r>
              <a:rPr lang="en-US" sz="1400" b="1" dirty="0">
                <a:solidFill>
                  <a:srgbClr val="1E2533"/>
                </a:solidFill>
                <a:latin typeface="Calibri" pitchFamily="34" charset="0"/>
                <a:ea typeface="Calibri" pitchFamily="34" charset="-122"/>
                <a:cs typeface="Calibri" pitchFamily="34" charset="-120"/>
              </a:rPr>
              <a:t>Independent challenge:</a:t>
            </a:r>
            <a:r>
              <a:rPr lang="en-US" sz="1400" dirty="0">
                <a:solidFill>
                  <a:srgbClr val="1E2533"/>
                </a:solidFill>
                <a:latin typeface="Calibri" pitchFamily="34" charset="0"/>
                <a:ea typeface="Calibri" pitchFamily="34" charset="-122"/>
                <a:cs typeface="Calibri" pitchFamily="34" charset="-120"/>
              </a:rPr>
              <a:t> risk and audit functions need direct access to the board.</a:t>
            </a:r>
            <a:endParaRPr lang="en-US" sz="1500" dirty="0"/>
          </a:p>
          <a:p>
            <a:pPr marL="177800" indent="-177800" algn="l">
              <a:spcAft>
                <a:spcPts val="800"/>
              </a:spcAft>
              <a:buSzPct val="100000"/>
              <a:buChar char="•"/>
            </a:pPr>
            <a:r>
              <a:rPr lang="en-US" sz="1400" b="1" dirty="0">
                <a:solidFill>
                  <a:srgbClr val="1E2533"/>
                </a:solidFill>
                <a:latin typeface="Calibri" pitchFamily="34" charset="0"/>
                <a:ea typeface="Calibri" pitchFamily="34" charset="-122"/>
                <a:cs typeface="Calibri" pitchFamily="34" charset="-120"/>
              </a:rPr>
              <a:t>Accountability:</a:t>
            </a:r>
            <a:r>
              <a:rPr lang="en-US" sz="1400" dirty="0">
                <a:solidFill>
                  <a:srgbClr val="1E2533"/>
                </a:solidFill>
                <a:latin typeface="Calibri" pitchFamily="34" charset="0"/>
                <a:ea typeface="Calibri" pitchFamily="34" charset="-122"/>
                <a:cs typeface="Calibri" pitchFamily="34" charset="-120"/>
              </a:rPr>
              <a:t> the board sets risk appetite and answers for outcomes.</a:t>
            </a:r>
            <a:endParaRPr lang="en-US" sz="1500" dirty="0"/>
          </a:p>
          <a:p>
            <a:pPr marL="177800" indent="-177800" algn="l">
              <a:spcAft>
                <a:spcPts val="800"/>
              </a:spcAft>
              <a:buSzPct val="100000"/>
              <a:buChar char="•"/>
            </a:pPr>
            <a:r>
              <a:rPr lang="en-US" sz="1400" b="1" dirty="0">
                <a:solidFill>
                  <a:srgbClr val="1E2533"/>
                </a:solidFill>
                <a:latin typeface="Calibri" pitchFamily="34" charset="0"/>
                <a:ea typeface="Calibri" pitchFamily="34" charset="-122"/>
                <a:cs typeface="Calibri" pitchFamily="34" charset="-120"/>
              </a:rPr>
              <a:t>Disclosure:</a:t>
            </a:r>
            <a:r>
              <a:rPr lang="en-US" sz="1400" dirty="0">
                <a:solidFill>
                  <a:srgbClr val="1E2533"/>
                </a:solidFill>
                <a:latin typeface="Calibri" pitchFamily="34" charset="0"/>
                <a:ea typeface="Calibri" pitchFamily="34" charset="-122"/>
                <a:cs typeface="Calibri" pitchFamily="34" charset="-120"/>
              </a:rPr>
              <a:t> investors price risk better when it is transparently reported.</a:t>
            </a:r>
            <a:endParaRPr lang="en-US" sz="1500" dirty="0"/>
          </a:p>
        </p:txBody>
      </p:sp>
      <p:sp>
        <p:nvSpPr>
          <p:cNvPr id="39"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Indian Legal and Regulatory Requirements on Risk Governance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681728"/>
        </p:xfrm>
        <a:graphic>
          <a:graphicData uri="http://schemas.openxmlformats.org/drawingml/2006/table">
            <a:tbl>
              <a:tblPr/>
              <a:tblGrid>
                <a:gridCol w="3017520">
                  <a:extLst>
                    <a:ext uri="{9D8B030D-6E8A-4147-A177-3AD203B41FA5}">
                      <a16:colId xmlns:a16="http://schemas.microsoft.com/office/drawing/2014/main" val="20000"/>
                    </a:ext>
                  </a:extLst>
                </a:gridCol>
                <a:gridCol w="8165592">
                  <a:extLst>
                    <a:ext uri="{9D8B030D-6E8A-4147-A177-3AD203B41FA5}">
                      <a16:colId xmlns:a16="http://schemas.microsoft.com/office/drawing/2014/main" val="20001"/>
                    </a:ext>
                  </a:extLst>
                </a:gridCol>
              </a:tblGrid>
              <a:tr h="457200">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Source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Requirement (summary)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03504">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Companies Act 2013, Sec. 134(3)(n)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Board's report must include a statement on the development and implementation of a risk management policy, identifying risks that may threaten the company's existence.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Companies Act 2013, Sec. 177(4)(vii)</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Audit Committee evaluates internal financial controls and risk management systems.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603504">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Companies Act 2013, Schedule IV</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Independent directors must satisfy themselves that financial controls and risk management systems are robust and defensible.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SEBI LODR, Reg. 17(9)</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The board is responsible for framing, implementing and monitoring the risk management plan.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603504">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SEBI LODR, Reg. 21</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Risk Management Committee mandatory for the top 1,000 listed entities by market capitalisation; at least three members, majority from the board, including an independent director; meets at least twice a year.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3504">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RBI (banks)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Board-level Risk Management Committee and an independent Chief Risk Officer with direct access to it; Basel III capital, liquidity and ICAAP requirements.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603504">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IRDAI (insurers)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Corporate governance norms require a Board Risk Management Committee, a risk officer and a board-approved asset-liability and investment framework.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502920" y="5943600"/>
            <a:ext cx="11183112" cy="411480"/>
          </a:xfrm>
          <a:prstGeom prst="rect">
            <a:avLst/>
          </a:prstGeom>
          <a:noFill/>
          <a:ln/>
        </p:spPr>
        <p:txBody>
          <a:bodyPr wrap="square" lIns="0" tIns="0" rIns="0" bIns="0" rtlCol="0" anchor="t"/>
          <a:lstStyle/>
          <a:p>
            <a:pPr marL="0" indent="0" algn="l">
              <a:buNone/>
            </a:pPr>
            <a:r>
              <a:rPr lang="en-US" sz="1100" i="1" dirty="0">
                <a:solidFill>
                  <a:srgbClr val="5C6577"/>
                </a:solidFill>
                <a:latin typeface="Calibri" pitchFamily="34" charset="0"/>
                <a:ea typeface="Calibri" pitchFamily="34" charset="-122"/>
                <a:cs typeface="Calibri" pitchFamily="34" charset="-120"/>
              </a:rPr>
              <a:t>Summaries for teaching; students should read the current text of each provision, as amendments are frequent.</a:t>
            </a:r>
            <a:endParaRPr lang="en-US" sz="11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What the Board Must Do About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Set risk appetite</a:t>
            </a:r>
            <a:endParaRPr lang="en-US" sz="1700" dirty="0"/>
          </a:p>
        </p:txBody>
      </p:sp>
      <p:sp>
        <p:nvSpPr>
          <p:cNvPr id="10" name="Text 7"/>
          <p:cNvSpPr txBox="1"/>
          <p:nvPr/>
        </p:nvSpPr>
        <p:spPr>
          <a:xfrm>
            <a:off x="685800" y="203911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Approve how much and what kind of risk the firm will take to meet its strategy.</a:t>
            </a:r>
            <a:endParaRPr lang="en-US" sz="1600" dirty="0"/>
          </a:p>
        </p:txBody>
      </p:sp>
      <p:sp>
        <p:nvSpPr>
          <p:cNvPr id="11" name="Shape 8"/>
          <p:cNvSpPr/>
          <p:nvPr/>
        </p:nvSpPr>
        <p:spPr>
          <a:xfrm>
            <a:off x="4322064"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504944"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625645" y="1583741"/>
            <a:ext cx="261518" cy="261518"/>
          </a:xfrm>
          <a:prstGeom prst="rect">
            <a:avLst/>
          </a:prstGeom>
        </p:spPr>
      </p:pic>
      <p:sp>
        <p:nvSpPr>
          <p:cNvPr id="14" name="Text 10"/>
          <p:cNvSpPr txBox="1"/>
          <p:nvPr/>
        </p:nvSpPr>
        <p:spPr>
          <a:xfrm>
            <a:off x="5099304"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Approve policies</a:t>
            </a:r>
            <a:endParaRPr lang="en-US" sz="1700" dirty="0"/>
          </a:p>
        </p:txBody>
      </p:sp>
      <p:sp>
        <p:nvSpPr>
          <p:cNvPr id="15" name="Text 11"/>
          <p:cNvSpPr txBox="1"/>
          <p:nvPr/>
        </p:nvSpPr>
        <p:spPr>
          <a:xfrm>
            <a:off x="4504944" y="203911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Credit, market, liquidity, operational, IT and hedging policies, with limits.</a:t>
            </a:r>
            <a:endParaRPr lang="en-US" sz="1600" dirty="0"/>
          </a:p>
        </p:txBody>
      </p:sp>
      <p:sp>
        <p:nvSpPr>
          <p:cNvPr id="16" name="Shape 12"/>
          <p:cNvSpPr/>
          <p:nvPr/>
        </p:nvSpPr>
        <p:spPr>
          <a:xfrm>
            <a:off x="8141208"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8324088" y="146304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444789" y="1583741"/>
            <a:ext cx="261518" cy="261518"/>
          </a:xfrm>
          <a:prstGeom prst="rect">
            <a:avLst/>
          </a:prstGeom>
        </p:spPr>
      </p:pic>
      <p:sp>
        <p:nvSpPr>
          <p:cNvPr id="19" name="Text 14"/>
          <p:cNvSpPr txBox="1"/>
          <p:nvPr/>
        </p:nvSpPr>
        <p:spPr>
          <a:xfrm>
            <a:off x="8918448"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Appoint and protect the CRO</a:t>
            </a:r>
            <a:endParaRPr lang="en-US" sz="1700" dirty="0"/>
          </a:p>
        </p:txBody>
      </p:sp>
      <p:sp>
        <p:nvSpPr>
          <p:cNvPr id="20" name="Text 15"/>
          <p:cNvSpPr txBox="1"/>
          <p:nvPr/>
        </p:nvSpPr>
        <p:spPr>
          <a:xfrm>
            <a:off x="8324088" y="203911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Ensure the risk function is independent, resourced and heard.</a:t>
            </a:r>
            <a:endParaRPr lang="en-US" sz="1600" dirty="0"/>
          </a:p>
        </p:txBody>
      </p:sp>
      <p:sp>
        <p:nvSpPr>
          <p:cNvPr id="21" name="Shape 16"/>
          <p:cNvSpPr/>
          <p:nvPr/>
        </p:nvSpPr>
        <p:spPr>
          <a:xfrm>
            <a:off x="502920"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685800"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806501" y="4189781"/>
            <a:ext cx="261518" cy="261518"/>
          </a:xfrm>
          <a:prstGeom prst="rect">
            <a:avLst/>
          </a:prstGeom>
        </p:spPr>
      </p:pic>
      <p:sp>
        <p:nvSpPr>
          <p:cNvPr id="24" name="Text 18"/>
          <p:cNvSpPr txBox="1"/>
          <p:nvPr/>
        </p:nvSpPr>
        <p:spPr>
          <a:xfrm>
            <a:off x="1280160"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Review risk reports</a:t>
            </a:r>
            <a:endParaRPr lang="en-US" sz="1700" dirty="0"/>
          </a:p>
        </p:txBody>
      </p:sp>
      <p:sp>
        <p:nvSpPr>
          <p:cNvPr id="25" name="Text 19"/>
          <p:cNvSpPr txBox="1"/>
          <p:nvPr/>
        </p:nvSpPr>
        <p:spPr>
          <a:xfrm>
            <a:off x="685800" y="464515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Quarterly risk dashboards, stress tests, limit breaches and emerging risks.</a:t>
            </a:r>
            <a:endParaRPr lang="en-US" sz="1600" dirty="0"/>
          </a:p>
        </p:txBody>
      </p:sp>
      <p:sp>
        <p:nvSpPr>
          <p:cNvPr id="26" name="Shape 20"/>
          <p:cNvSpPr/>
          <p:nvPr/>
        </p:nvSpPr>
        <p:spPr>
          <a:xfrm>
            <a:off x="4322064"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4504944" y="4069080"/>
            <a:ext cx="502920" cy="50292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4625645" y="4189781"/>
            <a:ext cx="261518" cy="261518"/>
          </a:xfrm>
          <a:prstGeom prst="rect">
            <a:avLst/>
          </a:prstGeom>
        </p:spPr>
      </p:pic>
      <p:sp>
        <p:nvSpPr>
          <p:cNvPr id="29" name="Text 22"/>
          <p:cNvSpPr txBox="1"/>
          <p:nvPr/>
        </p:nvSpPr>
        <p:spPr>
          <a:xfrm>
            <a:off x="5099304"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Shape culture and incentives</a:t>
            </a:r>
            <a:endParaRPr lang="en-US" sz="1700" dirty="0"/>
          </a:p>
        </p:txBody>
      </p:sp>
      <p:sp>
        <p:nvSpPr>
          <p:cNvPr id="30" name="Text 23"/>
          <p:cNvSpPr txBox="1"/>
          <p:nvPr/>
        </p:nvSpPr>
        <p:spPr>
          <a:xfrm>
            <a:off x="4504944" y="464515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Link pay to risk-adjusted performance; reward escalation, not concealment.</a:t>
            </a:r>
            <a:endParaRPr lang="en-US" sz="1600" dirty="0"/>
          </a:p>
        </p:txBody>
      </p:sp>
      <p:sp>
        <p:nvSpPr>
          <p:cNvPr id="31" name="Shape 24"/>
          <p:cNvSpPr/>
          <p:nvPr/>
        </p:nvSpPr>
        <p:spPr>
          <a:xfrm>
            <a:off x="8141208"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2" name="Shape 25"/>
          <p:cNvSpPr/>
          <p:nvPr/>
        </p:nvSpPr>
        <p:spPr>
          <a:xfrm>
            <a:off x="8324088" y="4069080"/>
            <a:ext cx="502920" cy="50292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8444789" y="4189781"/>
            <a:ext cx="261518" cy="261518"/>
          </a:xfrm>
          <a:prstGeom prst="rect">
            <a:avLst/>
          </a:prstGeom>
        </p:spPr>
      </p:pic>
      <p:sp>
        <p:nvSpPr>
          <p:cNvPr id="34" name="Text 26"/>
          <p:cNvSpPr txBox="1"/>
          <p:nvPr/>
        </p:nvSpPr>
        <p:spPr>
          <a:xfrm>
            <a:off x="8918448"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Disclose</a:t>
            </a:r>
            <a:endParaRPr lang="en-US" sz="1700" dirty="0"/>
          </a:p>
        </p:txBody>
      </p:sp>
      <p:sp>
        <p:nvSpPr>
          <p:cNvPr id="35" name="Text 27"/>
          <p:cNvSpPr txBox="1"/>
          <p:nvPr/>
        </p:nvSpPr>
        <p:spPr>
          <a:xfrm>
            <a:off x="8324088" y="464515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Report key risks in the annual report; BRSR asks listed firms to identify material ESG risks and opportunities.</a:t>
            </a:r>
            <a:endParaRPr lang="en-US" sz="1600" dirty="0"/>
          </a:p>
        </p:txBody>
      </p:sp>
      <p:sp>
        <p:nvSpPr>
          <p:cNvPr id="3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When Governance Fails, Risk Materialises: Indian Lessons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Case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went wrong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Governance lesson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Satyam Computer (2009)</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Founder-chairman confessed to years of falsified accounts and fictitious cash balances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Independent directors and auditors must challenge, not rubber-stamp; spurred stronger audit and board rules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IL&amp;FS group (2018)</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Defaults on short-term borrowings funding long-term infrastructure assets; government superseded the board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Asset-liability mismatch and complex group structures need board-level scrutiny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DHFL (2019)</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Liquidity stress and alleged diversion of funds; first financial firm referred under the Insolvency and Bankruptcy Code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Related-party exposures and funding concentration must be monitored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Yes Bank (2020)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Concentrated lending to stressed borrowers and NPA under-reporting; RBI moratorium and board supersession; AT1 bonds written down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Growth without risk discipline destroys value; the CRO must be able to say no</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09</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9</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Risk Management Framework</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Risk policies, the risk management process, risk appetite and the three lines of defence</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Architecture of a framework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Risk policies: contents and examples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Process: from context to monitoring</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Risk appetite, tolerance, capacity and limits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Three lines of defence</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Architecture of a Risk Management Framework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11183112" cy="731520"/>
          </a:xfrm>
          <a:prstGeom prst="roundRect">
            <a:avLst>
              <a:gd name="adj" fmla="val 10000"/>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7" name="Text 5"/>
          <p:cNvSpPr txBox="1"/>
          <p:nvPr/>
        </p:nvSpPr>
        <p:spPr>
          <a:xfrm>
            <a:off x="685800" y="1280160"/>
            <a:ext cx="10817352" cy="731520"/>
          </a:xfrm>
          <a:prstGeom prst="rect">
            <a:avLst/>
          </a:prstGeom>
          <a:noFill/>
          <a:ln/>
        </p:spPr>
        <p:txBody>
          <a:bodyPr wrap="square" lIns="0" tIns="0" rIns="0" bIns="0" rtlCol="0" anchor="ctr"/>
          <a:lstStyle/>
          <a:p>
            <a:pPr marL="0" indent="0" algn="ctr">
              <a:buNone/>
            </a:pPr>
            <a:r>
              <a:rPr lang="en-US" sz="1700" b="1" dirty="0">
                <a:solidFill>
                  <a:srgbClr val="C9A227"/>
                </a:solidFill>
                <a:latin typeface="Cambria" pitchFamily="34" charset="0"/>
                <a:ea typeface="Cambria" pitchFamily="34" charset="-122"/>
                <a:cs typeface="Cambria" pitchFamily="34" charset="-120"/>
              </a:rPr>
              <a:t>Governance, risk culture and board oversight (leadership and commitment)</a:t>
            </a:r>
            <a:endParaRPr lang="en-US" sz="1700" dirty="0"/>
          </a:p>
        </p:txBody>
      </p:sp>
      <p:sp>
        <p:nvSpPr>
          <p:cNvPr id="8" name="Shape 6"/>
          <p:cNvSpPr/>
          <p:nvPr/>
        </p:nvSpPr>
        <p:spPr>
          <a:xfrm>
            <a:off x="502920" y="2240280"/>
            <a:ext cx="2587752" cy="301752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Shape 7"/>
          <p:cNvSpPr/>
          <p:nvPr/>
        </p:nvSpPr>
        <p:spPr>
          <a:xfrm>
            <a:off x="1431036" y="2423160"/>
            <a:ext cx="731520" cy="731520"/>
          </a:xfrm>
          <a:prstGeom prst="ellipse">
            <a:avLst/>
          </a:prstGeom>
          <a:solidFill>
            <a:srgbClr val="14213D"/>
          </a:solidFill>
          <a:ln w="12700">
            <a:solidFill>
              <a:srgbClr val="14213D"/>
            </a:solidFill>
            <a:prstDash val="solid"/>
          </a:ln>
        </p:spPr>
      </p:sp>
      <p:pic>
        <p:nvPicPr>
          <p:cNvPr id="10" name="Image 0" descr="preencoded.png"/>
          <p:cNvPicPr>
            <a:picLocks noChangeAspect="1"/>
          </p:cNvPicPr>
          <p:nvPr/>
        </p:nvPicPr>
        <p:blipFill>
          <a:blip r:embed="rId3"/>
          <a:stretch>
            <a:fillRect/>
          </a:stretch>
        </p:blipFill>
        <p:spPr>
          <a:xfrm>
            <a:off x="1606601" y="2598725"/>
            <a:ext cx="380390" cy="380390"/>
          </a:xfrm>
          <a:prstGeom prst="rect">
            <a:avLst/>
          </a:prstGeom>
        </p:spPr>
      </p:pic>
      <p:sp>
        <p:nvSpPr>
          <p:cNvPr id="11" name="Text 8"/>
          <p:cNvSpPr txBox="1"/>
          <p:nvPr/>
        </p:nvSpPr>
        <p:spPr>
          <a:xfrm>
            <a:off x="612648" y="3246120"/>
            <a:ext cx="2368296" cy="640080"/>
          </a:xfrm>
          <a:prstGeom prst="rect">
            <a:avLst/>
          </a:prstGeom>
          <a:noFill/>
          <a:ln/>
        </p:spPr>
        <p:txBody>
          <a:bodyPr wrap="square" lIns="0" tIns="0" rIns="0" bIns="0" rtlCol="0" anchor="ctr"/>
          <a:lstStyle/>
          <a:p>
            <a:pPr marL="0" indent="0" algn="ctr">
              <a:buNone/>
            </a:pPr>
            <a:r>
              <a:rPr lang="en-US" sz="1650" b="1" dirty="0">
                <a:solidFill>
                  <a:srgbClr val="14213D"/>
                </a:solidFill>
                <a:latin typeface="Cambria" pitchFamily="34" charset="0"/>
                <a:ea typeface="Cambria" pitchFamily="34" charset="-122"/>
                <a:cs typeface="Cambria" pitchFamily="34" charset="-120"/>
              </a:rPr>
              <a:t>Risk policies</a:t>
            </a:r>
            <a:endParaRPr lang="en-US" sz="1650" dirty="0"/>
          </a:p>
        </p:txBody>
      </p:sp>
      <p:sp>
        <p:nvSpPr>
          <p:cNvPr id="12" name="Text 9"/>
          <p:cNvSpPr txBox="1"/>
          <p:nvPr/>
        </p:nvSpPr>
        <p:spPr>
          <a:xfrm>
            <a:off x="667512" y="3931920"/>
            <a:ext cx="2258568" cy="1234440"/>
          </a:xfrm>
          <a:prstGeom prst="rect">
            <a:avLst/>
          </a:prstGeom>
          <a:noFill/>
          <a:ln/>
        </p:spPr>
        <p:txBody>
          <a:bodyPr wrap="square" lIns="0" tIns="0" rIns="0" bIns="0" rtlCol="0" anchor="t"/>
          <a:lstStyle/>
          <a:p>
            <a:pPr marL="0" indent="0" algn="ctr">
              <a:buNone/>
            </a:pPr>
            <a:r>
              <a:rPr lang="en-US" sz="1400" dirty="0">
                <a:solidFill>
                  <a:srgbClr val="1E2533"/>
                </a:solidFill>
                <a:latin typeface="Calibri" pitchFamily="34" charset="0"/>
                <a:ea typeface="Calibri" pitchFamily="34" charset="-122"/>
                <a:cs typeface="Calibri" pitchFamily="34" charset="-120"/>
              </a:rPr>
              <a:t>The written rules: who does what, with which limits, and how breaches are escalated.</a:t>
            </a:r>
            <a:endParaRPr lang="en-US" sz="1400" dirty="0"/>
          </a:p>
        </p:txBody>
      </p:sp>
      <p:sp>
        <p:nvSpPr>
          <p:cNvPr id="13" name="Shape 10"/>
          <p:cNvSpPr/>
          <p:nvPr/>
        </p:nvSpPr>
        <p:spPr>
          <a:xfrm>
            <a:off x="3337560" y="2240280"/>
            <a:ext cx="2587752" cy="301752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4" name="Shape 11"/>
          <p:cNvSpPr/>
          <p:nvPr/>
        </p:nvSpPr>
        <p:spPr>
          <a:xfrm>
            <a:off x="4265676" y="2423160"/>
            <a:ext cx="731520" cy="731520"/>
          </a:xfrm>
          <a:prstGeom prst="ellipse">
            <a:avLst/>
          </a:prstGeom>
          <a:solidFill>
            <a:srgbClr val="14213D"/>
          </a:solidFill>
          <a:ln w="12700">
            <a:solidFill>
              <a:srgbClr val="14213D"/>
            </a:solidFill>
            <a:prstDash val="solid"/>
          </a:ln>
        </p:spPr>
      </p:sp>
      <p:pic>
        <p:nvPicPr>
          <p:cNvPr id="15" name="Image 1" descr="preencoded.png"/>
          <p:cNvPicPr>
            <a:picLocks noChangeAspect="1"/>
          </p:cNvPicPr>
          <p:nvPr/>
        </p:nvPicPr>
        <p:blipFill>
          <a:blip r:embed="rId4"/>
          <a:stretch>
            <a:fillRect/>
          </a:stretch>
        </p:blipFill>
        <p:spPr>
          <a:xfrm>
            <a:off x="4441241" y="2598725"/>
            <a:ext cx="380390" cy="380390"/>
          </a:xfrm>
          <a:prstGeom prst="rect">
            <a:avLst/>
          </a:prstGeom>
        </p:spPr>
      </p:pic>
      <p:sp>
        <p:nvSpPr>
          <p:cNvPr id="16" name="Text 12"/>
          <p:cNvSpPr txBox="1"/>
          <p:nvPr/>
        </p:nvSpPr>
        <p:spPr>
          <a:xfrm>
            <a:off x="3447288" y="3246120"/>
            <a:ext cx="2368296" cy="640080"/>
          </a:xfrm>
          <a:prstGeom prst="rect">
            <a:avLst/>
          </a:prstGeom>
          <a:noFill/>
          <a:ln/>
        </p:spPr>
        <p:txBody>
          <a:bodyPr wrap="square" lIns="0" tIns="0" rIns="0" bIns="0" rtlCol="0" anchor="ctr"/>
          <a:lstStyle/>
          <a:p>
            <a:pPr marL="0" indent="0" algn="ctr">
              <a:buNone/>
            </a:pPr>
            <a:r>
              <a:rPr lang="en-US" sz="1650" b="1" dirty="0">
                <a:solidFill>
                  <a:srgbClr val="14213D"/>
                </a:solidFill>
                <a:latin typeface="Cambria" pitchFamily="34" charset="0"/>
                <a:ea typeface="Cambria" pitchFamily="34" charset="-122"/>
                <a:cs typeface="Cambria" pitchFamily="34" charset="-120"/>
              </a:rPr>
              <a:t>Risk management process</a:t>
            </a:r>
            <a:endParaRPr lang="en-US" sz="1650" dirty="0"/>
          </a:p>
        </p:txBody>
      </p:sp>
      <p:sp>
        <p:nvSpPr>
          <p:cNvPr id="17" name="Text 13"/>
          <p:cNvSpPr txBox="1"/>
          <p:nvPr/>
        </p:nvSpPr>
        <p:spPr>
          <a:xfrm>
            <a:off x="3502152" y="3931920"/>
            <a:ext cx="2258568" cy="1234440"/>
          </a:xfrm>
          <a:prstGeom prst="rect">
            <a:avLst/>
          </a:prstGeom>
          <a:noFill/>
          <a:ln/>
        </p:spPr>
        <p:txBody>
          <a:bodyPr wrap="square" lIns="0" tIns="0" rIns="0" bIns="0" rtlCol="0" anchor="t"/>
          <a:lstStyle/>
          <a:p>
            <a:pPr marL="0" indent="0" algn="ctr">
              <a:buNone/>
            </a:pPr>
            <a:r>
              <a:rPr lang="en-US" sz="1400" dirty="0">
                <a:solidFill>
                  <a:srgbClr val="1E2533"/>
                </a:solidFill>
                <a:latin typeface="Calibri" pitchFamily="34" charset="0"/>
                <a:ea typeface="Calibri" pitchFamily="34" charset="-122"/>
                <a:cs typeface="Calibri" pitchFamily="34" charset="-120"/>
              </a:rPr>
              <a:t>The repeatable cycle: context, identify, analyse, evaluate, treat, monitor and review.</a:t>
            </a:r>
            <a:endParaRPr lang="en-US" sz="1400" dirty="0"/>
          </a:p>
        </p:txBody>
      </p:sp>
      <p:sp>
        <p:nvSpPr>
          <p:cNvPr id="18" name="Shape 14"/>
          <p:cNvSpPr/>
          <p:nvPr/>
        </p:nvSpPr>
        <p:spPr>
          <a:xfrm>
            <a:off x="6172200" y="2240280"/>
            <a:ext cx="2587752" cy="301752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Shape 15"/>
          <p:cNvSpPr/>
          <p:nvPr/>
        </p:nvSpPr>
        <p:spPr>
          <a:xfrm>
            <a:off x="7100316" y="2423160"/>
            <a:ext cx="731520" cy="731520"/>
          </a:xfrm>
          <a:prstGeom prst="ellipse">
            <a:avLst/>
          </a:prstGeom>
          <a:solidFill>
            <a:srgbClr val="14213D"/>
          </a:solidFill>
          <a:ln w="12700">
            <a:solidFill>
              <a:srgbClr val="14213D"/>
            </a:solidFill>
            <a:prstDash val="solid"/>
          </a:ln>
        </p:spPr>
      </p:sp>
      <p:pic>
        <p:nvPicPr>
          <p:cNvPr id="20" name="Image 2" descr="preencoded.png"/>
          <p:cNvPicPr>
            <a:picLocks noChangeAspect="1"/>
          </p:cNvPicPr>
          <p:nvPr/>
        </p:nvPicPr>
        <p:blipFill>
          <a:blip r:embed="rId5"/>
          <a:stretch>
            <a:fillRect/>
          </a:stretch>
        </p:blipFill>
        <p:spPr>
          <a:xfrm>
            <a:off x="7275881" y="2598725"/>
            <a:ext cx="380390" cy="380390"/>
          </a:xfrm>
          <a:prstGeom prst="rect">
            <a:avLst/>
          </a:prstGeom>
        </p:spPr>
      </p:pic>
      <p:sp>
        <p:nvSpPr>
          <p:cNvPr id="21" name="Text 16"/>
          <p:cNvSpPr txBox="1"/>
          <p:nvPr/>
        </p:nvSpPr>
        <p:spPr>
          <a:xfrm>
            <a:off x="6281928" y="3246120"/>
            <a:ext cx="2368296" cy="640080"/>
          </a:xfrm>
          <a:prstGeom prst="rect">
            <a:avLst/>
          </a:prstGeom>
          <a:noFill/>
          <a:ln/>
        </p:spPr>
        <p:txBody>
          <a:bodyPr wrap="square" lIns="0" tIns="0" rIns="0" bIns="0" rtlCol="0" anchor="ctr"/>
          <a:lstStyle/>
          <a:p>
            <a:pPr marL="0" indent="0" algn="ctr">
              <a:buNone/>
            </a:pPr>
            <a:r>
              <a:rPr lang="en-US" sz="1650" b="1" dirty="0">
                <a:solidFill>
                  <a:srgbClr val="14213D"/>
                </a:solidFill>
                <a:latin typeface="Cambria" pitchFamily="34" charset="0"/>
                <a:ea typeface="Cambria" pitchFamily="34" charset="-122"/>
                <a:cs typeface="Cambria" pitchFamily="34" charset="-120"/>
              </a:rPr>
              <a:t>Risk appetite</a:t>
            </a:r>
            <a:endParaRPr lang="en-US" sz="1650" dirty="0"/>
          </a:p>
        </p:txBody>
      </p:sp>
      <p:sp>
        <p:nvSpPr>
          <p:cNvPr id="22" name="Text 17"/>
          <p:cNvSpPr txBox="1"/>
          <p:nvPr/>
        </p:nvSpPr>
        <p:spPr>
          <a:xfrm>
            <a:off x="6336792" y="3931920"/>
            <a:ext cx="2258568" cy="1234440"/>
          </a:xfrm>
          <a:prstGeom prst="rect">
            <a:avLst/>
          </a:prstGeom>
          <a:noFill/>
          <a:ln/>
        </p:spPr>
        <p:txBody>
          <a:bodyPr wrap="square" lIns="0" tIns="0" rIns="0" bIns="0" rtlCol="0" anchor="t"/>
          <a:lstStyle/>
          <a:p>
            <a:pPr marL="0" indent="0" algn="ctr">
              <a:buNone/>
            </a:pPr>
            <a:r>
              <a:rPr lang="en-US" sz="1400" dirty="0">
                <a:solidFill>
                  <a:srgbClr val="1E2533"/>
                </a:solidFill>
                <a:latin typeface="Calibri" pitchFamily="34" charset="0"/>
                <a:ea typeface="Calibri" pitchFamily="34" charset="-122"/>
                <a:cs typeface="Calibri" pitchFamily="34" charset="-120"/>
              </a:rPr>
              <a:t>How much risk the board will accept, translated into tolerances and limits.</a:t>
            </a:r>
            <a:endParaRPr lang="en-US" sz="1400" dirty="0"/>
          </a:p>
        </p:txBody>
      </p:sp>
      <p:sp>
        <p:nvSpPr>
          <p:cNvPr id="23" name="Shape 18"/>
          <p:cNvSpPr/>
          <p:nvPr/>
        </p:nvSpPr>
        <p:spPr>
          <a:xfrm>
            <a:off x="9006840" y="2240280"/>
            <a:ext cx="2587752" cy="301752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4" name="Shape 19"/>
          <p:cNvSpPr/>
          <p:nvPr/>
        </p:nvSpPr>
        <p:spPr>
          <a:xfrm>
            <a:off x="9934956" y="2423160"/>
            <a:ext cx="731520" cy="731520"/>
          </a:xfrm>
          <a:prstGeom prst="ellipse">
            <a:avLst/>
          </a:prstGeom>
          <a:solidFill>
            <a:srgbClr val="14213D"/>
          </a:solidFill>
          <a:ln w="12700">
            <a:solidFill>
              <a:srgbClr val="14213D"/>
            </a:solidFill>
            <a:prstDash val="solid"/>
          </a:ln>
        </p:spPr>
      </p:sp>
      <p:pic>
        <p:nvPicPr>
          <p:cNvPr id="25" name="Image 3" descr="preencoded.png"/>
          <p:cNvPicPr>
            <a:picLocks noChangeAspect="1"/>
          </p:cNvPicPr>
          <p:nvPr/>
        </p:nvPicPr>
        <p:blipFill>
          <a:blip r:embed="rId6"/>
          <a:stretch>
            <a:fillRect/>
          </a:stretch>
        </p:blipFill>
        <p:spPr>
          <a:xfrm>
            <a:off x="10110521" y="2598725"/>
            <a:ext cx="380390" cy="380390"/>
          </a:xfrm>
          <a:prstGeom prst="rect">
            <a:avLst/>
          </a:prstGeom>
        </p:spPr>
      </p:pic>
      <p:sp>
        <p:nvSpPr>
          <p:cNvPr id="26" name="Text 20"/>
          <p:cNvSpPr txBox="1"/>
          <p:nvPr/>
        </p:nvSpPr>
        <p:spPr>
          <a:xfrm>
            <a:off x="9116568" y="3246120"/>
            <a:ext cx="2368296" cy="640080"/>
          </a:xfrm>
          <a:prstGeom prst="rect">
            <a:avLst/>
          </a:prstGeom>
          <a:noFill/>
          <a:ln/>
        </p:spPr>
        <p:txBody>
          <a:bodyPr wrap="square" lIns="0" tIns="0" rIns="0" bIns="0" rtlCol="0" anchor="ctr"/>
          <a:lstStyle/>
          <a:p>
            <a:pPr marL="0" indent="0" algn="ctr">
              <a:buNone/>
            </a:pPr>
            <a:r>
              <a:rPr lang="en-US" sz="1650" b="1" dirty="0">
                <a:solidFill>
                  <a:srgbClr val="14213D"/>
                </a:solidFill>
                <a:latin typeface="Cambria" pitchFamily="34" charset="0"/>
                <a:ea typeface="Cambria" pitchFamily="34" charset="-122"/>
                <a:cs typeface="Cambria" pitchFamily="34" charset="-120"/>
              </a:rPr>
              <a:t>Three lines of defence</a:t>
            </a:r>
            <a:endParaRPr lang="en-US" sz="1650" dirty="0"/>
          </a:p>
        </p:txBody>
      </p:sp>
      <p:sp>
        <p:nvSpPr>
          <p:cNvPr id="27" name="Text 21"/>
          <p:cNvSpPr txBox="1"/>
          <p:nvPr/>
        </p:nvSpPr>
        <p:spPr>
          <a:xfrm>
            <a:off x="9171432" y="3931920"/>
            <a:ext cx="2258568" cy="1234440"/>
          </a:xfrm>
          <a:prstGeom prst="rect">
            <a:avLst/>
          </a:prstGeom>
          <a:noFill/>
          <a:ln/>
        </p:spPr>
        <p:txBody>
          <a:bodyPr wrap="square" lIns="0" tIns="0" rIns="0" bIns="0" rtlCol="0" anchor="t"/>
          <a:lstStyle/>
          <a:p>
            <a:pPr marL="0" indent="0" algn="ctr">
              <a:buNone/>
            </a:pPr>
            <a:r>
              <a:rPr lang="en-US" sz="1400" dirty="0">
                <a:solidFill>
                  <a:srgbClr val="1E2533"/>
                </a:solidFill>
                <a:latin typeface="Calibri" pitchFamily="34" charset="0"/>
                <a:ea typeface="Calibri" pitchFamily="34" charset="-122"/>
                <a:cs typeface="Calibri" pitchFamily="34" charset="-120"/>
              </a:rPr>
              <a:t>Clear roles: business owns risk, risk function oversees, internal audit assures.</a:t>
            </a:r>
            <a:endParaRPr lang="en-US" sz="1400" dirty="0"/>
          </a:p>
        </p:txBody>
      </p:sp>
      <p:sp>
        <p:nvSpPr>
          <p:cNvPr id="28" name="Shape 22"/>
          <p:cNvSpPr/>
          <p:nvPr/>
        </p:nvSpPr>
        <p:spPr>
          <a:xfrm>
            <a:off x="502920" y="5486400"/>
            <a:ext cx="11183112" cy="731520"/>
          </a:xfrm>
          <a:prstGeom prst="roundRect">
            <a:avLst>
              <a:gd name="adj" fmla="val 10000"/>
            </a:avLst>
          </a:prstGeom>
          <a:solidFill>
            <a:srgbClr val="EFE8D6"/>
          </a:solidFill>
          <a:ln w="9525">
            <a:solidFill>
              <a:srgbClr val="EFE8D6"/>
            </a:solidFill>
            <a:prstDash val="solid"/>
          </a:ln>
          <a:effectLst>
            <a:outerShdw blurRad="63500" dist="19050" dir="5400000" algn="bl" rotWithShape="0">
              <a:srgbClr val="000000">
                <a:alpha val="13000"/>
              </a:srgbClr>
            </a:outerShdw>
          </a:effectLst>
        </p:spPr>
      </p:sp>
      <p:sp>
        <p:nvSpPr>
          <p:cNvPr id="29" name="Text 23"/>
          <p:cNvSpPr txBox="1"/>
          <p:nvPr/>
        </p:nvSpPr>
        <p:spPr>
          <a:xfrm>
            <a:off x="685800" y="5486400"/>
            <a:ext cx="10817352" cy="73152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Foundation: data, models, systems (e.g. core banking, treasury, ERP) and reporting</a:t>
            </a:r>
            <a:endParaRPr lang="en-US" sz="1600" dirty="0"/>
          </a:p>
        </p:txBody>
      </p:sp>
      <p:sp>
        <p:nvSpPr>
          <p:cNvPr id="30"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Risk Policies: What They Contain and Examples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4754880" cy="4937760"/>
          </a:xfrm>
          <a:prstGeom prst="roundRect">
            <a:avLst>
              <a:gd name="adj" fmla="val 153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7" name="Text 5"/>
          <p:cNvSpPr txBox="1"/>
          <p:nvPr/>
        </p:nvSpPr>
        <p:spPr>
          <a:xfrm>
            <a:off x="731520" y="1417320"/>
            <a:ext cx="4343400" cy="4663440"/>
          </a:xfrm>
          <a:prstGeom prst="rect">
            <a:avLst/>
          </a:prstGeom>
          <a:noFill/>
          <a:ln/>
        </p:spPr>
        <p:txBody>
          <a:bodyPr wrap="square" lIns="0" tIns="0" rIns="0" bIns="0" rtlCol="0" anchor="t"/>
          <a:lstStyle/>
          <a:p>
            <a:pPr marL="0" indent="0" algn="l">
              <a:spcAft>
                <a:spcPts val="800"/>
              </a:spcAft>
              <a:buNone/>
            </a:pPr>
            <a:r>
              <a:rPr lang="en-US" sz="1600" b="1" dirty="0">
                <a:solidFill>
                  <a:srgbClr val="C9A227"/>
                </a:solidFill>
                <a:latin typeface="Calibri" pitchFamily="34" charset="0"/>
                <a:ea typeface="Calibri" pitchFamily="34" charset="-122"/>
                <a:cs typeface="Calibri" pitchFamily="34" charset="-120"/>
              </a:rPr>
              <a:t>Contents of a sound risk policy</a:t>
            </a:r>
            <a:endParaRPr lang="en-US" sz="1600" dirty="0"/>
          </a:p>
          <a:p>
            <a:pPr marL="177800" indent="-177800" algn="l">
              <a:spcAft>
                <a:spcPts val="800"/>
              </a:spcAft>
              <a:buSzPct val="100000"/>
              <a:buChar char="•"/>
            </a:pPr>
            <a:r>
              <a:rPr lang="en-US" sz="1650" dirty="0">
                <a:solidFill>
                  <a:srgbClr val="FFFFFF"/>
                </a:solidFill>
                <a:latin typeface="Calibri" pitchFamily="34" charset="0"/>
                <a:ea typeface="Calibri" pitchFamily="34" charset="-122"/>
                <a:cs typeface="Calibri" pitchFamily="34" charset="-120"/>
              </a:rPr>
              <a:t>Purpose, scope and definitions</a:t>
            </a:r>
            <a:endParaRPr lang="en-US" sz="1600" dirty="0"/>
          </a:p>
          <a:p>
            <a:pPr marL="177800" indent="-177800" algn="l">
              <a:spcAft>
                <a:spcPts val="800"/>
              </a:spcAft>
              <a:buSzPct val="100000"/>
              <a:buChar char="•"/>
            </a:pPr>
            <a:r>
              <a:rPr lang="en-US" sz="1650" dirty="0">
                <a:solidFill>
                  <a:srgbClr val="FFFFFF"/>
                </a:solidFill>
                <a:latin typeface="Calibri" pitchFamily="34" charset="0"/>
                <a:ea typeface="Calibri" pitchFamily="34" charset="-122"/>
                <a:cs typeface="Calibri" pitchFamily="34" charset="-120"/>
              </a:rPr>
              <a:t>Roles: board, committees, CRO, business heads</a:t>
            </a:r>
            <a:endParaRPr lang="en-US" sz="1600" dirty="0"/>
          </a:p>
          <a:p>
            <a:pPr marL="177800" indent="-177800" algn="l">
              <a:spcAft>
                <a:spcPts val="800"/>
              </a:spcAft>
              <a:buSzPct val="100000"/>
              <a:buChar char="•"/>
            </a:pPr>
            <a:r>
              <a:rPr lang="en-US" sz="1650" dirty="0">
                <a:solidFill>
                  <a:srgbClr val="FFFFFF"/>
                </a:solidFill>
                <a:latin typeface="Calibri" pitchFamily="34" charset="0"/>
                <a:ea typeface="Calibri" pitchFamily="34" charset="-122"/>
                <a:cs typeface="Calibri" pitchFamily="34" charset="-120"/>
              </a:rPr>
              <a:t>Risk appetite and limits (exposure, VaR, stop-loss, concentration)</a:t>
            </a:r>
            <a:endParaRPr lang="en-US" sz="1600" dirty="0"/>
          </a:p>
          <a:p>
            <a:pPr marL="177800" indent="-177800" algn="l">
              <a:spcAft>
                <a:spcPts val="800"/>
              </a:spcAft>
              <a:buSzPct val="100000"/>
              <a:buChar char="•"/>
            </a:pPr>
            <a:r>
              <a:rPr lang="en-US" sz="1650" dirty="0">
                <a:solidFill>
                  <a:srgbClr val="FFFFFF"/>
                </a:solidFill>
                <a:latin typeface="Calibri" pitchFamily="34" charset="0"/>
                <a:ea typeface="Calibri" pitchFamily="34" charset="-122"/>
                <a:cs typeface="Calibri" pitchFamily="34" charset="-120"/>
              </a:rPr>
              <a:t>Measurement methods and models</a:t>
            </a:r>
            <a:endParaRPr lang="en-US" sz="1600" dirty="0"/>
          </a:p>
          <a:p>
            <a:pPr marL="177800" indent="-177800" algn="l">
              <a:spcAft>
                <a:spcPts val="800"/>
              </a:spcAft>
              <a:buSzPct val="100000"/>
              <a:buChar char="•"/>
            </a:pPr>
            <a:r>
              <a:rPr lang="en-US" sz="1650" dirty="0">
                <a:solidFill>
                  <a:srgbClr val="FFFFFF"/>
                </a:solidFill>
                <a:latin typeface="Calibri" pitchFamily="34" charset="0"/>
                <a:ea typeface="Calibri" pitchFamily="34" charset="-122"/>
                <a:cs typeface="Calibri" pitchFamily="34" charset="-120"/>
              </a:rPr>
              <a:t>Approval, escalation and exception handling</a:t>
            </a:r>
            <a:endParaRPr lang="en-US" sz="1600" dirty="0"/>
          </a:p>
          <a:p>
            <a:pPr marL="177800" indent="-177800" algn="l">
              <a:spcAft>
                <a:spcPts val="800"/>
              </a:spcAft>
              <a:buSzPct val="100000"/>
              <a:buChar char="•"/>
            </a:pPr>
            <a:r>
              <a:rPr lang="en-US" sz="1650" dirty="0">
                <a:solidFill>
                  <a:srgbClr val="FFFFFF"/>
                </a:solidFill>
                <a:latin typeface="Calibri" pitchFamily="34" charset="0"/>
                <a:ea typeface="Calibri" pitchFamily="34" charset="-122"/>
                <a:cs typeface="Calibri" pitchFamily="34" charset="-120"/>
              </a:rPr>
              <a:t>Reporting format and frequency</a:t>
            </a:r>
            <a:endParaRPr lang="en-US" sz="1600" dirty="0"/>
          </a:p>
          <a:p>
            <a:pPr marL="177800" indent="-177800" algn="l">
              <a:spcAft>
                <a:spcPts val="800"/>
              </a:spcAft>
              <a:buSzPct val="100000"/>
              <a:buChar char="•"/>
            </a:pPr>
            <a:r>
              <a:rPr lang="en-US" sz="1650" dirty="0">
                <a:solidFill>
                  <a:srgbClr val="FFFFFF"/>
                </a:solidFill>
                <a:latin typeface="Calibri" pitchFamily="34" charset="0"/>
                <a:ea typeface="Calibri" pitchFamily="34" charset="-122"/>
                <a:cs typeface="Calibri" pitchFamily="34" charset="-120"/>
              </a:rPr>
              <a:t>Review cycle (at least annually)</a:t>
            </a:r>
            <a:endParaRPr lang="en-US" sz="1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532120" y="1280160"/>
          <a:ext cx="6153912" cy="914400"/>
        </p:xfrm>
        <a:graphic>
          <a:graphicData uri="http://schemas.openxmlformats.org/drawingml/2006/table">
            <a:tbl>
              <a:tblPr/>
              <a:tblGrid>
                <a:gridCol w="1600200">
                  <a:extLst>
                    <a:ext uri="{9D8B030D-6E8A-4147-A177-3AD203B41FA5}">
                      <a16:colId xmlns:a16="http://schemas.microsoft.com/office/drawing/2014/main" val="20000"/>
                    </a:ext>
                  </a:extLst>
                </a:gridCol>
                <a:gridCol w="4553712">
                  <a:extLst>
                    <a:ext uri="{9D8B030D-6E8A-4147-A177-3AD203B41FA5}">
                      <a16:colId xmlns:a16="http://schemas.microsoft.com/office/drawing/2014/main" val="20001"/>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Institution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Typical board-approved risk policies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107899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Commercial bank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Credit risk policy; market risk policy (VaR, PV01, stop-loss limits); ALM and liquidity policy; operational risk and BCP policy; information security and cyber policy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7899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Listed company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Enterprise risk management policy (SEBI LODR); foreign exchange hedging policy; commodity price risk policy; treasury investment policy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107899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Insurer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Underwriting policy; reinsurance policy; asset-liability management policy; investment policy within IRDAI limits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7899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University / trust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Investment policy for endowment and corpus funds: eligible instruments, bank-rating floors, per-bank exposure caps, maturity ladder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The Risk Management Process (ISO 31000)</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645920"/>
            <a:ext cx="1696212" cy="3246120"/>
          </a:xfrm>
          <a:prstGeom prst="roundRect">
            <a:avLst>
              <a:gd name="adj" fmla="val 431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1030986" y="1325880"/>
            <a:ext cx="640080" cy="640080"/>
          </a:xfrm>
          <a:prstGeom prst="ellipse">
            <a:avLst/>
          </a:prstGeom>
          <a:solidFill>
            <a:srgbClr val="14213D"/>
          </a:solidFill>
          <a:ln w="19050">
            <a:solidFill>
              <a:srgbClr val="C9A227"/>
            </a:solidFill>
            <a:prstDash val="solid"/>
          </a:ln>
        </p:spPr>
      </p:sp>
      <p:sp>
        <p:nvSpPr>
          <p:cNvPr id="8" name="Text 6"/>
          <p:cNvSpPr txBox="1"/>
          <p:nvPr/>
        </p:nvSpPr>
        <p:spPr>
          <a:xfrm>
            <a:off x="1030986"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612648" y="2057400"/>
            <a:ext cx="1476756" cy="640080"/>
          </a:xfrm>
          <a:prstGeom prst="rect">
            <a:avLst/>
          </a:prstGeom>
          <a:noFill/>
          <a:ln/>
        </p:spPr>
        <p:txBody>
          <a:bodyPr wrap="square" lIns="0" tIns="0" rIns="0" bIns="0"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Scope, context &amp; criteria</a:t>
            </a:r>
            <a:endParaRPr lang="en-US" sz="1400" dirty="0"/>
          </a:p>
        </p:txBody>
      </p:sp>
      <p:sp>
        <p:nvSpPr>
          <p:cNvPr id="10" name="Text 8"/>
          <p:cNvSpPr txBox="1"/>
          <p:nvPr/>
        </p:nvSpPr>
        <p:spPr>
          <a:xfrm>
            <a:off x="640080" y="2724912"/>
            <a:ext cx="1421892" cy="207568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Define objectives, internal and external context, and the criteria for judging risk.</a:t>
            </a:r>
            <a:endParaRPr lang="en-US" sz="1450" dirty="0"/>
          </a:p>
        </p:txBody>
      </p:sp>
      <p:sp>
        <p:nvSpPr>
          <p:cNvPr id="11" name="Shape 9"/>
          <p:cNvSpPr/>
          <p:nvPr/>
        </p:nvSpPr>
        <p:spPr>
          <a:xfrm>
            <a:off x="2217420" y="1527048"/>
            <a:ext cx="164592" cy="237744"/>
          </a:xfrm>
          <a:prstGeom prst="chevron">
            <a:avLst/>
          </a:prstGeom>
          <a:solidFill>
            <a:srgbClr val="C9A227"/>
          </a:solidFill>
          <a:ln w="12700">
            <a:solidFill>
              <a:srgbClr val="C9A227"/>
            </a:solidFill>
            <a:prstDash val="solid"/>
          </a:ln>
        </p:spPr>
      </p:sp>
      <p:sp>
        <p:nvSpPr>
          <p:cNvPr id="12" name="Shape 10"/>
          <p:cNvSpPr/>
          <p:nvPr/>
        </p:nvSpPr>
        <p:spPr>
          <a:xfrm>
            <a:off x="2400300" y="1645920"/>
            <a:ext cx="1696212" cy="3246120"/>
          </a:xfrm>
          <a:prstGeom prst="roundRect">
            <a:avLst>
              <a:gd name="adj" fmla="val 431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1"/>
          <p:cNvSpPr/>
          <p:nvPr/>
        </p:nvSpPr>
        <p:spPr>
          <a:xfrm>
            <a:off x="2928366" y="1325880"/>
            <a:ext cx="640080" cy="640080"/>
          </a:xfrm>
          <a:prstGeom prst="ellipse">
            <a:avLst/>
          </a:prstGeom>
          <a:solidFill>
            <a:srgbClr val="14213D"/>
          </a:solidFill>
          <a:ln w="19050">
            <a:solidFill>
              <a:srgbClr val="C9A227"/>
            </a:solidFill>
            <a:prstDash val="solid"/>
          </a:ln>
        </p:spPr>
      </p:sp>
      <p:sp>
        <p:nvSpPr>
          <p:cNvPr id="14" name="Text 12"/>
          <p:cNvSpPr txBox="1"/>
          <p:nvPr/>
        </p:nvSpPr>
        <p:spPr>
          <a:xfrm>
            <a:off x="2928366"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2510028" y="2057400"/>
            <a:ext cx="1476756" cy="640080"/>
          </a:xfrm>
          <a:prstGeom prst="rect">
            <a:avLst/>
          </a:prstGeom>
          <a:noFill/>
          <a:ln/>
        </p:spPr>
        <p:txBody>
          <a:bodyPr wrap="square" lIns="0" tIns="0" rIns="0" bIns="0"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Risk identification</a:t>
            </a:r>
            <a:endParaRPr lang="en-US" sz="1400" dirty="0"/>
          </a:p>
        </p:txBody>
      </p:sp>
      <p:sp>
        <p:nvSpPr>
          <p:cNvPr id="16" name="Text 14"/>
          <p:cNvSpPr txBox="1"/>
          <p:nvPr/>
        </p:nvSpPr>
        <p:spPr>
          <a:xfrm>
            <a:off x="2537460" y="2724912"/>
            <a:ext cx="1421892" cy="207568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Find, recognise and describe risks: sources, events, causes and consequences.</a:t>
            </a:r>
            <a:endParaRPr lang="en-US" sz="1450" dirty="0"/>
          </a:p>
        </p:txBody>
      </p:sp>
      <p:sp>
        <p:nvSpPr>
          <p:cNvPr id="17" name="Shape 15"/>
          <p:cNvSpPr/>
          <p:nvPr/>
        </p:nvSpPr>
        <p:spPr>
          <a:xfrm>
            <a:off x="4114800" y="1527048"/>
            <a:ext cx="164592" cy="237744"/>
          </a:xfrm>
          <a:prstGeom prst="chevron">
            <a:avLst/>
          </a:prstGeom>
          <a:solidFill>
            <a:srgbClr val="C9A227"/>
          </a:solidFill>
          <a:ln w="12700">
            <a:solidFill>
              <a:srgbClr val="C9A227"/>
            </a:solidFill>
            <a:prstDash val="solid"/>
          </a:ln>
        </p:spPr>
      </p:sp>
      <p:sp>
        <p:nvSpPr>
          <p:cNvPr id="18" name="Shape 16"/>
          <p:cNvSpPr/>
          <p:nvPr/>
        </p:nvSpPr>
        <p:spPr>
          <a:xfrm>
            <a:off x="4297680" y="1645920"/>
            <a:ext cx="1696212" cy="3246120"/>
          </a:xfrm>
          <a:prstGeom prst="roundRect">
            <a:avLst>
              <a:gd name="adj" fmla="val 431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Shape 17"/>
          <p:cNvSpPr/>
          <p:nvPr/>
        </p:nvSpPr>
        <p:spPr>
          <a:xfrm>
            <a:off x="4825746" y="1325880"/>
            <a:ext cx="640080" cy="640080"/>
          </a:xfrm>
          <a:prstGeom prst="ellipse">
            <a:avLst/>
          </a:prstGeom>
          <a:solidFill>
            <a:srgbClr val="14213D"/>
          </a:solidFill>
          <a:ln w="19050">
            <a:solidFill>
              <a:srgbClr val="C9A227"/>
            </a:solidFill>
            <a:prstDash val="solid"/>
          </a:ln>
        </p:spPr>
      </p:sp>
      <p:sp>
        <p:nvSpPr>
          <p:cNvPr id="20" name="Text 18"/>
          <p:cNvSpPr txBox="1"/>
          <p:nvPr/>
        </p:nvSpPr>
        <p:spPr>
          <a:xfrm>
            <a:off x="4825746"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4407408" y="2057400"/>
            <a:ext cx="1476756" cy="640080"/>
          </a:xfrm>
          <a:prstGeom prst="rect">
            <a:avLst/>
          </a:prstGeom>
          <a:noFill/>
          <a:ln/>
        </p:spPr>
        <p:txBody>
          <a:bodyPr wrap="square" lIns="0" tIns="0" rIns="0" bIns="0"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Risk analysis</a:t>
            </a:r>
            <a:endParaRPr lang="en-US" sz="1400" dirty="0"/>
          </a:p>
        </p:txBody>
      </p:sp>
      <p:sp>
        <p:nvSpPr>
          <p:cNvPr id="22" name="Text 20"/>
          <p:cNvSpPr txBox="1"/>
          <p:nvPr/>
        </p:nvSpPr>
        <p:spPr>
          <a:xfrm>
            <a:off x="4434840" y="2724912"/>
            <a:ext cx="1421892" cy="207568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Estimate likelihood and consequence; use quantitative models where data allow.</a:t>
            </a:r>
            <a:endParaRPr lang="en-US" sz="1450" dirty="0"/>
          </a:p>
        </p:txBody>
      </p:sp>
      <p:sp>
        <p:nvSpPr>
          <p:cNvPr id="23" name="Shape 21"/>
          <p:cNvSpPr/>
          <p:nvPr/>
        </p:nvSpPr>
        <p:spPr>
          <a:xfrm>
            <a:off x="6012180" y="1527048"/>
            <a:ext cx="164592" cy="237744"/>
          </a:xfrm>
          <a:prstGeom prst="chevron">
            <a:avLst/>
          </a:prstGeom>
          <a:solidFill>
            <a:srgbClr val="C9A227"/>
          </a:solidFill>
          <a:ln w="12700">
            <a:solidFill>
              <a:srgbClr val="C9A227"/>
            </a:solidFill>
            <a:prstDash val="solid"/>
          </a:ln>
        </p:spPr>
      </p:sp>
      <p:sp>
        <p:nvSpPr>
          <p:cNvPr id="24" name="Shape 22"/>
          <p:cNvSpPr/>
          <p:nvPr/>
        </p:nvSpPr>
        <p:spPr>
          <a:xfrm>
            <a:off x="6195060" y="1645920"/>
            <a:ext cx="1696212" cy="3246120"/>
          </a:xfrm>
          <a:prstGeom prst="roundRect">
            <a:avLst>
              <a:gd name="adj" fmla="val 431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5" name="Shape 23"/>
          <p:cNvSpPr/>
          <p:nvPr/>
        </p:nvSpPr>
        <p:spPr>
          <a:xfrm>
            <a:off x="6723126" y="1325880"/>
            <a:ext cx="640080" cy="640080"/>
          </a:xfrm>
          <a:prstGeom prst="ellipse">
            <a:avLst/>
          </a:prstGeom>
          <a:solidFill>
            <a:srgbClr val="14213D"/>
          </a:solidFill>
          <a:ln w="19050">
            <a:solidFill>
              <a:srgbClr val="C9A227"/>
            </a:solidFill>
            <a:prstDash val="solid"/>
          </a:ln>
        </p:spPr>
      </p:sp>
      <p:sp>
        <p:nvSpPr>
          <p:cNvPr id="26" name="Text 24"/>
          <p:cNvSpPr txBox="1"/>
          <p:nvPr/>
        </p:nvSpPr>
        <p:spPr>
          <a:xfrm>
            <a:off x="6723126"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4</a:t>
            </a:r>
            <a:endParaRPr lang="en-US" sz="1800" dirty="0"/>
          </a:p>
        </p:txBody>
      </p:sp>
      <p:sp>
        <p:nvSpPr>
          <p:cNvPr id="27" name="Text 25"/>
          <p:cNvSpPr txBox="1"/>
          <p:nvPr/>
        </p:nvSpPr>
        <p:spPr>
          <a:xfrm>
            <a:off x="6304788" y="2057400"/>
            <a:ext cx="1476756" cy="640080"/>
          </a:xfrm>
          <a:prstGeom prst="rect">
            <a:avLst/>
          </a:prstGeom>
          <a:noFill/>
          <a:ln/>
        </p:spPr>
        <p:txBody>
          <a:bodyPr wrap="square" lIns="0" tIns="0" rIns="0" bIns="0"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Risk evaluation</a:t>
            </a:r>
            <a:endParaRPr lang="en-US" sz="1400" dirty="0"/>
          </a:p>
        </p:txBody>
      </p:sp>
      <p:sp>
        <p:nvSpPr>
          <p:cNvPr id="28" name="Text 26"/>
          <p:cNvSpPr txBox="1"/>
          <p:nvPr/>
        </p:nvSpPr>
        <p:spPr>
          <a:xfrm>
            <a:off x="6332220" y="2724912"/>
            <a:ext cx="1421892" cy="207568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Compare results with risk criteria and appetite; prioritise for action.</a:t>
            </a:r>
            <a:endParaRPr lang="en-US" sz="1450" dirty="0"/>
          </a:p>
        </p:txBody>
      </p:sp>
      <p:sp>
        <p:nvSpPr>
          <p:cNvPr id="29" name="Shape 27"/>
          <p:cNvSpPr/>
          <p:nvPr/>
        </p:nvSpPr>
        <p:spPr>
          <a:xfrm>
            <a:off x="7909560" y="1527048"/>
            <a:ext cx="164592" cy="237744"/>
          </a:xfrm>
          <a:prstGeom prst="chevron">
            <a:avLst/>
          </a:prstGeom>
          <a:solidFill>
            <a:srgbClr val="C9A227"/>
          </a:solidFill>
          <a:ln w="12700">
            <a:solidFill>
              <a:srgbClr val="C9A227"/>
            </a:solidFill>
            <a:prstDash val="solid"/>
          </a:ln>
        </p:spPr>
      </p:sp>
      <p:sp>
        <p:nvSpPr>
          <p:cNvPr id="30" name="Shape 28"/>
          <p:cNvSpPr/>
          <p:nvPr/>
        </p:nvSpPr>
        <p:spPr>
          <a:xfrm>
            <a:off x="8092440" y="1645920"/>
            <a:ext cx="1696212" cy="3246120"/>
          </a:xfrm>
          <a:prstGeom prst="roundRect">
            <a:avLst>
              <a:gd name="adj" fmla="val 431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1" name="Shape 29"/>
          <p:cNvSpPr/>
          <p:nvPr/>
        </p:nvSpPr>
        <p:spPr>
          <a:xfrm>
            <a:off x="8620506" y="1325880"/>
            <a:ext cx="640080" cy="640080"/>
          </a:xfrm>
          <a:prstGeom prst="ellipse">
            <a:avLst/>
          </a:prstGeom>
          <a:solidFill>
            <a:srgbClr val="14213D"/>
          </a:solidFill>
          <a:ln w="19050">
            <a:solidFill>
              <a:srgbClr val="C9A227"/>
            </a:solidFill>
            <a:prstDash val="solid"/>
          </a:ln>
        </p:spPr>
      </p:sp>
      <p:sp>
        <p:nvSpPr>
          <p:cNvPr id="32" name="Text 30"/>
          <p:cNvSpPr txBox="1"/>
          <p:nvPr/>
        </p:nvSpPr>
        <p:spPr>
          <a:xfrm>
            <a:off x="8620506"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5</a:t>
            </a:r>
            <a:endParaRPr lang="en-US" sz="1800" dirty="0"/>
          </a:p>
        </p:txBody>
      </p:sp>
      <p:sp>
        <p:nvSpPr>
          <p:cNvPr id="33" name="Text 31"/>
          <p:cNvSpPr txBox="1"/>
          <p:nvPr/>
        </p:nvSpPr>
        <p:spPr>
          <a:xfrm>
            <a:off x="8202168" y="2057400"/>
            <a:ext cx="1476756" cy="640080"/>
          </a:xfrm>
          <a:prstGeom prst="rect">
            <a:avLst/>
          </a:prstGeom>
          <a:noFill/>
          <a:ln/>
        </p:spPr>
        <p:txBody>
          <a:bodyPr wrap="square" lIns="0" tIns="0" rIns="0" bIns="0"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Risk treatment</a:t>
            </a:r>
            <a:endParaRPr lang="en-US" sz="1400" dirty="0"/>
          </a:p>
        </p:txBody>
      </p:sp>
      <p:sp>
        <p:nvSpPr>
          <p:cNvPr id="34" name="Text 32"/>
          <p:cNvSpPr txBox="1"/>
          <p:nvPr/>
        </p:nvSpPr>
        <p:spPr>
          <a:xfrm>
            <a:off x="8229600" y="2724912"/>
            <a:ext cx="1421892" cy="207568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Select and implement options: avoid, reduce, transfer, accept.</a:t>
            </a:r>
            <a:endParaRPr lang="en-US" sz="1450" dirty="0"/>
          </a:p>
        </p:txBody>
      </p:sp>
      <p:sp>
        <p:nvSpPr>
          <p:cNvPr id="35" name="Shape 33"/>
          <p:cNvSpPr/>
          <p:nvPr/>
        </p:nvSpPr>
        <p:spPr>
          <a:xfrm>
            <a:off x="9806940" y="1527048"/>
            <a:ext cx="164592" cy="237744"/>
          </a:xfrm>
          <a:prstGeom prst="chevron">
            <a:avLst/>
          </a:prstGeom>
          <a:solidFill>
            <a:srgbClr val="C9A227"/>
          </a:solidFill>
          <a:ln w="12700">
            <a:solidFill>
              <a:srgbClr val="C9A227"/>
            </a:solidFill>
            <a:prstDash val="solid"/>
          </a:ln>
        </p:spPr>
      </p:sp>
      <p:sp>
        <p:nvSpPr>
          <p:cNvPr id="36" name="Shape 34"/>
          <p:cNvSpPr/>
          <p:nvPr/>
        </p:nvSpPr>
        <p:spPr>
          <a:xfrm>
            <a:off x="9989820" y="1645920"/>
            <a:ext cx="1696212" cy="3246120"/>
          </a:xfrm>
          <a:prstGeom prst="roundRect">
            <a:avLst>
              <a:gd name="adj" fmla="val 431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7" name="Shape 35"/>
          <p:cNvSpPr/>
          <p:nvPr/>
        </p:nvSpPr>
        <p:spPr>
          <a:xfrm>
            <a:off x="10517886" y="1325880"/>
            <a:ext cx="640080" cy="640080"/>
          </a:xfrm>
          <a:prstGeom prst="ellipse">
            <a:avLst/>
          </a:prstGeom>
          <a:solidFill>
            <a:srgbClr val="14213D"/>
          </a:solidFill>
          <a:ln w="19050">
            <a:solidFill>
              <a:srgbClr val="C9A227"/>
            </a:solidFill>
            <a:prstDash val="solid"/>
          </a:ln>
        </p:spPr>
      </p:sp>
      <p:sp>
        <p:nvSpPr>
          <p:cNvPr id="38" name="Text 36"/>
          <p:cNvSpPr txBox="1"/>
          <p:nvPr/>
        </p:nvSpPr>
        <p:spPr>
          <a:xfrm>
            <a:off x="10517886" y="1325880"/>
            <a:ext cx="640080" cy="64008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6</a:t>
            </a:r>
            <a:endParaRPr lang="en-US" sz="1800" dirty="0"/>
          </a:p>
        </p:txBody>
      </p:sp>
      <p:sp>
        <p:nvSpPr>
          <p:cNvPr id="39" name="Text 37"/>
          <p:cNvSpPr txBox="1"/>
          <p:nvPr/>
        </p:nvSpPr>
        <p:spPr>
          <a:xfrm>
            <a:off x="10099548" y="2057400"/>
            <a:ext cx="1476756" cy="640080"/>
          </a:xfrm>
          <a:prstGeom prst="rect">
            <a:avLst/>
          </a:prstGeom>
          <a:noFill/>
          <a:ln/>
        </p:spPr>
        <p:txBody>
          <a:bodyPr wrap="square" lIns="0" tIns="0" rIns="0" bIns="0"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Monitoring &amp; review</a:t>
            </a:r>
            <a:endParaRPr lang="en-US" sz="1400" dirty="0"/>
          </a:p>
        </p:txBody>
      </p:sp>
      <p:sp>
        <p:nvSpPr>
          <p:cNvPr id="40" name="Text 38"/>
          <p:cNvSpPr txBox="1"/>
          <p:nvPr/>
        </p:nvSpPr>
        <p:spPr>
          <a:xfrm>
            <a:off x="10126980" y="2724912"/>
            <a:ext cx="1421892" cy="2075688"/>
          </a:xfrm>
          <a:prstGeom prst="rect">
            <a:avLst/>
          </a:prstGeom>
          <a:noFill/>
          <a:ln/>
        </p:spPr>
        <p:txBody>
          <a:bodyPr wrap="square" lIns="0" tIns="0" rIns="0" bIns="0" rtlCol="0" anchor="t"/>
          <a:lstStyle/>
          <a:p>
            <a:pPr marL="0" indent="0" algn="l">
              <a:buNone/>
            </a:pPr>
            <a:r>
              <a:rPr lang="en-US" sz="1450" dirty="0">
                <a:solidFill>
                  <a:srgbClr val="1E2533"/>
                </a:solidFill>
                <a:latin typeface="Calibri" pitchFamily="34" charset="0"/>
                <a:ea typeface="Calibri" pitchFamily="34" charset="-122"/>
                <a:cs typeface="Calibri" pitchFamily="34" charset="-120"/>
              </a:rPr>
              <a:t>Track risks, controls and KRIs; update as conditions change.</a:t>
            </a:r>
            <a:endParaRPr lang="en-US" sz="1450" dirty="0"/>
          </a:p>
        </p:txBody>
      </p:sp>
      <p:sp>
        <p:nvSpPr>
          <p:cNvPr id="41" name="Shape 39"/>
          <p:cNvSpPr/>
          <p:nvPr/>
        </p:nvSpPr>
        <p:spPr>
          <a:xfrm>
            <a:off x="502920" y="5120640"/>
            <a:ext cx="5440680" cy="1097280"/>
          </a:xfrm>
          <a:prstGeom prst="roundRect">
            <a:avLst>
              <a:gd name="adj" fmla="val 6667"/>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42" name="Text 40"/>
          <p:cNvSpPr txBox="1"/>
          <p:nvPr/>
        </p:nvSpPr>
        <p:spPr>
          <a:xfrm>
            <a:off x="685800" y="5166360"/>
            <a:ext cx="5120640" cy="1005840"/>
          </a:xfrm>
          <a:prstGeom prst="rect">
            <a:avLst/>
          </a:prstGeom>
          <a:noFill/>
          <a:ln/>
        </p:spPr>
        <p:txBody>
          <a:bodyPr wrap="square" lIns="0" tIns="0" rIns="0" bIns="0" rtlCol="0" anchor="ctr"/>
          <a:lstStyle/>
          <a:p>
            <a:pPr marL="0" indent="0" algn="l">
              <a:buNone/>
            </a:pPr>
            <a:r>
              <a:rPr lang="en-US" sz="1400" b="1" dirty="0">
                <a:solidFill>
                  <a:srgbClr val="C9A227"/>
                </a:solidFill>
                <a:latin typeface="Calibri" pitchFamily="34" charset="0"/>
                <a:ea typeface="Calibri" pitchFamily="34" charset="-122"/>
                <a:cs typeface="Calibri" pitchFamily="34" charset="-120"/>
              </a:rPr>
              <a:t>Communication &amp; consultation</a:t>
            </a:r>
            <a:endParaRPr lang="en-US" sz="1400" dirty="0"/>
          </a:p>
          <a:p>
            <a:pPr marL="0" indent="0" algn="l">
              <a:buNone/>
            </a:pPr>
            <a:r>
              <a:rPr lang="en-US" sz="1400" dirty="0">
                <a:solidFill>
                  <a:srgbClr val="FFFFFF"/>
                </a:solidFill>
                <a:latin typeface="Calibri" pitchFamily="34" charset="0"/>
                <a:ea typeface="Calibri" pitchFamily="34" charset="-122"/>
                <a:cs typeface="Calibri" pitchFamily="34" charset="-120"/>
              </a:rPr>
              <a:t>Runs through every step: stakeholders are informed and their views sought.</a:t>
            </a:r>
            <a:endParaRPr lang="en-US" sz="1400" dirty="0"/>
          </a:p>
        </p:txBody>
      </p:sp>
      <p:sp>
        <p:nvSpPr>
          <p:cNvPr id="43" name="Shape 41"/>
          <p:cNvSpPr/>
          <p:nvPr/>
        </p:nvSpPr>
        <p:spPr>
          <a:xfrm>
            <a:off x="6245352" y="5120640"/>
            <a:ext cx="5440680" cy="1097280"/>
          </a:xfrm>
          <a:prstGeom prst="roundRect">
            <a:avLst>
              <a:gd name="adj" fmla="val 6667"/>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44" name="Text 42"/>
          <p:cNvSpPr txBox="1"/>
          <p:nvPr/>
        </p:nvSpPr>
        <p:spPr>
          <a:xfrm>
            <a:off x="6428232" y="5166360"/>
            <a:ext cx="5120640" cy="1005840"/>
          </a:xfrm>
          <a:prstGeom prst="rect">
            <a:avLst/>
          </a:prstGeom>
          <a:noFill/>
          <a:ln/>
        </p:spPr>
        <p:txBody>
          <a:bodyPr wrap="square" lIns="0" tIns="0" rIns="0" bIns="0" rtlCol="0" anchor="ctr"/>
          <a:lstStyle/>
          <a:p>
            <a:pPr marL="0" indent="0" algn="l">
              <a:buNone/>
            </a:pPr>
            <a:r>
              <a:rPr lang="en-US" sz="1400" b="1" dirty="0">
                <a:solidFill>
                  <a:srgbClr val="C9A227"/>
                </a:solidFill>
                <a:latin typeface="Calibri" pitchFamily="34" charset="0"/>
                <a:ea typeface="Calibri" pitchFamily="34" charset="-122"/>
                <a:cs typeface="Calibri" pitchFamily="34" charset="-120"/>
              </a:rPr>
              <a:t>Recording &amp; reporting</a:t>
            </a:r>
            <a:endParaRPr lang="en-US" sz="1400" dirty="0"/>
          </a:p>
          <a:p>
            <a:pPr marL="0" indent="0" algn="l">
              <a:buNone/>
            </a:pPr>
            <a:r>
              <a:rPr lang="en-US" sz="1400" dirty="0">
                <a:solidFill>
                  <a:srgbClr val="FFFFFF"/>
                </a:solidFill>
                <a:latin typeface="Calibri" pitchFamily="34" charset="0"/>
                <a:ea typeface="Calibri" pitchFamily="34" charset="-122"/>
                <a:cs typeface="Calibri" pitchFamily="34" charset="-120"/>
              </a:rPr>
              <a:t>Documents outcomes and reports to decision-makers and the board.</a:t>
            </a:r>
            <a:endParaRPr lang="en-US" sz="1400" dirty="0"/>
          </a:p>
        </p:txBody>
      </p:sp>
      <p:sp>
        <p:nvSpPr>
          <p:cNvPr id="4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Applying the Process: Gold Price Risk at a Jewellery Maker</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407408"/>
        </p:xfrm>
        <a:graphic>
          <a:graphicData uri="http://schemas.openxmlformats.org/drawingml/2006/table">
            <a:tbl>
              <a:tblPr/>
              <a:tblGrid>
                <a:gridCol w="2560320">
                  <a:extLst>
                    <a:ext uri="{9D8B030D-6E8A-4147-A177-3AD203B41FA5}">
                      <a16:colId xmlns:a16="http://schemas.microsoft.com/office/drawing/2014/main" val="20000"/>
                    </a:ext>
                  </a:extLst>
                </a:gridCol>
                <a:gridCol w="8622792">
                  <a:extLst>
                    <a:ext uri="{9D8B030D-6E8A-4147-A177-3AD203B41FA5}">
                      <a16:colId xmlns:a16="http://schemas.microsoft.com/office/drawing/2014/main" val="20001"/>
                    </a:ext>
                  </a:extLst>
                </a:gridCol>
              </a:tblGrid>
              <a:tr h="457200">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Step</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What the firm does (illustrative)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Scope, context &amp; criteria</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Objective: protect a 6% gross margin on export orders; a gold price rise of more than 3% before metal is bought is unacceptable.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Identification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Orders are priced today but gold is bought over 60 days; exposure = unhedged grams on order book.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Analysis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Gold monthly volatility ≈ 4%; 95% 1-month VaR on 50 kg exposure is computed (see Section 15 methods).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Evaluation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VaR exceeds the board's limit of ₹2 crore; the risk is rated "high" on the heat map.</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Treatment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Buy MCX Gold futures for 80% of exposure; use gold metal loans from banks for the rest.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Monitoring &amp; review</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Daily report of hedge ratio, MTM margin calls and basis; monthly review by CFO and Risk Committee.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Risk Appetite, Tolerance, Capacity and Limits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325880"/>
            <a:ext cx="11183112" cy="804672"/>
          </a:xfrm>
          <a:prstGeom prst="roundRect">
            <a:avLst>
              <a:gd name="adj" fmla="val 6818"/>
            </a:avLst>
          </a:prstGeom>
          <a:solidFill>
            <a:srgbClr val="14213D"/>
          </a:solidFill>
          <a:ln w="12700">
            <a:solidFill>
              <a:srgbClr val="14213D"/>
            </a:solidFill>
            <a:prstDash val="solid"/>
          </a:ln>
        </p:spPr>
      </p:sp>
      <p:sp>
        <p:nvSpPr>
          <p:cNvPr id="7" name="Text 5"/>
          <p:cNvSpPr txBox="1"/>
          <p:nvPr/>
        </p:nvSpPr>
        <p:spPr>
          <a:xfrm>
            <a:off x="685800" y="1325880"/>
            <a:ext cx="2103120" cy="804672"/>
          </a:xfrm>
          <a:prstGeom prst="rect">
            <a:avLst/>
          </a:prstGeom>
          <a:noFill/>
          <a:ln/>
        </p:spPr>
        <p:txBody>
          <a:bodyPr wrap="square" lIns="0" tIns="0" rIns="0" bIns="0" rtlCol="0" anchor="ctr"/>
          <a:lstStyle/>
          <a:p>
            <a:pPr marL="0" indent="0" algn="l">
              <a:buNone/>
            </a:pPr>
            <a:r>
              <a:rPr lang="en-US" sz="1700" b="1" dirty="0">
                <a:solidFill>
                  <a:srgbClr val="C9A227"/>
                </a:solidFill>
                <a:latin typeface="Cambria" pitchFamily="34" charset="0"/>
                <a:ea typeface="Cambria" pitchFamily="34" charset="-122"/>
                <a:cs typeface="Cambria" pitchFamily="34" charset="-120"/>
              </a:rPr>
              <a:t>Risk capacity</a:t>
            </a:r>
            <a:endParaRPr lang="en-US" sz="1700" dirty="0"/>
          </a:p>
        </p:txBody>
      </p:sp>
      <p:sp>
        <p:nvSpPr>
          <p:cNvPr id="8" name="Text 6"/>
          <p:cNvSpPr txBox="1"/>
          <p:nvPr/>
        </p:nvSpPr>
        <p:spPr>
          <a:xfrm>
            <a:off x="2788920" y="1325880"/>
            <a:ext cx="8759952" cy="804672"/>
          </a:xfrm>
          <a:prstGeom prst="rect">
            <a:avLst/>
          </a:prstGeom>
          <a:noFill/>
          <a:ln/>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Maximum risk the firm can bear before breaching regulatory minima, covenants or solvency.</a:t>
            </a:r>
            <a:endParaRPr lang="en-US" sz="1400" dirty="0"/>
          </a:p>
        </p:txBody>
      </p:sp>
      <p:sp>
        <p:nvSpPr>
          <p:cNvPr id="9" name="Shape 7"/>
          <p:cNvSpPr/>
          <p:nvPr/>
        </p:nvSpPr>
        <p:spPr>
          <a:xfrm>
            <a:off x="502920" y="2258568"/>
            <a:ext cx="9326880" cy="804672"/>
          </a:xfrm>
          <a:prstGeom prst="roundRect">
            <a:avLst>
              <a:gd name="adj" fmla="val 6818"/>
            </a:avLst>
          </a:prstGeom>
          <a:solidFill>
            <a:srgbClr val="22335C"/>
          </a:solidFill>
          <a:ln w="12700">
            <a:solidFill>
              <a:srgbClr val="22335C"/>
            </a:solidFill>
            <a:prstDash val="solid"/>
          </a:ln>
        </p:spPr>
      </p:sp>
      <p:sp>
        <p:nvSpPr>
          <p:cNvPr id="10" name="Text 8"/>
          <p:cNvSpPr txBox="1"/>
          <p:nvPr/>
        </p:nvSpPr>
        <p:spPr>
          <a:xfrm>
            <a:off x="685800" y="2258568"/>
            <a:ext cx="2103120" cy="804672"/>
          </a:xfrm>
          <a:prstGeom prst="rect">
            <a:avLst/>
          </a:prstGeom>
          <a:noFill/>
          <a:ln/>
        </p:spPr>
        <p:txBody>
          <a:bodyPr wrap="square" lIns="0" tIns="0" rIns="0" bIns="0" rtlCol="0" anchor="ctr"/>
          <a:lstStyle/>
          <a:p>
            <a:pPr marL="0" indent="0" algn="l">
              <a:buNone/>
            </a:pPr>
            <a:r>
              <a:rPr lang="en-US" sz="1700" b="1" dirty="0">
                <a:solidFill>
                  <a:srgbClr val="C9A227"/>
                </a:solidFill>
                <a:latin typeface="Cambria" pitchFamily="34" charset="0"/>
                <a:ea typeface="Cambria" pitchFamily="34" charset="-122"/>
                <a:cs typeface="Cambria" pitchFamily="34" charset="-120"/>
              </a:rPr>
              <a:t>Risk appetite</a:t>
            </a:r>
            <a:endParaRPr lang="en-US" sz="1700" dirty="0"/>
          </a:p>
        </p:txBody>
      </p:sp>
      <p:sp>
        <p:nvSpPr>
          <p:cNvPr id="11" name="Text 9"/>
          <p:cNvSpPr txBox="1"/>
          <p:nvPr/>
        </p:nvSpPr>
        <p:spPr>
          <a:xfrm>
            <a:off x="2788920" y="2258568"/>
            <a:ext cx="6903720" cy="804672"/>
          </a:xfrm>
          <a:prstGeom prst="rect">
            <a:avLst/>
          </a:prstGeom>
          <a:noFill/>
          <a:ln/>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Amount and type of risk the board is willing to accept in pursuit of objectives.</a:t>
            </a:r>
            <a:endParaRPr lang="en-US" sz="1400" dirty="0"/>
          </a:p>
        </p:txBody>
      </p:sp>
      <p:sp>
        <p:nvSpPr>
          <p:cNvPr id="12" name="Shape 10"/>
          <p:cNvSpPr/>
          <p:nvPr/>
        </p:nvSpPr>
        <p:spPr>
          <a:xfrm>
            <a:off x="502920" y="3191256"/>
            <a:ext cx="7498080" cy="804672"/>
          </a:xfrm>
          <a:prstGeom prst="roundRect">
            <a:avLst>
              <a:gd name="adj" fmla="val 6818"/>
            </a:avLst>
          </a:prstGeom>
          <a:solidFill>
            <a:srgbClr val="31466F"/>
          </a:solidFill>
          <a:ln w="12700">
            <a:solidFill>
              <a:srgbClr val="31466F"/>
            </a:solidFill>
            <a:prstDash val="solid"/>
          </a:ln>
        </p:spPr>
      </p:sp>
      <p:sp>
        <p:nvSpPr>
          <p:cNvPr id="13" name="Text 11"/>
          <p:cNvSpPr txBox="1"/>
          <p:nvPr/>
        </p:nvSpPr>
        <p:spPr>
          <a:xfrm>
            <a:off x="685800" y="3191256"/>
            <a:ext cx="2103120" cy="804672"/>
          </a:xfrm>
          <a:prstGeom prst="rect">
            <a:avLst/>
          </a:prstGeom>
          <a:noFill/>
          <a:ln/>
        </p:spPr>
        <p:txBody>
          <a:bodyPr wrap="square" lIns="0" tIns="0" rIns="0" bIns="0" rtlCol="0" anchor="ctr"/>
          <a:lstStyle/>
          <a:p>
            <a:pPr marL="0" indent="0" algn="l">
              <a:buNone/>
            </a:pPr>
            <a:r>
              <a:rPr lang="en-US" sz="1700" b="1" dirty="0">
                <a:solidFill>
                  <a:srgbClr val="EAD9A0"/>
                </a:solidFill>
                <a:latin typeface="Cambria" pitchFamily="34" charset="0"/>
                <a:ea typeface="Cambria" pitchFamily="34" charset="-122"/>
                <a:cs typeface="Cambria" pitchFamily="34" charset="-120"/>
              </a:rPr>
              <a:t>Risk tolerance</a:t>
            </a:r>
            <a:endParaRPr lang="en-US" sz="1700" dirty="0"/>
          </a:p>
        </p:txBody>
      </p:sp>
      <p:sp>
        <p:nvSpPr>
          <p:cNvPr id="14" name="Text 12"/>
          <p:cNvSpPr txBox="1"/>
          <p:nvPr/>
        </p:nvSpPr>
        <p:spPr>
          <a:xfrm>
            <a:off x="2788920" y="3191256"/>
            <a:ext cx="5074920" cy="804672"/>
          </a:xfrm>
          <a:prstGeom prst="rect">
            <a:avLst/>
          </a:prstGeom>
          <a:noFill/>
          <a:ln/>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Acceptable variation around appetite for a specific metric (early-warning trigger).</a:t>
            </a:r>
            <a:endParaRPr lang="en-US" sz="1400" dirty="0"/>
          </a:p>
        </p:txBody>
      </p:sp>
      <p:sp>
        <p:nvSpPr>
          <p:cNvPr id="15" name="Shape 13"/>
          <p:cNvSpPr/>
          <p:nvPr/>
        </p:nvSpPr>
        <p:spPr>
          <a:xfrm>
            <a:off x="502920" y="4123944"/>
            <a:ext cx="5669280" cy="804672"/>
          </a:xfrm>
          <a:prstGeom prst="roundRect">
            <a:avLst>
              <a:gd name="adj" fmla="val 6818"/>
            </a:avLst>
          </a:prstGeom>
          <a:solidFill>
            <a:srgbClr val="C9A227"/>
          </a:solidFill>
          <a:ln w="12700">
            <a:solidFill>
              <a:srgbClr val="C9A227"/>
            </a:solidFill>
            <a:prstDash val="solid"/>
          </a:ln>
        </p:spPr>
      </p:sp>
      <p:sp>
        <p:nvSpPr>
          <p:cNvPr id="16" name="Text 14"/>
          <p:cNvSpPr txBox="1"/>
          <p:nvPr/>
        </p:nvSpPr>
        <p:spPr>
          <a:xfrm>
            <a:off x="685800" y="4123944"/>
            <a:ext cx="2103120" cy="804672"/>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Risk limits</a:t>
            </a:r>
            <a:endParaRPr lang="en-US" sz="1700" dirty="0"/>
          </a:p>
        </p:txBody>
      </p:sp>
      <p:sp>
        <p:nvSpPr>
          <p:cNvPr id="17" name="Text 15"/>
          <p:cNvSpPr txBox="1"/>
          <p:nvPr/>
        </p:nvSpPr>
        <p:spPr>
          <a:xfrm>
            <a:off x="2788920" y="4123944"/>
            <a:ext cx="3246120" cy="804672"/>
          </a:xfrm>
          <a:prstGeom prst="rect">
            <a:avLst/>
          </a:prstGeom>
          <a:noFill/>
          <a:ln/>
        </p:spPr>
        <p:txBody>
          <a:bodyPr wrap="square" lIns="0" tIns="0" rIns="0" bIns="0" rtlCol="0" anchor="ctr"/>
          <a:lstStyle/>
          <a:p>
            <a:pPr marL="0" indent="0" algn="l">
              <a:buNone/>
            </a:pPr>
            <a:r>
              <a:rPr lang="en-US" sz="1400" dirty="0">
                <a:solidFill>
                  <a:srgbClr val="14213D"/>
                </a:solidFill>
                <a:latin typeface="Calibri" pitchFamily="34" charset="0"/>
                <a:ea typeface="Calibri" pitchFamily="34" charset="-122"/>
                <a:cs typeface="Calibri" pitchFamily="34" charset="-120"/>
              </a:rPr>
              <a:t>Operational thresholds allocated to desks, products, counterparties.</a:t>
            </a:r>
            <a:endParaRPr lang="en-US" sz="1400" dirty="0"/>
          </a:p>
        </p:txBody>
      </p:sp>
      <p:sp>
        <p:nvSpPr>
          <p:cNvPr id="18" name="Shape 16"/>
          <p:cNvSpPr/>
          <p:nvPr/>
        </p:nvSpPr>
        <p:spPr>
          <a:xfrm>
            <a:off x="502920" y="5212080"/>
            <a:ext cx="11183112" cy="960120"/>
          </a:xfrm>
          <a:prstGeom prst="roundRect">
            <a:avLst>
              <a:gd name="adj" fmla="val 7619"/>
            </a:avLst>
          </a:prstGeom>
          <a:solidFill>
            <a:srgbClr val="FFFFFF"/>
          </a:solidFill>
          <a:ln w="15875">
            <a:solidFill>
              <a:srgbClr val="C9A227"/>
            </a:solidFill>
            <a:prstDash val="solid"/>
          </a:ln>
        </p:spPr>
      </p:sp>
      <p:sp>
        <p:nvSpPr>
          <p:cNvPr id="19" name="Text 17"/>
          <p:cNvSpPr txBox="1"/>
          <p:nvPr/>
        </p:nvSpPr>
        <p:spPr>
          <a:xfrm>
            <a:off x="685800" y="5285232"/>
            <a:ext cx="10817352" cy="813816"/>
          </a:xfrm>
          <a:prstGeom prst="rect">
            <a:avLst/>
          </a:prstGeom>
          <a:noFill/>
          <a:ln/>
        </p:spPr>
        <p:txBody>
          <a:bodyPr wrap="square" lIns="0" tIns="0" rIns="0" bIns="0" rtlCol="0" anchor="ctr"/>
          <a:lstStyle/>
          <a:p>
            <a:pPr marL="0" indent="0" algn="l">
              <a:buNone/>
            </a:pPr>
            <a:r>
              <a:rPr lang="en-US" sz="1550" b="1" dirty="0">
                <a:solidFill>
                  <a:srgbClr val="14213D"/>
                </a:solidFill>
                <a:latin typeface="Calibri" pitchFamily="34" charset="0"/>
                <a:ea typeface="Calibri" pitchFamily="34" charset="-122"/>
                <a:cs typeface="Calibri" pitchFamily="34" charset="-120"/>
              </a:rPr>
              <a:t>Capacity ≥ Appetite ≥ Tolerance trigger ≥ Limits. A limit breach is escalated before appetite is threatened, and appetite is set well inside capacity.</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Illustrative Risk Appetite Statement: A Mid-sized Indian Bank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169664"/>
        </p:xfrm>
        <a:graphic>
          <a:graphicData uri="http://schemas.openxmlformats.org/drawingml/2006/table">
            <a:tbl>
              <a:tblPr/>
              <a:tblGrid>
                <a:gridCol w="17373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2450592">
                  <a:extLst>
                    <a:ext uri="{9D8B030D-6E8A-4147-A177-3AD203B41FA5}">
                      <a16:colId xmlns:a16="http://schemas.microsoft.com/office/drawing/2014/main" val="20004"/>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Risk area</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Metric</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Regulatory minimum / cap</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Board appetite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Tolerance (early trigger)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3035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Capital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CRAR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11.5% (9% + 2.5% CCB)</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 14.0%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Below 14.5%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Liquidity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Liquidity Coverage Ratio</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100%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 115%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Below 120%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53035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Stable funding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Net Stable Funding Ratio</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100%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 110%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Below 112%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Credit quality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Gross NPA ratio</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No fixed cap</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 3.0%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Above 2.75%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53035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Concentration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Single counterparty exposure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20% of Tier 1 (LEF)</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 15% of Tier 1</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Above 12%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Market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99% 1-day trading VaR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Capital charge applies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 ₹25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Above ₹22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530352">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Operational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Annual operational losses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Capital charge applies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 1% of gross income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Above 0.8%</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502920" y="5943600"/>
            <a:ext cx="11183112" cy="411480"/>
          </a:xfrm>
          <a:prstGeom prst="rect">
            <a:avLst/>
          </a:prstGeom>
          <a:noFill/>
          <a:ln/>
        </p:spPr>
        <p:txBody>
          <a:bodyPr wrap="square" lIns="0" tIns="0" rIns="0" bIns="0" rtlCol="0" anchor="t"/>
          <a:lstStyle/>
          <a:p>
            <a:pPr marL="0" indent="0" algn="l">
              <a:buNone/>
            </a:pPr>
            <a:r>
              <a:rPr lang="en-US" sz="1100" i="1" dirty="0">
                <a:solidFill>
                  <a:srgbClr val="5C6577"/>
                </a:solidFill>
                <a:latin typeface="Calibri" pitchFamily="34" charset="0"/>
                <a:ea typeface="Calibri" pitchFamily="34" charset="-122"/>
                <a:cs typeface="Calibri" pitchFamily="34" charset="-120"/>
              </a:rPr>
              <a:t>CCB = capital conservation buffer; LEF = RBI Large Exposures Framework. Appetite and trigger values are illustrative.</a:t>
            </a:r>
            <a:endParaRPr lang="en-US" sz="11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The Three Lines of Defence (IIA Three Lines Model, 2020)</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8778240" cy="731520"/>
          </a:xfrm>
          <a:prstGeom prst="roundRect">
            <a:avLst>
              <a:gd name="adj" fmla="val 10000"/>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7" name="Text 5"/>
          <p:cNvSpPr txBox="1"/>
          <p:nvPr/>
        </p:nvSpPr>
        <p:spPr>
          <a:xfrm>
            <a:off x="640080" y="1280160"/>
            <a:ext cx="8503920" cy="731520"/>
          </a:xfrm>
          <a:prstGeom prst="rect">
            <a:avLst/>
          </a:prstGeom>
          <a:noFill/>
          <a:ln/>
        </p:spPr>
        <p:txBody>
          <a:bodyPr wrap="square" lIns="0" tIns="0" rIns="0" bIns="0" rtlCol="0" anchor="ctr"/>
          <a:lstStyle/>
          <a:p>
            <a:pPr marL="0" indent="0" algn="ctr">
              <a:buNone/>
            </a:pPr>
            <a:r>
              <a:rPr lang="en-US" sz="1500" b="1" dirty="0">
                <a:solidFill>
                  <a:srgbClr val="C9A227"/>
                </a:solidFill>
                <a:latin typeface="Cambria" pitchFamily="34" charset="0"/>
                <a:ea typeface="Cambria" pitchFamily="34" charset="-122"/>
                <a:cs typeface="Cambria" pitchFamily="34" charset="-120"/>
              </a:rPr>
              <a:t>Governing body: Board, Audit Committee, Risk Management Committee (accountability to stakeholders)</a:t>
            </a:r>
            <a:endParaRPr lang="en-US" sz="1500" dirty="0"/>
          </a:p>
        </p:txBody>
      </p:sp>
      <p:sp>
        <p:nvSpPr>
          <p:cNvPr id="8" name="Shape 6"/>
          <p:cNvSpPr/>
          <p:nvPr/>
        </p:nvSpPr>
        <p:spPr>
          <a:xfrm>
            <a:off x="502920" y="2240280"/>
            <a:ext cx="2743200" cy="3977640"/>
          </a:xfrm>
          <a:prstGeom prst="roundRect">
            <a:avLst>
              <a:gd name="adj" fmla="val 266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Shape 7"/>
          <p:cNvSpPr/>
          <p:nvPr/>
        </p:nvSpPr>
        <p:spPr>
          <a:xfrm>
            <a:off x="704088" y="2395728"/>
            <a:ext cx="566928" cy="566928"/>
          </a:xfrm>
          <a:prstGeom prst="ellipse">
            <a:avLst/>
          </a:prstGeom>
          <a:solidFill>
            <a:srgbClr val="14213D"/>
          </a:solidFill>
          <a:ln w="12700">
            <a:solidFill>
              <a:srgbClr val="14213D"/>
            </a:solidFill>
            <a:prstDash val="solid"/>
          </a:ln>
        </p:spPr>
      </p:sp>
      <p:pic>
        <p:nvPicPr>
          <p:cNvPr id="10" name="Image 0" descr="preencoded.png"/>
          <p:cNvPicPr>
            <a:picLocks noChangeAspect="1"/>
          </p:cNvPicPr>
          <p:nvPr/>
        </p:nvPicPr>
        <p:blipFill>
          <a:blip r:embed="rId3"/>
          <a:stretch>
            <a:fillRect/>
          </a:stretch>
        </p:blipFill>
        <p:spPr>
          <a:xfrm>
            <a:off x="840151" y="2531791"/>
            <a:ext cx="294803" cy="294803"/>
          </a:xfrm>
          <a:prstGeom prst="rect">
            <a:avLst/>
          </a:prstGeom>
        </p:spPr>
      </p:pic>
      <p:sp>
        <p:nvSpPr>
          <p:cNvPr id="11" name="Text 8"/>
          <p:cNvSpPr txBox="1"/>
          <p:nvPr/>
        </p:nvSpPr>
        <p:spPr>
          <a:xfrm>
            <a:off x="1371600" y="2377440"/>
            <a:ext cx="1783080" cy="320040"/>
          </a:xfrm>
          <a:prstGeom prst="rect">
            <a:avLst/>
          </a:prstGeom>
          <a:noFill/>
          <a:ln/>
        </p:spPr>
        <p:txBody>
          <a:bodyPr wrap="square" lIns="0" tIns="0" rIns="0" bIns="0" rtlCol="0" anchor="t"/>
          <a:lstStyle/>
          <a:p>
            <a:pPr marL="0" indent="0" algn="l">
              <a:buNone/>
            </a:pPr>
            <a:r>
              <a:rPr lang="en-US" sz="1300" b="1" dirty="0">
                <a:solidFill>
                  <a:srgbClr val="8C6D0F"/>
                </a:solidFill>
                <a:latin typeface="Calibri" pitchFamily="34" charset="0"/>
                <a:ea typeface="Calibri" pitchFamily="34" charset="-122"/>
                <a:cs typeface="Calibri" pitchFamily="34" charset="-120"/>
              </a:rPr>
              <a:t>1st line</a:t>
            </a:r>
            <a:endParaRPr lang="en-US" sz="1300" dirty="0"/>
          </a:p>
        </p:txBody>
      </p:sp>
      <p:sp>
        <p:nvSpPr>
          <p:cNvPr id="12" name="Text 9"/>
          <p:cNvSpPr txBox="1"/>
          <p:nvPr/>
        </p:nvSpPr>
        <p:spPr>
          <a:xfrm>
            <a:off x="1371600" y="2670048"/>
            <a:ext cx="1783080" cy="548640"/>
          </a:xfrm>
          <a:prstGeom prst="rect">
            <a:avLst/>
          </a:prstGeom>
          <a:noFill/>
          <a:ln/>
        </p:spPr>
        <p:txBody>
          <a:bodyPr wrap="square" lIns="0" tIns="0" rIns="0" bIns="0" rtlCol="0" anchor="t"/>
          <a:lstStyle/>
          <a:p>
            <a:pPr marL="0" indent="0" algn="l">
              <a:buNone/>
            </a:pPr>
            <a:r>
              <a:rPr lang="en-US" sz="1500" b="1" dirty="0">
                <a:solidFill>
                  <a:srgbClr val="14213D"/>
                </a:solidFill>
                <a:latin typeface="Cambria" pitchFamily="34" charset="0"/>
                <a:ea typeface="Cambria" pitchFamily="34" charset="-122"/>
                <a:cs typeface="Cambria" pitchFamily="34" charset="-120"/>
              </a:rPr>
              <a:t>Business &amp; operations</a:t>
            </a:r>
            <a:endParaRPr lang="en-US" sz="1500" dirty="0"/>
          </a:p>
        </p:txBody>
      </p:sp>
      <p:sp>
        <p:nvSpPr>
          <p:cNvPr id="13" name="Text 10"/>
          <p:cNvSpPr txBox="1"/>
          <p:nvPr/>
        </p:nvSpPr>
        <p:spPr>
          <a:xfrm>
            <a:off x="704088" y="3337560"/>
            <a:ext cx="2377440" cy="2788920"/>
          </a:xfrm>
          <a:prstGeom prst="rect">
            <a:avLst/>
          </a:prstGeom>
          <a:noFill/>
          <a:ln/>
        </p:spPr>
        <p:txBody>
          <a:bodyPr wrap="square" lIns="0" tIns="0" rIns="0" bIns="0" rtlCol="0" anchor="t"/>
          <a:lstStyle/>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Own and manage risk day to day</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Operate controls in products and processes</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Examples: branches, loan officers, dealers, plant managers</a:t>
            </a:r>
            <a:endParaRPr lang="en-US" sz="1400" dirty="0"/>
          </a:p>
        </p:txBody>
      </p:sp>
      <p:sp>
        <p:nvSpPr>
          <p:cNvPr id="14" name="Shape 11"/>
          <p:cNvSpPr/>
          <p:nvPr/>
        </p:nvSpPr>
        <p:spPr>
          <a:xfrm>
            <a:off x="3474720" y="2240280"/>
            <a:ext cx="2743200" cy="3977640"/>
          </a:xfrm>
          <a:prstGeom prst="roundRect">
            <a:avLst>
              <a:gd name="adj" fmla="val 266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5" name="Shape 12"/>
          <p:cNvSpPr/>
          <p:nvPr/>
        </p:nvSpPr>
        <p:spPr>
          <a:xfrm>
            <a:off x="3675888" y="2395728"/>
            <a:ext cx="566928" cy="566928"/>
          </a:xfrm>
          <a:prstGeom prst="ellipse">
            <a:avLst/>
          </a:prstGeom>
          <a:solidFill>
            <a:srgbClr val="14213D"/>
          </a:solidFill>
          <a:ln w="12700">
            <a:solidFill>
              <a:srgbClr val="14213D"/>
            </a:solidFill>
            <a:prstDash val="solid"/>
          </a:ln>
        </p:spPr>
      </p:sp>
      <p:pic>
        <p:nvPicPr>
          <p:cNvPr id="16" name="Image 1" descr="preencoded.png"/>
          <p:cNvPicPr>
            <a:picLocks noChangeAspect="1"/>
          </p:cNvPicPr>
          <p:nvPr/>
        </p:nvPicPr>
        <p:blipFill>
          <a:blip r:embed="rId4"/>
          <a:stretch>
            <a:fillRect/>
          </a:stretch>
        </p:blipFill>
        <p:spPr>
          <a:xfrm>
            <a:off x="3811951" y="2531791"/>
            <a:ext cx="294803" cy="294803"/>
          </a:xfrm>
          <a:prstGeom prst="rect">
            <a:avLst/>
          </a:prstGeom>
        </p:spPr>
      </p:pic>
      <p:sp>
        <p:nvSpPr>
          <p:cNvPr id="17" name="Text 13"/>
          <p:cNvSpPr txBox="1"/>
          <p:nvPr/>
        </p:nvSpPr>
        <p:spPr>
          <a:xfrm>
            <a:off x="4343400" y="2377440"/>
            <a:ext cx="1783080" cy="320040"/>
          </a:xfrm>
          <a:prstGeom prst="rect">
            <a:avLst/>
          </a:prstGeom>
          <a:noFill/>
          <a:ln/>
        </p:spPr>
        <p:txBody>
          <a:bodyPr wrap="square" lIns="0" tIns="0" rIns="0" bIns="0" rtlCol="0" anchor="t"/>
          <a:lstStyle/>
          <a:p>
            <a:pPr marL="0" indent="0" algn="l">
              <a:buNone/>
            </a:pPr>
            <a:r>
              <a:rPr lang="en-US" sz="1300" b="1" dirty="0">
                <a:solidFill>
                  <a:srgbClr val="8C6D0F"/>
                </a:solidFill>
                <a:latin typeface="Calibri" pitchFamily="34" charset="0"/>
                <a:ea typeface="Calibri" pitchFamily="34" charset="-122"/>
                <a:cs typeface="Calibri" pitchFamily="34" charset="-120"/>
              </a:rPr>
              <a:t>2nd line</a:t>
            </a:r>
            <a:endParaRPr lang="en-US" sz="1300" dirty="0"/>
          </a:p>
        </p:txBody>
      </p:sp>
      <p:sp>
        <p:nvSpPr>
          <p:cNvPr id="18" name="Text 14"/>
          <p:cNvSpPr txBox="1"/>
          <p:nvPr/>
        </p:nvSpPr>
        <p:spPr>
          <a:xfrm>
            <a:off x="4343400" y="2670048"/>
            <a:ext cx="1783080" cy="548640"/>
          </a:xfrm>
          <a:prstGeom prst="rect">
            <a:avLst/>
          </a:prstGeom>
          <a:noFill/>
          <a:ln/>
        </p:spPr>
        <p:txBody>
          <a:bodyPr wrap="square" lIns="0" tIns="0" rIns="0" bIns="0" rtlCol="0" anchor="t"/>
          <a:lstStyle/>
          <a:p>
            <a:pPr marL="0" indent="0" algn="l">
              <a:buNone/>
            </a:pPr>
            <a:r>
              <a:rPr lang="en-US" sz="1500" b="1" dirty="0">
                <a:solidFill>
                  <a:srgbClr val="14213D"/>
                </a:solidFill>
                <a:latin typeface="Cambria" pitchFamily="34" charset="0"/>
                <a:ea typeface="Cambria" pitchFamily="34" charset="-122"/>
                <a:cs typeface="Cambria" pitchFamily="34" charset="-120"/>
              </a:rPr>
              <a:t>Risk management &amp; compliance</a:t>
            </a:r>
            <a:endParaRPr lang="en-US" sz="1500" dirty="0"/>
          </a:p>
        </p:txBody>
      </p:sp>
      <p:sp>
        <p:nvSpPr>
          <p:cNvPr id="19" name="Text 15"/>
          <p:cNvSpPr txBox="1"/>
          <p:nvPr/>
        </p:nvSpPr>
        <p:spPr>
          <a:xfrm>
            <a:off x="3675888" y="3337560"/>
            <a:ext cx="2377440" cy="2788920"/>
          </a:xfrm>
          <a:prstGeom prst="rect">
            <a:avLst/>
          </a:prstGeom>
          <a:noFill/>
          <a:ln/>
        </p:spPr>
        <p:txBody>
          <a:bodyPr wrap="square" lIns="0" tIns="0" rIns="0" bIns="0" rtlCol="0" anchor="t"/>
          <a:lstStyle/>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Set frameworks, policies and limits</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Monitor, challenge and report</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Examples: CRO office, market &amp; credit risk units, compliance</a:t>
            </a:r>
            <a:endParaRPr lang="en-US" sz="1400" dirty="0"/>
          </a:p>
        </p:txBody>
      </p:sp>
      <p:sp>
        <p:nvSpPr>
          <p:cNvPr id="20" name="Shape 16"/>
          <p:cNvSpPr/>
          <p:nvPr/>
        </p:nvSpPr>
        <p:spPr>
          <a:xfrm>
            <a:off x="6446520" y="2240280"/>
            <a:ext cx="2743200" cy="3977640"/>
          </a:xfrm>
          <a:prstGeom prst="roundRect">
            <a:avLst>
              <a:gd name="adj" fmla="val 266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1" name="Shape 17"/>
          <p:cNvSpPr/>
          <p:nvPr/>
        </p:nvSpPr>
        <p:spPr>
          <a:xfrm>
            <a:off x="6647688" y="2395728"/>
            <a:ext cx="566928" cy="566928"/>
          </a:xfrm>
          <a:prstGeom prst="ellipse">
            <a:avLst/>
          </a:prstGeom>
          <a:solidFill>
            <a:srgbClr val="14213D"/>
          </a:solidFill>
          <a:ln w="12700">
            <a:solidFill>
              <a:srgbClr val="14213D"/>
            </a:solidFill>
            <a:prstDash val="solid"/>
          </a:ln>
        </p:spPr>
      </p:sp>
      <p:pic>
        <p:nvPicPr>
          <p:cNvPr id="22" name="Image 2" descr="preencoded.png"/>
          <p:cNvPicPr>
            <a:picLocks noChangeAspect="1"/>
          </p:cNvPicPr>
          <p:nvPr/>
        </p:nvPicPr>
        <p:blipFill>
          <a:blip r:embed="rId5"/>
          <a:stretch>
            <a:fillRect/>
          </a:stretch>
        </p:blipFill>
        <p:spPr>
          <a:xfrm>
            <a:off x="6783751" y="2531791"/>
            <a:ext cx="294803" cy="294803"/>
          </a:xfrm>
          <a:prstGeom prst="rect">
            <a:avLst/>
          </a:prstGeom>
        </p:spPr>
      </p:pic>
      <p:sp>
        <p:nvSpPr>
          <p:cNvPr id="23" name="Text 18"/>
          <p:cNvSpPr txBox="1"/>
          <p:nvPr/>
        </p:nvSpPr>
        <p:spPr>
          <a:xfrm>
            <a:off x="7315200" y="2377440"/>
            <a:ext cx="1783080" cy="320040"/>
          </a:xfrm>
          <a:prstGeom prst="rect">
            <a:avLst/>
          </a:prstGeom>
          <a:noFill/>
          <a:ln/>
        </p:spPr>
        <p:txBody>
          <a:bodyPr wrap="square" lIns="0" tIns="0" rIns="0" bIns="0" rtlCol="0" anchor="t"/>
          <a:lstStyle/>
          <a:p>
            <a:pPr marL="0" indent="0" algn="l">
              <a:buNone/>
            </a:pPr>
            <a:r>
              <a:rPr lang="en-US" sz="1300" b="1" dirty="0">
                <a:solidFill>
                  <a:srgbClr val="8C6D0F"/>
                </a:solidFill>
                <a:latin typeface="Calibri" pitchFamily="34" charset="0"/>
                <a:ea typeface="Calibri" pitchFamily="34" charset="-122"/>
                <a:cs typeface="Calibri" pitchFamily="34" charset="-120"/>
              </a:rPr>
              <a:t>3rd line</a:t>
            </a:r>
            <a:endParaRPr lang="en-US" sz="1300" dirty="0"/>
          </a:p>
        </p:txBody>
      </p:sp>
      <p:sp>
        <p:nvSpPr>
          <p:cNvPr id="24" name="Text 19"/>
          <p:cNvSpPr txBox="1"/>
          <p:nvPr/>
        </p:nvSpPr>
        <p:spPr>
          <a:xfrm>
            <a:off x="7315200" y="2670048"/>
            <a:ext cx="1783080" cy="548640"/>
          </a:xfrm>
          <a:prstGeom prst="rect">
            <a:avLst/>
          </a:prstGeom>
          <a:noFill/>
          <a:ln/>
        </p:spPr>
        <p:txBody>
          <a:bodyPr wrap="square" lIns="0" tIns="0" rIns="0" bIns="0" rtlCol="0" anchor="t"/>
          <a:lstStyle/>
          <a:p>
            <a:pPr marL="0" indent="0" algn="l">
              <a:buNone/>
            </a:pPr>
            <a:r>
              <a:rPr lang="en-US" sz="1500" b="1" dirty="0">
                <a:solidFill>
                  <a:srgbClr val="14213D"/>
                </a:solidFill>
                <a:latin typeface="Cambria" pitchFamily="34" charset="0"/>
                <a:ea typeface="Cambria" pitchFamily="34" charset="-122"/>
                <a:cs typeface="Cambria" pitchFamily="34" charset="-120"/>
              </a:rPr>
              <a:t>Internal audit</a:t>
            </a:r>
            <a:endParaRPr lang="en-US" sz="1500" dirty="0"/>
          </a:p>
        </p:txBody>
      </p:sp>
      <p:sp>
        <p:nvSpPr>
          <p:cNvPr id="25" name="Text 20"/>
          <p:cNvSpPr txBox="1"/>
          <p:nvPr/>
        </p:nvSpPr>
        <p:spPr>
          <a:xfrm>
            <a:off x="6647688" y="3337560"/>
            <a:ext cx="2377440" cy="2788920"/>
          </a:xfrm>
          <a:prstGeom prst="rect">
            <a:avLst/>
          </a:prstGeom>
          <a:noFill/>
          <a:ln/>
        </p:spPr>
        <p:txBody>
          <a:bodyPr wrap="square" lIns="0" tIns="0" rIns="0" bIns="0" rtlCol="0" anchor="t"/>
          <a:lstStyle/>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Independent, objective assurance</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Reports to the Audit Committee</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Example: risk-based internal audit (RBIA) in banks</a:t>
            </a:r>
            <a:endParaRPr lang="en-US" sz="1400" dirty="0"/>
          </a:p>
        </p:txBody>
      </p:sp>
      <p:sp>
        <p:nvSpPr>
          <p:cNvPr id="26" name="Shape 21"/>
          <p:cNvSpPr/>
          <p:nvPr/>
        </p:nvSpPr>
        <p:spPr>
          <a:xfrm>
            <a:off x="9555480" y="1280160"/>
            <a:ext cx="2130552" cy="4937760"/>
          </a:xfrm>
          <a:prstGeom prst="roundRect">
            <a:avLst>
              <a:gd name="adj" fmla="val 3433"/>
            </a:avLst>
          </a:prstGeom>
          <a:solidFill>
            <a:srgbClr val="EFE8D6"/>
          </a:solidFill>
          <a:ln w="9525">
            <a:solidFill>
              <a:srgbClr val="EFE8D6"/>
            </a:solidFill>
            <a:prstDash val="solid"/>
          </a:ln>
          <a:effectLst>
            <a:outerShdw blurRad="63500" dist="19050" dir="5400000" algn="bl" rotWithShape="0">
              <a:srgbClr val="000000">
                <a:alpha val="13000"/>
              </a:srgbClr>
            </a:outerShdw>
          </a:effectLst>
        </p:spPr>
      </p:sp>
      <p:sp>
        <p:nvSpPr>
          <p:cNvPr id="27" name="Text 22"/>
          <p:cNvSpPr txBox="1"/>
          <p:nvPr/>
        </p:nvSpPr>
        <p:spPr>
          <a:xfrm>
            <a:off x="9692640" y="1417320"/>
            <a:ext cx="1874520" cy="4663440"/>
          </a:xfrm>
          <a:prstGeom prst="rect">
            <a:avLst/>
          </a:prstGeom>
          <a:noFill/>
          <a:ln/>
        </p:spPr>
        <p:txBody>
          <a:bodyPr wrap="square" lIns="0" tIns="0" rIns="0" bIns="0" rtlCol="0" anchor="t"/>
          <a:lstStyle/>
          <a:p>
            <a:pPr marL="0" indent="0" algn="l">
              <a:spcAft>
                <a:spcPts val="800"/>
              </a:spcAft>
              <a:buNone/>
            </a:pPr>
            <a:r>
              <a:rPr lang="en-US" sz="1500" b="1" dirty="0">
                <a:solidFill>
                  <a:srgbClr val="14213D"/>
                </a:solidFill>
                <a:latin typeface="Calibri" pitchFamily="34" charset="0"/>
                <a:ea typeface="Calibri" pitchFamily="34" charset="-122"/>
                <a:cs typeface="Calibri" pitchFamily="34" charset="-120"/>
              </a:rPr>
              <a:t>External assurance</a:t>
            </a:r>
            <a:endParaRPr lang="en-US" sz="15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Statutory auditors</a:t>
            </a:r>
            <a:endParaRPr lang="en-US" sz="15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RBI / SEBI / IRDAI inspections</a:t>
            </a:r>
            <a:endParaRPr lang="en-US" sz="15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Credit rating agencies</a:t>
            </a:r>
            <a:endParaRPr lang="en-US" sz="15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Concurrent auditors</a:t>
            </a:r>
            <a:endParaRPr lang="en-US" sz="1500" dirty="0"/>
          </a:p>
        </p:txBody>
      </p:sp>
      <p:sp>
        <p:nvSpPr>
          <p:cNvPr id="28"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09</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Three Lines at Work: Treasury and Lending in an Indian Bank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297680"/>
        </p:xfrm>
        <a:graphic>
          <a:graphicData uri="http://schemas.openxmlformats.org/drawingml/2006/table">
            <a:tbl>
              <a:tblPr/>
              <a:tblGrid>
                <a:gridCol w="19202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953512">
                  <a:extLst>
                    <a:ext uri="{9D8B030D-6E8A-4147-A177-3AD203B41FA5}">
                      <a16:colId xmlns:a16="http://schemas.microsoft.com/office/drawing/2014/main" val="20003"/>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Activity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1st line (owns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2nd line (oversees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3rd line (assures)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G-sec trading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Dealer trades within PV01 and stop-loss limits on NDS-OM</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Mid-office computes daily VaR, checks limits, reports breaches to CRO</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Audit tests limit system, deal-ticket controls and valuation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Corporate lending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Relationship manager originates, appraises, monitors covenants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Credit risk unit rates the borrower, approves within delegation, tracks SMA status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Credit audit samples files for appraisal and sanction quality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Digital payments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Operations team runs reconciliation and fraud checks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Operational risk and IT security set controls, track incidents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IS audit reviews access controls and incident response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Regulatory compliance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Branches follow KYC/AML procedures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Compliance function monitors adherence and reports to the board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Audit verifies compliance testing and remediation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10</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10</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Core Concepts of Risk Management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The vocabulary every risk manager uses</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Exposure, likelihood, impact</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Expected loss vs unexpected loss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Inherent vs residual risk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The risk heat map</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10</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Nine Core Concepts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44475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Exposure</a:t>
            </a:r>
            <a:endParaRPr lang="en-US" sz="1800" dirty="0"/>
          </a:p>
        </p:txBody>
      </p:sp>
      <p:sp>
        <p:nvSpPr>
          <p:cNvPr id="8" name="Text 6"/>
          <p:cNvSpPr txBox="1"/>
          <p:nvPr/>
        </p:nvSpPr>
        <p:spPr>
          <a:xfrm>
            <a:off x="685800" y="187452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Amount at stake: ₹ value, notional, or units exposed to a risk factor.</a:t>
            </a:r>
            <a:endParaRPr lang="en-US" sz="1700" dirty="0"/>
          </a:p>
        </p:txBody>
      </p:sp>
      <p:sp>
        <p:nvSpPr>
          <p:cNvPr id="9" name="Shape 7"/>
          <p:cNvSpPr/>
          <p:nvPr/>
        </p:nvSpPr>
        <p:spPr>
          <a:xfrm>
            <a:off x="4322064" y="128016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4504944" y="144475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Likelihood</a:t>
            </a:r>
            <a:endParaRPr lang="en-US" sz="1800" dirty="0"/>
          </a:p>
        </p:txBody>
      </p:sp>
      <p:sp>
        <p:nvSpPr>
          <p:cNvPr id="11" name="Text 9"/>
          <p:cNvSpPr txBox="1"/>
          <p:nvPr/>
        </p:nvSpPr>
        <p:spPr>
          <a:xfrm>
            <a:off x="4504944" y="187452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Probability that a risk event occurs over a horizon (e.g. PD of 2% a year).</a:t>
            </a:r>
            <a:endParaRPr lang="en-US" sz="1700" dirty="0"/>
          </a:p>
        </p:txBody>
      </p:sp>
      <p:sp>
        <p:nvSpPr>
          <p:cNvPr id="12" name="Shape 10"/>
          <p:cNvSpPr/>
          <p:nvPr/>
        </p:nvSpPr>
        <p:spPr>
          <a:xfrm>
            <a:off x="8141208" y="128016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Text 11"/>
          <p:cNvSpPr txBox="1"/>
          <p:nvPr/>
        </p:nvSpPr>
        <p:spPr>
          <a:xfrm>
            <a:off x="8324088" y="144475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Impact (severity)</a:t>
            </a:r>
            <a:endParaRPr lang="en-US" sz="1800" dirty="0"/>
          </a:p>
        </p:txBody>
      </p:sp>
      <p:sp>
        <p:nvSpPr>
          <p:cNvPr id="14" name="Text 12"/>
          <p:cNvSpPr txBox="1"/>
          <p:nvPr/>
        </p:nvSpPr>
        <p:spPr>
          <a:xfrm>
            <a:off x="8324088" y="187452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Size of the loss if the event occurs (e.g. LGD of 45%).</a:t>
            </a:r>
            <a:endParaRPr lang="en-US" sz="1700" dirty="0"/>
          </a:p>
        </p:txBody>
      </p:sp>
      <p:sp>
        <p:nvSpPr>
          <p:cNvPr id="15" name="Shape 13"/>
          <p:cNvSpPr/>
          <p:nvPr/>
        </p:nvSpPr>
        <p:spPr>
          <a:xfrm>
            <a:off x="502920" y="301752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6" name="Text 14"/>
          <p:cNvSpPr txBox="1"/>
          <p:nvPr/>
        </p:nvSpPr>
        <p:spPr>
          <a:xfrm>
            <a:off x="685800" y="318211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Expected loss (EL)</a:t>
            </a:r>
            <a:endParaRPr lang="en-US" sz="1800" dirty="0"/>
          </a:p>
        </p:txBody>
      </p:sp>
      <p:sp>
        <p:nvSpPr>
          <p:cNvPr id="17" name="Text 15"/>
          <p:cNvSpPr txBox="1"/>
          <p:nvPr/>
        </p:nvSpPr>
        <p:spPr>
          <a:xfrm>
            <a:off x="685800" y="361188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Average loss: priced into products and covered by provisions.</a:t>
            </a:r>
            <a:endParaRPr lang="en-US" sz="1700" dirty="0"/>
          </a:p>
        </p:txBody>
      </p:sp>
      <p:sp>
        <p:nvSpPr>
          <p:cNvPr id="18" name="Shape 16"/>
          <p:cNvSpPr/>
          <p:nvPr/>
        </p:nvSpPr>
        <p:spPr>
          <a:xfrm>
            <a:off x="4322064" y="301752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Text 17"/>
          <p:cNvSpPr txBox="1"/>
          <p:nvPr/>
        </p:nvSpPr>
        <p:spPr>
          <a:xfrm>
            <a:off x="4504944" y="318211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Unexpected loss (UL)</a:t>
            </a:r>
            <a:endParaRPr lang="en-US" sz="1800" dirty="0"/>
          </a:p>
        </p:txBody>
      </p:sp>
      <p:sp>
        <p:nvSpPr>
          <p:cNvPr id="20" name="Text 18"/>
          <p:cNvSpPr txBox="1"/>
          <p:nvPr/>
        </p:nvSpPr>
        <p:spPr>
          <a:xfrm>
            <a:off x="4504944" y="361188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Loss above the average at a confidence level: covered by capital.</a:t>
            </a:r>
            <a:endParaRPr lang="en-US" sz="1700" dirty="0"/>
          </a:p>
        </p:txBody>
      </p:sp>
      <p:sp>
        <p:nvSpPr>
          <p:cNvPr id="21" name="Shape 19"/>
          <p:cNvSpPr/>
          <p:nvPr/>
        </p:nvSpPr>
        <p:spPr>
          <a:xfrm>
            <a:off x="8141208" y="301752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Text 20"/>
          <p:cNvSpPr txBox="1"/>
          <p:nvPr/>
        </p:nvSpPr>
        <p:spPr>
          <a:xfrm>
            <a:off x="8324088" y="318211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Inherent vs residual risk</a:t>
            </a:r>
            <a:endParaRPr lang="en-US" sz="1800" dirty="0"/>
          </a:p>
        </p:txBody>
      </p:sp>
      <p:sp>
        <p:nvSpPr>
          <p:cNvPr id="23" name="Text 21"/>
          <p:cNvSpPr txBox="1"/>
          <p:nvPr/>
        </p:nvSpPr>
        <p:spPr>
          <a:xfrm>
            <a:off x="8324088" y="361188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Risk before controls vs risk that remains after controls work.</a:t>
            </a:r>
            <a:endParaRPr lang="en-US" sz="1700" dirty="0"/>
          </a:p>
        </p:txBody>
      </p:sp>
      <p:sp>
        <p:nvSpPr>
          <p:cNvPr id="24" name="Shape 22"/>
          <p:cNvSpPr/>
          <p:nvPr/>
        </p:nvSpPr>
        <p:spPr>
          <a:xfrm>
            <a:off x="502920" y="475488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5" name="Text 23"/>
          <p:cNvSpPr txBox="1"/>
          <p:nvPr/>
        </p:nvSpPr>
        <p:spPr>
          <a:xfrm>
            <a:off x="685800" y="491947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Risk-return trade-off</a:t>
            </a:r>
            <a:endParaRPr lang="en-US" sz="1800" dirty="0"/>
          </a:p>
        </p:txBody>
      </p:sp>
      <p:sp>
        <p:nvSpPr>
          <p:cNvPr id="26" name="Text 24"/>
          <p:cNvSpPr txBox="1"/>
          <p:nvPr/>
        </p:nvSpPr>
        <p:spPr>
          <a:xfrm>
            <a:off x="685800" y="534924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Extra expected return is the reward for bearing extra risk.</a:t>
            </a:r>
            <a:endParaRPr lang="en-US" sz="1700" dirty="0"/>
          </a:p>
        </p:txBody>
      </p:sp>
      <p:sp>
        <p:nvSpPr>
          <p:cNvPr id="27" name="Shape 25"/>
          <p:cNvSpPr/>
          <p:nvPr/>
        </p:nvSpPr>
        <p:spPr>
          <a:xfrm>
            <a:off x="4322064" y="475488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8" name="Text 26"/>
          <p:cNvSpPr txBox="1"/>
          <p:nvPr/>
        </p:nvSpPr>
        <p:spPr>
          <a:xfrm>
            <a:off x="4504944" y="491947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Correlation &amp; diversification</a:t>
            </a:r>
            <a:endParaRPr lang="en-US" sz="1800" dirty="0"/>
          </a:p>
        </p:txBody>
      </p:sp>
      <p:sp>
        <p:nvSpPr>
          <p:cNvPr id="29" name="Text 27"/>
          <p:cNvSpPr txBox="1"/>
          <p:nvPr/>
        </p:nvSpPr>
        <p:spPr>
          <a:xfrm>
            <a:off x="4504944" y="534924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Imperfectly correlated risks partly offset each other.</a:t>
            </a:r>
            <a:endParaRPr lang="en-US" sz="1700" dirty="0"/>
          </a:p>
        </p:txBody>
      </p:sp>
      <p:sp>
        <p:nvSpPr>
          <p:cNvPr id="30" name="Shape 28"/>
          <p:cNvSpPr/>
          <p:nvPr/>
        </p:nvSpPr>
        <p:spPr>
          <a:xfrm>
            <a:off x="8141208" y="4754880"/>
            <a:ext cx="3544824"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1" name="Text 29"/>
          <p:cNvSpPr txBox="1"/>
          <p:nvPr/>
        </p:nvSpPr>
        <p:spPr>
          <a:xfrm>
            <a:off x="8324088" y="4919472"/>
            <a:ext cx="3179064" cy="411480"/>
          </a:xfrm>
          <a:prstGeom prst="rect">
            <a:avLst/>
          </a:prstGeom>
          <a:noFill/>
          <a:ln/>
        </p:spPr>
        <p:txBody>
          <a:bodyPr wrap="square" lIns="0" tIns="0" rIns="0" bIns="0" rtlCol="0" anchor="t"/>
          <a:lstStyle/>
          <a:p>
            <a:pPr marL="0" indent="0" algn="l">
              <a:buNone/>
            </a:pPr>
            <a:r>
              <a:rPr lang="en-US" sz="1800" b="1" dirty="0">
                <a:solidFill>
                  <a:srgbClr val="14213D"/>
                </a:solidFill>
                <a:latin typeface="Cambria" pitchFamily="34" charset="0"/>
                <a:ea typeface="Cambria" pitchFamily="34" charset="-122"/>
                <a:cs typeface="Cambria" pitchFamily="34" charset="-120"/>
              </a:rPr>
              <a:t>Tail risk</a:t>
            </a:r>
            <a:endParaRPr lang="en-US" sz="1800" dirty="0"/>
          </a:p>
        </p:txBody>
      </p:sp>
      <p:sp>
        <p:nvSpPr>
          <p:cNvPr id="32" name="Text 30"/>
          <p:cNvSpPr txBox="1"/>
          <p:nvPr/>
        </p:nvSpPr>
        <p:spPr>
          <a:xfrm>
            <a:off x="8324088" y="5349240"/>
            <a:ext cx="3179064" cy="758952"/>
          </a:xfrm>
          <a:prstGeom prst="rect">
            <a:avLst/>
          </a:prstGeom>
          <a:noFill/>
          <a:ln/>
        </p:spPr>
        <p:txBody>
          <a:bodyPr wrap="square" lIns="0" tIns="0" rIns="0" bIns="0" rtlCol="0" anchor="t"/>
          <a:lstStyle/>
          <a:p>
            <a:pPr marL="0" indent="0" algn="l">
              <a:buNone/>
            </a:pPr>
            <a:r>
              <a:rPr lang="en-US" sz="1700" dirty="0">
                <a:solidFill>
                  <a:srgbClr val="1E2533"/>
                </a:solidFill>
                <a:latin typeface="Calibri" pitchFamily="34" charset="0"/>
                <a:ea typeface="Calibri" pitchFamily="34" charset="-122"/>
                <a:cs typeface="Calibri" pitchFamily="34" charset="-120"/>
              </a:rPr>
              <a:t>Rare, extreme outcomes beyond VaR; captured by ES and stress tests.</a:t>
            </a:r>
            <a:endParaRPr lang="en-US" sz="1700" dirty="0"/>
          </a:p>
        </p:txBody>
      </p:sp>
      <p:sp>
        <p:nvSpPr>
          <p:cNvPr id="33"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10</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Expected Loss vs Unexpected Loss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6" name="Chart 0"/>
          <p:cNvGraphicFramePr/>
          <p:nvPr/>
        </p:nvGraphicFramePr>
        <p:xfrm>
          <a:off x="502920" y="1280160"/>
          <a:ext cx="630936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086600" y="1280160"/>
            <a:ext cx="4599432" cy="4937760"/>
          </a:xfrm>
          <a:prstGeom prst="roundRect">
            <a:avLst>
              <a:gd name="adj" fmla="val 159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Text 5"/>
          <p:cNvSpPr txBox="1"/>
          <p:nvPr/>
        </p:nvSpPr>
        <p:spPr>
          <a:xfrm>
            <a:off x="7269480" y="1389888"/>
            <a:ext cx="4251960" cy="4754880"/>
          </a:xfrm>
          <a:prstGeom prst="rect">
            <a:avLst/>
          </a:prstGeom>
          <a:noFill/>
          <a:ln/>
        </p:spPr>
        <p:txBody>
          <a:bodyPr wrap="square" lIns="0" tIns="0" rIns="0" bIns="0" rtlCol="0" anchor="t"/>
          <a:lstStyle/>
          <a:p>
            <a:pPr marL="0" indent="0" algn="l">
              <a:spcAft>
                <a:spcPts val="300"/>
              </a:spcAft>
              <a:buNone/>
            </a:pPr>
            <a:r>
              <a:rPr lang="en-US" sz="1500" b="1" dirty="0">
                <a:solidFill>
                  <a:srgbClr val="8C6D0F"/>
                </a:solidFill>
                <a:latin typeface="Calibri" pitchFamily="34" charset="0"/>
                <a:ea typeface="Calibri" pitchFamily="34" charset="-122"/>
                <a:cs typeface="Calibri" pitchFamily="34" charset="-120"/>
              </a:rPr>
              <a:t>Single loan</a:t>
            </a:r>
            <a:endParaRPr lang="en-US" sz="1500" dirty="0"/>
          </a:p>
          <a:p>
            <a:pPr marL="0" indent="0" algn="l">
              <a:spcAft>
                <a:spcPts val="200"/>
              </a:spcAft>
              <a:buNone/>
            </a:pPr>
            <a:r>
              <a:rPr lang="en-US" sz="1400" b="1" dirty="0">
                <a:solidFill>
                  <a:srgbClr val="14213D"/>
                </a:solidFill>
                <a:latin typeface="Calibri" pitchFamily="34" charset="0"/>
                <a:ea typeface="Calibri" pitchFamily="34" charset="-122"/>
                <a:cs typeface="Calibri" pitchFamily="34" charset="-120"/>
              </a:rPr>
              <a:t>EL = PD × LGD × EAD</a:t>
            </a:r>
            <a:endParaRPr lang="en-US" sz="1500" dirty="0"/>
          </a:p>
          <a:p>
            <a:pPr marL="0" indent="0" algn="l">
              <a:spcAft>
                <a:spcPts val="400"/>
              </a:spcAft>
              <a:buNone/>
            </a:pPr>
            <a:r>
              <a:rPr lang="en-US" sz="1400" dirty="0">
                <a:solidFill>
                  <a:srgbClr val="1E2533"/>
                </a:solidFill>
                <a:latin typeface="Calibri" pitchFamily="34" charset="0"/>
                <a:ea typeface="Calibri" pitchFamily="34" charset="-122"/>
                <a:cs typeface="Calibri" pitchFamily="34" charset="-120"/>
              </a:rPr>
              <a:t>= 0.02 × 0.45 × ₹10 crore = ₹9 lakh</a:t>
            </a:r>
            <a:endParaRPr lang="en-US" sz="1500" dirty="0"/>
          </a:p>
          <a:p>
            <a:pPr marL="0" indent="0" algn="l">
              <a:spcAft>
                <a:spcPts val="200"/>
              </a:spcAft>
              <a:buNone/>
            </a:pPr>
            <a:r>
              <a:rPr lang="en-US" sz="1400" b="1" dirty="0">
                <a:solidFill>
                  <a:srgbClr val="14213D"/>
                </a:solidFill>
                <a:latin typeface="Calibri" pitchFamily="34" charset="0"/>
                <a:ea typeface="Calibri" pitchFamily="34" charset="-122"/>
                <a:cs typeface="Calibri" pitchFamily="34" charset="-120"/>
              </a:rPr>
              <a:t>UL (σ of loss) = EAD × LGD × √[PD(1 − PD)]</a:t>
            </a:r>
            <a:endParaRPr lang="en-US" sz="1500" dirty="0"/>
          </a:p>
          <a:p>
            <a:pPr marL="0" indent="0" algn="l">
              <a:spcAft>
                <a:spcPts val="800"/>
              </a:spcAft>
              <a:buNone/>
            </a:pPr>
            <a:r>
              <a:rPr lang="en-US" sz="1400" dirty="0">
                <a:solidFill>
                  <a:srgbClr val="1E2533"/>
                </a:solidFill>
                <a:latin typeface="Calibri" pitchFamily="34" charset="0"/>
                <a:ea typeface="Calibri" pitchFamily="34" charset="-122"/>
                <a:cs typeface="Calibri" pitchFamily="34" charset="-120"/>
              </a:rPr>
              <a:t>= 10 cr × 0.45 × √(0.02 × 0.98) = ₹63 lakh</a:t>
            </a:r>
            <a:endParaRPr lang="en-US" sz="1500" dirty="0"/>
          </a:p>
          <a:p>
            <a:pPr marL="0" indent="0" algn="l">
              <a:spcAft>
                <a:spcPts val="300"/>
              </a:spcAft>
              <a:buNone/>
            </a:pPr>
            <a:r>
              <a:rPr lang="en-US" sz="1500" b="1" dirty="0">
                <a:solidFill>
                  <a:srgbClr val="8C6D0F"/>
                </a:solidFill>
                <a:latin typeface="Calibri" pitchFamily="34" charset="0"/>
                <a:ea typeface="Calibri" pitchFamily="34" charset="-122"/>
                <a:cs typeface="Calibri" pitchFamily="34" charset="-120"/>
              </a:rPr>
              <a:t>Portfolio (chart)</a:t>
            </a:r>
            <a:endParaRPr lang="en-US" sz="1500" dirty="0"/>
          </a:p>
          <a:p>
            <a:pPr marL="0" indent="0" algn="l">
              <a:spcAft>
                <a:spcPts val="300"/>
              </a:spcAft>
              <a:buNone/>
            </a:pPr>
            <a:r>
              <a:rPr lang="en-US" sz="1400" dirty="0">
                <a:solidFill>
                  <a:srgbClr val="1E2533"/>
                </a:solidFill>
                <a:latin typeface="Calibri" pitchFamily="34" charset="0"/>
                <a:ea typeface="Calibri" pitchFamily="34" charset="-122"/>
                <a:cs typeface="Calibri" pitchFamily="34" charset="-120"/>
              </a:rPr>
              <a:t>EL = 100 × 0.02 × 0.45 = ₹0.90 crore (2 defaults on average)</a:t>
            </a:r>
            <a:endParaRPr lang="en-US" sz="1500" dirty="0"/>
          </a:p>
          <a:p>
            <a:pPr marL="0" indent="0" algn="l">
              <a:spcAft>
                <a:spcPts val="300"/>
              </a:spcAft>
              <a:buNone/>
            </a:pPr>
            <a:r>
              <a:rPr lang="en-US" sz="1400" dirty="0">
                <a:solidFill>
                  <a:srgbClr val="1E2533"/>
                </a:solidFill>
                <a:latin typeface="Calibri" pitchFamily="34" charset="0"/>
                <a:ea typeface="Calibri" pitchFamily="34" charset="-122"/>
                <a:cs typeface="Calibri" pitchFamily="34" charset="-120"/>
              </a:rPr>
              <a:t>99th percentile: 6 defaults → loss ₹2.70 crore</a:t>
            </a:r>
            <a:endParaRPr lang="en-US" sz="1500" dirty="0"/>
          </a:p>
          <a:p>
            <a:pPr marL="0" indent="0" algn="l">
              <a:spcAft>
                <a:spcPts val="800"/>
              </a:spcAft>
              <a:buNone/>
            </a:pPr>
            <a:r>
              <a:rPr lang="en-US" sz="1400" b="1" dirty="0">
                <a:solidFill>
                  <a:srgbClr val="1E2533"/>
                </a:solidFill>
                <a:latin typeface="Calibri" pitchFamily="34" charset="0"/>
                <a:ea typeface="Calibri" pitchFamily="34" charset="-122"/>
                <a:cs typeface="Calibri" pitchFamily="34" charset="-120"/>
              </a:rPr>
              <a:t>UL at 99% = 2.70 − 0.90 = ₹1.80 crore → capital</a:t>
            </a:r>
            <a:endParaRPr lang="en-US" sz="1500" dirty="0"/>
          </a:p>
          <a:p>
            <a:pPr marL="0" indent="0" algn="l">
              <a:buNone/>
            </a:pPr>
            <a:r>
              <a:rPr lang="en-US" sz="1150" i="1" dirty="0">
                <a:solidFill>
                  <a:srgbClr val="5C6577"/>
                </a:solidFill>
                <a:latin typeface="Calibri" pitchFamily="34" charset="0"/>
                <a:ea typeface="Calibri" pitchFamily="34" charset="-122"/>
                <a:cs typeface="Calibri" pitchFamily="34" charset="-120"/>
              </a:rPr>
              <a:t>Key: PD = probability of default; LGD = loss given default; EAD = exposure at default. EL is a cost of doing business (provision); UL needs capital.</a:t>
            </a:r>
            <a:endParaRPr lang="en-US" sz="15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10</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The Risk Heat Map: Likelihood × Impact</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325880" y="1325880"/>
            <a:ext cx="859536" cy="859536"/>
          </a:xfrm>
          <a:prstGeom prst="rect">
            <a:avLst/>
          </a:prstGeom>
          <a:solidFill>
            <a:srgbClr val="D9B44A">
              <a:alpha val="75000"/>
            </a:srgbClr>
          </a:solidFill>
          <a:ln w="12700">
            <a:solidFill>
              <a:srgbClr val="F7F3E8"/>
            </a:solidFill>
            <a:prstDash val="solid"/>
          </a:ln>
        </p:spPr>
      </p:sp>
      <p:sp>
        <p:nvSpPr>
          <p:cNvPr id="7" name="Text 5"/>
          <p:cNvSpPr txBox="1"/>
          <p:nvPr/>
        </p:nvSpPr>
        <p:spPr>
          <a:xfrm>
            <a:off x="1371600" y="1353312"/>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8" name="Shape 6"/>
          <p:cNvSpPr/>
          <p:nvPr/>
        </p:nvSpPr>
        <p:spPr>
          <a:xfrm>
            <a:off x="2221992" y="1325880"/>
            <a:ext cx="859536" cy="859536"/>
          </a:xfrm>
          <a:prstGeom prst="rect">
            <a:avLst/>
          </a:prstGeom>
          <a:solidFill>
            <a:srgbClr val="B7790A">
              <a:alpha val="75000"/>
            </a:srgbClr>
          </a:solidFill>
          <a:ln w="12700">
            <a:solidFill>
              <a:srgbClr val="F7F3E8"/>
            </a:solidFill>
            <a:prstDash val="solid"/>
          </a:ln>
        </p:spPr>
      </p:sp>
      <p:sp>
        <p:nvSpPr>
          <p:cNvPr id="9" name="Text 7"/>
          <p:cNvSpPr txBox="1"/>
          <p:nvPr/>
        </p:nvSpPr>
        <p:spPr>
          <a:xfrm>
            <a:off x="2267712" y="1353312"/>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10" name="Shape 8"/>
          <p:cNvSpPr/>
          <p:nvPr/>
        </p:nvSpPr>
        <p:spPr>
          <a:xfrm>
            <a:off x="3118104" y="1325880"/>
            <a:ext cx="859536" cy="859536"/>
          </a:xfrm>
          <a:prstGeom prst="rect">
            <a:avLst/>
          </a:prstGeom>
          <a:solidFill>
            <a:srgbClr val="A63232">
              <a:alpha val="75000"/>
            </a:srgbClr>
          </a:solidFill>
          <a:ln w="12700">
            <a:solidFill>
              <a:srgbClr val="F7F3E8"/>
            </a:solidFill>
            <a:prstDash val="solid"/>
          </a:ln>
        </p:spPr>
      </p:sp>
      <p:sp>
        <p:nvSpPr>
          <p:cNvPr id="11" name="Text 9"/>
          <p:cNvSpPr txBox="1"/>
          <p:nvPr/>
        </p:nvSpPr>
        <p:spPr>
          <a:xfrm>
            <a:off x="3163824" y="1353312"/>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12" name="Shape 10"/>
          <p:cNvSpPr/>
          <p:nvPr/>
        </p:nvSpPr>
        <p:spPr>
          <a:xfrm>
            <a:off x="4014216" y="1325880"/>
            <a:ext cx="859536" cy="859536"/>
          </a:xfrm>
          <a:prstGeom prst="rect">
            <a:avLst/>
          </a:prstGeom>
          <a:solidFill>
            <a:srgbClr val="A63232">
              <a:alpha val="75000"/>
            </a:srgbClr>
          </a:solidFill>
          <a:ln w="12700">
            <a:solidFill>
              <a:srgbClr val="F7F3E8"/>
            </a:solidFill>
            <a:prstDash val="solid"/>
          </a:ln>
        </p:spPr>
      </p:sp>
      <p:sp>
        <p:nvSpPr>
          <p:cNvPr id="13" name="Text 11"/>
          <p:cNvSpPr txBox="1"/>
          <p:nvPr/>
        </p:nvSpPr>
        <p:spPr>
          <a:xfrm>
            <a:off x="4059936" y="1353312"/>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
        <p:nvSpPr>
          <p:cNvPr id="14" name="Shape 12"/>
          <p:cNvSpPr/>
          <p:nvPr/>
        </p:nvSpPr>
        <p:spPr>
          <a:xfrm>
            <a:off x="4910328" y="1325880"/>
            <a:ext cx="859536" cy="859536"/>
          </a:xfrm>
          <a:prstGeom prst="rect">
            <a:avLst/>
          </a:prstGeom>
          <a:solidFill>
            <a:srgbClr val="A63232">
              <a:alpha val="75000"/>
            </a:srgbClr>
          </a:solidFill>
          <a:ln w="12700">
            <a:solidFill>
              <a:srgbClr val="F7F3E8"/>
            </a:solidFill>
            <a:prstDash val="solid"/>
          </a:ln>
        </p:spPr>
      </p:sp>
      <p:sp>
        <p:nvSpPr>
          <p:cNvPr id="15" name="Text 13"/>
          <p:cNvSpPr txBox="1"/>
          <p:nvPr/>
        </p:nvSpPr>
        <p:spPr>
          <a:xfrm>
            <a:off x="4956048" y="1353312"/>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
        <p:nvSpPr>
          <p:cNvPr id="16" name="Shape 14"/>
          <p:cNvSpPr/>
          <p:nvPr/>
        </p:nvSpPr>
        <p:spPr>
          <a:xfrm>
            <a:off x="1325880" y="2221992"/>
            <a:ext cx="859536" cy="859536"/>
          </a:xfrm>
          <a:prstGeom prst="rect">
            <a:avLst/>
          </a:prstGeom>
          <a:solidFill>
            <a:srgbClr val="D9B44A">
              <a:alpha val="75000"/>
            </a:srgbClr>
          </a:solidFill>
          <a:ln w="12700">
            <a:solidFill>
              <a:srgbClr val="F7F3E8"/>
            </a:solidFill>
            <a:prstDash val="solid"/>
          </a:ln>
        </p:spPr>
      </p:sp>
      <p:sp>
        <p:nvSpPr>
          <p:cNvPr id="17" name="Text 15"/>
          <p:cNvSpPr txBox="1"/>
          <p:nvPr/>
        </p:nvSpPr>
        <p:spPr>
          <a:xfrm>
            <a:off x="1371600" y="2249424"/>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18" name="Shape 16"/>
          <p:cNvSpPr/>
          <p:nvPr/>
        </p:nvSpPr>
        <p:spPr>
          <a:xfrm>
            <a:off x="2221992" y="2221992"/>
            <a:ext cx="859536" cy="859536"/>
          </a:xfrm>
          <a:prstGeom prst="rect">
            <a:avLst/>
          </a:prstGeom>
          <a:solidFill>
            <a:srgbClr val="B7790A">
              <a:alpha val="75000"/>
            </a:srgbClr>
          </a:solidFill>
          <a:ln w="12700">
            <a:solidFill>
              <a:srgbClr val="F7F3E8"/>
            </a:solidFill>
            <a:prstDash val="solid"/>
          </a:ln>
        </p:spPr>
      </p:sp>
      <p:sp>
        <p:nvSpPr>
          <p:cNvPr id="19" name="Text 17"/>
          <p:cNvSpPr txBox="1"/>
          <p:nvPr/>
        </p:nvSpPr>
        <p:spPr>
          <a:xfrm>
            <a:off x="2267712" y="2249424"/>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20" name="Shape 18"/>
          <p:cNvSpPr/>
          <p:nvPr/>
        </p:nvSpPr>
        <p:spPr>
          <a:xfrm>
            <a:off x="3118104" y="2221992"/>
            <a:ext cx="859536" cy="859536"/>
          </a:xfrm>
          <a:prstGeom prst="rect">
            <a:avLst/>
          </a:prstGeom>
          <a:solidFill>
            <a:srgbClr val="B7790A">
              <a:alpha val="75000"/>
            </a:srgbClr>
          </a:solidFill>
          <a:ln w="12700">
            <a:solidFill>
              <a:srgbClr val="F7F3E8"/>
            </a:solidFill>
            <a:prstDash val="solid"/>
          </a:ln>
        </p:spPr>
      </p:sp>
      <p:sp>
        <p:nvSpPr>
          <p:cNvPr id="21" name="Text 19"/>
          <p:cNvSpPr txBox="1"/>
          <p:nvPr/>
        </p:nvSpPr>
        <p:spPr>
          <a:xfrm>
            <a:off x="3163824" y="2249424"/>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22" name="Shape 20"/>
          <p:cNvSpPr/>
          <p:nvPr/>
        </p:nvSpPr>
        <p:spPr>
          <a:xfrm>
            <a:off x="4014216" y="2221992"/>
            <a:ext cx="859536" cy="859536"/>
          </a:xfrm>
          <a:prstGeom prst="rect">
            <a:avLst/>
          </a:prstGeom>
          <a:solidFill>
            <a:srgbClr val="A63232">
              <a:alpha val="75000"/>
            </a:srgbClr>
          </a:solidFill>
          <a:ln w="12700">
            <a:solidFill>
              <a:srgbClr val="F7F3E8"/>
            </a:solidFill>
            <a:prstDash val="solid"/>
          </a:ln>
        </p:spPr>
      </p:sp>
      <p:sp>
        <p:nvSpPr>
          <p:cNvPr id="23" name="Text 21"/>
          <p:cNvSpPr txBox="1"/>
          <p:nvPr/>
        </p:nvSpPr>
        <p:spPr>
          <a:xfrm>
            <a:off x="4059936" y="2249424"/>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24" name="Shape 22"/>
          <p:cNvSpPr/>
          <p:nvPr/>
        </p:nvSpPr>
        <p:spPr>
          <a:xfrm>
            <a:off x="4910328" y="2221992"/>
            <a:ext cx="859536" cy="859536"/>
          </a:xfrm>
          <a:prstGeom prst="rect">
            <a:avLst/>
          </a:prstGeom>
          <a:solidFill>
            <a:srgbClr val="A63232">
              <a:alpha val="75000"/>
            </a:srgbClr>
          </a:solidFill>
          <a:ln w="12700">
            <a:solidFill>
              <a:srgbClr val="F7F3E8"/>
            </a:solidFill>
            <a:prstDash val="solid"/>
          </a:ln>
        </p:spPr>
      </p:sp>
      <p:sp>
        <p:nvSpPr>
          <p:cNvPr id="25" name="Text 23"/>
          <p:cNvSpPr txBox="1"/>
          <p:nvPr/>
        </p:nvSpPr>
        <p:spPr>
          <a:xfrm>
            <a:off x="4956048" y="2249424"/>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
        <p:nvSpPr>
          <p:cNvPr id="26" name="Shape 24"/>
          <p:cNvSpPr/>
          <p:nvPr/>
        </p:nvSpPr>
        <p:spPr>
          <a:xfrm>
            <a:off x="1325880" y="3118104"/>
            <a:ext cx="859536" cy="859536"/>
          </a:xfrm>
          <a:prstGeom prst="rect">
            <a:avLst/>
          </a:prstGeom>
          <a:solidFill>
            <a:srgbClr val="2E7D4F">
              <a:alpha val="75000"/>
            </a:srgbClr>
          </a:solidFill>
          <a:ln w="12700">
            <a:solidFill>
              <a:srgbClr val="F7F3E8"/>
            </a:solidFill>
            <a:prstDash val="solid"/>
          </a:ln>
        </p:spPr>
      </p:sp>
      <p:sp>
        <p:nvSpPr>
          <p:cNvPr id="27" name="Text 25"/>
          <p:cNvSpPr txBox="1"/>
          <p:nvPr/>
        </p:nvSpPr>
        <p:spPr>
          <a:xfrm>
            <a:off x="1371600" y="3145536"/>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28" name="Shape 26"/>
          <p:cNvSpPr/>
          <p:nvPr/>
        </p:nvSpPr>
        <p:spPr>
          <a:xfrm>
            <a:off x="2221992" y="3118104"/>
            <a:ext cx="859536" cy="859536"/>
          </a:xfrm>
          <a:prstGeom prst="rect">
            <a:avLst/>
          </a:prstGeom>
          <a:solidFill>
            <a:srgbClr val="D9B44A">
              <a:alpha val="75000"/>
            </a:srgbClr>
          </a:solidFill>
          <a:ln w="12700">
            <a:solidFill>
              <a:srgbClr val="F7F3E8"/>
            </a:solidFill>
            <a:prstDash val="solid"/>
          </a:ln>
        </p:spPr>
      </p:sp>
      <p:sp>
        <p:nvSpPr>
          <p:cNvPr id="29" name="Text 27"/>
          <p:cNvSpPr txBox="1"/>
          <p:nvPr/>
        </p:nvSpPr>
        <p:spPr>
          <a:xfrm>
            <a:off x="2267712" y="3145536"/>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30" name="Shape 28"/>
          <p:cNvSpPr/>
          <p:nvPr/>
        </p:nvSpPr>
        <p:spPr>
          <a:xfrm>
            <a:off x="3118104" y="3118104"/>
            <a:ext cx="859536" cy="859536"/>
          </a:xfrm>
          <a:prstGeom prst="rect">
            <a:avLst/>
          </a:prstGeom>
          <a:solidFill>
            <a:srgbClr val="B7790A">
              <a:alpha val="75000"/>
            </a:srgbClr>
          </a:solidFill>
          <a:ln w="12700">
            <a:solidFill>
              <a:srgbClr val="F7F3E8"/>
            </a:solidFill>
            <a:prstDash val="solid"/>
          </a:ln>
        </p:spPr>
      </p:sp>
      <p:sp>
        <p:nvSpPr>
          <p:cNvPr id="31" name="Text 29"/>
          <p:cNvSpPr txBox="1"/>
          <p:nvPr/>
        </p:nvSpPr>
        <p:spPr>
          <a:xfrm>
            <a:off x="3163824" y="3145536"/>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32" name="Shape 30"/>
          <p:cNvSpPr/>
          <p:nvPr/>
        </p:nvSpPr>
        <p:spPr>
          <a:xfrm>
            <a:off x="4014216" y="3118104"/>
            <a:ext cx="859536" cy="859536"/>
          </a:xfrm>
          <a:prstGeom prst="rect">
            <a:avLst/>
          </a:prstGeom>
          <a:solidFill>
            <a:srgbClr val="B7790A">
              <a:alpha val="75000"/>
            </a:srgbClr>
          </a:solidFill>
          <a:ln w="12700">
            <a:solidFill>
              <a:srgbClr val="F7F3E8"/>
            </a:solidFill>
            <a:prstDash val="solid"/>
          </a:ln>
        </p:spPr>
      </p:sp>
      <p:sp>
        <p:nvSpPr>
          <p:cNvPr id="33" name="Text 31"/>
          <p:cNvSpPr txBox="1"/>
          <p:nvPr/>
        </p:nvSpPr>
        <p:spPr>
          <a:xfrm>
            <a:off x="4059936" y="3145536"/>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34" name="Shape 32"/>
          <p:cNvSpPr/>
          <p:nvPr/>
        </p:nvSpPr>
        <p:spPr>
          <a:xfrm>
            <a:off x="4910328" y="3118104"/>
            <a:ext cx="859536" cy="859536"/>
          </a:xfrm>
          <a:prstGeom prst="rect">
            <a:avLst/>
          </a:prstGeom>
          <a:solidFill>
            <a:srgbClr val="A63232">
              <a:alpha val="75000"/>
            </a:srgbClr>
          </a:solidFill>
          <a:ln w="12700">
            <a:solidFill>
              <a:srgbClr val="F7F3E8"/>
            </a:solidFill>
            <a:prstDash val="solid"/>
          </a:ln>
        </p:spPr>
      </p:sp>
      <p:sp>
        <p:nvSpPr>
          <p:cNvPr id="35" name="Text 33"/>
          <p:cNvSpPr txBox="1"/>
          <p:nvPr/>
        </p:nvSpPr>
        <p:spPr>
          <a:xfrm>
            <a:off x="4956048" y="3145536"/>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36" name="Shape 34"/>
          <p:cNvSpPr/>
          <p:nvPr/>
        </p:nvSpPr>
        <p:spPr>
          <a:xfrm>
            <a:off x="1325880" y="4014216"/>
            <a:ext cx="859536" cy="859536"/>
          </a:xfrm>
          <a:prstGeom prst="rect">
            <a:avLst/>
          </a:prstGeom>
          <a:solidFill>
            <a:srgbClr val="2E7D4F">
              <a:alpha val="75000"/>
            </a:srgbClr>
          </a:solidFill>
          <a:ln w="12700">
            <a:solidFill>
              <a:srgbClr val="F7F3E8"/>
            </a:solidFill>
            <a:prstDash val="solid"/>
          </a:ln>
        </p:spPr>
      </p:sp>
      <p:sp>
        <p:nvSpPr>
          <p:cNvPr id="37" name="Text 35"/>
          <p:cNvSpPr txBox="1"/>
          <p:nvPr/>
        </p:nvSpPr>
        <p:spPr>
          <a:xfrm>
            <a:off x="1371600" y="4041648"/>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38" name="Shape 36"/>
          <p:cNvSpPr/>
          <p:nvPr/>
        </p:nvSpPr>
        <p:spPr>
          <a:xfrm>
            <a:off x="2221992" y="4014216"/>
            <a:ext cx="859536" cy="859536"/>
          </a:xfrm>
          <a:prstGeom prst="rect">
            <a:avLst/>
          </a:prstGeom>
          <a:solidFill>
            <a:srgbClr val="D9B44A">
              <a:alpha val="75000"/>
            </a:srgbClr>
          </a:solidFill>
          <a:ln w="12700">
            <a:solidFill>
              <a:srgbClr val="F7F3E8"/>
            </a:solidFill>
            <a:prstDash val="solid"/>
          </a:ln>
        </p:spPr>
      </p:sp>
      <p:sp>
        <p:nvSpPr>
          <p:cNvPr id="39" name="Text 37"/>
          <p:cNvSpPr txBox="1"/>
          <p:nvPr/>
        </p:nvSpPr>
        <p:spPr>
          <a:xfrm>
            <a:off x="2267712" y="4041648"/>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40" name="Shape 38"/>
          <p:cNvSpPr/>
          <p:nvPr/>
        </p:nvSpPr>
        <p:spPr>
          <a:xfrm>
            <a:off x="3118104" y="4014216"/>
            <a:ext cx="859536" cy="859536"/>
          </a:xfrm>
          <a:prstGeom prst="rect">
            <a:avLst/>
          </a:prstGeom>
          <a:solidFill>
            <a:srgbClr val="D9B44A">
              <a:alpha val="75000"/>
            </a:srgbClr>
          </a:solidFill>
          <a:ln w="12700">
            <a:solidFill>
              <a:srgbClr val="F7F3E8"/>
            </a:solidFill>
            <a:prstDash val="solid"/>
          </a:ln>
        </p:spPr>
      </p:sp>
      <p:sp>
        <p:nvSpPr>
          <p:cNvPr id="41" name="Text 39"/>
          <p:cNvSpPr txBox="1"/>
          <p:nvPr/>
        </p:nvSpPr>
        <p:spPr>
          <a:xfrm>
            <a:off x="3163824" y="4041648"/>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42" name="Shape 40"/>
          <p:cNvSpPr/>
          <p:nvPr/>
        </p:nvSpPr>
        <p:spPr>
          <a:xfrm>
            <a:off x="4014216" y="4014216"/>
            <a:ext cx="859536" cy="859536"/>
          </a:xfrm>
          <a:prstGeom prst="rect">
            <a:avLst/>
          </a:prstGeom>
          <a:solidFill>
            <a:srgbClr val="B7790A">
              <a:alpha val="75000"/>
            </a:srgbClr>
          </a:solidFill>
          <a:ln w="12700">
            <a:solidFill>
              <a:srgbClr val="F7F3E8"/>
            </a:solidFill>
            <a:prstDash val="solid"/>
          </a:ln>
        </p:spPr>
      </p:sp>
      <p:sp>
        <p:nvSpPr>
          <p:cNvPr id="43" name="Text 41"/>
          <p:cNvSpPr txBox="1"/>
          <p:nvPr/>
        </p:nvSpPr>
        <p:spPr>
          <a:xfrm>
            <a:off x="4059936" y="4041648"/>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44" name="Shape 42"/>
          <p:cNvSpPr/>
          <p:nvPr/>
        </p:nvSpPr>
        <p:spPr>
          <a:xfrm>
            <a:off x="4910328" y="4014216"/>
            <a:ext cx="859536" cy="859536"/>
          </a:xfrm>
          <a:prstGeom prst="rect">
            <a:avLst/>
          </a:prstGeom>
          <a:solidFill>
            <a:srgbClr val="B7790A">
              <a:alpha val="75000"/>
            </a:srgbClr>
          </a:solidFill>
          <a:ln w="12700">
            <a:solidFill>
              <a:srgbClr val="F7F3E8"/>
            </a:solidFill>
            <a:prstDash val="solid"/>
          </a:ln>
        </p:spPr>
      </p:sp>
      <p:sp>
        <p:nvSpPr>
          <p:cNvPr id="45" name="Text 43"/>
          <p:cNvSpPr txBox="1"/>
          <p:nvPr/>
        </p:nvSpPr>
        <p:spPr>
          <a:xfrm>
            <a:off x="4956048" y="4041648"/>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46" name="Shape 44"/>
          <p:cNvSpPr/>
          <p:nvPr/>
        </p:nvSpPr>
        <p:spPr>
          <a:xfrm>
            <a:off x="1325880" y="4910328"/>
            <a:ext cx="859536" cy="859536"/>
          </a:xfrm>
          <a:prstGeom prst="rect">
            <a:avLst/>
          </a:prstGeom>
          <a:solidFill>
            <a:srgbClr val="2E7D4F">
              <a:alpha val="75000"/>
            </a:srgbClr>
          </a:solidFill>
          <a:ln w="12700">
            <a:solidFill>
              <a:srgbClr val="F7F3E8"/>
            </a:solidFill>
            <a:prstDash val="solid"/>
          </a:ln>
        </p:spPr>
      </p:sp>
      <p:sp>
        <p:nvSpPr>
          <p:cNvPr id="47" name="Text 45"/>
          <p:cNvSpPr txBox="1"/>
          <p:nvPr/>
        </p:nvSpPr>
        <p:spPr>
          <a:xfrm>
            <a:off x="1371600" y="4937760"/>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1</a:t>
            </a:r>
            <a:endParaRPr lang="en-US" sz="900" dirty="0"/>
          </a:p>
        </p:txBody>
      </p:sp>
      <p:sp>
        <p:nvSpPr>
          <p:cNvPr id="48" name="Shape 46"/>
          <p:cNvSpPr/>
          <p:nvPr/>
        </p:nvSpPr>
        <p:spPr>
          <a:xfrm>
            <a:off x="2221992" y="4910328"/>
            <a:ext cx="859536" cy="859536"/>
          </a:xfrm>
          <a:prstGeom prst="rect">
            <a:avLst/>
          </a:prstGeom>
          <a:solidFill>
            <a:srgbClr val="2E7D4F">
              <a:alpha val="75000"/>
            </a:srgbClr>
          </a:solidFill>
          <a:ln w="12700">
            <a:solidFill>
              <a:srgbClr val="F7F3E8"/>
            </a:solidFill>
            <a:prstDash val="solid"/>
          </a:ln>
        </p:spPr>
      </p:sp>
      <p:sp>
        <p:nvSpPr>
          <p:cNvPr id="49" name="Text 47"/>
          <p:cNvSpPr txBox="1"/>
          <p:nvPr/>
        </p:nvSpPr>
        <p:spPr>
          <a:xfrm>
            <a:off x="2267712" y="4937760"/>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50" name="Shape 48"/>
          <p:cNvSpPr/>
          <p:nvPr/>
        </p:nvSpPr>
        <p:spPr>
          <a:xfrm>
            <a:off x="3118104" y="4910328"/>
            <a:ext cx="859536" cy="859536"/>
          </a:xfrm>
          <a:prstGeom prst="rect">
            <a:avLst/>
          </a:prstGeom>
          <a:solidFill>
            <a:srgbClr val="2E7D4F">
              <a:alpha val="75000"/>
            </a:srgbClr>
          </a:solidFill>
          <a:ln w="12700">
            <a:solidFill>
              <a:srgbClr val="F7F3E8"/>
            </a:solidFill>
            <a:prstDash val="solid"/>
          </a:ln>
        </p:spPr>
      </p:sp>
      <p:sp>
        <p:nvSpPr>
          <p:cNvPr id="51" name="Text 49"/>
          <p:cNvSpPr txBox="1"/>
          <p:nvPr/>
        </p:nvSpPr>
        <p:spPr>
          <a:xfrm>
            <a:off x="3163824" y="4937760"/>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52" name="Shape 50"/>
          <p:cNvSpPr/>
          <p:nvPr/>
        </p:nvSpPr>
        <p:spPr>
          <a:xfrm>
            <a:off x="4014216" y="4910328"/>
            <a:ext cx="859536" cy="859536"/>
          </a:xfrm>
          <a:prstGeom prst="rect">
            <a:avLst/>
          </a:prstGeom>
          <a:solidFill>
            <a:srgbClr val="D9B44A">
              <a:alpha val="75000"/>
            </a:srgbClr>
          </a:solidFill>
          <a:ln w="12700">
            <a:solidFill>
              <a:srgbClr val="F7F3E8"/>
            </a:solidFill>
            <a:prstDash val="solid"/>
          </a:ln>
        </p:spPr>
      </p:sp>
      <p:sp>
        <p:nvSpPr>
          <p:cNvPr id="53" name="Text 51"/>
          <p:cNvSpPr txBox="1"/>
          <p:nvPr/>
        </p:nvSpPr>
        <p:spPr>
          <a:xfrm>
            <a:off x="4059936" y="4937760"/>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54" name="Shape 52"/>
          <p:cNvSpPr/>
          <p:nvPr/>
        </p:nvSpPr>
        <p:spPr>
          <a:xfrm>
            <a:off x="4910328" y="4910328"/>
            <a:ext cx="859536" cy="859536"/>
          </a:xfrm>
          <a:prstGeom prst="rect">
            <a:avLst/>
          </a:prstGeom>
          <a:solidFill>
            <a:srgbClr val="D9B44A">
              <a:alpha val="75000"/>
            </a:srgbClr>
          </a:solidFill>
          <a:ln w="12700">
            <a:solidFill>
              <a:srgbClr val="F7F3E8"/>
            </a:solidFill>
            <a:prstDash val="solid"/>
          </a:ln>
        </p:spPr>
      </p:sp>
      <p:sp>
        <p:nvSpPr>
          <p:cNvPr id="55" name="Text 53"/>
          <p:cNvSpPr txBox="1"/>
          <p:nvPr/>
        </p:nvSpPr>
        <p:spPr>
          <a:xfrm>
            <a:off x="4956048" y="4937760"/>
            <a:ext cx="365760" cy="22860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56" name="Text 54"/>
          <p:cNvSpPr txBox="1"/>
          <p:nvPr/>
        </p:nvSpPr>
        <p:spPr>
          <a:xfrm>
            <a:off x="274320" y="4910328"/>
            <a:ext cx="1024128" cy="896112"/>
          </a:xfrm>
          <a:prstGeom prst="rect">
            <a:avLst/>
          </a:prstGeom>
          <a:noFill/>
          <a:ln/>
        </p:spPr>
        <p:txBody>
          <a:bodyPr wrap="square" lIns="0" tIns="0" rIns="0" bIns="0" rtlCol="0" anchor="ctr"/>
          <a:lstStyle/>
          <a:p>
            <a:pPr marL="0" indent="0" algn="r">
              <a:buNone/>
            </a:pPr>
            <a:r>
              <a:rPr lang="en-US" sz="1100" dirty="0">
                <a:solidFill>
                  <a:srgbClr val="5C6577"/>
                </a:solidFill>
                <a:latin typeface="Calibri" pitchFamily="34" charset="0"/>
                <a:ea typeface="Calibri" pitchFamily="34" charset="-122"/>
                <a:cs typeface="Calibri" pitchFamily="34" charset="-120"/>
              </a:rPr>
              <a:t>Rare</a:t>
            </a:r>
            <a:endParaRPr lang="en-US" sz="1100" dirty="0"/>
          </a:p>
        </p:txBody>
      </p:sp>
      <p:sp>
        <p:nvSpPr>
          <p:cNvPr id="57" name="Text 55"/>
          <p:cNvSpPr txBox="1"/>
          <p:nvPr/>
        </p:nvSpPr>
        <p:spPr>
          <a:xfrm>
            <a:off x="274320" y="4014216"/>
            <a:ext cx="1024128" cy="896112"/>
          </a:xfrm>
          <a:prstGeom prst="rect">
            <a:avLst/>
          </a:prstGeom>
          <a:noFill/>
          <a:ln/>
        </p:spPr>
        <p:txBody>
          <a:bodyPr wrap="square" lIns="0" tIns="0" rIns="0" bIns="0" rtlCol="0" anchor="ctr"/>
          <a:lstStyle/>
          <a:p>
            <a:pPr marL="0" indent="0" algn="r">
              <a:buNone/>
            </a:pPr>
            <a:r>
              <a:rPr lang="en-US" sz="1100" dirty="0">
                <a:solidFill>
                  <a:srgbClr val="5C6577"/>
                </a:solidFill>
                <a:latin typeface="Calibri" pitchFamily="34" charset="0"/>
                <a:ea typeface="Calibri" pitchFamily="34" charset="-122"/>
                <a:cs typeface="Calibri" pitchFamily="34" charset="-120"/>
              </a:rPr>
              <a:t>Unlikely</a:t>
            </a:r>
            <a:endParaRPr lang="en-US" sz="1100" dirty="0"/>
          </a:p>
        </p:txBody>
      </p:sp>
      <p:sp>
        <p:nvSpPr>
          <p:cNvPr id="58" name="Text 56"/>
          <p:cNvSpPr txBox="1"/>
          <p:nvPr/>
        </p:nvSpPr>
        <p:spPr>
          <a:xfrm>
            <a:off x="274320" y="3118104"/>
            <a:ext cx="1024128" cy="896112"/>
          </a:xfrm>
          <a:prstGeom prst="rect">
            <a:avLst/>
          </a:prstGeom>
          <a:noFill/>
          <a:ln/>
        </p:spPr>
        <p:txBody>
          <a:bodyPr wrap="square" lIns="0" tIns="0" rIns="0" bIns="0" rtlCol="0" anchor="ctr"/>
          <a:lstStyle/>
          <a:p>
            <a:pPr marL="0" indent="0" algn="r">
              <a:buNone/>
            </a:pPr>
            <a:r>
              <a:rPr lang="en-US" sz="1100" dirty="0">
                <a:solidFill>
                  <a:srgbClr val="5C6577"/>
                </a:solidFill>
                <a:latin typeface="Calibri" pitchFamily="34" charset="0"/>
                <a:ea typeface="Calibri" pitchFamily="34" charset="-122"/>
                <a:cs typeface="Calibri" pitchFamily="34" charset="-120"/>
              </a:rPr>
              <a:t>Possible</a:t>
            </a:r>
            <a:endParaRPr lang="en-US" sz="1100" dirty="0"/>
          </a:p>
        </p:txBody>
      </p:sp>
      <p:sp>
        <p:nvSpPr>
          <p:cNvPr id="59" name="Text 57"/>
          <p:cNvSpPr txBox="1"/>
          <p:nvPr/>
        </p:nvSpPr>
        <p:spPr>
          <a:xfrm>
            <a:off x="274320" y="2221992"/>
            <a:ext cx="1024128" cy="896112"/>
          </a:xfrm>
          <a:prstGeom prst="rect">
            <a:avLst/>
          </a:prstGeom>
          <a:noFill/>
          <a:ln/>
        </p:spPr>
        <p:txBody>
          <a:bodyPr wrap="square" lIns="0" tIns="0" rIns="0" bIns="0" rtlCol="0" anchor="ctr"/>
          <a:lstStyle/>
          <a:p>
            <a:pPr marL="0" indent="0" algn="r">
              <a:buNone/>
            </a:pPr>
            <a:r>
              <a:rPr lang="en-US" sz="1100" dirty="0">
                <a:solidFill>
                  <a:srgbClr val="5C6577"/>
                </a:solidFill>
                <a:latin typeface="Calibri" pitchFamily="34" charset="0"/>
                <a:ea typeface="Calibri" pitchFamily="34" charset="-122"/>
                <a:cs typeface="Calibri" pitchFamily="34" charset="-120"/>
              </a:rPr>
              <a:t>Likely</a:t>
            </a:r>
            <a:endParaRPr lang="en-US" sz="1100" dirty="0"/>
          </a:p>
        </p:txBody>
      </p:sp>
      <p:sp>
        <p:nvSpPr>
          <p:cNvPr id="60" name="Text 58"/>
          <p:cNvSpPr txBox="1"/>
          <p:nvPr/>
        </p:nvSpPr>
        <p:spPr>
          <a:xfrm>
            <a:off x="274320" y="1325880"/>
            <a:ext cx="1024128" cy="896112"/>
          </a:xfrm>
          <a:prstGeom prst="rect">
            <a:avLst/>
          </a:prstGeom>
          <a:noFill/>
          <a:ln/>
        </p:spPr>
        <p:txBody>
          <a:bodyPr wrap="square" lIns="0" tIns="0" rIns="0" bIns="0" rtlCol="0" anchor="ctr"/>
          <a:lstStyle/>
          <a:p>
            <a:pPr marL="0" indent="0" algn="r">
              <a:buNone/>
            </a:pPr>
            <a:r>
              <a:rPr lang="en-US" sz="1100" dirty="0">
                <a:solidFill>
                  <a:srgbClr val="5C6577"/>
                </a:solidFill>
                <a:latin typeface="Calibri" pitchFamily="34" charset="0"/>
                <a:ea typeface="Calibri" pitchFamily="34" charset="-122"/>
                <a:cs typeface="Calibri" pitchFamily="34" charset="-120"/>
              </a:rPr>
              <a:t>Almost certain</a:t>
            </a:r>
            <a:endParaRPr lang="en-US" sz="1100" dirty="0"/>
          </a:p>
        </p:txBody>
      </p:sp>
      <p:sp>
        <p:nvSpPr>
          <p:cNvPr id="61" name="Text 59"/>
          <p:cNvSpPr txBox="1"/>
          <p:nvPr/>
        </p:nvSpPr>
        <p:spPr>
          <a:xfrm>
            <a:off x="1325880" y="5806440"/>
            <a:ext cx="896112" cy="274320"/>
          </a:xfrm>
          <a:prstGeom prst="rect">
            <a:avLst/>
          </a:prstGeom>
          <a:noFill/>
          <a:ln/>
        </p:spPr>
        <p:txBody>
          <a:bodyPr wrap="square" lIns="0" tIns="0" rIns="0" bIns="0" rtlCol="0" anchor="t"/>
          <a:lstStyle/>
          <a:p>
            <a:pPr marL="0" indent="0" algn="ctr">
              <a:buNone/>
            </a:pPr>
            <a:r>
              <a:rPr lang="en-US" sz="1100" dirty="0">
                <a:solidFill>
                  <a:srgbClr val="5C6577"/>
                </a:solidFill>
                <a:latin typeface="Calibri" pitchFamily="34" charset="0"/>
                <a:ea typeface="Calibri" pitchFamily="34" charset="-122"/>
                <a:cs typeface="Calibri" pitchFamily="34" charset="-120"/>
              </a:rPr>
              <a:t>Minor</a:t>
            </a:r>
            <a:endParaRPr lang="en-US" sz="1100" dirty="0"/>
          </a:p>
        </p:txBody>
      </p:sp>
      <p:sp>
        <p:nvSpPr>
          <p:cNvPr id="62" name="Text 60"/>
          <p:cNvSpPr txBox="1"/>
          <p:nvPr/>
        </p:nvSpPr>
        <p:spPr>
          <a:xfrm>
            <a:off x="2221992" y="5806440"/>
            <a:ext cx="896112" cy="274320"/>
          </a:xfrm>
          <a:prstGeom prst="rect">
            <a:avLst/>
          </a:prstGeom>
          <a:noFill/>
          <a:ln/>
        </p:spPr>
        <p:txBody>
          <a:bodyPr wrap="square" lIns="0" tIns="0" rIns="0" bIns="0" rtlCol="0" anchor="t"/>
          <a:lstStyle/>
          <a:p>
            <a:pPr marL="0" indent="0" algn="ctr">
              <a:buNone/>
            </a:pPr>
            <a:r>
              <a:rPr lang="en-US" sz="1100" dirty="0">
                <a:solidFill>
                  <a:srgbClr val="5C6577"/>
                </a:solidFill>
                <a:latin typeface="Calibri" pitchFamily="34" charset="0"/>
                <a:ea typeface="Calibri" pitchFamily="34" charset="-122"/>
                <a:cs typeface="Calibri" pitchFamily="34" charset="-120"/>
              </a:rPr>
              <a:t>Moderate</a:t>
            </a:r>
            <a:endParaRPr lang="en-US" sz="1100" dirty="0"/>
          </a:p>
        </p:txBody>
      </p:sp>
      <p:sp>
        <p:nvSpPr>
          <p:cNvPr id="63" name="Text 61"/>
          <p:cNvSpPr txBox="1"/>
          <p:nvPr/>
        </p:nvSpPr>
        <p:spPr>
          <a:xfrm>
            <a:off x="3118104" y="5806440"/>
            <a:ext cx="896112" cy="274320"/>
          </a:xfrm>
          <a:prstGeom prst="rect">
            <a:avLst/>
          </a:prstGeom>
          <a:noFill/>
          <a:ln/>
        </p:spPr>
        <p:txBody>
          <a:bodyPr wrap="square" lIns="0" tIns="0" rIns="0" bIns="0" rtlCol="0" anchor="t"/>
          <a:lstStyle/>
          <a:p>
            <a:pPr marL="0" indent="0" algn="ctr">
              <a:buNone/>
            </a:pPr>
            <a:r>
              <a:rPr lang="en-US" sz="1100" dirty="0">
                <a:solidFill>
                  <a:srgbClr val="5C6577"/>
                </a:solidFill>
                <a:latin typeface="Calibri" pitchFamily="34" charset="0"/>
                <a:ea typeface="Calibri" pitchFamily="34" charset="-122"/>
                <a:cs typeface="Calibri" pitchFamily="34" charset="-120"/>
              </a:rPr>
              <a:t>Major</a:t>
            </a:r>
            <a:endParaRPr lang="en-US" sz="1100" dirty="0"/>
          </a:p>
        </p:txBody>
      </p:sp>
      <p:sp>
        <p:nvSpPr>
          <p:cNvPr id="64" name="Text 62"/>
          <p:cNvSpPr txBox="1"/>
          <p:nvPr/>
        </p:nvSpPr>
        <p:spPr>
          <a:xfrm>
            <a:off x="4014216" y="5806440"/>
            <a:ext cx="896112" cy="274320"/>
          </a:xfrm>
          <a:prstGeom prst="rect">
            <a:avLst/>
          </a:prstGeom>
          <a:noFill/>
          <a:ln/>
        </p:spPr>
        <p:txBody>
          <a:bodyPr wrap="square" lIns="0" tIns="0" rIns="0" bIns="0" rtlCol="0" anchor="t"/>
          <a:lstStyle/>
          <a:p>
            <a:pPr marL="0" indent="0" algn="ctr">
              <a:buNone/>
            </a:pPr>
            <a:r>
              <a:rPr lang="en-US" sz="1100" dirty="0">
                <a:solidFill>
                  <a:srgbClr val="5C6577"/>
                </a:solidFill>
                <a:latin typeface="Calibri" pitchFamily="34" charset="0"/>
                <a:ea typeface="Calibri" pitchFamily="34" charset="-122"/>
                <a:cs typeface="Calibri" pitchFamily="34" charset="-120"/>
              </a:rPr>
              <a:t>Severe</a:t>
            </a:r>
            <a:endParaRPr lang="en-US" sz="1100" dirty="0"/>
          </a:p>
        </p:txBody>
      </p:sp>
      <p:sp>
        <p:nvSpPr>
          <p:cNvPr id="65" name="Text 63"/>
          <p:cNvSpPr txBox="1"/>
          <p:nvPr/>
        </p:nvSpPr>
        <p:spPr>
          <a:xfrm>
            <a:off x="4910328" y="5806440"/>
            <a:ext cx="896112" cy="274320"/>
          </a:xfrm>
          <a:prstGeom prst="rect">
            <a:avLst/>
          </a:prstGeom>
          <a:noFill/>
          <a:ln/>
        </p:spPr>
        <p:txBody>
          <a:bodyPr wrap="square" lIns="0" tIns="0" rIns="0" bIns="0" rtlCol="0" anchor="t"/>
          <a:lstStyle/>
          <a:p>
            <a:pPr marL="0" indent="0" algn="ctr">
              <a:buNone/>
            </a:pPr>
            <a:r>
              <a:rPr lang="en-US" sz="1100" dirty="0">
                <a:solidFill>
                  <a:srgbClr val="5C6577"/>
                </a:solidFill>
                <a:latin typeface="Calibri" pitchFamily="34" charset="0"/>
                <a:ea typeface="Calibri" pitchFamily="34" charset="-122"/>
                <a:cs typeface="Calibri" pitchFamily="34" charset="-120"/>
              </a:rPr>
              <a:t>Critical</a:t>
            </a:r>
            <a:endParaRPr lang="en-US" sz="1100" dirty="0"/>
          </a:p>
        </p:txBody>
      </p:sp>
      <p:sp>
        <p:nvSpPr>
          <p:cNvPr id="66" name="Text 64"/>
          <p:cNvSpPr txBox="1"/>
          <p:nvPr/>
        </p:nvSpPr>
        <p:spPr>
          <a:xfrm>
            <a:off x="1325880" y="6062472"/>
            <a:ext cx="4480560" cy="27432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Impact →</a:t>
            </a:r>
            <a:endParaRPr lang="en-US" sz="1200" dirty="0"/>
          </a:p>
        </p:txBody>
      </p:sp>
      <p:sp>
        <p:nvSpPr>
          <p:cNvPr id="67" name="Shape 65"/>
          <p:cNvSpPr/>
          <p:nvPr/>
        </p:nvSpPr>
        <p:spPr>
          <a:xfrm>
            <a:off x="5175504" y="3383280"/>
            <a:ext cx="365760" cy="365760"/>
          </a:xfrm>
          <a:prstGeom prst="ellipse">
            <a:avLst/>
          </a:prstGeom>
          <a:solidFill>
            <a:srgbClr val="14213D"/>
          </a:solidFill>
          <a:ln w="19050">
            <a:solidFill>
              <a:srgbClr val="FFFFFF"/>
            </a:solidFill>
            <a:prstDash val="solid"/>
          </a:ln>
        </p:spPr>
      </p:sp>
      <p:sp>
        <p:nvSpPr>
          <p:cNvPr id="68" name="Text 66"/>
          <p:cNvSpPr txBox="1"/>
          <p:nvPr/>
        </p:nvSpPr>
        <p:spPr>
          <a:xfrm>
            <a:off x="5175504" y="3383280"/>
            <a:ext cx="365760" cy="365760"/>
          </a:xfrm>
          <a:prstGeom prst="rect">
            <a:avLst/>
          </a:prstGeom>
          <a:noFill/>
          <a:ln/>
        </p:spPr>
        <p:txBody>
          <a:bodyPr wrap="square" lIns="0" tIns="0" rIns="0" bIns="0" rtlCol="0" anchor="ctr"/>
          <a:lstStyle/>
          <a:p>
            <a:pPr marL="0" indent="0" algn="ctr">
              <a:buNone/>
            </a:pPr>
            <a:r>
              <a:rPr lang="en-US" sz="1200" b="1" dirty="0">
                <a:solidFill>
                  <a:srgbClr val="C9A227"/>
                </a:solidFill>
                <a:latin typeface="Cambria" pitchFamily="34" charset="0"/>
                <a:ea typeface="Cambria" pitchFamily="34" charset="-122"/>
                <a:cs typeface="Cambria" pitchFamily="34" charset="-120"/>
              </a:rPr>
              <a:t>1</a:t>
            </a:r>
            <a:endParaRPr lang="en-US" sz="1200" dirty="0"/>
          </a:p>
        </p:txBody>
      </p:sp>
      <p:sp>
        <p:nvSpPr>
          <p:cNvPr id="69" name="Shape 67"/>
          <p:cNvSpPr/>
          <p:nvPr/>
        </p:nvSpPr>
        <p:spPr>
          <a:xfrm>
            <a:off x="5175504" y="4279392"/>
            <a:ext cx="365760" cy="365760"/>
          </a:xfrm>
          <a:prstGeom prst="ellipse">
            <a:avLst/>
          </a:prstGeom>
          <a:solidFill>
            <a:srgbClr val="14213D"/>
          </a:solidFill>
          <a:ln w="19050">
            <a:solidFill>
              <a:srgbClr val="FFFFFF"/>
            </a:solidFill>
            <a:prstDash val="solid"/>
          </a:ln>
        </p:spPr>
      </p:sp>
      <p:sp>
        <p:nvSpPr>
          <p:cNvPr id="70" name="Text 68"/>
          <p:cNvSpPr txBox="1"/>
          <p:nvPr/>
        </p:nvSpPr>
        <p:spPr>
          <a:xfrm>
            <a:off x="5175504" y="4279392"/>
            <a:ext cx="365760" cy="365760"/>
          </a:xfrm>
          <a:prstGeom prst="rect">
            <a:avLst/>
          </a:prstGeom>
          <a:noFill/>
          <a:ln/>
        </p:spPr>
        <p:txBody>
          <a:bodyPr wrap="square" lIns="0" tIns="0" rIns="0" bIns="0" rtlCol="0" anchor="ctr"/>
          <a:lstStyle/>
          <a:p>
            <a:pPr marL="0" indent="0" algn="ctr">
              <a:buNone/>
            </a:pPr>
            <a:r>
              <a:rPr lang="en-US" sz="1200" b="1" dirty="0">
                <a:solidFill>
                  <a:srgbClr val="C9A227"/>
                </a:solidFill>
                <a:latin typeface="Cambria" pitchFamily="34" charset="0"/>
                <a:ea typeface="Cambria" pitchFamily="34" charset="-122"/>
                <a:cs typeface="Cambria" pitchFamily="34" charset="-120"/>
              </a:rPr>
              <a:t>2</a:t>
            </a:r>
            <a:endParaRPr lang="en-US" sz="1200" dirty="0"/>
          </a:p>
        </p:txBody>
      </p:sp>
      <p:sp>
        <p:nvSpPr>
          <p:cNvPr id="71" name="Shape 69"/>
          <p:cNvSpPr/>
          <p:nvPr/>
        </p:nvSpPr>
        <p:spPr>
          <a:xfrm>
            <a:off x="3383280" y="2487168"/>
            <a:ext cx="365760" cy="365760"/>
          </a:xfrm>
          <a:prstGeom prst="ellipse">
            <a:avLst/>
          </a:prstGeom>
          <a:solidFill>
            <a:srgbClr val="14213D"/>
          </a:solidFill>
          <a:ln w="19050">
            <a:solidFill>
              <a:srgbClr val="FFFFFF"/>
            </a:solidFill>
            <a:prstDash val="solid"/>
          </a:ln>
        </p:spPr>
      </p:sp>
      <p:sp>
        <p:nvSpPr>
          <p:cNvPr id="72" name="Text 70"/>
          <p:cNvSpPr txBox="1"/>
          <p:nvPr/>
        </p:nvSpPr>
        <p:spPr>
          <a:xfrm>
            <a:off x="3383280" y="2487168"/>
            <a:ext cx="365760" cy="365760"/>
          </a:xfrm>
          <a:prstGeom prst="rect">
            <a:avLst/>
          </a:prstGeom>
          <a:noFill/>
          <a:ln/>
        </p:spPr>
        <p:txBody>
          <a:bodyPr wrap="square" lIns="0" tIns="0" rIns="0" bIns="0" rtlCol="0" anchor="ctr"/>
          <a:lstStyle/>
          <a:p>
            <a:pPr marL="0" indent="0" algn="ctr">
              <a:buNone/>
            </a:pPr>
            <a:r>
              <a:rPr lang="en-US" sz="1200" b="1" dirty="0">
                <a:solidFill>
                  <a:srgbClr val="C9A227"/>
                </a:solidFill>
                <a:latin typeface="Cambria" pitchFamily="34" charset="0"/>
                <a:ea typeface="Cambria" pitchFamily="34" charset="-122"/>
                <a:cs typeface="Cambria" pitchFamily="34" charset="-120"/>
              </a:rPr>
              <a:t>3</a:t>
            </a:r>
            <a:endParaRPr lang="en-US" sz="1200" dirty="0"/>
          </a:p>
        </p:txBody>
      </p:sp>
      <p:sp>
        <p:nvSpPr>
          <p:cNvPr id="73" name="Shape 71"/>
          <p:cNvSpPr/>
          <p:nvPr/>
        </p:nvSpPr>
        <p:spPr>
          <a:xfrm>
            <a:off x="1591056" y="2487168"/>
            <a:ext cx="365760" cy="365760"/>
          </a:xfrm>
          <a:prstGeom prst="ellipse">
            <a:avLst/>
          </a:prstGeom>
          <a:solidFill>
            <a:srgbClr val="14213D"/>
          </a:solidFill>
          <a:ln w="19050">
            <a:solidFill>
              <a:srgbClr val="FFFFFF"/>
            </a:solidFill>
            <a:prstDash val="solid"/>
          </a:ln>
        </p:spPr>
      </p:sp>
      <p:sp>
        <p:nvSpPr>
          <p:cNvPr id="74" name="Text 72"/>
          <p:cNvSpPr txBox="1"/>
          <p:nvPr/>
        </p:nvSpPr>
        <p:spPr>
          <a:xfrm>
            <a:off x="1591056" y="2487168"/>
            <a:ext cx="365760" cy="365760"/>
          </a:xfrm>
          <a:prstGeom prst="rect">
            <a:avLst/>
          </a:prstGeom>
          <a:noFill/>
          <a:ln/>
        </p:spPr>
        <p:txBody>
          <a:bodyPr wrap="square" lIns="0" tIns="0" rIns="0" bIns="0" rtlCol="0" anchor="ctr"/>
          <a:lstStyle/>
          <a:p>
            <a:pPr marL="0" indent="0" algn="ctr">
              <a:buNone/>
            </a:pPr>
            <a:r>
              <a:rPr lang="en-US" sz="1200" b="1" dirty="0">
                <a:solidFill>
                  <a:srgbClr val="C9A227"/>
                </a:solidFill>
                <a:latin typeface="Cambria" pitchFamily="34" charset="0"/>
                <a:ea typeface="Cambria" pitchFamily="34" charset="-122"/>
                <a:cs typeface="Cambria" pitchFamily="34" charset="-120"/>
              </a:rPr>
              <a:t>4</a:t>
            </a:r>
            <a:endParaRPr lang="en-US" sz="1200" dirty="0"/>
          </a:p>
        </p:txBody>
      </p:sp>
      <p:sp>
        <p:nvSpPr>
          <p:cNvPr id="75" name="Shape 73"/>
          <p:cNvSpPr/>
          <p:nvPr/>
        </p:nvSpPr>
        <p:spPr>
          <a:xfrm>
            <a:off x="3383280" y="3383280"/>
            <a:ext cx="365760" cy="365760"/>
          </a:xfrm>
          <a:prstGeom prst="ellipse">
            <a:avLst/>
          </a:prstGeom>
          <a:solidFill>
            <a:srgbClr val="14213D"/>
          </a:solidFill>
          <a:ln w="19050">
            <a:solidFill>
              <a:srgbClr val="FFFFFF"/>
            </a:solidFill>
            <a:prstDash val="solid"/>
          </a:ln>
        </p:spPr>
      </p:sp>
      <p:sp>
        <p:nvSpPr>
          <p:cNvPr id="76" name="Text 74"/>
          <p:cNvSpPr txBox="1"/>
          <p:nvPr/>
        </p:nvSpPr>
        <p:spPr>
          <a:xfrm>
            <a:off x="3383280" y="3383280"/>
            <a:ext cx="365760" cy="365760"/>
          </a:xfrm>
          <a:prstGeom prst="rect">
            <a:avLst/>
          </a:prstGeom>
          <a:noFill/>
          <a:ln/>
        </p:spPr>
        <p:txBody>
          <a:bodyPr wrap="square" lIns="0" tIns="0" rIns="0" bIns="0" rtlCol="0" anchor="ctr"/>
          <a:lstStyle/>
          <a:p>
            <a:pPr marL="0" indent="0" algn="ctr">
              <a:buNone/>
            </a:pPr>
            <a:r>
              <a:rPr lang="en-US" sz="1200" b="1" dirty="0">
                <a:solidFill>
                  <a:srgbClr val="C9A227"/>
                </a:solidFill>
                <a:latin typeface="Cambria" pitchFamily="34" charset="0"/>
                <a:ea typeface="Cambria" pitchFamily="34" charset="-122"/>
                <a:cs typeface="Cambria" pitchFamily="34" charset="-120"/>
              </a:rPr>
              <a:t>5</a:t>
            </a:r>
            <a:endParaRPr lang="en-US" sz="1200" dirty="0"/>
          </a:p>
        </p:txBody>
      </p:sp>
      <p:sp>
        <p:nvSpPr>
          <p:cNvPr id="77" name="Shape 75"/>
          <p:cNvSpPr/>
          <p:nvPr/>
        </p:nvSpPr>
        <p:spPr>
          <a:xfrm>
            <a:off x="2487168" y="3383280"/>
            <a:ext cx="365760" cy="365760"/>
          </a:xfrm>
          <a:prstGeom prst="ellipse">
            <a:avLst/>
          </a:prstGeom>
          <a:solidFill>
            <a:srgbClr val="14213D"/>
          </a:solidFill>
          <a:ln w="19050">
            <a:solidFill>
              <a:srgbClr val="FFFFFF"/>
            </a:solidFill>
            <a:prstDash val="solid"/>
          </a:ln>
        </p:spPr>
      </p:sp>
      <p:sp>
        <p:nvSpPr>
          <p:cNvPr id="78" name="Text 76"/>
          <p:cNvSpPr txBox="1"/>
          <p:nvPr/>
        </p:nvSpPr>
        <p:spPr>
          <a:xfrm>
            <a:off x="2487168" y="3383280"/>
            <a:ext cx="365760" cy="365760"/>
          </a:xfrm>
          <a:prstGeom prst="rect">
            <a:avLst/>
          </a:prstGeom>
          <a:noFill/>
          <a:ln/>
        </p:spPr>
        <p:txBody>
          <a:bodyPr wrap="square" lIns="0" tIns="0" rIns="0" bIns="0" rtlCol="0" anchor="ctr"/>
          <a:lstStyle/>
          <a:p>
            <a:pPr marL="0" indent="0" algn="ctr">
              <a:buNone/>
            </a:pPr>
            <a:r>
              <a:rPr lang="en-US" sz="1200" b="1" dirty="0">
                <a:solidFill>
                  <a:srgbClr val="C9A227"/>
                </a:solidFill>
                <a:latin typeface="Cambria" pitchFamily="34" charset="0"/>
                <a:ea typeface="Cambria" pitchFamily="34" charset="-122"/>
                <a:cs typeface="Cambria" pitchFamily="34" charset="-120"/>
              </a:rPr>
              <a:t>6</a:t>
            </a:r>
            <a:endParaRPr lang="en-US" sz="1200" dirty="0"/>
          </a:p>
        </p:txBody>
      </p:sp>
      <p:sp>
        <p:nvSpPr>
          <p:cNvPr id="79" name="Shape 77"/>
          <p:cNvSpPr/>
          <p:nvPr/>
        </p:nvSpPr>
        <p:spPr>
          <a:xfrm>
            <a:off x="6172200" y="1280160"/>
            <a:ext cx="5513832"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0" name="Text 78"/>
          <p:cNvSpPr txBox="1"/>
          <p:nvPr/>
        </p:nvSpPr>
        <p:spPr>
          <a:xfrm>
            <a:off x="6355080" y="1389888"/>
            <a:ext cx="5166360" cy="4754880"/>
          </a:xfrm>
          <a:prstGeom prst="rect">
            <a:avLst/>
          </a:prstGeom>
          <a:noFill/>
          <a:ln/>
        </p:spPr>
        <p:txBody>
          <a:bodyPr wrap="square" lIns="0" tIns="0" rIns="0" bIns="0" rtlCol="0" anchor="t"/>
          <a:lstStyle/>
          <a:p>
            <a:pPr marL="0" indent="0" algn="l">
              <a:spcAft>
                <a:spcPts val="600"/>
              </a:spcAft>
              <a:buNone/>
            </a:pPr>
            <a:r>
              <a:rPr lang="en-US" sz="1500" b="1" dirty="0">
                <a:solidFill>
                  <a:srgbClr val="8C6D0F"/>
                </a:solidFill>
                <a:latin typeface="Calibri" pitchFamily="34" charset="0"/>
                <a:ea typeface="Calibri" pitchFamily="34" charset="-122"/>
                <a:cs typeface="Calibri" pitchFamily="34" charset="-120"/>
              </a:rPr>
              <a:t>Risk register of a mid-sized NBFC (illustrative)</a:t>
            </a:r>
            <a:endParaRPr lang="en-US" sz="1500" dirty="0"/>
          </a:p>
          <a:p>
            <a:pPr marL="0" indent="0" algn="l">
              <a:spcAft>
                <a:spcPts val="400"/>
              </a:spcAft>
              <a:buNone/>
            </a:pPr>
            <a:r>
              <a:rPr lang="en-US" sz="1400" b="1" dirty="0">
                <a:solidFill>
                  <a:srgbClr val="1E2533"/>
                </a:solidFill>
                <a:latin typeface="Calibri" pitchFamily="34" charset="0"/>
                <a:ea typeface="Calibri" pitchFamily="34" charset="-122"/>
                <a:cs typeface="Calibri" pitchFamily="34" charset="-120"/>
              </a:rPr>
              <a:t>R1</a:t>
            </a:r>
            <a:r>
              <a:rPr lang="en-US" sz="1400" dirty="0">
                <a:solidFill>
                  <a:srgbClr val="1E2533"/>
                </a:solidFill>
                <a:latin typeface="Calibri" pitchFamily="34" charset="0"/>
                <a:ea typeface="Calibri" pitchFamily="34" charset="-122"/>
                <a:cs typeface="Calibri" pitchFamily="34" charset="-120"/>
              </a:rPr>
              <a:t> Cyber attack on core systems: L3 × I5 = 15</a:t>
            </a:r>
            <a:endParaRPr lang="en-US" sz="1500" dirty="0"/>
          </a:p>
          <a:p>
            <a:pPr marL="0" indent="0" algn="l">
              <a:spcAft>
                <a:spcPts val="400"/>
              </a:spcAft>
              <a:buNone/>
            </a:pPr>
            <a:r>
              <a:rPr lang="en-US" sz="1400" b="1" dirty="0">
                <a:solidFill>
                  <a:srgbClr val="1E2533"/>
                </a:solidFill>
                <a:latin typeface="Calibri" pitchFamily="34" charset="0"/>
                <a:ea typeface="Calibri" pitchFamily="34" charset="-122"/>
                <a:cs typeface="Calibri" pitchFamily="34" charset="-120"/>
              </a:rPr>
              <a:t>R2</a:t>
            </a:r>
            <a:r>
              <a:rPr lang="en-US" sz="1400" dirty="0">
                <a:solidFill>
                  <a:srgbClr val="1E2533"/>
                </a:solidFill>
                <a:latin typeface="Calibri" pitchFamily="34" charset="0"/>
                <a:ea typeface="Calibri" pitchFamily="34" charset="-122"/>
                <a:cs typeface="Calibri" pitchFamily="34" charset="-120"/>
              </a:rPr>
              <a:t> Liquidity crunch in debt markets: L2 × I5 = 10</a:t>
            </a:r>
            <a:endParaRPr lang="en-US" sz="1500" dirty="0"/>
          </a:p>
          <a:p>
            <a:pPr marL="0" indent="0" algn="l">
              <a:spcAft>
                <a:spcPts val="400"/>
              </a:spcAft>
              <a:buNone/>
            </a:pPr>
            <a:r>
              <a:rPr lang="en-US" sz="1400" b="1" dirty="0">
                <a:solidFill>
                  <a:srgbClr val="1E2533"/>
                </a:solidFill>
                <a:latin typeface="Calibri" pitchFamily="34" charset="0"/>
                <a:ea typeface="Calibri" pitchFamily="34" charset="-122"/>
                <a:cs typeface="Calibri" pitchFamily="34" charset="-120"/>
              </a:rPr>
              <a:t>R3</a:t>
            </a:r>
            <a:r>
              <a:rPr lang="en-US" sz="1400" dirty="0">
                <a:solidFill>
                  <a:srgbClr val="1E2533"/>
                </a:solidFill>
                <a:latin typeface="Calibri" pitchFamily="34" charset="0"/>
                <a:ea typeface="Calibri" pitchFamily="34" charset="-122"/>
                <a:cs typeface="Calibri" pitchFamily="34" charset="-120"/>
              </a:rPr>
              <a:t> Rise in interest rates: L4 × I3 = 12</a:t>
            </a:r>
            <a:endParaRPr lang="en-US" sz="1500" dirty="0"/>
          </a:p>
          <a:p>
            <a:pPr marL="0" indent="0" algn="l">
              <a:spcAft>
                <a:spcPts val="400"/>
              </a:spcAft>
              <a:buNone/>
            </a:pPr>
            <a:r>
              <a:rPr lang="en-US" sz="1400" b="1" dirty="0">
                <a:solidFill>
                  <a:srgbClr val="1E2533"/>
                </a:solidFill>
                <a:latin typeface="Calibri" pitchFamily="34" charset="0"/>
                <a:ea typeface="Calibri" pitchFamily="34" charset="-122"/>
                <a:cs typeface="Calibri" pitchFamily="34" charset="-120"/>
              </a:rPr>
              <a:t>R4</a:t>
            </a:r>
            <a:r>
              <a:rPr lang="en-US" sz="1400" dirty="0">
                <a:solidFill>
                  <a:srgbClr val="1E2533"/>
                </a:solidFill>
                <a:latin typeface="Calibri" pitchFamily="34" charset="0"/>
                <a:ea typeface="Calibri" pitchFamily="34" charset="-122"/>
                <a:cs typeface="Calibri" pitchFamily="34" charset="-120"/>
              </a:rPr>
              <a:t> Cash shortage at a branch: L4 × I1 = 4</a:t>
            </a:r>
            <a:endParaRPr lang="en-US" sz="1500" dirty="0"/>
          </a:p>
          <a:p>
            <a:pPr marL="0" indent="0" algn="l">
              <a:spcAft>
                <a:spcPts val="400"/>
              </a:spcAft>
              <a:buNone/>
            </a:pPr>
            <a:r>
              <a:rPr lang="en-US" sz="1400" b="1" dirty="0">
                <a:solidFill>
                  <a:srgbClr val="1E2533"/>
                </a:solidFill>
                <a:latin typeface="Calibri" pitchFamily="34" charset="0"/>
                <a:ea typeface="Calibri" pitchFamily="34" charset="-122"/>
                <a:cs typeface="Calibri" pitchFamily="34" charset="-120"/>
              </a:rPr>
              <a:t>R5</a:t>
            </a:r>
            <a:r>
              <a:rPr lang="en-US" sz="1400" dirty="0">
                <a:solidFill>
                  <a:srgbClr val="1E2533"/>
                </a:solidFill>
                <a:latin typeface="Calibri" pitchFamily="34" charset="0"/>
                <a:ea typeface="Calibri" pitchFamily="34" charset="-122"/>
                <a:cs typeface="Calibri" pitchFamily="34" charset="-120"/>
              </a:rPr>
              <a:t> Regulatory penalty: L3 × I3 = 9</a:t>
            </a:r>
            <a:endParaRPr lang="en-US" sz="1500" dirty="0"/>
          </a:p>
          <a:p>
            <a:pPr marL="0" indent="0" algn="l">
              <a:spcAft>
                <a:spcPts val="400"/>
              </a:spcAft>
              <a:buNone/>
            </a:pPr>
            <a:r>
              <a:rPr lang="en-US" sz="1400" b="1" dirty="0">
                <a:solidFill>
                  <a:srgbClr val="1E2533"/>
                </a:solidFill>
                <a:latin typeface="Calibri" pitchFamily="34" charset="0"/>
                <a:ea typeface="Calibri" pitchFamily="34" charset="-122"/>
                <a:cs typeface="Calibri" pitchFamily="34" charset="-120"/>
              </a:rPr>
              <a:t>R6</a:t>
            </a:r>
            <a:r>
              <a:rPr lang="en-US" sz="1400" dirty="0">
                <a:solidFill>
                  <a:srgbClr val="1E2533"/>
                </a:solidFill>
                <a:latin typeface="Calibri" pitchFamily="34" charset="0"/>
                <a:ea typeface="Calibri" pitchFamily="34" charset="-122"/>
                <a:cs typeface="Calibri" pitchFamily="34" charset="-120"/>
              </a:rPr>
              <a:t> Key-staff attrition: L3 × I2 = 6</a:t>
            </a:r>
            <a:endParaRPr lang="en-US" sz="1500" dirty="0"/>
          </a:p>
          <a:p>
            <a:pPr marL="0" indent="0" algn="l">
              <a:spcBef>
                <a:spcPts val="800"/>
              </a:spcBef>
              <a:spcAft>
                <a:spcPts val="400"/>
              </a:spcAft>
              <a:buNone/>
            </a:pPr>
            <a:r>
              <a:rPr lang="en-US" sz="1500" b="1" dirty="0">
                <a:solidFill>
                  <a:srgbClr val="8C6D0F"/>
                </a:solidFill>
                <a:latin typeface="Calibri" pitchFamily="34" charset="0"/>
                <a:ea typeface="Calibri" pitchFamily="34" charset="-122"/>
                <a:cs typeface="Calibri" pitchFamily="34" charset="-120"/>
              </a:rPr>
              <a:t>Scoring and action</a:t>
            </a:r>
            <a:endParaRPr lang="en-US" sz="1500" dirty="0"/>
          </a:p>
          <a:p>
            <a:pPr marL="0" indent="0" algn="l">
              <a:spcAft>
                <a:spcPts val="600"/>
              </a:spcAft>
              <a:buNone/>
            </a:pPr>
            <a:r>
              <a:rPr lang="en-US" sz="1400" dirty="0">
                <a:solidFill>
                  <a:srgbClr val="1E2533"/>
                </a:solidFill>
                <a:latin typeface="Calibri" pitchFamily="34" charset="0"/>
                <a:ea typeface="Calibri" pitchFamily="34" charset="-122"/>
                <a:cs typeface="Calibri" pitchFamily="34" charset="-120"/>
              </a:rPr>
              <a:t>Score = likelihood (1–5) × impact (1–5). Red (≥ 15): board attention; amber (8–14): management action plan; yellow (4–7): monitor; green (≤ 3): accept.</a:t>
            </a:r>
            <a:endParaRPr lang="en-US" sz="1500" dirty="0"/>
          </a:p>
          <a:p>
            <a:pPr marL="0" indent="0" algn="l">
              <a:buNone/>
            </a:pPr>
            <a:r>
              <a:rPr lang="en-US" sz="1400" i="1" dirty="0">
                <a:solidFill>
                  <a:srgbClr val="1E2533"/>
                </a:solidFill>
                <a:latin typeface="Calibri" pitchFamily="34" charset="0"/>
                <a:ea typeface="Calibri" pitchFamily="34" charset="-122"/>
                <a:cs typeface="Calibri" pitchFamily="34" charset="-120"/>
              </a:rPr>
              <a:t>Inherent vs residual: the cyber risk is inherently 3 × 5 = 15; with MFA, backups and a tested DR site it may fall to 2 × 4 = 8 (residual).</a:t>
            </a:r>
            <a:endParaRPr lang="en-US" sz="1500" dirty="0"/>
          </a:p>
        </p:txBody>
      </p:sp>
      <p:sp>
        <p:nvSpPr>
          <p:cNvPr id="81"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11</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11</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Methods of Managing Risk</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Avoid, reduce, transfer or accept, and the financial tools behind each</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The four treatment options (the "4 Ts")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Choosing a method: frequency–severity matrix</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Financial risk management tools by risk type</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11</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Four Ways to Treat a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2587752" cy="493776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1412748" y="1463040"/>
            <a:ext cx="768096" cy="768096"/>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1597091" y="1647383"/>
            <a:ext cx="399410" cy="399410"/>
          </a:xfrm>
          <a:prstGeom prst="rect">
            <a:avLst/>
          </a:prstGeom>
        </p:spPr>
      </p:pic>
      <p:sp>
        <p:nvSpPr>
          <p:cNvPr id="9" name="Text 6"/>
          <p:cNvSpPr txBox="1"/>
          <p:nvPr/>
        </p:nvSpPr>
        <p:spPr>
          <a:xfrm>
            <a:off x="612648" y="2331720"/>
            <a:ext cx="2368296" cy="502920"/>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Avoid (Terminate)</a:t>
            </a:r>
            <a:endParaRPr lang="en-US" sz="1700" dirty="0"/>
          </a:p>
        </p:txBody>
      </p:sp>
      <p:sp>
        <p:nvSpPr>
          <p:cNvPr id="10" name="Text 7"/>
          <p:cNvSpPr txBox="1"/>
          <p:nvPr/>
        </p:nvSpPr>
        <p:spPr>
          <a:xfrm>
            <a:off x="685800" y="2880360"/>
            <a:ext cx="2221992" cy="1143000"/>
          </a:xfrm>
          <a:prstGeom prst="rect">
            <a:avLst/>
          </a:prstGeom>
          <a:noFill/>
          <a:ln/>
        </p:spPr>
        <p:txBody>
          <a:bodyPr wrap="square" lIns="0" tIns="0" rIns="0" bIns="0" rtlCol="0" anchor="t"/>
          <a:lstStyle/>
          <a:p>
            <a:pPr marL="0" indent="0" algn="ctr">
              <a:buNone/>
            </a:pPr>
            <a:r>
              <a:rPr lang="en-US" sz="1500" dirty="0">
                <a:solidFill>
                  <a:srgbClr val="1E2533"/>
                </a:solidFill>
                <a:latin typeface="Calibri" pitchFamily="34" charset="0"/>
                <a:ea typeface="Calibri" pitchFamily="34" charset="-122"/>
                <a:cs typeface="Calibri" pitchFamily="34" charset="-120"/>
              </a:rPr>
              <a:t>Stop or never start the risky activity.</a:t>
            </a:r>
            <a:endParaRPr lang="en-US" sz="1500" dirty="0"/>
          </a:p>
        </p:txBody>
      </p:sp>
      <p:sp>
        <p:nvSpPr>
          <p:cNvPr id="11" name="Shape 8"/>
          <p:cNvSpPr/>
          <p:nvPr/>
        </p:nvSpPr>
        <p:spPr>
          <a:xfrm>
            <a:off x="640080" y="4069080"/>
            <a:ext cx="2313432" cy="2011680"/>
          </a:xfrm>
          <a:prstGeom prst="roundRect">
            <a:avLst>
              <a:gd name="adj" fmla="val 2727"/>
            </a:avLst>
          </a:prstGeom>
          <a:solidFill>
            <a:srgbClr val="F7F3E8"/>
          </a:solidFill>
          <a:ln w="12700">
            <a:solidFill>
              <a:srgbClr val="F7F3E8"/>
            </a:solidFill>
            <a:prstDash val="solid"/>
          </a:ln>
        </p:spPr>
      </p:sp>
      <p:sp>
        <p:nvSpPr>
          <p:cNvPr id="12" name="Text 9"/>
          <p:cNvSpPr txBox="1"/>
          <p:nvPr/>
        </p:nvSpPr>
        <p:spPr>
          <a:xfrm>
            <a:off x="731520" y="4133088"/>
            <a:ext cx="2130552" cy="1901952"/>
          </a:xfrm>
          <a:prstGeom prst="rect">
            <a:avLst/>
          </a:prstGeom>
          <a:noFill/>
          <a:ln/>
        </p:spPr>
        <p:txBody>
          <a:bodyPr wrap="square" lIns="0" tIns="0" rIns="0" bIns="0" rtlCol="0" anchor="t"/>
          <a:lstStyle/>
          <a:p>
            <a:pPr marL="0" indent="0" algn="l">
              <a:buNone/>
            </a:pPr>
            <a:r>
              <a:rPr lang="en-US" sz="1350" b="1" dirty="0">
                <a:solidFill>
                  <a:srgbClr val="8C6D0F"/>
                </a:solidFill>
                <a:latin typeface="Calibri" pitchFamily="34" charset="0"/>
                <a:ea typeface="Calibri" pitchFamily="34" charset="-122"/>
                <a:cs typeface="Calibri" pitchFamily="34" charset="-120"/>
              </a:rPr>
              <a:t>Examples</a:t>
            </a:r>
            <a:endParaRPr lang="en-US" sz="1350" dirty="0"/>
          </a:p>
          <a:p>
            <a:pPr marL="0" indent="0" algn="l">
              <a:buNone/>
            </a:pPr>
            <a:r>
              <a:rPr lang="en-US" sz="1350" dirty="0">
                <a:solidFill>
                  <a:srgbClr val="1E2533"/>
                </a:solidFill>
                <a:latin typeface="Calibri" pitchFamily="34" charset="0"/>
                <a:ea typeface="Calibri" pitchFamily="34" charset="-122"/>
                <a:cs typeface="Calibri" pitchFamily="34" charset="-120"/>
              </a:rPr>
              <a:t>A bank exits unsecured lending to a sector with rising defaults; a fund refuses to buy unrated paper.</a:t>
            </a:r>
            <a:endParaRPr lang="en-US" sz="1350" dirty="0"/>
          </a:p>
        </p:txBody>
      </p:sp>
      <p:sp>
        <p:nvSpPr>
          <p:cNvPr id="13" name="Shape 10"/>
          <p:cNvSpPr/>
          <p:nvPr/>
        </p:nvSpPr>
        <p:spPr>
          <a:xfrm>
            <a:off x="3337560" y="1280160"/>
            <a:ext cx="2587752" cy="493776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4" name="Shape 11"/>
          <p:cNvSpPr/>
          <p:nvPr/>
        </p:nvSpPr>
        <p:spPr>
          <a:xfrm>
            <a:off x="4247388" y="1463040"/>
            <a:ext cx="768096" cy="768096"/>
          </a:xfrm>
          <a:prstGeom prst="ellipse">
            <a:avLst/>
          </a:prstGeom>
          <a:solidFill>
            <a:srgbClr val="14213D"/>
          </a:solidFill>
          <a:ln w="12700">
            <a:solidFill>
              <a:srgbClr val="14213D"/>
            </a:solidFill>
            <a:prstDash val="solid"/>
          </a:ln>
        </p:spPr>
      </p:sp>
      <p:pic>
        <p:nvPicPr>
          <p:cNvPr id="15" name="Image 1" descr="preencoded.png"/>
          <p:cNvPicPr>
            <a:picLocks noChangeAspect="1"/>
          </p:cNvPicPr>
          <p:nvPr/>
        </p:nvPicPr>
        <p:blipFill>
          <a:blip r:embed="rId4"/>
          <a:stretch>
            <a:fillRect/>
          </a:stretch>
        </p:blipFill>
        <p:spPr>
          <a:xfrm>
            <a:off x="4431731" y="1647383"/>
            <a:ext cx="399410" cy="399410"/>
          </a:xfrm>
          <a:prstGeom prst="rect">
            <a:avLst/>
          </a:prstGeom>
        </p:spPr>
      </p:pic>
      <p:sp>
        <p:nvSpPr>
          <p:cNvPr id="16" name="Text 12"/>
          <p:cNvSpPr txBox="1"/>
          <p:nvPr/>
        </p:nvSpPr>
        <p:spPr>
          <a:xfrm>
            <a:off x="3447288" y="2331720"/>
            <a:ext cx="2368296" cy="502920"/>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Reduce (Treat)</a:t>
            </a:r>
            <a:endParaRPr lang="en-US" sz="1700" dirty="0"/>
          </a:p>
        </p:txBody>
      </p:sp>
      <p:sp>
        <p:nvSpPr>
          <p:cNvPr id="17" name="Text 13"/>
          <p:cNvSpPr txBox="1"/>
          <p:nvPr/>
        </p:nvSpPr>
        <p:spPr>
          <a:xfrm>
            <a:off x="3520440" y="2880360"/>
            <a:ext cx="2221992" cy="1143000"/>
          </a:xfrm>
          <a:prstGeom prst="rect">
            <a:avLst/>
          </a:prstGeom>
          <a:noFill/>
          <a:ln/>
        </p:spPr>
        <p:txBody>
          <a:bodyPr wrap="square" lIns="0" tIns="0" rIns="0" bIns="0" rtlCol="0" anchor="t"/>
          <a:lstStyle/>
          <a:p>
            <a:pPr marL="0" indent="0" algn="ctr">
              <a:buNone/>
            </a:pPr>
            <a:r>
              <a:rPr lang="en-US" sz="1500" dirty="0">
                <a:solidFill>
                  <a:srgbClr val="1E2533"/>
                </a:solidFill>
                <a:latin typeface="Calibri" pitchFamily="34" charset="0"/>
                <a:ea typeface="Calibri" pitchFamily="34" charset="-122"/>
                <a:cs typeface="Calibri" pitchFamily="34" charset="-120"/>
              </a:rPr>
              <a:t>Lower likelihood or impact through controls, limits and diversification.</a:t>
            </a:r>
            <a:endParaRPr lang="en-US" sz="1500" dirty="0"/>
          </a:p>
        </p:txBody>
      </p:sp>
      <p:sp>
        <p:nvSpPr>
          <p:cNvPr id="18" name="Shape 14"/>
          <p:cNvSpPr/>
          <p:nvPr/>
        </p:nvSpPr>
        <p:spPr>
          <a:xfrm>
            <a:off x="3474720" y="4069080"/>
            <a:ext cx="2313432" cy="2011680"/>
          </a:xfrm>
          <a:prstGeom prst="roundRect">
            <a:avLst>
              <a:gd name="adj" fmla="val 2727"/>
            </a:avLst>
          </a:prstGeom>
          <a:solidFill>
            <a:srgbClr val="F7F3E8"/>
          </a:solidFill>
          <a:ln w="12700">
            <a:solidFill>
              <a:srgbClr val="F7F3E8"/>
            </a:solidFill>
            <a:prstDash val="solid"/>
          </a:ln>
        </p:spPr>
      </p:sp>
      <p:sp>
        <p:nvSpPr>
          <p:cNvPr id="19" name="Text 15"/>
          <p:cNvSpPr txBox="1"/>
          <p:nvPr/>
        </p:nvSpPr>
        <p:spPr>
          <a:xfrm>
            <a:off x="3566160" y="4133088"/>
            <a:ext cx="2130552" cy="1901952"/>
          </a:xfrm>
          <a:prstGeom prst="rect">
            <a:avLst/>
          </a:prstGeom>
          <a:noFill/>
          <a:ln/>
        </p:spPr>
        <p:txBody>
          <a:bodyPr wrap="square" lIns="0" tIns="0" rIns="0" bIns="0" rtlCol="0" anchor="t"/>
          <a:lstStyle/>
          <a:p>
            <a:pPr marL="0" indent="0" algn="l">
              <a:buNone/>
            </a:pPr>
            <a:r>
              <a:rPr lang="en-US" sz="1350" b="1" dirty="0">
                <a:solidFill>
                  <a:srgbClr val="8C6D0F"/>
                </a:solidFill>
                <a:latin typeface="Calibri" pitchFamily="34" charset="0"/>
                <a:ea typeface="Calibri" pitchFamily="34" charset="-122"/>
                <a:cs typeface="Calibri" pitchFamily="34" charset="-120"/>
              </a:rPr>
              <a:t>Examples</a:t>
            </a:r>
            <a:endParaRPr lang="en-US" sz="1350" dirty="0"/>
          </a:p>
          <a:p>
            <a:pPr marL="0" indent="0" algn="l">
              <a:buNone/>
            </a:pPr>
            <a:r>
              <a:rPr lang="en-US" sz="1350" dirty="0">
                <a:solidFill>
                  <a:srgbClr val="1E2533"/>
                </a:solidFill>
                <a:latin typeface="Calibri" pitchFamily="34" charset="0"/>
                <a:ea typeface="Calibri" pitchFamily="34" charset="-122"/>
                <a:cs typeface="Calibri" pitchFamily="34" charset="-120"/>
              </a:rPr>
              <a:t>Exposure caps per borrower; collateral and covenants; maker-checker controls; diversifying a stock portfolio.</a:t>
            </a:r>
            <a:endParaRPr lang="en-US" sz="1350" dirty="0"/>
          </a:p>
        </p:txBody>
      </p:sp>
      <p:sp>
        <p:nvSpPr>
          <p:cNvPr id="20" name="Shape 16"/>
          <p:cNvSpPr/>
          <p:nvPr/>
        </p:nvSpPr>
        <p:spPr>
          <a:xfrm>
            <a:off x="6172200" y="1280160"/>
            <a:ext cx="2587752" cy="493776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1" name="Shape 17"/>
          <p:cNvSpPr/>
          <p:nvPr/>
        </p:nvSpPr>
        <p:spPr>
          <a:xfrm>
            <a:off x="7082028" y="1463040"/>
            <a:ext cx="768096" cy="768096"/>
          </a:xfrm>
          <a:prstGeom prst="ellipse">
            <a:avLst/>
          </a:prstGeom>
          <a:solidFill>
            <a:srgbClr val="14213D"/>
          </a:solidFill>
          <a:ln w="12700">
            <a:solidFill>
              <a:srgbClr val="14213D"/>
            </a:solidFill>
            <a:prstDash val="solid"/>
          </a:ln>
        </p:spPr>
      </p:sp>
      <p:pic>
        <p:nvPicPr>
          <p:cNvPr id="22" name="Image 2" descr="preencoded.png"/>
          <p:cNvPicPr>
            <a:picLocks noChangeAspect="1"/>
          </p:cNvPicPr>
          <p:nvPr/>
        </p:nvPicPr>
        <p:blipFill>
          <a:blip r:embed="rId5"/>
          <a:stretch>
            <a:fillRect/>
          </a:stretch>
        </p:blipFill>
        <p:spPr>
          <a:xfrm>
            <a:off x="7266371" y="1647383"/>
            <a:ext cx="399410" cy="399410"/>
          </a:xfrm>
          <a:prstGeom prst="rect">
            <a:avLst/>
          </a:prstGeom>
        </p:spPr>
      </p:pic>
      <p:sp>
        <p:nvSpPr>
          <p:cNvPr id="23" name="Text 18"/>
          <p:cNvSpPr txBox="1"/>
          <p:nvPr/>
        </p:nvSpPr>
        <p:spPr>
          <a:xfrm>
            <a:off x="6281928" y="2331720"/>
            <a:ext cx="2368296" cy="502920"/>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Transfer (Share)</a:t>
            </a:r>
            <a:endParaRPr lang="en-US" sz="1700" dirty="0"/>
          </a:p>
        </p:txBody>
      </p:sp>
      <p:sp>
        <p:nvSpPr>
          <p:cNvPr id="24" name="Text 19"/>
          <p:cNvSpPr txBox="1"/>
          <p:nvPr/>
        </p:nvSpPr>
        <p:spPr>
          <a:xfrm>
            <a:off x="6355080" y="2880360"/>
            <a:ext cx="2221992" cy="1143000"/>
          </a:xfrm>
          <a:prstGeom prst="rect">
            <a:avLst/>
          </a:prstGeom>
          <a:noFill/>
          <a:ln/>
        </p:spPr>
        <p:txBody>
          <a:bodyPr wrap="square" lIns="0" tIns="0" rIns="0" bIns="0" rtlCol="0" anchor="t"/>
          <a:lstStyle/>
          <a:p>
            <a:pPr marL="0" indent="0" algn="ctr">
              <a:buNone/>
            </a:pPr>
            <a:r>
              <a:rPr lang="en-US" sz="1500" dirty="0">
                <a:solidFill>
                  <a:srgbClr val="1E2533"/>
                </a:solidFill>
                <a:latin typeface="Calibri" pitchFamily="34" charset="0"/>
                <a:ea typeface="Calibri" pitchFamily="34" charset="-122"/>
                <a:cs typeface="Calibri" pitchFamily="34" charset="-120"/>
              </a:rPr>
              <a:t>Shift the financial consequence to another party for a price.</a:t>
            </a:r>
            <a:endParaRPr lang="en-US" sz="1500" dirty="0"/>
          </a:p>
        </p:txBody>
      </p:sp>
      <p:sp>
        <p:nvSpPr>
          <p:cNvPr id="25" name="Shape 20"/>
          <p:cNvSpPr/>
          <p:nvPr/>
        </p:nvSpPr>
        <p:spPr>
          <a:xfrm>
            <a:off x="6309360" y="4069080"/>
            <a:ext cx="2313432" cy="2011680"/>
          </a:xfrm>
          <a:prstGeom prst="roundRect">
            <a:avLst>
              <a:gd name="adj" fmla="val 2727"/>
            </a:avLst>
          </a:prstGeom>
          <a:solidFill>
            <a:srgbClr val="F7F3E8"/>
          </a:solidFill>
          <a:ln w="12700">
            <a:solidFill>
              <a:srgbClr val="F7F3E8"/>
            </a:solidFill>
            <a:prstDash val="solid"/>
          </a:ln>
        </p:spPr>
      </p:sp>
      <p:sp>
        <p:nvSpPr>
          <p:cNvPr id="26" name="Text 21"/>
          <p:cNvSpPr txBox="1"/>
          <p:nvPr/>
        </p:nvSpPr>
        <p:spPr>
          <a:xfrm>
            <a:off x="6400800" y="4133088"/>
            <a:ext cx="2130552" cy="1901952"/>
          </a:xfrm>
          <a:prstGeom prst="rect">
            <a:avLst/>
          </a:prstGeom>
          <a:noFill/>
          <a:ln/>
        </p:spPr>
        <p:txBody>
          <a:bodyPr wrap="square" lIns="0" tIns="0" rIns="0" bIns="0" rtlCol="0" anchor="t"/>
          <a:lstStyle/>
          <a:p>
            <a:pPr marL="0" indent="0" algn="l">
              <a:buNone/>
            </a:pPr>
            <a:r>
              <a:rPr lang="en-US" sz="1350" b="1" dirty="0">
                <a:solidFill>
                  <a:srgbClr val="8C6D0F"/>
                </a:solidFill>
                <a:latin typeface="Calibri" pitchFamily="34" charset="0"/>
                <a:ea typeface="Calibri" pitchFamily="34" charset="-122"/>
                <a:cs typeface="Calibri" pitchFamily="34" charset="-120"/>
              </a:rPr>
              <a:t>Examples</a:t>
            </a:r>
            <a:endParaRPr lang="en-US" sz="1350" dirty="0"/>
          </a:p>
          <a:p>
            <a:pPr marL="0" indent="0" algn="l">
              <a:buNone/>
            </a:pPr>
            <a:r>
              <a:rPr lang="en-US" sz="1350" dirty="0">
                <a:solidFill>
                  <a:srgbClr val="1E2533"/>
                </a:solidFill>
                <a:latin typeface="Calibri" pitchFamily="34" charset="0"/>
                <a:ea typeface="Calibri" pitchFamily="34" charset="-122"/>
                <a:cs typeface="Calibri" pitchFamily="34" charset="-120"/>
              </a:rPr>
              <a:t>Insurance; reinsurance; hedging with futures, forwards, options and swaps; securitisation; co-lending.</a:t>
            </a:r>
            <a:endParaRPr lang="en-US" sz="1350" dirty="0"/>
          </a:p>
        </p:txBody>
      </p:sp>
      <p:sp>
        <p:nvSpPr>
          <p:cNvPr id="27" name="Shape 22"/>
          <p:cNvSpPr/>
          <p:nvPr/>
        </p:nvSpPr>
        <p:spPr>
          <a:xfrm>
            <a:off x="9006840" y="1280160"/>
            <a:ext cx="2587752" cy="4937760"/>
          </a:xfrm>
          <a:prstGeom prst="roundRect">
            <a:avLst>
              <a:gd name="adj" fmla="val 282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8" name="Shape 23"/>
          <p:cNvSpPr/>
          <p:nvPr/>
        </p:nvSpPr>
        <p:spPr>
          <a:xfrm>
            <a:off x="9916668" y="1463040"/>
            <a:ext cx="768096" cy="768096"/>
          </a:xfrm>
          <a:prstGeom prst="ellipse">
            <a:avLst/>
          </a:prstGeom>
          <a:solidFill>
            <a:srgbClr val="14213D"/>
          </a:solidFill>
          <a:ln w="12700">
            <a:solidFill>
              <a:srgbClr val="14213D"/>
            </a:solidFill>
            <a:prstDash val="solid"/>
          </a:ln>
        </p:spPr>
      </p:sp>
      <p:pic>
        <p:nvPicPr>
          <p:cNvPr id="29" name="Image 3" descr="preencoded.png"/>
          <p:cNvPicPr>
            <a:picLocks noChangeAspect="1"/>
          </p:cNvPicPr>
          <p:nvPr/>
        </p:nvPicPr>
        <p:blipFill>
          <a:blip r:embed="rId6"/>
          <a:stretch>
            <a:fillRect/>
          </a:stretch>
        </p:blipFill>
        <p:spPr>
          <a:xfrm>
            <a:off x="10101011" y="1647383"/>
            <a:ext cx="399410" cy="399410"/>
          </a:xfrm>
          <a:prstGeom prst="rect">
            <a:avLst/>
          </a:prstGeom>
        </p:spPr>
      </p:pic>
      <p:sp>
        <p:nvSpPr>
          <p:cNvPr id="30" name="Text 24"/>
          <p:cNvSpPr txBox="1"/>
          <p:nvPr/>
        </p:nvSpPr>
        <p:spPr>
          <a:xfrm>
            <a:off x="9116568" y="2331720"/>
            <a:ext cx="2368296" cy="502920"/>
          </a:xfrm>
          <a:prstGeom prst="rect">
            <a:avLst/>
          </a:prstGeom>
          <a:noFill/>
          <a:ln/>
        </p:spPr>
        <p:txBody>
          <a:bodyPr wrap="square" lIns="0" tIns="0" rIns="0" bIns="0" rtlCol="0" anchor="ctr"/>
          <a:lstStyle/>
          <a:p>
            <a:pPr marL="0" indent="0" algn="ctr">
              <a:buNone/>
            </a:pPr>
            <a:r>
              <a:rPr lang="en-US" sz="1700" b="1" dirty="0">
                <a:solidFill>
                  <a:srgbClr val="14213D"/>
                </a:solidFill>
                <a:latin typeface="Cambria" pitchFamily="34" charset="0"/>
                <a:ea typeface="Cambria" pitchFamily="34" charset="-122"/>
                <a:cs typeface="Cambria" pitchFamily="34" charset="-120"/>
              </a:rPr>
              <a:t>Accept (Tolerate)</a:t>
            </a:r>
            <a:endParaRPr lang="en-US" sz="1700" dirty="0"/>
          </a:p>
        </p:txBody>
      </p:sp>
      <p:sp>
        <p:nvSpPr>
          <p:cNvPr id="31" name="Text 25"/>
          <p:cNvSpPr txBox="1"/>
          <p:nvPr/>
        </p:nvSpPr>
        <p:spPr>
          <a:xfrm>
            <a:off x="9189720" y="2880360"/>
            <a:ext cx="2221992" cy="1143000"/>
          </a:xfrm>
          <a:prstGeom prst="rect">
            <a:avLst/>
          </a:prstGeom>
          <a:noFill/>
          <a:ln/>
        </p:spPr>
        <p:txBody>
          <a:bodyPr wrap="square" lIns="0" tIns="0" rIns="0" bIns="0" rtlCol="0" anchor="t"/>
          <a:lstStyle/>
          <a:p>
            <a:pPr marL="0" indent="0" algn="ctr">
              <a:buNone/>
            </a:pPr>
            <a:r>
              <a:rPr lang="en-US" sz="1500" dirty="0">
                <a:solidFill>
                  <a:srgbClr val="1E2533"/>
                </a:solidFill>
                <a:latin typeface="Calibri" pitchFamily="34" charset="0"/>
                <a:ea typeface="Calibri" pitchFamily="34" charset="-122"/>
                <a:cs typeface="Calibri" pitchFamily="34" charset="-120"/>
              </a:rPr>
              <a:t>Retain the risk knowingly when it is within appetite or too costly to treat.</a:t>
            </a:r>
            <a:endParaRPr lang="en-US" sz="1500" dirty="0"/>
          </a:p>
        </p:txBody>
      </p:sp>
      <p:sp>
        <p:nvSpPr>
          <p:cNvPr id="32" name="Shape 26"/>
          <p:cNvSpPr/>
          <p:nvPr/>
        </p:nvSpPr>
        <p:spPr>
          <a:xfrm>
            <a:off x="9144000" y="4069080"/>
            <a:ext cx="2313432" cy="2011680"/>
          </a:xfrm>
          <a:prstGeom prst="roundRect">
            <a:avLst>
              <a:gd name="adj" fmla="val 2727"/>
            </a:avLst>
          </a:prstGeom>
          <a:solidFill>
            <a:srgbClr val="F7F3E8"/>
          </a:solidFill>
          <a:ln w="12700">
            <a:solidFill>
              <a:srgbClr val="F7F3E8"/>
            </a:solidFill>
            <a:prstDash val="solid"/>
          </a:ln>
        </p:spPr>
      </p:sp>
      <p:sp>
        <p:nvSpPr>
          <p:cNvPr id="33" name="Text 27"/>
          <p:cNvSpPr txBox="1"/>
          <p:nvPr/>
        </p:nvSpPr>
        <p:spPr>
          <a:xfrm>
            <a:off x="9235440" y="4133088"/>
            <a:ext cx="2130552" cy="1901952"/>
          </a:xfrm>
          <a:prstGeom prst="rect">
            <a:avLst/>
          </a:prstGeom>
          <a:noFill/>
          <a:ln/>
        </p:spPr>
        <p:txBody>
          <a:bodyPr wrap="square" lIns="0" tIns="0" rIns="0" bIns="0" rtlCol="0" anchor="t"/>
          <a:lstStyle/>
          <a:p>
            <a:pPr marL="0" indent="0" algn="l">
              <a:buNone/>
            </a:pPr>
            <a:r>
              <a:rPr lang="en-US" sz="1350" b="1" dirty="0">
                <a:solidFill>
                  <a:srgbClr val="8C6D0F"/>
                </a:solidFill>
                <a:latin typeface="Calibri" pitchFamily="34" charset="0"/>
                <a:ea typeface="Calibri" pitchFamily="34" charset="-122"/>
                <a:cs typeface="Calibri" pitchFamily="34" charset="-120"/>
              </a:rPr>
              <a:t>Examples</a:t>
            </a:r>
            <a:endParaRPr lang="en-US" sz="1350" dirty="0"/>
          </a:p>
          <a:p>
            <a:pPr marL="0" indent="0" algn="l">
              <a:buNone/>
            </a:pPr>
            <a:r>
              <a:rPr lang="en-US" sz="1350" dirty="0">
                <a:solidFill>
                  <a:srgbClr val="1E2533"/>
                </a:solidFill>
                <a:latin typeface="Calibri" pitchFamily="34" charset="0"/>
                <a:ea typeface="Calibri" pitchFamily="34" charset="-122"/>
                <a:cs typeface="Calibri" pitchFamily="34" charset="-120"/>
              </a:rPr>
              <a:t>Self-insuring small losses; holding a capital buffer; accepting minor FX exposure on small import bills.</a:t>
            </a:r>
            <a:endParaRPr lang="en-US" sz="1350" dirty="0"/>
          </a:p>
        </p:txBody>
      </p:sp>
      <p:sp>
        <p:nvSpPr>
          <p:cNvPr id="34"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11</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Choosing the Method: Frequency–Severity Matrix</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234440" y="1325880"/>
            <a:ext cx="2651760" cy="2286000"/>
          </a:xfrm>
          <a:prstGeom prst="roundRect">
            <a:avLst>
              <a:gd name="adj" fmla="val 2400"/>
            </a:avLst>
          </a:prstGeom>
          <a:solidFill>
            <a:srgbClr val="B7790A"/>
          </a:solidFill>
          <a:ln w="12700">
            <a:solidFill>
              <a:srgbClr val="B7790A"/>
            </a:solidFill>
            <a:prstDash val="solid"/>
          </a:ln>
        </p:spPr>
      </p:sp>
      <p:sp>
        <p:nvSpPr>
          <p:cNvPr id="7" name="Text 5"/>
          <p:cNvSpPr txBox="1"/>
          <p:nvPr/>
        </p:nvSpPr>
        <p:spPr>
          <a:xfrm>
            <a:off x="1371600" y="1435608"/>
            <a:ext cx="2377440" cy="411480"/>
          </a:xfrm>
          <a:prstGeom prst="rect">
            <a:avLst/>
          </a:prstGeom>
          <a:noFill/>
          <a:ln/>
        </p:spPr>
        <p:txBody>
          <a:bodyPr wrap="square" lIns="0" tIns="0" rIns="0" bIns="0" rtlCol="0" anchor="t"/>
          <a:lstStyle/>
          <a:p>
            <a:pPr marL="0" indent="0" algn="l">
              <a:buNone/>
            </a:pPr>
            <a:r>
              <a:rPr lang="en-US" sz="1900" b="1" dirty="0">
                <a:solidFill>
                  <a:srgbClr val="FFFFFF"/>
                </a:solidFill>
                <a:latin typeface="Cambria" pitchFamily="34" charset="0"/>
                <a:ea typeface="Cambria" pitchFamily="34" charset="-122"/>
                <a:cs typeface="Cambria" pitchFamily="34" charset="-120"/>
              </a:rPr>
              <a:t>TRANSFER</a:t>
            </a:r>
            <a:endParaRPr lang="en-US" sz="1900" dirty="0"/>
          </a:p>
        </p:txBody>
      </p:sp>
      <p:sp>
        <p:nvSpPr>
          <p:cNvPr id="8" name="Text 6"/>
          <p:cNvSpPr txBox="1"/>
          <p:nvPr/>
        </p:nvSpPr>
        <p:spPr>
          <a:xfrm>
            <a:off x="1371600" y="1856232"/>
            <a:ext cx="2377440" cy="45720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Low frequency, high severity</a:t>
            </a:r>
            <a:endParaRPr lang="en-US" sz="1250" dirty="0"/>
          </a:p>
        </p:txBody>
      </p:sp>
      <p:sp>
        <p:nvSpPr>
          <p:cNvPr id="9" name="Text 7"/>
          <p:cNvSpPr txBox="1"/>
          <p:nvPr/>
        </p:nvSpPr>
        <p:spPr>
          <a:xfrm>
            <a:off x="1371600" y="2331720"/>
            <a:ext cx="2377440" cy="118872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Insure or hedge: fire, earthquake, large FX exposure, catastrophic cyber event.</a:t>
            </a:r>
            <a:endParaRPr lang="en-US" sz="1300" dirty="0"/>
          </a:p>
        </p:txBody>
      </p:sp>
      <p:sp>
        <p:nvSpPr>
          <p:cNvPr id="10" name="Shape 8"/>
          <p:cNvSpPr/>
          <p:nvPr/>
        </p:nvSpPr>
        <p:spPr>
          <a:xfrm>
            <a:off x="3977640" y="1325880"/>
            <a:ext cx="2651760" cy="2286000"/>
          </a:xfrm>
          <a:prstGeom prst="roundRect">
            <a:avLst>
              <a:gd name="adj" fmla="val 2400"/>
            </a:avLst>
          </a:prstGeom>
          <a:solidFill>
            <a:srgbClr val="A63232"/>
          </a:solidFill>
          <a:ln w="12700">
            <a:solidFill>
              <a:srgbClr val="A63232"/>
            </a:solidFill>
            <a:prstDash val="solid"/>
          </a:ln>
        </p:spPr>
      </p:sp>
      <p:sp>
        <p:nvSpPr>
          <p:cNvPr id="11" name="Text 9"/>
          <p:cNvSpPr txBox="1"/>
          <p:nvPr/>
        </p:nvSpPr>
        <p:spPr>
          <a:xfrm>
            <a:off x="4114800" y="1435608"/>
            <a:ext cx="2377440" cy="411480"/>
          </a:xfrm>
          <a:prstGeom prst="rect">
            <a:avLst/>
          </a:prstGeom>
          <a:noFill/>
          <a:ln/>
        </p:spPr>
        <p:txBody>
          <a:bodyPr wrap="square" lIns="0" tIns="0" rIns="0" bIns="0" rtlCol="0" anchor="t"/>
          <a:lstStyle/>
          <a:p>
            <a:pPr marL="0" indent="0" algn="l">
              <a:buNone/>
            </a:pPr>
            <a:r>
              <a:rPr lang="en-US" sz="1900" b="1" dirty="0">
                <a:solidFill>
                  <a:srgbClr val="FFFFFF"/>
                </a:solidFill>
                <a:latin typeface="Cambria" pitchFamily="34" charset="0"/>
                <a:ea typeface="Cambria" pitchFamily="34" charset="-122"/>
                <a:cs typeface="Cambria" pitchFamily="34" charset="-120"/>
              </a:rPr>
              <a:t>AVOID</a:t>
            </a:r>
            <a:endParaRPr lang="en-US" sz="1900" dirty="0"/>
          </a:p>
        </p:txBody>
      </p:sp>
      <p:sp>
        <p:nvSpPr>
          <p:cNvPr id="12" name="Text 10"/>
          <p:cNvSpPr txBox="1"/>
          <p:nvPr/>
        </p:nvSpPr>
        <p:spPr>
          <a:xfrm>
            <a:off x="4114800" y="1856232"/>
            <a:ext cx="2377440" cy="45720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High frequency, high severity</a:t>
            </a:r>
            <a:endParaRPr lang="en-US" sz="1250" dirty="0"/>
          </a:p>
        </p:txBody>
      </p:sp>
      <p:sp>
        <p:nvSpPr>
          <p:cNvPr id="13" name="Text 11"/>
          <p:cNvSpPr txBox="1"/>
          <p:nvPr/>
        </p:nvSpPr>
        <p:spPr>
          <a:xfrm>
            <a:off x="4114800" y="2331720"/>
            <a:ext cx="2377440" cy="118872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Exit or redesign the activity: a product line with chronic fraud losses.</a:t>
            </a:r>
            <a:endParaRPr lang="en-US" sz="1300" dirty="0"/>
          </a:p>
        </p:txBody>
      </p:sp>
      <p:sp>
        <p:nvSpPr>
          <p:cNvPr id="14" name="Shape 12"/>
          <p:cNvSpPr/>
          <p:nvPr/>
        </p:nvSpPr>
        <p:spPr>
          <a:xfrm>
            <a:off x="1234440" y="3703320"/>
            <a:ext cx="2651760" cy="2286000"/>
          </a:xfrm>
          <a:prstGeom prst="roundRect">
            <a:avLst>
              <a:gd name="adj" fmla="val 2400"/>
            </a:avLst>
          </a:prstGeom>
          <a:solidFill>
            <a:srgbClr val="2E7D4F"/>
          </a:solidFill>
          <a:ln w="12700">
            <a:solidFill>
              <a:srgbClr val="2E7D4F"/>
            </a:solidFill>
            <a:prstDash val="solid"/>
          </a:ln>
        </p:spPr>
      </p:sp>
      <p:sp>
        <p:nvSpPr>
          <p:cNvPr id="15" name="Text 13"/>
          <p:cNvSpPr txBox="1"/>
          <p:nvPr/>
        </p:nvSpPr>
        <p:spPr>
          <a:xfrm>
            <a:off x="1371600" y="3813048"/>
            <a:ext cx="2377440" cy="411480"/>
          </a:xfrm>
          <a:prstGeom prst="rect">
            <a:avLst/>
          </a:prstGeom>
          <a:noFill/>
          <a:ln/>
        </p:spPr>
        <p:txBody>
          <a:bodyPr wrap="square" lIns="0" tIns="0" rIns="0" bIns="0" rtlCol="0" anchor="t"/>
          <a:lstStyle/>
          <a:p>
            <a:pPr marL="0" indent="0" algn="l">
              <a:buNone/>
            </a:pPr>
            <a:r>
              <a:rPr lang="en-US" sz="1900" b="1" dirty="0">
                <a:solidFill>
                  <a:srgbClr val="FFFFFF"/>
                </a:solidFill>
                <a:latin typeface="Cambria" pitchFamily="34" charset="0"/>
                <a:ea typeface="Cambria" pitchFamily="34" charset="-122"/>
                <a:cs typeface="Cambria" pitchFamily="34" charset="-120"/>
              </a:rPr>
              <a:t>ACCEPT</a:t>
            </a:r>
            <a:endParaRPr lang="en-US" sz="1900" dirty="0"/>
          </a:p>
        </p:txBody>
      </p:sp>
      <p:sp>
        <p:nvSpPr>
          <p:cNvPr id="16" name="Text 14"/>
          <p:cNvSpPr txBox="1"/>
          <p:nvPr/>
        </p:nvSpPr>
        <p:spPr>
          <a:xfrm>
            <a:off x="1371600" y="4233672"/>
            <a:ext cx="2377440" cy="45720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Low frequency, low severity</a:t>
            </a:r>
            <a:endParaRPr lang="en-US" sz="1250" dirty="0"/>
          </a:p>
        </p:txBody>
      </p:sp>
      <p:sp>
        <p:nvSpPr>
          <p:cNvPr id="17" name="Text 15"/>
          <p:cNvSpPr txBox="1"/>
          <p:nvPr/>
        </p:nvSpPr>
        <p:spPr>
          <a:xfrm>
            <a:off x="1371600" y="4709160"/>
            <a:ext cx="2377440" cy="118872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Retain and absorb in the budget: petty cash errors, minor breakages.</a:t>
            </a:r>
            <a:endParaRPr lang="en-US" sz="1300" dirty="0"/>
          </a:p>
        </p:txBody>
      </p:sp>
      <p:sp>
        <p:nvSpPr>
          <p:cNvPr id="18" name="Shape 16"/>
          <p:cNvSpPr/>
          <p:nvPr/>
        </p:nvSpPr>
        <p:spPr>
          <a:xfrm>
            <a:off x="3977640" y="3703320"/>
            <a:ext cx="2651760" cy="2286000"/>
          </a:xfrm>
          <a:prstGeom prst="roundRect">
            <a:avLst>
              <a:gd name="adj" fmla="val 2400"/>
            </a:avLst>
          </a:prstGeom>
          <a:solidFill>
            <a:srgbClr val="8C6D0F"/>
          </a:solidFill>
          <a:ln w="12700">
            <a:solidFill>
              <a:srgbClr val="8C6D0F"/>
            </a:solidFill>
            <a:prstDash val="solid"/>
          </a:ln>
        </p:spPr>
      </p:sp>
      <p:sp>
        <p:nvSpPr>
          <p:cNvPr id="19" name="Text 17"/>
          <p:cNvSpPr txBox="1"/>
          <p:nvPr/>
        </p:nvSpPr>
        <p:spPr>
          <a:xfrm>
            <a:off x="4114800" y="3813048"/>
            <a:ext cx="2377440" cy="411480"/>
          </a:xfrm>
          <a:prstGeom prst="rect">
            <a:avLst/>
          </a:prstGeom>
          <a:noFill/>
          <a:ln/>
        </p:spPr>
        <p:txBody>
          <a:bodyPr wrap="square" lIns="0" tIns="0" rIns="0" bIns="0" rtlCol="0" anchor="t"/>
          <a:lstStyle/>
          <a:p>
            <a:pPr marL="0" indent="0" algn="l">
              <a:buNone/>
            </a:pPr>
            <a:r>
              <a:rPr lang="en-US" sz="1900" b="1" dirty="0">
                <a:solidFill>
                  <a:srgbClr val="FFFFFF"/>
                </a:solidFill>
                <a:latin typeface="Cambria" pitchFamily="34" charset="0"/>
                <a:ea typeface="Cambria" pitchFamily="34" charset="-122"/>
                <a:cs typeface="Cambria" pitchFamily="34" charset="-120"/>
              </a:rPr>
              <a:t>REDUCE</a:t>
            </a:r>
            <a:endParaRPr lang="en-US" sz="1900" dirty="0"/>
          </a:p>
        </p:txBody>
      </p:sp>
      <p:sp>
        <p:nvSpPr>
          <p:cNvPr id="20" name="Text 18"/>
          <p:cNvSpPr txBox="1"/>
          <p:nvPr/>
        </p:nvSpPr>
        <p:spPr>
          <a:xfrm>
            <a:off x="4114800" y="4233672"/>
            <a:ext cx="2377440" cy="457200"/>
          </a:xfrm>
          <a:prstGeom prst="rect">
            <a:avLst/>
          </a:prstGeom>
          <a:noFill/>
          <a:ln/>
        </p:spPr>
        <p:txBody>
          <a:bodyPr wrap="square" lIns="0" tIns="0" rIns="0" bIns="0" rtlCol="0" anchor="t"/>
          <a:lstStyle/>
          <a:p>
            <a:pPr marL="0" indent="0" algn="l">
              <a:buNone/>
            </a:pPr>
            <a:r>
              <a:rPr lang="en-US" sz="1250" b="1" dirty="0">
                <a:solidFill>
                  <a:srgbClr val="FFFFFF"/>
                </a:solidFill>
                <a:latin typeface="Calibri" pitchFamily="34" charset="0"/>
                <a:ea typeface="Calibri" pitchFamily="34" charset="-122"/>
                <a:cs typeface="Calibri" pitchFamily="34" charset="-120"/>
              </a:rPr>
              <a:t>High frequency, low severity</a:t>
            </a:r>
            <a:endParaRPr lang="en-US" sz="1250" dirty="0"/>
          </a:p>
        </p:txBody>
      </p:sp>
      <p:sp>
        <p:nvSpPr>
          <p:cNvPr id="21" name="Text 19"/>
          <p:cNvSpPr txBox="1"/>
          <p:nvPr/>
        </p:nvSpPr>
        <p:spPr>
          <a:xfrm>
            <a:off x="4114800" y="4709160"/>
            <a:ext cx="2377440" cy="1188720"/>
          </a:xfrm>
          <a:prstGeom prst="rect">
            <a:avLst/>
          </a:prstGeom>
          <a:noFill/>
          <a:ln/>
        </p:spPr>
        <p:txBody>
          <a:bodyPr wrap="square" lIns="0" tIns="0" rIns="0" bIns="0"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Control and automate: data-entry errors, small card frauds, ATM cash-outs.</a:t>
            </a:r>
            <a:endParaRPr lang="en-US" sz="1300" dirty="0"/>
          </a:p>
        </p:txBody>
      </p:sp>
      <p:sp>
        <p:nvSpPr>
          <p:cNvPr id="22" name="Text 20"/>
          <p:cNvSpPr txBox="1"/>
          <p:nvPr/>
        </p:nvSpPr>
        <p:spPr>
          <a:xfrm>
            <a:off x="228600" y="3108960"/>
            <a:ext cx="914400" cy="36576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Severity ↑</a:t>
            </a:r>
            <a:endParaRPr lang="en-US" sz="1200" dirty="0"/>
          </a:p>
        </p:txBody>
      </p:sp>
      <p:sp>
        <p:nvSpPr>
          <p:cNvPr id="23" name="Text 21"/>
          <p:cNvSpPr txBox="1"/>
          <p:nvPr/>
        </p:nvSpPr>
        <p:spPr>
          <a:xfrm>
            <a:off x="1234440" y="6035040"/>
            <a:ext cx="5394960" cy="274320"/>
          </a:xfrm>
          <a:prstGeom prst="rect">
            <a:avLst/>
          </a:prstGeom>
          <a:noFill/>
          <a:ln/>
        </p:spPr>
        <p:txBody>
          <a:bodyPr wrap="square" lIns="0" tIns="0" rIns="0" bIns="0" rtlCol="0" anchor="t"/>
          <a:lstStyle/>
          <a:p>
            <a:pPr marL="0" indent="0" algn="ctr">
              <a:buNone/>
            </a:pPr>
            <a:r>
              <a:rPr lang="en-US" sz="1200" b="1" dirty="0">
                <a:solidFill>
                  <a:srgbClr val="14213D"/>
                </a:solidFill>
                <a:latin typeface="Calibri" pitchFamily="34" charset="0"/>
                <a:ea typeface="Calibri" pitchFamily="34" charset="-122"/>
                <a:cs typeface="Calibri" pitchFamily="34" charset="-120"/>
              </a:rPr>
              <a:t>Frequency →</a:t>
            </a:r>
            <a:endParaRPr lang="en-US" sz="1200" dirty="0"/>
          </a:p>
        </p:txBody>
      </p:sp>
      <p:sp>
        <p:nvSpPr>
          <p:cNvPr id="24" name="Shape 22"/>
          <p:cNvSpPr/>
          <p:nvPr/>
        </p:nvSpPr>
        <p:spPr>
          <a:xfrm>
            <a:off x="6949440" y="1325880"/>
            <a:ext cx="4736592" cy="4709160"/>
          </a:xfrm>
          <a:prstGeom prst="roundRect">
            <a:avLst>
              <a:gd name="adj" fmla="val 155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5" name="Text 23"/>
          <p:cNvSpPr txBox="1"/>
          <p:nvPr/>
        </p:nvSpPr>
        <p:spPr>
          <a:xfrm>
            <a:off x="7132320" y="1463040"/>
            <a:ext cx="4389120" cy="4480560"/>
          </a:xfrm>
          <a:prstGeom prst="rect">
            <a:avLst/>
          </a:prstGeom>
          <a:noFill/>
          <a:ln/>
        </p:spPr>
        <p:txBody>
          <a:bodyPr wrap="square" lIns="0" tIns="0" rIns="0" bIns="0" rtlCol="0" anchor="t"/>
          <a:lstStyle/>
          <a:p>
            <a:pPr marL="0" indent="0" algn="l">
              <a:spcAft>
                <a:spcPts val="600"/>
              </a:spcAft>
              <a:buNone/>
            </a:pPr>
            <a:r>
              <a:rPr lang="en-US" sz="1600" b="1" dirty="0">
                <a:solidFill>
                  <a:srgbClr val="8C6D0F"/>
                </a:solidFill>
                <a:latin typeface="Calibri" pitchFamily="34" charset="0"/>
                <a:ea typeface="Calibri" pitchFamily="34" charset="-122"/>
                <a:cs typeface="Calibri" pitchFamily="34" charset="-120"/>
              </a:rPr>
              <a:t>How to use it</a:t>
            </a:r>
            <a:endParaRPr lang="en-US" sz="1600" dirty="0"/>
          </a:p>
          <a:p>
            <a:pPr marL="177800" indent="-177800" algn="l">
              <a:spcAft>
                <a:spcPts val="900"/>
              </a:spcAft>
              <a:buSzPct val="100000"/>
              <a:buChar char="•"/>
            </a:pPr>
            <a:r>
              <a:rPr lang="en-US" sz="1500" dirty="0">
                <a:solidFill>
                  <a:srgbClr val="1E2533"/>
                </a:solidFill>
                <a:latin typeface="Calibri" pitchFamily="34" charset="0"/>
                <a:ea typeface="Calibri" pitchFamily="34" charset="-122"/>
                <a:cs typeface="Calibri" pitchFamily="34" charset="-120"/>
              </a:rPr>
              <a:t>Plot each risk by expected frequency and severity.</a:t>
            </a:r>
            <a:endParaRPr lang="en-US" sz="1600" dirty="0"/>
          </a:p>
          <a:p>
            <a:pPr marL="177800" indent="-177800" algn="l">
              <a:spcAft>
                <a:spcPts val="900"/>
              </a:spcAft>
              <a:buSzPct val="100000"/>
              <a:buChar char="•"/>
            </a:pPr>
            <a:r>
              <a:rPr lang="en-US" sz="1500" dirty="0">
                <a:solidFill>
                  <a:srgbClr val="1E2533"/>
                </a:solidFill>
                <a:latin typeface="Calibri" pitchFamily="34" charset="0"/>
                <a:ea typeface="Calibri" pitchFamily="34" charset="-122"/>
                <a:cs typeface="Calibri" pitchFamily="34" charset="-120"/>
              </a:rPr>
              <a:t>Pick the default treatment for its quadrant.</a:t>
            </a:r>
            <a:endParaRPr lang="en-US" sz="1600" dirty="0"/>
          </a:p>
          <a:p>
            <a:pPr marL="177800" indent="-177800" algn="l">
              <a:spcAft>
                <a:spcPts val="900"/>
              </a:spcAft>
              <a:buSzPct val="100000"/>
              <a:buChar char="•"/>
            </a:pPr>
            <a:r>
              <a:rPr lang="en-US" sz="1500" dirty="0">
                <a:solidFill>
                  <a:srgbClr val="1E2533"/>
                </a:solidFill>
                <a:latin typeface="Calibri" pitchFamily="34" charset="0"/>
                <a:ea typeface="Calibri" pitchFamily="34" charset="-122"/>
                <a:cs typeface="Calibri" pitchFamily="34" charset="-120"/>
              </a:rPr>
              <a:t>Test the choice with cost-benefit: treatment cost vs reduction in expected loss.</a:t>
            </a:r>
            <a:endParaRPr lang="en-US" sz="1600" dirty="0"/>
          </a:p>
          <a:p>
            <a:pPr marL="177800" indent="-177800" algn="l">
              <a:spcAft>
                <a:spcPts val="900"/>
              </a:spcAft>
              <a:buSzPct val="100000"/>
              <a:buChar char="•"/>
            </a:pPr>
            <a:r>
              <a:rPr lang="en-US" sz="1500" dirty="0">
                <a:solidFill>
                  <a:srgbClr val="1E2533"/>
                </a:solidFill>
                <a:latin typeface="Calibri" pitchFamily="34" charset="0"/>
                <a:ea typeface="Calibri" pitchFamily="34" charset="-122"/>
                <a:cs typeface="Calibri" pitchFamily="34" charset="-120"/>
              </a:rPr>
              <a:t>Check the residual risk against appetite; combine methods where needed (e.g. reduce, then insure the tail).</a:t>
            </a:r>
            <a:endParaRPr lang="en-US" sz="1600" dirty="0"/>
          </a:p>
          <a:p>
            <a:pPr marL="177800" indent="-177800" algn="l">
              <a:spcAft>
                <a:spcPts val="900"/>
              </a:spcAft>
              <a:buSzPct val="100000"/>
              <a:buChar char="•"/>
            </a:pPr>
            <a:r>
              <a:rPr lang="en-US" sz="1500" dirty="0">
                <a:solidFill>
                  <a:srgbClr val="1E2533"/>
                </a:solidFill>
                <a:latin typeface="Calibri" pitchFamily="34" charset="0"/>
                <a:ea typeface="Calibri" pitchFamily="34" charset="-122"/>
                <a:cs typeface="Calibri" pitchFamily="34" charset="-120"/>
              </a:rPr>
              <a:t>Revisit as the business changes: a growing digital book moves card fraud from "accept" to "reduce".</a:t>
            </a:r>
            <a:endParaRPr lang="en-US" sz="1600" dirty="0"/>
          </a:p>
        </p:txBody>
      </p:sp>
      <p:sp>
        <p:nvSpPr>
          <p:cNvPr id="2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11</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Tools for Managing Financial Risks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5065776"/>
        </p:xfrm>
        <a:graphic>
          <a:graphicData uri="http://schemas.openxmlformats.org/drawingml/2006/table">
            <a:tbl>
              <a:tblPr/>
              <a:tblGrid>
                <a:gridCol w="1737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159752">
                  <a:extLst>
                    <a:ext uri="{9D8B030D-6E8A-4147-A177-3AD203B41FA5}">
                      <a16:colId xmlns:a16="http://schemas.microsoft.com/office/drawing/2014/main" val="20002"/>
                    </a:ext>
                  </a:extLst>
                </a:gridCol>
              </a:tblGrid>
              <a:tr h="457200">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Primary methods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Instruments and tools (Indian context)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Equity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Diversify, hedge, limits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Nifty/Bank Nifty and stock futures &amp; options on NSE; beta-based hedging; stop-loss limits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Interest rate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Match duration, hedge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Duration gap management; interest rate swaps on overnight MIBOR; interest rate futures on NSE; PV01 limits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Foreign exchange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Net, hedge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Natural hedging; forwards with banks; USD-INR futures and options on NSE/BSE; money market hedge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Commodity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Hedge, contract design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MCX futures and options (gold, crude, copper); fixed-price supply contracts; gold metal loans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Credit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Screen, secure, transfer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Credit rating and scoring; collateral and covenants; guarantees; credit insurance; CDS; securitisation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Liquidity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Buffer, match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HQLA buffers (LCR); maturity-bucket gap limits; contingency funding plan; committed credit lines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658368">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Operational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Control, insure, plan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Maker-checker, reconciliations, access controls; cyber and fidelity insurance; business continuity plan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12</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12</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Risk Monitoring</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Knowing, continuously, whether risk is still within appetite</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Meaning and monitoring tools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A key risk indicator (KRI) dashboard</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Monitoring in practice: banks, NBFCs, mutual funds, insurers, corporates, universities</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Risk Monitoring: Meaning and Tools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Text 4"/>
          <p:cNvSpPr txBox="1"/>
          <p:nvPr/>
        </p:nvSpPr>
        <p:spPr>
          <a:xfrm>
            <a:off x="502920" y="1188720"/>
            <a:ext cx="11183112" cy="68580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Risk monitoring is the continuous tracking of risk exposures, key risk indicators, limits and controls, so that changes are detected early and escalated to the right decision-maker.</a:t>
            </a:r>
            <a:endParaRPr lang="en-US" sz="1550" dirty="0"/>
          </a:p>
        </p:txBody>
      </p:sp>
      <p:sp>
        <p:nvSpPr>
          <p:cNvPr id="7" name="Shape 5"/>
          <p:cNvSpPr/>
          <p:nvPr/>
        </p:nvSpPr>
        <p:spPr>
          <a:xfrm>
            <a:off x="502920" y="1965960"/>
            <a:ext cx="3544824" cy="1988820"/>
          </a:xfrm>
          <a:prstGeom prst="roundRect">
            <a:avLst>
              <a:gd name="adj" fmla="val 367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Shape 6"/>
          <p:cNvSpPr/>
          <p:nvPr/>
        </p:nvSpPr>
        <p:spPr>
          <a:xfrm>
            <a:off x="685800" y="2148840"/>
            <a:ext cx="502920" cy="502920"/>
          </a:xfrm>
          <a:prstGeom prst="ellipse">
            <a:avLst/>
          </a:prstGeom>
          <a:solidFill>
            <a:srgbClr val="14213D"/>
          </a:solidFill>
          <a:ln w="12700">
            <a:solidFill>
              <a:srgbClr val="14213D"/>
            </a:solidFill>
            <a:prstDash val="solid"/>
          </a:ln>
        </p:spPr>
      </p:sp>
      <p:pic>
        <p:nvPicPr>
          <p:cNvPr id="9" name="Image 0" descr="preencoded.png"/>
          <p:cNvPicPr>
            <a:picLocks noChangeAspect="1"/>
          </p:cNvPicPr>
          <p:nvPr/>
        </p:nvPicPr>
        <p:blipFill>
          <a:blip r:embed="rId3"/>
          <a:stretch>
            <a:fillRect/>
          </a:stretch>
        </p:blipFill>
        <p:spPr>
          <a:xfrm>
            <a:off x="806501" y="2269541"/>
            <a:ext cx="261518" cy="261518"/>
          </a:xfrm>
          <a:prstGeom prst="rect">
            <a:avLst/>
          </a:prstGeom>
        </p:spPr>
      </p:pic>
      <p:sp>
        <p:nvSpPr>
          <p:cNvPr id="10" name="Text 7"/>
          <p:cNvSpPr txBox="1"/>
          <p:nvPr/>
        </p:nvSpPr>
        <p:spPr>
          <a:xfrm>
            <a:off x="1280160" y="21122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Key risk indicators</a:t>
            </a:r>
            <a:endParaRPr lang="en-US" sz="1700" dirty="0"/>
          </a:p>
        </p:txBody>
      </p:sp>
      <p:sp>
        <p:nvSpPr>
          <p:cNvPr id="11" name="Text 8"/>
          <p:cNvSpPr txBox="1"/>
          <p:nvPr/>
        </p:nvSpPr>
        <p:spPr>
          <a:xfrm>
            <a:off x="685800" y="2724912"/>
            <a:ext cx="3179064" cy="11201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Forward-looking metrics with thresholds, e.g. SMA-2 ratio, VaR utilisation.</a:t>
            </a:r>
            <a:endParaRPr lang="en-US" sz="1650" dirty="0"/>
          </a:p>
        </p:txBody>
      </p:sp>
      <p:sp>
        <p:nvSpPr>
          <p:cNvPr id="12" name="Shape 9"/>
          <p:cNvSpPr/>
          <p:nvPr/>
        </p:nvSpPr>
        <p:spPr>
          <a:xfrm>
            <a:off x="4322064" y="1965960"/>
            <a:ext cx="3544824" cy="1988820"/>
          </a:xfrm>
          <a:prstGeom prst="roundRect">
            <a:avLst>
              <a:gd name="adj" fmla="val 367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0"/>
          <p:cNvSpPr/>
          <p:nvPr/>
        </p:nvSpPr>
        <p:spPr>
          <a:xfrm>
            <a:off x="4504944" y="2148840"/>
            <a:ext cx="502920" cy="502920"/>
          </a:xfrm>
          <a:prstGeom prst="ellipse">
            <a:avLst/>
          </a:prstGeom>
          <a:solidFill>
            <a:srgbClr val="14213D"/>
          </a:solidFill>
          <a:ln w="12700">
            <a:solidFill>
              <a:srgbClr val="14213D"/>
            </a:solidFill>
            <a:prstDash val="solid"/>
          </a:ln>
        </p:spPr>
      </p:sp>
      <p:pic>
        <p:nvPicPr>
          <p:cNvPr id="14" name="Image 1" descr="preencoded.png"/>
          <p:cNvPicPr>
            <a:picLocks noChangeAspect="1"/>
          </p:cNvPicPr>
          <p:nvPr/>
        </p:nvPicPr>
        <p:blipFill>
          <a:blip r:embed="rId4"/>
          <a:stretch>
            <a:fillRect/>
          </a:stretch>
        </p:blipFill>
        <p:spPr>
          <a:xfrm>
            <a:off x="4625645" y="2269541"/>
            <a:ext cx="261518" cy="261518"/>
          </a:xfrm>
          <a:prstGeom prst="rect">
            <a:avLst/>
          </a:prstGeom>
        </p:spPr>
      </p:pic>
      <p:sp>
        <p:nvSpPr>
          <p:cNvPr id="15" name="Text 11"/>
          <p:cNvSpPr txBox="1"/>
          <p:nvPr/>
        </p:nvSpPr>
        <p:spPr>
          <a:xfrm>
            <a:off x="5099304" y="21122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Limits and triggers</a:t>
            </a:r>
            <a:endParaRPr lang="en-US" sz="1700" dirty="0"/>
          </a:p>
        </p:txBody>
      </p:sp>
      <p:sp>
        <p:nvSpPr>
          <p:cNvPr id="16" name="Text 12"/>
          <p:cNvSpPr txBox="1"/>
          <p:nvPr/>
        </p:nvSpPr>
        <p:spPr>
          <a:xfrm>
            <a:off x="4504944" y="2724912"/>
            <a:ext cx="3179064" cy="11201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Hard limits, early-warning triggers and escalation rules.</a:t>
            </a:r>
            <a:endParaRPr lang="en-US" sz="1650" dirty="0"/>
          </a:p>
        </p:txBody>
      </p:sp>
      <p:sp>
        <p:nvSpPr>
          <p:cNvPr id="17" name="Shape 13"/>
          <p:cNvSpPr/>
          <p:nvPr/>
        </p:nvSpPr>
        <p:spPr>
          <a:xfrm>
            <a:off x="8141208" y="1965960"/>
            <a:ext cx="3544824" cy="1988820"/>
          </a:xfrm>
          <a:prstGeom prst="roundRect">
            <a:avLst>
              <a:gd name="adj" fmla="val 367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8" name="Shape 14"/>
          <p:cNvSpPr/>
          <p:nvPr/>
        </p:nvSpPr>
        <p:spPr>
          <a:xfrm>
            <a:off x="8324088" y="2148840"/>
            <a:ext cx="502920" cy="502920"/>
          </a:xfrm>
          <a:prstGeom prst="ellipse">
            <a:avLst/>
          </a:prstGeom>
          <a:solidFill>
            <a:srgbClr val="14213D"/>
          </a:solidFill>
          <a:ln w="12700">
            <a:solidFill>
              <a:srgbClr val="14213D"/>
            </a:solidFill>
            <a:prstDash val="solid"/>
          </a:ln>
        </p:spPr>
      </p:sp>
      <p:pic>
        <p:nvPicPr>
          <p:cNvPr id="19" name="Image 2" descr="preencoded.png"/>
          <p:cNvPicPr>
            <a:picLocks noChangeAspect="1"/>
          </p:cNvPicPr>
          <p:nvPr/>
        </p:nvPicPr>
        <p:blipFill>
          <a:blip r:embed="rId5"/>
          <a:stretch>
            <a:fillRect/>
          </a:stretch>
        </p:blipFill>
        <p:spPr>
          <a:xfrm>
            <a:off x="8444789" y="2269541"/>
            <a:ext cx="261518" cy="261518"/>
          </a:xfrm>
          <a:prstGeom prst="rect">
            <a:avLst/>
          </a:prstGeom>
        </p:spPr>
      </p:pic>
      <p:sp>
        <p:nvSpPr>
          <p:cNvPr id="20" name="Text 15"/>
          <p:cNvSpPr txBox="1"/>
          <p:nvPr/>
        </p:nvSpPr>
        <p:spPr>
          <a:xfrm>
            <a:off x="8918448" y="21122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Dashboards and heat maps</a:t>
            </a:r>
            <a:endParaRPr lang="en-US" sz="1700" dirty="0"/>
          </a:p>
        </p:txBody>
      </p:sp>
      <p:sp>
        <p:nvSpPr>
          <p:cNvPr id="21" name="Text 16"/>
          <p:cNvSpPr txBox="1"/>
          <p:nvPr/>
        </p:nvSpPr>
        <p:spPr>
          <a:xfrm>
            <a:off x="8324088" y="2724912"/>
            <a:ext cx="3179064" cy="11201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Red-amber-green views for management and the board.</a:t>
            </a:r>
            <a:endParaRPr lang="en-US" sz="1650" dirty="0"/>
          </a:p>
        </p:txBody>
      </p:sp>
      <p:sp>
        <p:nvSpPr>
          <p:cNvPr id="22" name="Shape 17"/>
          <p:cNvSpPr/>
          <p:nvPr/>
        </p:nvSpPr>
        <p:spPr>
          <a:xfrm>
            <a:off x="502920" y="4229100"/>
            <a:ext cx="3544824" cy="1988820"/>
          </a:xfrm>
          <a:prstGeom prst="roundRect">
            <a:avLst>
              <a:gd name="adj" fmla="val 367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3" name="Shape 18"/>
          <p:cNvSpPr/>
          <p:nvPr/>
        </p:nvSpPr>
        <p:spPr>
          <a:xfrm>
            <a:off x="685800" y="4411980"/>
            <a:ext cx="502920" cy="502920"/>
          </a:xfrm>
          <a:prstGeom prst="ellipse">
            <a:avLst/>
          </a:prstGeom>
          <a:solidFill>
            <a:srgbClr val="14213D"/>
          </a:solidFill>
          <a:ln w="12700">
            <a:solidFill>
              <a:srgbClr val="14213D"/>
            </a:solidFill>
            <a:prstDash val="solid"/>
          </a:ln>
        </p:spPr>
      </p:sp>
      <p:pic>
        <p:nvPicPr>
          <p:cNvPr id="24" name="Image 3" descr="preencoded.png"/>
          <p:cNvPicPr>
            <a:picLocks noChangeAspect="1"/>
          </p:cNvPicPr>
          <p:nvPr/>
        </p:nvPicPr>
        <p:blipFill>
          <a:blip r:embed="rId6"/>
          <a:stretch>
            <a:fillRect/>
          </a:stretch>
        </p:blipFill>
        <p:spPr>
          <a:xfrm>
            <a:off x="806501" y="4532681"/>
            <a:ext cx="261518" cy="261518"/>
          </a:xfrm>
          <a:prstGeom prst="rect">
            <a:avLst/>
          </a:prstGeom>
        </p:spPr>
      </p:pic>
      <p:sp>
        <p:nvSpPr>
          <p:cNvPr id="25" name="Text 19"/>
          <p:cNvSpPr txBox="1"/>
          <p:nvPr/>
        </p:nvSpPr>
        <p:spPr>
          <a:xfrm>
            <a:off x="1280160" y="43754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Stress tests</a:t>
            </a:r>
            <a:endParaRPr lang="en-US" sz="1700" dirty="0"/>
          </a:p>
        </p:txBody>
      </p:sp>
      <p:sp>
        <p:nvSpPr>
          <p:cNvPr id="26" name="Text 20"/>
          <p:cNvSpPr txBox="1"/>
          <p:nvPr/>
        </p:nvSpPr>
        <p:spPr>
          <a:xfrm>
            <a:off x="685800" y="4988052"/>
            <a:ext cx="3179064" cy="11201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Periodic what-if runs: rate shocks, market crashes, deposit runs.</a:t>
            </a:r>
            <a:endParaRPr lang="en-US" sz="1650" dirty="0"/>
          </a:p>
        </p:txBody>
      </p:sp>
      <p:sp>
        <p:nvSpPr>
          <p:cNvPr id="27" name="Shape 21"/>
          <p:cNvSpPr/>
          <p:nvPr/>
        </p:nvSpPr>
        <p:spPr>
          <a:xfrm>
            <a:off x="4322064" y="4229100"/>
            <a:ext cx="3544824" cy="1988820"/>
          </a:xfrm>
          <a:prstGeom prst="roundRect">
            <a:avLst>
              <a:gd name="adj" fmla="val 367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8" name="Shape 22"/>
          <p:cNvSpPr/>
          <p:nvPr/>
        </p:nvSpPr>
        <p:spPr>
          <a:xfrm>
            <a:off x="4504944" y="4411980"/>
            <a:ext cx="502920" cy="502920"/>
          </a:xfrm>
          <a:prstGeom prst="ellipse">
            <a:avLst/>
          </a:prstGeom>
          <a:solidFill>
            <a:srgbClr val="14213D"/>
          </a:solidFill>
          <a:ln w="12700">
            <a:solidFill>
              <a:srgbClr val="14213D"/>
            </a:solidFill>
            <a:prstDash val="solid"/>
          </a:ln>
        </p:spPr>
      </p:sp>
      <p:pic>
        <p:nvPicPr>
          <p:cNvPr id="29" name="Image 4" descr="preencoded.png"/>
          <p:cNvPicPr>
            <a:picLocks noChangeAspect="1"/>
          </p:cNvPicPr>
          <p:nvPr/>
        </p:nvPicPr>
        <p:blipFill>
          <a:blip r:embed="rId7"/>
          <a:stretch>
            <a:fillRect/>
          </a:stretch>
        </p:blipFill>
        <p:spPr>
          <a:xfrm>
            <a:off x="4625645" y="4532681"/>
            <a:ext cx="261518" cy="261518"/>
          </a:xfrm>
          <a:prstGeom prst="rect">
            <a:avLst/>
          </a:prstGeom>
        </p:spPr>
      </p:pic>
      <p:sp>
        <p:nvSpPr>
          <p:cNvPr id="30" name="Text 23"/>
          <p:cNvSpPr txBox="1"/>
          <p:nvPr/>
        </p:nvSpPr>
        <p:spPr>
          <a:xfrm>
            <a:off x="5099304" y="43754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Early warning systems</a:t>
            </a:r>
            <a:endParaRPr lang="en-US" sz="1700" dirty="0"/>
          </a:p>
        </p:txBody>
      </p:sp>
      <p:sp>
        <p:nvSpPr>
          <p:cNvPr id="31" name="Text 24"/>
          <p:cNvSpPr txBox="1"/>
          <p:nvPr/>
        </p:nvSpPr>
        <p:spPr>
          <a:xfrm>
            <a:off x="4504944" y="4988052"/>
            <a:ext cx="3179064" cy="11201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Alerts from data: overdue days, cheque bounces, rating watch.</a:t>
            </a:r>
            <a:endParaRPr lang="en-US" sz="1650" dirty="0"/>
          </a:p>
        </p:txBody>
      </p:sp>
      <p:sp>
        <p:nvSpPr>
          <p:cNvPr id="32" name="Shape 25"/>
          <p:cNvSpPr/>
          <p:nvPr/>
        </p:nvSpPr>
        <p:spPr>
          <a:xfrm>
            <a:off x="8141208" y="4229100"/>
            <a:ext cx="3544824" cy="1988820"/>
          </a:xfrm>
          <a:prstGeom prst="roundRect">
            <a:avLst>
              <a:gd name="adj" fmla="val 367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3" name="Shape 26"/>
          <p:cNvSpPr/>
          <p:nvPr/>
        </p:nvSpPr>
        <p:spPr>
          <a:xfrm>
            <a:off x="8324088" y="4411980"/>
            <a:ext cx="502920" cy="502920"/>
          </a:xfrm>
          <a:prstGeom prst="ellipse">
            <a:avLst/>
          </a:prstGeom>
          <a:solidFill>
            <a:srgbClr val="14213D"/>
          </a:solidFill>
          <a:ln w="12700">
            <a:solidFill>
              <a:srgbClr val="14213D"/>
            </a:solidFill>
            <a:prstDash val="solid"/>
          </a:ln>
        </p:spPr>
      </p:sp>
      <p:pic>
        <p:nvPicPr>
          <p:cNvPr id="34" name="Image 5" descr="preencoded.png"/>
          <p:cNvPicPr>
            <a:picLocks noChangeAspect="1"/>
          </p:cNvPicPr>
          <p:nvPr/>
        </p:nvPicPr>
        <p:blipFill>
          <a:blip r:embed="rId8"/>
          <a:stretch>
            <a:fillRect/>
          </a:stretch>
        </p:blipFill>
        <p:spPr>
          <a:xfrm>
            <a:off x="8444789" y="4532681"/>
            <a:ext cx="261518" cy="261518"/>
          </a:xfrm>
          <a:prstGeom prst="rect">
            <a:avLst/>
          </a:prstGeom>
        </p:spPr>
      </p:pic>
      <p:sp>
        <p:nvSpPr>
          <p:cNvPr id="35" name="Text 27"/>
          <p:cNvSpPr txBox="1"/>
          <p:nvPr/>
        </p:nvSpPr>
        <p:spPr>
          <a:xfrm>
            <a:off x="8918448" y="43754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Independent review</a:t>
            </a:r>
            <a:endParaRPr lang="en-US" sz="1700" dirty="0"/>
          </a:p>
        </p:txBody>
      </p:sp>
      <p:sp>
        <p:nvSpPr>
          <p:cNvPr id="36" name="Text 28"/>
          <p:cNvSpPr txBox="1"/>
          <p:nvPr/>
        </p:nvSpPr>
        <p:spPr>
          <a:xfrm>
            <a:off x="8324088" y="4988052"/>
            <a:ext cx="3179064" cy="11201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Internal audit and model validation test whether monitoring works.</a:t>
            </a:r>
            <a:endParaRPr lang="en-US" sz="1650" dirty="0"/>
          </a:p>
        </p:txBody>
      </p:sp>
      <p:sp>
        <p:nvSpPr>
          <p:cNvPr id="37"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Example: Monthly KRI Dashboard of a Bank (Illustrative)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406640" cy="4041648"/>
        </p:xfrm>
        <a:graphic>
          <a:graphicData uri="http://schemas.openxmlformats.org/drawingml/2006/table">
            <a:tbl>
              <a:tblPr/>
              <a:tblGrid>
                <a:gridCol w="25146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45720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Key risk indicator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Appetite / limit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Trigger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Current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Trend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Status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12064">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CRAR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14.0%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&lt; 14.5%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16.2%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Stable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2E7D4F"/>
                          </a:solidFill>
                          <a:latin typeface="Calibri" pitchFamily="34" charset="0"/>
                          <a:ea typeface="Calibri" pitchFamily="34" charset="-122"/>
                          <a:cs typeface="Calibri" pitchFamily="34" charset="-120"/>
                        </a:rPr>
                        <a:t>Green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DCEFE3"/>
                    </a:solidFill>
                  </a:tcPr>
                </a:tc>
                <a:extLst>
                  <a:ext uri="{0D108BD9-81ED-4DB2-BD59-A6C34878D82A}">
                    <a16:rowId xmlns:a16="http://schemas.microsoft.com/office/drawing/2014/main" val="10001"/>
                  </a:ext>
                </a:extLst>
              </a:tr>
              <a:tr h="512064">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Liquidity Coverage Ratio</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115%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&lt; 120%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118%</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Falling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b="1" dirty="0">
                          <a:solidFill>
                            <a:srgbClr val="B7790A"/>
                          </a:solidFill>
                          <a:latin typeface="Calibri" pitchFamily="34" charset="0"/>
                          <a:ea typeface="Calibri" pitchFamily="34" charset="-122"/>
                          <a:cs typeface="Calibri" pitchFamily="34" charset="-120"/>
                        </a:rPr>
                        <a:t>Amber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8EACB"/>
                    </a:solidFill>
                  </a:tcPr>
                </a:tc>
                <a:extLst>
                  <a:ext uri="{0D108BD9-81ED-4DB2-BD59-A6C34878D82A}">
                    <a16:rowId xmlns:a16="http://schemas.microsoft.com/office/drawing/2014/main" val="10002"/>
                  </a:ext>
                </a:extLst>
              </a:tr>
              <a:tr h="512064">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Gross NPA ratio</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3.0%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&gt; 2.75%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3.2%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Rising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A63232"/>
                          </a:solidFill>
                          <a:latin typeface="Calibri" pitchFamily="34" charset="0"/>
                          <a:ea typeface="Calibri" pitchFamily="34" charset="-122"/>
                          <a:cs typeface="Calibri" pitchFamily="34" charset="-120"/>
                        </a:rPr>
                        <a:t>Red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4DADA"/>
                    </a:solidFill>
                  </a:tcPr>
                </a:tc>
                <a:extLst>
                  <a:ext uri="{0D108BD9-81ED-4DB2-BD59-A6C34878D82A}">
                    <a16:rowId xmlns:a16="http://schemas.microsoft.com/office/drawing/2014/main" val="10003"/>
                  </a:ext>
                </a:extLst>
              </a:tr>
              <a:tr h="512064">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SMA-2 loans / advances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1.5%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&gt; 1.2%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1.1%</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Rising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b="1" dirty="0">
                          <a:solidFill>
                            <a:srgbClr val="2E7D4F"/>
                          </a:solidFill>
                          <a:latin typeface="Calibri" pitchFamily="34" charset="0"/>
                          <a:ea typeface="Calibri" pitchFamily="34" charset="-122"/>
                          <a:cs typeface="Calibri" pitchFamily="34" charset="-120"/>
                        </a:rPr>
                        <a:t>Green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DCEFE3"/>
                    </a:solidFill>
                  </a:tcPr>
                </a:tc>
                <a:extLst>
                  <a:ext uri="{0D108BD9-81ED-4DB2-BD59-A6C34878D82A}">
                    <a16:rowId xmlns:a16="http://schemas.microsoft.com/office/drawing/2014/main" val="10004"/>
                  </a:ext>
                </a:extLst>
              </a:tr>
              <a:tr h="512064">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Trading VaR utilisation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100% of limit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&gt; 85%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92%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Rising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B7790A"/>
                          </a:solidFill>
                          <a:latin typeface="Calibri" pitchFamily="34" charset="0"/>
                          <a:ea typeface="Calibri" pitchFamily="34" charset="-122"/>
                          <a:cs typeface="Calibri" pitchFamily="34" charset="-120"/>
                        </a:rPr>
                        <a:t>Amber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8EACB"/>
                    </a:solidFill>
                  </a:tcPr>
                </a:tc>
                <a:extLst>
                  <a:ext uri="{0D108BD9-81ED-4DB2-BD59-A6C34878D82A}">
                    <a16:rowId xmlns:a16="http://schemas.microsoft.com/office/drawing/2014/main" val="10005"/>
                  </a:ext>
                </a:extLst>
              </a:tr>
              <a:tr h="512064">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Top-20 depositor share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12%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&gt; 10%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9.4%</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Stable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b="1" dirty="0">
                          <a:solidFill>
                            <a:srgbClr val="2E7D4F"/>
                          </a:solidFill>
                          <a:latin typeface="Calibri" pitchFamily="34" charset="0"/>
                          <a:ea typeface="Calibri" pitchFamily="34" charset="-122"/>
                          <a:cs typeface="Calibri" pitchFamily="34" charset="-120"/>
                        </a:rPr>
                        <a:t>Green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DCEFE3"/>
                    </a:solidFill>
                  </a:tcPr>
                </a:tc>
                <a:extLst>
                  <a:ext uri="{0D108BD9-81ED-4DB2-BD59-A6C34878D82A}">
                    <a16:rowId xmlns:a16="http://schemas.microsoft.com/office/drawing/2014/main" val="10006"/>
                  </a:ext>
                </a:extLst>
              </a:tr>
              <a:tr h="512064">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Critical system downtime (hrs/month)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4</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&gt; 3</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Stable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2E7D4F"/>
                          </a:solidFill>
                          <a:latin typeface="Calibri" pitchFamily="34" charset="0"/>
                          <a:ea typeface="Calibri" pitchFamily="34" charset="-122"/>
                          <a:cs typeface="Calibri" pitchFamily="34" charset="-120"/>
                        </a:rPr>
                        <a:t>Green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DCEFE3"/>
                    </a:solidFill>
                  </a:tcPr>
                </a:tc>
                <a:extLst>
                  <a:ext uri="{0D108BD9-81ED-4DB2-BD59-A6C34878D82A}">
                    <a16:rowId xmlns:a16="http://schemas.microsoft.com/office/drawing/2014/main" val="10007"/>
                  </a:ext>
                </a:extLst>
              </a:tr>
            </a:tbl>
          </a:graphicData>
        </a:graphic>
      </p:graphicFrame>
      <p:sp>
        <p:nvSpPr>
          <p:cNvPr id="7" name="Shape 4"/>
          <p:cNvSpPr/>
          <p:nvPr/>
        </p:nvSpPr>
        <p:spPr>
          <a:xfrm>
            <a:off x="8183880" y="1280160"/>
            <a:ext cx="3502152" cy="4937760"/>
          </a:xfrm>
          <a:prstGeom prst="roundRect">
            <a:avLst>
              <a:gd name="adj" fmla="val 208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8" name="Text 5"/>
          <p:cNvSpPr txBox="1"/>
          <p:nvPr/>
        </p:nvSpPr>
        <p:spPr>
          <a:xfrm>
            <a:off x="8366760" y="1417320"/>
            <a:ext cx="3154680" cy="4663440"/>
          </a:xfrm>
          <a:prstGeom prst="rect">
            <a:avLst/>
          </a:prstGeom>
          <a:noFill/>
          <a:ln/>
        </p:spPr>
        <p:txBody>
          <a:bodyPr wrap="square" lIns="0" tIns="0" rIns="0" bIns="0" rtlCol="0" anchor="t"/>
          <a:lstStyle/>
          <a:p>
            <a:pPr marL="0" indent="0" algn="l">
              <a:spcAft>
                <a:spcPts val="800"/>
              </a:spcAft>
              <a:buNone/>
            </a:pPr>
            <a:r>
              <a:rPr lang="en-US" sz="1600" b="1" dirty="0">
                <a:solidFill>
                  <a:srgbClr val="C9A227"/>
                </a:solidFill>
                <a:latin typeface="Calibri" pitchFamily="34" charset="0"/>
                <a:ea typeface="Calibri" pitchFamily="34" charset="-122"/>
                <a:cs typeface="Calibri" pitchFamily="34" charset="-120"/>
              </a:rPr>
              <a:t>Reading the dashboard</a:t>
            </a:r>
            <a:endParaRPr lang="en-US" sz="1600" dirty="0"/>
          </a:p>
          <a:p>
            <a:pPr marL="177800" indent="-177800" algn="l">
              <a:spcAft>
                <a:spcPts val="1000"/>
              </a:spcAft>
              <a:buSzPct val="100000"/>
              <a:buChar char="•"/>
            </a:pPr>
            <a:r>
              <a:rPr lang="en-US" sz="1400" b="1" dirty="0">
                <a:solidFill>
                  <a:srgbClr val="FFFFFF"/>
                </a:solidFill>
                <a:latin typeface="Calibri" pitchFamily="34" charset="0"/>
                <a:ea typeface="Calibri" pitchFamily="34" charset="-122"/>
                <a:cs typeface="Calibri" pitchFamily="34" charset="-120"/>
              </a:rPr>
              <a:t>Red (GNPA 3.2%):</a:t>
            </a:r>
            <a:r>
              <a:rPr lang="en-US" sz="1400" dirty="0">
                <a:solidFill>
                  <a:srgbClr val="FFFFFF"/>
                </a:solidFill>
                <a:latin typeface="Calibri" pitchFamily="34" charset="0"/>
                <a:ea typeface="Calibri" pitchFamily="34" charset="-122"/>
                <a:cs typeface="Calibri" pitchFamily="34" charset="-120"/>
              </a:rPr>
              <a:t> appetite breached; CRO escalates to the Risk Committee with a recovery plan.</a:t>
            </a:r>
            <a:endParaRPr lang="en-US" sz="1600" dirty="0"/>
          </a:p>
          <a:p>
            <a:pPr marL="177800" indent="-177800" algn="l">
              <a:spcAft>
                <a:spcPts val="1000"/>
              </a:spcAft>
              <a:buSzPct val="100000"/>
              <a:buChar char="•"/>
            </a:pPr>
            <a:r>
              <a:rPr lang="en-US" sz="1400" b="1" dirty="0">
                <a:solidFill>
                  <a:srgbClr val="FFFFFF"/>
                </a:solidFill>
                <a:latin typeface="Calibri" pitchFamily="34" charset="0"/>
                <a:ea typeface="Calibri" pitchFamily="34" charset="-122"/>
                <a:cs typeface="Calibri" pitchFamily="34" charset="-120"/>
              </a:rPr>
              <a:t>Amber (LCR, VaR):</a:t>
            </a:r>
            <a:r>
              <a:rPr lang="en-US" sz="1400" dirty="0">
                <a:solidFill>
                  <a:srgbClr val="FFFFFF"/>
                </a:solidFill>
                <a:latin typeface="Calibri" pitchFamily="34" charset="0"/>
                <a:ea typeface="Calibri" pitchFamily="34" charset="-122"/>
                <a:cs typeface="Calibri" pitchFamily="34" charset="-120"/>
              </a:rPr>
              <a:t> within appetite but past trigger; management acts before a breach.</a:t>
            </a:r>
            <a:endParaRPr lang="en-US" sz="1600" dirty="0"/>
          </a:p>
          <a:p>
            <a:pPr marL="177800" indent="-177800" algn="l">
              <a:spcAft>
                <a:spcPts val="1000"/>
              </a:spcAft>
              <a:buSzPct val="100000"/>
              <a:buChar char="•"/>
            </a:pPr>
            <a:r>
              <a:rPr lang="en-US" sz="1400" b="1" dirty="0">
                <a:solidFill>
                  <a:srgbClr val="FFFFFF"/>
                </a:solidFill>
                <a:latin typeface="Calibri" pitchFamily="34" charset="0"/>
                <a:ea typeface="Calibri" pitchFamily="34" charset="-122"/>
                <a:cs typeface="Calibri" pitchFamily="34" charset="-120"/>
              </a:rPr>
              <a:t>Green but rising (SMA-2):</a:t>
            </a:r>
            <a:r>
              <a:rPr lang="en-US" sz="1400" dirty="0">
                <a:solidFill>
                  <a:srgbClr val="FFFFFF"/>
                </a:solidFill>
                <a:latin typeface="Calibri" pitchFamily="34" charset="0"/>
                <a:ea typeface="Calibri" pitchFamily="34" charset="-122"/>
                <a:cs typeface="Calibri" pitchFamily="34" charset="-120"/>
              </a:rPr>
              <a:t> watch closely; today's SMA-2 is next quarter's NPA.</a:t>
            </a:r>
            <a:endParaRPr lang="en-US" sz="1600" dirty="0"/>
          </a:p>
        </p:txBody>
      </p:sp>
      <p:sp>
        <p:nvSpPr>
          <p:cNvPr id="9" name="Text 6"/>
          <p:cNvSpPr txBox="1"/>
          <p:nvPr/>
        </p:nvSpPr>
        <p:spPr>
          <a:xfrm>
            <a:off x="502920" y="5806440"/>
            <a:ext cx="7406640" cy="411480"/>
          </a:xfrm>
          <a:prstGeom prst="rect">
            <a:avLst/>
          </a:prstGeom>
          <a:noFill/>
          <a:ln/>
        </p:spPr>
        <p:txBody>
          <a:bodyPr wrap="square" lIns="0" tIns="0" rIns="0" bIns="0" rtlCol="0" anchor="t"/>
          <a:lstStyle/>
          <a:p>
            <a:pPr marL="0" indent="0" algn="l">
              <a:buNone/>
            </a:pPr>
            <a:r>
              <a:rPr lang="en-US" sz="1200" i="1" dirty="0">
                <a:solidFill>
                  <a:srgbClr val="5C6577"/>
                </a:solidFill>
                <a:latin typeface="Calibri" pitchFamily="34" charset="0"/>
                <a:ea typeface="Calibri" pitchFamily="34" charset="-122"/>
                <a:cs typeface="Calibri" pitchFamily="34" charset="-120"/>
              </a:rPr>
              <a:t>KRIs are useful only with owners, thresholds, a reporting frequency and a defined escalation path.</a:t>
            </a:r>
            <a:endParaRPr lang="en-US" sz="12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12</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Risk Monitoring in Practice: Examples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Bank treasury</a:t>
            </a:r>
            <a:endParaRPr lang="en-US" sz="1700" dirty="0"/>
          </a:p>
        </p:txBody>
      </p:sp>
      <p:sp>
        <p:nvSpPr>
          <p:cNvPr id="10" name="Text 7"/>
          <p:cNvSpPr txBox="1"/>
          <p:nvPr/>
        </p:nvSpPr>
        <p:spPr>
          <a:xfrm>
            <a:off x="685800" y="203911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Daily VaR, PV01 and stop-loss limits on the G-sec book; breaches reported to the CRO the same day.</a:t>
            </a:r>
            <a:endParaRPr lang="en-US" sz="1600" dirty="0"/>
          </a:p>
        </p:txBody>
      </p:sp>
      <p:sp>
        <p:nvSpPr>
          <p:cNvPr id="11" name="Shape 8"/>
          <p:cNvSpPr/>
          <p:nvPr/>
        </p:nvSpPr>
        <p:spPr>
          <a:xfrm>
            <a:off x="4322064"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504944"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625645" y="1583741"/>
            <a:ext cx="261518" cy="261518"/>
          </a:xfrm>
          <a:prstGeom prst="rect">
            <a:avLst/>
          </a:prstGeom>
        </p:spPr>
      </p:pic>
      <p:sp>
        <p:nvSpPr>
          <p:cNvPr id="14" name="Text 10"/>
          <p:cNvSpPr txBox="1"/>
          <p:nvPr/>
        </p:nvSpPr>
        <p:spPr>
          <a:xfrm>
            <a:off x="5099304"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NBFC liquidity</a:t>
            </a:r>
            <a:endParaRPr lang="en-US" sz="1700" dirty="0"/>
          </a:p>
        </p:txBody>
      </p:sp>
      <p:sp>
        <p:nvSpPr>
          <p:cNvPr id="15" name="Text 11"/>
          <p:cNvSpPr txBox="1"/>
          <p:nvPr/>
        </p:nvSpPr>
        <p:spPr>
          <a:xfrm>
            <a:off x="4504944" y="203911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Structural liquidity statement in RBI time buckets; cumulative gaps checked against board limits.</a:t>
            </a:r>
            <a:endParaRPr lang="en-US" sz="1600" dirty="0"/>
          </a:p>
        </p:txBody>
      </p:sp>
      <p:sp>
        <p:nvSpPr>
          <p:cNvPr id="16" name="Shape 12"/>
          <p:cNvSpPr/>
          <p:nvPr/>
        </p:nvSpPr>
        <p:spPr>
          <a:xfrm>
            <a:off x="8141208"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8324088" y="146304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444789" y="1583741"/>
            <a:ext cx="261518" cy="261518"/>
          </a:xfrm>
          <a:prstGeom prst="rect">
            <a:avLst/>
          </a:prstGeom>
        </p:spPr>
      </p:pic>
      <p:sp>
        <p:nvSpPr>
          <p:cNvPr id="19" name="Text 14"/>
          <p:cNvSpPr txBox="1"/>
          <p:nvPr/>
        </p:nvSpPr>
        <p:spPr>
          <a:xfrm>
            <a:off x="8918448"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Mutual funds</a:t>
            </a:r>
            <a:endParaRPr lang="en-US" sz="1700" dirty="0"/>
          </a:p>
        </p:txBody>
      </p:sp>
      <p:sp>
        <p:nvSpPr>
          <p:cNvPr id="20" name="Text 15"/>
          <p:cNvSpPr txBox="1"/>
          <p:nvPr/>
        </p:nvSpPr>
        <p:spPr>
          <a:xfrm>
            <a:off x="8324088" y="203911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Since 2024, small- and mid-cap schemes disclose stress tests: days needed to liquidate 25% and 50% of the portfolio.</a:t>
            </a:r>
            <a:endParaRPr lang="en-US" sz="1600" dirty="0"/>
          </a:p>
        </p:txBody>
      </p:sp>
      <p:sp>
        <p:nvSpPr>
          <p:cNvPr id="21" name="Shape 16"/>
          <p:cNvSpPr/>
          <p:nvPr/>
        </p:nvSpPr>
        <p:spPr>
          <a:xfrm>
            <a:off x="502920"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685800"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806501" y="4189781"/>
            <a:ext cx="261518" cy="261518"/>
          </a:xfrm>
          <a:prstGeom prst="rect">
            <a:avLst/>
          </a:prstGeom>
        </p:spPr>
      </p:pic>
      <p:sp>
        <p:nvSpPr>
          <p:cNvPr id="24" name="Text 18"/>
          <p:cNvSpPr txBox="1"/>
          <p:nvPr/>
        </p:nvSpPr>
        <p:spPr>
          <a:xfrm>
            <a:off x="1280160"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Insurers</a:t>
            </a:r>
            <a:endParaRPr lang="en-US" sz="1700" dirty="0"/>
          </a:p>
        </p:txBody>
      </p:sp>
      <p:sp>
        <p:nvSpPr>
          <p:cNvPr id="25" name="Text 19"/>
          <p:cNvSpPr txBox="1"/>
          <p:nvPr/>
        </p:nvSpPr>
        <p:spPr>
          <a:xfrm>
            <a:off x="685800" y="464515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Solvency ratio tracked against IRDAI's 150% control level; claims ratios and lapse rates monitored monthly.</a:t>
            </a:r>
            <a:endParaRPr lang="en-US" sz="1600" dirty="0"/>
          </a:p>
        </p:txBody>
      </p:sp>
      <p:sp>
        <p:nvSpPr>
          <p:cNvPr id="26" name="Shape 20"/>
          <p:cNvSpPr/>
          <p:nvPr/>
        </p:nvSpPr>
        <p:spPr>
          <a:xfrm>
            <a:off x="4322064"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4504944" y="4069080"/>
            <a:ext cx="502920" cy="50292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4625645" y="4189781"/>
            <a:ext cx="261518" cy="261518"/>
          </a:xfrm>
          <a:prstGeom prst="rect">
            <a:avLst/>
          </a:prstGeom>
        </p:spPr>
      </p:pic>
      <p:sp>
        <p:nvSpPr>
          <p:cNvPr id="29" name="Text 22"/>
          <p:cNvSpPr txBox="1"/>
          <p:nvPr/>
        </p:nvSpPr>
        <p:spPr>
          <a:xfrm>
            <a:off x="5099304"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Corporates</a:t>
            </a:r>
            <a:endParaRPr lang="en-US" sz="1700" dirty="0"/>
          </a:p>
        </p:txBody>
      </p:sp>
      <p:sp>
        <p:nvSpPr>
          <p:cNvPr id="30" name="Text 23"/>
          <p:cNvSpPr txBox="1"/>
          <p:nvPr/>
        </p:nvSpPr>
        <p:spPr>
          <a:xfrm>
            <a:off x="4504944" y="464515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Hedge ratio of FX and commodity exposures, open positions vs limits, customer credit days.</a:t>
            </a:r>
            <a:endParaRPr lang="en-US" sz="1600" dirty="0"/>
          </a:p>
        </p:txBody>
      </p:sp>
      <p:sp>
        <p:nvSpPr>
          <p:cNvPr id="31" name="Shape 24"/>
          <p:cNvSpPr/>
          <p:nvPr/>
        </p:nvSpPr>
        <p:spPr>
          <a:xfrm>
            <a:off x="8141208"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2" name="Shape 25"/>
          <p:cNvSpPr/>
          <p:nvPr/>
        </p:nvSpPr>
        <p:spPr>
          <a:xfrm>
            <a:off x="8324088" y="4069080"/>
            <a:ext cx="502920" cy="50292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8444789" y="4189781"/>
            <a:ext cx="261518" cy="261518"/>
          </a:xfrm>
          <a:prstGeom prst="rect">
            <a:avLst/>
          </a:prstGeom>
        </p:spPr>
      </p:pic>
      <p:sp>
        <p:nvSpPr>
          <p:cNvPr id="34" name="Text 26"/>
          <p:cNvSpPr txBox="1"/>
          <p:nvPr/>
        </p:nvSpPr>
        <p:spPr>
          <a:xfrm>
            <a:off x="8918448"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Universities &amp; trusts</a:t>
            </a:r>
            <a:endParaRPr lang="en-US" sz="1700" dirty="0"/>
          </a:p>
        </p:txBody>
      </p:sp>
      <p:sp>
        <p:nvSpPr>
          <p:cNvPr id="35" name="Text 27"/>
          <p:cNvSpPr txBox="1"/>
          <p:nvPr/>
        </p:nvSpPr>
        <p:spPr>
          <a:xfrm>
            <a:off x="8324088" y="4645152"/>
            <a:ext cx="3179064" cy="146304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Corpus funds: exposure per bank, bank credit ratings, maturity ladder of deposits, interest-rate reset dates.</a:t>
            </a:r>
            <a:endParaRPr lang="en-US" sz="1600" dirty="0"/>
          </a:p>
        </p:txBody>
      </p:sp>
      <p:sp>
        <p:nvSpPr>
          <p:cNvPr id="3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13</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13</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Types of Risk</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Financial, insurance, operational, regulatory and reputational risk</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Financial risk: equity, interest rate, liquidity, foreign exchange</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Insurance risk: mortality, morbidity, longevity, expense, lapse</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Operational risk and the Basel event types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Regulatory risk and reputational risk</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A Taxonomy of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4270248" y="1234440"/>
            <a:ext cx="3657600" cy="640080"/>
          </a:xfrm>
          <a:prstGeom prst="roundRect">
            <a:avLst>
              <a:gd name="adj" fmla="val 1142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7" name="Text 5"/>
          <p:cNvSpPr txBox="1"/>
          <p:nvPr/>
        </p:nvSpPr>
        <p:spPr>
          <a:xfrm>
            <a:off x="4270248" y="1234440"/>
            <a:ext cx="3657600" cy="640080"/>
          </a:xfrm>
          <a:prstGeom prst="rect">
            <a:avLst/>
          </a:prstGeom>
          <a:noFill/>
          <a:ln/>
        </p:spPr>
        <p:txBody>
          <a:bodyPr wrap="square" lIns="0" tIns="0" rIns="0" bIns="0" rtlCol="0" anchor="ctr"/>
          <a:lstStyle/>
          <a:p>
            <a:pPr marL="0" indent="0" algn="ctr">
              <a:buNone/>
            </a:pPr>
            <a:r>
              <a:rPr lang="en-US" sz="1900" b="1" dirty="0">
                <a:solidFill>
                  <a:srgbClr val="C9A227"/>
                </a:solidFill>
                <a:latin typeface="Cambria" pitchFamily="34" charset="0"/>
                <a:ea typeface="Cambria" pitchFamily="34" charset="-122"/>
                <a:cs typeface="Cambria" pitchFamily="34" charset="-120"/>
              </a:rPr>
              <a:t>Types of risk</a:t>
            </a:r>
            <a:endParaRPr lang="en-US" sz="1900" dirty="0"/>
          </a:p>
        </p:txBody>
      </p:sp>
      <p:sp>
        <p:nvSpPr>
          <p:cNvPr id="8" name="Shape 6"/>
          <p:cNvSpPr/>
          <p:nvPr/>
        </p:nvSpPr>
        <p:spPr>
          <a:xfrm>
            <a:off x="6099048" y="1874520"/>
            <a:ext cx="0" cy="274320"/>
          </a:xfrm>
          <a:prstGeom prst="line">
            <a:avLst/>
          </a:prstGeom>
          <a:noFill/>
          <a:ln w="19050">
            <a:solidFill>
              <a:srgbClr val="8C6D0F"/>
            </a:solidFill>
            <a:prstDash val="solid"/>
          </a:ln>
        </p:spPr>
      </p:sp>
      <p:sp>
        <p:nvSpPr>
          <p:cNvPr id="9" name="Shape 7"/>
          <p:cNvSpPr/>
          <p:nvPr/>
        </p:nvSpPr>
        <p:spPr>
          <a:xfrm>
            <a:off x="1618488" y="2148840"/>
            <a:ext cx="8961120" cy="0"/>
          </a:xfrm>
          <a:prstGeom prst="line">
            <a:avLst/>
          </a:prstGeom>
          <a:noFill/>
          <a:ln w="19050">
            <a:solidFill>
              <a:srgbClr val="8C6D0F"/>
            </a:solidFill>
            <a:prstDash val="solid"/>
          </a:ln>
        </p:spPr>
      </p:sp>
      <p:sp>
        <p:nvSpPr>
          <p:cNvPr id="10" name="Shape 8"/>
          <p:cNvSpPr/>
          <p:nvPr/>
        </p:nvSpPr>
        <p:spPr>
          <a:xfrm>
            <a:off x="1531620" y="2148840"/>
            <a:ext cx="0" cy="274320"/>
          </a:xfrm>
          <a:prstGeom prst="line">
            <a:avLst/>
          </a:prstGeom>
          <a:noFill/>
          <a:ln w="19050">
            <a:solidFill>
              <a:srgbClr val="8C6D0F"/>
            </a:solidFill>
            <a:prstDash val="solid"/>
          </a:ln>
        </p:spPr>
      </p:sp>
      <p:sp>
        <p:nvSpPr>
          <p:cNvPr id="11" name="Shape 9"/>
          <p:cNvSpPr/>
          <p:nvPr/>
        </p:nvSpPr>
        <p:spPr>
          <a:xfrm>
            <a:off x="502920" y="2423160"/>
            <a:ext cx="2057400" cy="3794760"/>
          </a:xfrm>
          <a:prstGeom prst="roundRect">
            <a:avLst>
              <a:gd name="adj" fmla="val 35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10"/>
          <p:cNvSpPr/>
          <p:nvPr/>
        </p:nvSpPr>
        <p:spPr>
          <a:xfrm>
            <a:off x="1211580" y="2578608"/>
            <a:ext cx="640080" cy="640080"/>
          </a:xfrm>
          <a:prstGeom prst="ellipse">
            <a:avLst/>
          </a:prstGeom>
          <a:solidFill>
            <a:srgbClr val="14213D"/>
          </a:solidFill>
          <a:ln w="12700">
            <a:solidFill>
              <a:srgbClr val="14213D"/>
            </a:solidFill>
            <a:prstDash val="solid"/>
          </a:ln>
        </p:spPr>
      </p:sp>
      <p:pic>
        <p:nvPicPr>
          <p:cNvPr id="13" name="Image 0" descr="preencoded.png"/>
          <p:cNvPicPr>
            <a:picLocks noChangeAspect="1"/>
          </p:cNvPicPr>
          <p:nvPr/>
        </p:nvPicPr>
        <p:blipFill>
          <a:blip r:embed="rId3"/>
          <a:stretch>
            <a:fillRect/>
          </a:stretch>
        </p:blipFill>
        <p:spPr>
          <a:xfrm>
            <a:off x="1365199" y="2732227"/>
            <a:ext cx="332842" cy="332842"/>
          </a:xfrm>
          <a:prstGeom prst="rect">
            <a:avLst/>
          </a:prstGeom>
        </p:spPr>
      </p:pic>
      <p:sp>
        <p:nvSpPr>
          <p:cNvPr id="14" name="Text 11"/>
          <p:cNvSpPr txBox="1"/>
          <p:nvPr/>
        </p:nvSpPr>
        <p:spPr>
          <a:xfrm>
            <a:off x="594360" y="3291840"/>
            <a:ext cx="1874520" cy="411480"/>
          </a:xfrm>
          <a:prstGeom prst="rect">
            <a:avLst/>
          </a:prstGeom>
          <a:noFill/>
          <a:ln/>
        </p:spPr>
        <p:txBody>
          <a:bodyPr wrap="square" lIns="0" tIns="0" rIns="0" bIns="0" rtlCol="0" anchor="t"/>
          <a:lstStyle/>
          <a:p>
            <a:pPr marL="0" indent="0" algn="ctr">
              <a:buNone/>
            </a:pPr>
            <a:r>
              <a:rPr lang="en-US" sz="1700" b="1" dirty="0">
                <a:solidFill>
                  <a:srgbClr val="14213D"/>
                </a:solidFill>
                <a:latin typeface="Cambria" pitchFamily="34" charset="0"/>
                <a:ea typeface="Cambria" pitchFamily="34" charset="-122"/>
                <a:cs typeface="Cambria" pitchFamily="34" charset="-120"/>
              </a:rPr>
              <a:t>Financial</a:t>
            </a:r>
            <a:endParaRPr lang="en-US" sz="1700" dirty="0"/>
          </a:p>
        </p:txBody>
      </p:sp>
      <p:sp>
        <p:nvSpPr>
          <p:cNvPr id="15" name="Text 12"/>
          <p:cNvSpPr txBox="1"/>
          <p:nvPr/>
        </p:nvSpPr>
        <p:spPr>
          <a:xfrm>
            <a:off x="731520" y="3794760"/>
            <a:ext cx="1691640" cy="2331720"/>
          </a:xfrm>
          <a:prstGeom prst="rect">
            <a:avLst/>
          </a:prstGeom>
          <a:noFill/>
          <a:ln/>
        </p:spPr>
        <p:txBody>
          <a:bodyPr wrap="square" lIns="0" tIns="0" rIns="0" bIns="0" rtlCol="0" anchor="t"/>
          <a:lstStyle/>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Equity risk</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Interest rate risk</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Liquidity risk</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Foreign exchange risk</a:t>
            </a:r>
            <a:endParaRPr lang="en-US" sz="1450" dirty="0"/>
          </a:p>
        </p:txBody>
      </p:sp>
      <p:sp>
        <p:nvSpPr>
          <p:cNvPr id="16" name="Shape 13"/>
          <p:cNvSpPr/>
          <p:nvPr/>
        </p:nvSpPr>
        <p:spPr>
          <a:xfrm>
            <a:off x="3813048" y="2148840"/>
            <a:ext cx="0" cy="274320"/>
          </a:xfrm>
          <a:prstGeom prst="line">
            <a:avLst/>
          </a:prstGeom>
          <a:noFill/>
          <a:ln w="19050">
            <a:solidFill>
              <a:srgbClr val="8C6D0F"/>
            </a:solidFill>
            <a:prstDash val="solid"/>
          </a:ln>
        </p:spPr>
      </p:sp>
      <p:sp>
        <p:nvSpPr>
          <p:cNvPr id="17" name="Shape 14"/>
          <p:cNvSpPr/>
          <p:nvPr/>
        </p:nvSpPr>
        <p:spPr>
          <a:xfrm>
            <a:off x="2784348" y="2423160"/>
            <a:ext cx="2057400" cy="3794760"/>
          </a:xfrm>
          <a:prstGeom prst="roundRect">
            <a:avLst>
              <a:gd name="adj" fmla="val 35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8" name="Shape 15"/>
          <p:cNvSpPr/>
          <p:nvPr/>
        </p:nvSpPr>
        <p:spPr>
          <a:xfrm>
            <a:off x="3493008" y="2578608"/>
            <a:ext cx="640080" cy="640080"/>
          </a:xfrm>
          <a:prstGeom prst="ellipse">
            <a:avLst/>
          </a:prstGeom>
          <a:solidFill>
            <a:srgbClr val="14213D"/>
          </a:solidFill>
          <a:ln w="12700">
            <a:solidFill>
              <a:srgbClr val="14213D"/>
            </a:solidFill>
            <a:prstDash val="solid"/>
          </a:ln>
        </p:spPr>
      </p:sp>
      <p:pic>
        <p:nvPicPr>
          <p:cNvPr id="19" name="Image 1" descr="preencoded.png"/>
          <p:cNvPicPr>
            <a:picLocks noChangeAspect="1"/>
          </p:cNvPicPr>
          <p:nvPr/>
        </p:nvPicPr>
        <p:blipFill>
          <a:blip r:embed="rId4"/>
          <a:stretch>
            <a:fillRect/>
          </a:stretch>
        </p:blipFill>
        <p:spPr>
          <a:xfrm>
            <a:off x="3646627" y="2732227"/>
            <a:ext cx="332842" cy="332842"/>
          </a:xfrm>
          <a:prstGeom prst="rect">
            <a:avLst/>
          </a:prstGeom>
        </p:spPr>
      </p:pic>
      <p:sp>
        <p:nvSpPr>
          <p:cNvPr id="20" name="Text 16"/>
          <p:cNvSpPr txBox="1"/>
          <p:nvPr/>
        </p:nvSpPr>
        <p:spPr>
          <a:xfrm>
            <a:off x="2875788" y="3291840"/>
            <a:ext cx="1874520" cy="411480"/>
          </a:xfrm>
          <a:prstGeom prst="rect">
            <a:avLst/>
          </a:prstGeom>
          <a:noFill/>
          <a:ln/>
        </p:spPr>
        <p:txBody>
          <a:bodyPr wrap="square" lIns="0" tIns="0" rIns="0" bIns="0" rtlCol="0" anchor="t"/>
          <a:lstStyle/>
          <a:p>
            <a:pPr marL="0" indent="0" algn="ctr">
              <a:buNone/>
            </a:pPr>
            <a:r>
              <a:rPr lang="en-US" sz="1700" b="1" dirty="0">
                <a:solidFill>
                  <a:srgbClr val="14213D"/>
                </a:solidFill>
                <a:latin typeface="Cambria" pitchFamily="34" charset="0"/>
                <a:ea typeface="Cambria" pitchFamily="34" charset="-122"/>
                <a:cs typeface="Cambria" pitchFamily="34" charset="-120"/>
              </a:rPr>
              <a:t>Insurance</a:t>
            </a:r>
            <a:endParaRPr lang="en-US" sz="1700" dirty="0"/>
          </a:p>
        </p:txBody>
      </p:sp>
      <p:sp>
        <p:nvSpPr>
          <p:cNvPr id="21" name="Text 17"/>
          <p:cNvSpPr txBox="1"/>
          <p:nvPr/>
        </p:nvSpPr>
        <p:spPr>
          <a:xfrm>
            <a:off x="3012948" y="3794760"/>
            <a:ext cx="1691640" cy="2331720"/>
          </a:xfrm>
          <a:prstGeom prst="rect">
            <a:avLst/>
          </a:prstGeom>
          <a:noFill/>
          <a:ln/>
        </p:spPr>
        <p:txBody>
          <a:bodyPr wrap="square" lIns="0" tIns="0" rIns="0" bIns="0" rtlCol="0" anchor="t"/>
          <a:lstStyle/>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Mortality</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Morbidity</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Longevity</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Expense</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Lapse</a:t>
            </a:r>
            <a:endParaRPr lang="en-US" sz="1450" dirty="0"/>
          </a:p>
        </p:txBody>
      </p:sp>
      <p:sp>
        <p:nvSpPr>
          <p:cNvPr id="22" name="Shape 18"/>
          <p:cNvSpPr/>
          <p:nvPr/>
        </p:nvSpPr>
        <p:spPr>
          <a:xfrm>
            <a:off x="6094476" y="2148840"/>
            <a:ext cx="0" cy="274320"/>
          </a:xfrm>
          <a:prstGeom prst="line">
            <a:avLst/>
          </a:prstGeom>
          <a:noFill/>
          <a:ln w="19050">
            <a:solidFill>
              <a:srgbClr val="8C6D0F"/>
            </a:solidFill>
            <a:prstDash val="solid"/>
          </a:ln>
        </p:spPr>
      </p:sp>
      <p:sp>
        <p:nvSpPr>
          <p:cNvPr id="23" name="Shape 19"/>
          <p:cNvSpPr/>
          <p:nvPr/>
        </p:nvSpPr>
        <p:spPr>
          <a:xfrm>
            <a:off x="5065776" y="2423160"/>
            <a:ext cx="2057400" cy="3794760"/>
          </a:xfrm>
          <a:prstGeom prst="roundRect">
            <a:avLst>
              <a:gd name="adj" fmla="val 35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4" name="Shape 20"/>
          <p:cNvSpPr/>
          <p:nvPr/>
        </p:nvSpPr>
        <p:spPr>
          <a:xfrm>
            <a:off x="5774436" y="2578608"/>
            <a:ext cx="640080" cy="640080"/>
          </a:xfrm>
          <a:prstGeom prst="ellipse">
            <a:avLst/>
          </a:prstGeom>
          <a:solidFill>
            <a:srgbClr val="14213D"/>
          </a:solidFill>
          <a:ln w="12700">
            <a:solidFill>
              <a:srgbClr val="14213D"/>
            </a:solidFill>
            <a:prstDash val="solid"/>
          </a:ln>
        </p:spPr>
      </p:sp>
      <p:pic>
        <p:nvPicPr>
          <p:cNvPr id="25" name="Image 2" descr="preencoded.png"/>
          <p:cNvPicPr>
            <a:picLocks noChangeAspect="1"/>
          </p:cNvPicPr>
          <p:nvPr/>
        </p:nvPicPr>
        <p:blipFill>
          <a:blip r:embed="rId5"/>
          <a:stretch>
            <a:fillRect/>
          </a:stretch>
        </p:blipFill>
        <p:spPr>
          <a:xfrm>
            <a:off x="5928055" y="2732227"/>
            <a:ext cx="332842" cy="332842"/>
          </a:xfrm>
          <a:prstGeom prst="rect">
            <a:avLst/>
          </a:prstGeom>
        </p:spPr>
      </p:pic>
      <p:sp>
        <p:nvSpPr>
          <p:cNvPr id="26" name="Text 21"/>
          <p:cNvSpPr txBox="1"/>
          <p:nvPr/>
        </p:nvSpPr>
        <p:spPr>
          <a:xfrm>
            <a:off x="5157216" y="3291840"/>
            <a:ext cx="1874520" cy="411480"/>
          </a:xfrm>
          <a:prstGeom prst="rect">
            <a:avLst/>
          </a:prstGeom>
          <a:noFill/>
          <a:ln/>
        </p:spPr>
        <p:txBody>
          <a:bodyPr wrap="square" lIns="0" tIns="0" rIns="0" bIns="0" rtlCol="0" anchor="t"/>
          <a:lstStyle/>
          <a:p>
            <a:pPr marL="0" indent="0" algn="ctr">
              <a:buNone/>
            </a:pPr>
            <a:r>
              <a:rPr lang="en-US" sz="1700" b="1" dirty="0">
                <a:solidFill>
                  <a:srgbClr val="14213D"/>
                </a:solidFill>
                <a:latin typeface="Cambria" pitchFamily="34" charset="0"/>
                <a:ea typeface="Cambria" pitchFamily="34" charset="-122"/>
                <a:cs typeface="Cambria" pitchFamily="34" charset="-120"/>
              </a:rPr>
              <a:t>Operational</a:t>
            </a:r>
            <a:endParaRPr lang="en-US" sz="1700" dirty="0"/>
          </a:p>
        </p:txBody>
      </p:sp>
      <p:sp>
        <p:nvSpPr>
          <p:cNvPr id="27" name="Text 22"/>
          <p:cNvSpPr txBox="1"/>
          <p:nvPr/>
        </p:nvSpPr>
        <p:spPr>
          <a:xfrm>
            <a:off x="5294376" y="3794760"/>
            <a:ext cx="1691640" cy="2331720"/>
          </a:xfrm>
          <a:prstGeom prst="rect">
            <a:avLst/>
          </a:prstGeom>
          <a:noFill/>
          <a:ln/>
        </p:spPr>
        <p:txBody>
          <a:bodyPr wrap="square" lIns="0" tIns="0" rIns="0" bIns="0" rtlCol="0" anchor="t"/>
          <a:lstStyle/>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People</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Process</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Systems</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External events</a:t>
            </a:r>
            <a:endParaRPr lang="en-US" sz="1450" dirty="0"/>
          </a:p>
        </p:txBody>
      </p:sp>
      <p:sp>
        <p:nvSpPr>
          <p:cNvPr id="28" name="Shape 23"/>
          <p:cNvSpPr/>
          <p:nvPr/>
        </p:nvSpPr>
        <p:spPr>
          <a:xfrm>
            <a:off x="8375904" y="2148840"/>
            <a:ext cx="0" cy="274320"/>
          </a:xfrm>
          <a:prstGeom prst="line">
            <a:avLst/>
          </a:prstGeom>
          <a:noFill/>
          <a:ln w="19050">
            <a:solidFill>
              <a:srgbClr val="8C6D0F"/>
            </a:solidFill>
            <a:prstDash val="solid"/>
          </a:ln>
        </p:spPr>
      </p:sp>
      <p:sp>
        <p:nvSpPr>
          <p:cNvPr id="29" name="Shape 24"/>
          <p:cNvSpPr/>
          <p:nvPr/>
        </p:nvSpPr>
        <p:spPr>
          <a:xfrm>
            <a:off x="7347204" y="2423160"/>
            <a:ext cx="2057400" cy="3794760"/>
          </a:xfrm>
          <a:prstGeom prst="roundRect">
            <a:avLst>
              <a:gd name="adj" fmla="val 35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0" name="Shape 25"/>
          <p:cNvSpPr/>
          <p:nvPr/>
        </p:nvSpPr>
        <p:spPr>
          <a:xfrm>
            <a:off x="8055864" y="2578608"/>
            <a:ext cx="640080" cy="640080"/>
          </a:xfrm>
          <a:prstGeom prst="ellipse">
            <a:avLst/>
          </a:prstGeom>
          <a:solidFill>
            <a:srgbClr val="14213D"/>
          </a:solidFill>
          <a:ln w="12700">
            <a:solidFill>
              <a:srgbClr val="14213D"/>
            </a:solidFill>
            <a:prstDash val="solid"/>
          </a:ln>
        </p:spPr>
      </p:sp>
      <p:pic>
        <p:nvPicPr>
          <p:cNvPr id="31" name="Image 3" descr="preencoded.png"/>
          <p:cNvPicPr>
            <a:picLocks noChangeAspect="1"/>
          </p:cNvPicPr>
          <p:nvPr/>
        </p:nvPicPr>
        <p:blipFill>
          <a:blip r:embed="rId6"/>
          <a:stretch>
            <a:fillRect/>
          </a:stretch>
        </p:blipFill>
        <p:spPr>
          <a:xfrm>
            <a:off x="8209483" y="2732227"/>
            <a:ext cx="332842" cy="332842"/>
          </a:xfrm>
          <a:prstGeom prst="rect">
            <a:avLst/>
          </a:prstGeom>
        </p:spPr>
      </p:pic>
      <p:sp>
        <p:nvSpPr>
          <p:cNvPr id="32" name="Text 26"/>
          <p:cNvSpPr txBox="1"/>
          <p:nvPr/>
        </p:nvSpPr>
        <p:spPr>
          <a:xfrm>
            <a:off x="7438644" y="3291840"/>
            <a:ext cx="1874520" cy="411480"/>
          </a:xfrm>
          <a:prstGeom prst="rect">
            <a:avLst/>
          </a:prstGeom>
          <a:noFill/>
          <a:ln/>
        </p:spPr>
        <p:txBody>
          <a:bodyPr wrap="square" lIns="0" tIns="0" rIns="0" bIns="0" rtlCol="0" anchor="t"/>
          <a:lstStyle/>
          <a:p>
            <a:pPr marL="0" indent="0" algn="ctr">
              <a:buNone/>
            </a:pPr>
            <a:r>
              <a:rPr lang="en-US" sz="1700" b="1" dirty="0">
                <a:solidFill>
                  <a:srgbClr val="14213D"/>
                </a:solidFill>
                <a:latin typeface="Cambria" pitchFamily="34" charset="0"/>
                <a:ea typeface="Cambria" pitchFamily="34" charset="-122"/>
                <a:cs typeface="Cambria" pitchFamily="34" charset="-120"/>
              </a:rPr>
              <a:t>Regulatory</a:t>
            </a:r>
            <a:endParaRPr lang="en-US" sz="1700" dirty="0"/>
          </a:p>
        </p:txBody>
      </p:sp>
      <p:sp>
        <p:nvSpPr>
          <p:cNvPr id="33" name="Text 27"/>
          <p:cNvSpPr txBox="1"/>
          <p:nvPr/>
        </p:nvSpPr>
        <p:spPr>
          <a:xfrm>
            <a:off x="7575804" y="3794760"/>
            <a:ext cx="1691640" cy="2331720"/>
          </a:xfrm>
          <a:prstGeom prst="rect">
            <a:avLst/>
          </a:prstGeom>
          <a:noFill/>
          <a:ln/>
        </p:spPr>
        <p:txBody>
          <a:bodyPr wrap="square" lIns="0" tIns="0" rIns="0" bIns="0" rtlCol="0" anchor="t"/>
          <a:lstStyle/>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Change in law</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Tax change</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Licensing</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Penalties</a:t>
            </a:r>
            <a:endParaRPr lang="en-US" sz="1450" dirty="0"/>
          </a:p>
        </p:txBody>
      </p:sp>
      <p:sp>
        <p:nvSpPr>
          <p:cNvPr id="34" name="Shape 28"/>
          <p:cNvSpPr/>
          <p:nvPr/>
        </p:nvSpPr>
        <p:spPr>
          <a:xfrm>
            <a:off x="10657332" y="2148840"/>
            <a:ext cx="0" cy="274320"/>
          </a:xfrm>
          <a:prstGeom prst="line">
            <a:avLst/>
          </a:prstGeom>
          <a:noFill/>
          <a:ln w="19050">
            <a:solidFill>
              <a:srgbClr val="8C6D0F"/>
            </a:solidFill>
            <a:prstDash val="solid"/>
          </a:ln>
        </p:spPr>
      </p:sp>
      <p:sp>
        <p:nvSpPr>
          <p:cNvPr id="35" name="Shape 29"/>
          <p:cNvSpPr/>
          <p:nvPr/>
        </p:nvSpPr>
        <p:spPr>
          <a:xfrm>
            <a:off x="9628632" y="2423160"/>
            <a:ext cx="2057400" cy="3794760"/>
          </a:xfrm>
          <a:prstGeom prst="roundRect">
            <a:avLst>
              <a:gd name="adj" fmla="val 35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6" name="Shape 30"/>
          <p:cNvSpPr/>
          <p:nvPr/>
        </p:nvSpPr>
        <p:spPr>
          <a:xfrm>
            <a:off x="10337292" y="2578608"/>
            <a:ext cx="640080" cy="640080"/>
          </a:xfrm>
          <a:prstGeom prst="ellipse">
            <a:avLst/>
          </a:prstGeom>
          <a:solidFill>
            <a:srgbClr val="14213D"/>
          </a:solidFill>
          <a:ln w="12700">
            <a:solidFill>
              <a:srgbClr val="14213D"/>
            </a:solidFill>
            <a:prstDash val="solid"/>
          </a:ln>
        </p:spPr>
      </p:sp>
      <p:pic>
        <p:nvPicPr>
          <p:cNvPr id="37" name="Image 4" descr="preencoded.png"/>
          <p:cNvPicPr>
            <a:picLocks noChangeAspect="1"/>
          </p:cNvPicPr>
          <p:nvPr/>
        </p:nvPicPr>
        <p:blipFill>
          <a:blip r:embed="rId7"/>
          <a:stretch>
            <a:fillRect/>
          </a:stretch>
        </p:blipFill>
        <p:spPr>
          <a:xfrm>
            <a:off x="10490911" y="2732227"/>
            <a:ext cx="332842" cy="332842"/>
          </a:xfrm>
          <a:prstGeom prst="rect">
            <a:avLst/>
          </a:prstGeom>
        </p:spPr>
      </p:pic>
      <p:sp>
        <p:nvSpPr>
          <p:cNvPr id="38" name="Text 31"/>
          <p:cNvSpPr txBox="1"/>
          <p:nvPr/>
        </p:nvSpPr>
        <p:spPr>
          <a:xfrm>
            <a:off x="9720072" y="3291840"/>
            <a:ext cx="1874520" cy="411480"/>
          </a:xfrm>
          <a:prstGeom prst="rect">
            <a:avLst/>
          </a:prstGeom>
          <a:noFill/>
          <a:ln/>
        </p:spPr>
        <p:txBody>
          <a:bodyPr wrap="square" lIns="0" tIns="0" rIns="0" bIns="0" rtlCol="0" anchor="t"/>
          <a:lstStyle/>
          <a:p>
            <a:pPr marL="0" indent="0" algn="ctr">
              <a:buNone/>
            </a:pPr>
            <a:r>
              <a:rPr lang="en-US" sz="1700" b="1" dirty="0">
                <a:solidFill>
                  <a:srgbClr val="14213D"/>
                </a:solidFill>
                <a:latin typeface="Cambria" pitchFamily="34" charset="0"/>
                <a:ea typeface="Cambria" pitchFamily="34" charset="-122"/>
                <a:cs typeface="Cambria" pitchFamily="34" charset="-120"/>
              </a:rPr>
              <a:t>Reputational</a:t>
            </a:r>
            <a:endParaRPr lang="en-US" sz="1700" dirty="0"/>
          </a:p>
        </p:txBody>
      </p:sp>
      <p:sp>
        <p:nvSpPr>
          <p:cNvPr id="39" name="Text 32"/>
          <p:cNvSpPr txBox="1"/>
          <p:nvPr/>
        </p:nvSpPr>
        <p:spPr>
          <a:xfrm>
            <a:off x="9857232" y="3794760"/>
            <a:ext cx="1691640" cy="2331720"/>
          </a:xfrm>
          <a:prstGeom prst="rect">
            <a:avLst/>
          </a:prstGeom>
          <a:noFill/>
          <a:ln/>
        </p:spPr>
        <p:txBody>
          <a:bodyPr wrap="square" lIns="0" tIns="0" rIns="0" bIns="0" rtlCol="0" anchor="t"/>
          <a:lstStyle/>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Loss of trust</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Media and social media</a:t>
            </a:r>
            <a:endParaRPr lang="en-US" sz="1450" dirty="0"/>
          </a:p>
          <a:p>
            <a:pPr marL="177800" indent="-177800" algn="l">
              <a:spcAft>
                <a:spcPts val="700"/>
              </a:spcAft>
              <a:buSzPct val="100000"/>
              <a:buChar char="•"/>
            </a:pPr>
            <a:r>
              <a:rPr lang="en-US" sz="1450" dirty="0">
                <a:solidFill>
                  <a:srgbClr val="1E2533"/>
                </a:solidFill>
                <a:latin typeface="Calibri" pitchFamily="34" charset="0"/>
                <a:ea typeface="Calibri" pitchFamily="34" charset="-122"/>
                <a:cs typeface="Calibri" pitchFamily="34" charset="-120"/>
              </a:rPr>
              <a:t>ESG controversies</a:t>
            </a:r>
            <a:endParaRPr lang="en-US" sz="1450" dirty="0"/>
          </a:p>
        </p:txBody>
      </p:sp>
      <p:sp>
        <p:nvSpPr>
          <p:cNvPr id="40"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 Financial Risk: The Four Main Types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Equity risk</a:t>
            </a:r>
            <a:endParaRPr lang="en-US" sz="1700" dirty="0"/>
          </a:p>
        </p:txBody>
      </p:sp>
      <p:sp>
        <p:nvSpPr>
          <p:cNvPr id="10" name="Text 7"/>
          <p:cNvSpPr txBox="1"/>
          <p:nvPr/>
        </p:nvSpPr>
        <p:spPr>
          <a:xfrm>
            <a:off x="685800" y="2039112"/>
            <a:ext cx="5088636"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Loss from falling share prices or indices. Example: the Nifty 50's roughly 38% fall between January and March 2020 hit every equity portfolio and ULIP fund.</a:t>
            </a:r>
            <a:endParaRPr lang="en-US" sz="1650" dirty="0"/>
          </a:p>
        </p:txBody>
      </p:sp>
      <p:sp>
        <p:nvSpPr>
          <p:cNvPr id="11" name="Shape 8"/>
          <p:cNvSpPr/>
          <p:nvPr/>
        </p:nvSpPr>
        <p:spPr>
          <a:xfrm>
            <a:off x="6231636" y="128016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6414516"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6535217" y="1583741"/>
            <a:ext cx="261518" cy="261518"/>
          </a:xfrm>
          <a:prstGeom prst="rect">
            <a:avLst/>
          </a:prstGeom>
        </p:spPr>
      </p:pic>
      <p:sp>
        <p:nvSpPr>
          <p:cNvPr id="14" name="Text 10"/>
          <p:cNvSpPr txBox="1"/>
          <p:nvPr/>
        </p:nvSpPr>
        <p:spPr>
          <a:xfrm>
            <a:off x="7008876" y="142646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Interest rate risk</a:t>
            </a:r>
            <a:endParaRPr lang="en-US" sz="1700" dirty="0"/>
          </a:p>
        </p:txBody>
      </p:sp>
      <p:sp>
        <p:nvSpPr>
          <p:cNvPr id="15" name="Text 11"/>
          <p:cNvSpPr txBox="1"/>
          <p:nvPr/>
        </p:nvSpPr>
        <p:spPr>
          <a:xfrm>
            <a:off x="6414516" y="2039112"/>
            <a:ext cx="5088636"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Loss when rates move against a position: bond prices fall when yields rise; margins shrink when deposits reprice faster than loans. Example: RBI's 250 bp of hikes in 2022–23 created mark-to-market losses on bank bond books.</a:t>
            </a:r>
            <a:endParaRPr lang="en-US" sz="1650" dirty="0"/>
          </a:p>
        </p:txBody>
      </p:sp>
      <p:sp>
        <p:nvSpPr>
          <p:cNvPr id="16" name="Shape 12"/>
          <p:cNvSpPr/>
          <p:nvPr/>
        </p:nvSpPr>
        <p:spPr>
          <a:xfrm>
            <a:off x="502920" y="388620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685800" y="406908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06501" y="4189781"/>
            <a:ext cx="261518" cy="261518"/>
          </a:xfrm>
          <a:prstGeom prst="rect">
            <a:avLst/>
          </a:prstGeom>
        </p:spPr>
      </p:pic>
      <p:sp>
        <p:nvSpPr>
          <p:cNvPr id="19" name="Text 14"/>
          <p:cNvSpPr txBox="1"/>
          <p:nvPr/>
        </p:nvSpPr>
        <p:spPr>
          <a:xfrm>
            <a:off x="1280160" y="403250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Liquidity risk</a:t>
            </a:r>
            <a:endParaRPr lang="en-US" sz="1700" dirty="0"/>
          </a:p>
        </p:txBody>
      </p:sp>
      <p:sp>
        <p:nvSpPr>
          <p:cNvPr id="20" name="Text 15"/>
          <p:cNvSpPr txBox="1"/>
          <p:nvPr/>
        </p:nvSpPr>
        <p:spPr>
          <a:xfrm>
            <a:off x="685800" y="4645152"/>
            <a:ext cx="5088636"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Funding liquidity: inability to meet obligations as they fall due. Market liquidity: inability to sell without a big price cut. Example: IL&amp;FS defaults (2018) froze NBFC funding.</a:t>
            </a:r>
            <a:endParaRPr lang="en-US" sz="1650" dirty="0"/>
          </a:p>
        </p:txBody>
      </p:sp>
      <p:sp>
        <p:nvSpPr>
          <p:cNvPr id="21" name="Shape 16"/>
          <p:cNvSpPr/>
          <p:nvPr/>
        </p:nvSpPr>
        <p:spPr>
          <a:xfrm>
            <a:off x="6231636" y="3886200"/>
            <a:ext cx="5454396"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6414516"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6535217" y="4189781"/>
            <a:ext cx="261518" cy="261518"/>
          </a:xfrm>
          <a:prstGeom prst="rect">
            <a:avLst/>
          </a:prstGeom>
        </p:spPr>
      </p:pic>
      <p:sp>
        <p:nvSpPr>
          <p:cNvPr id="24" name="Text 18"/>
          <p:cNvSpPr txBox="1"/>
          <p:nvPr/>
        </p:nvSpPr>
        <p:spPr>
          <a:xfrm>
            <a:off x="7008876" y="403250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Foreign exchange risk</a:t>
            </a:r>
            <a:endParaRPr lang="en-US" sz="1700" dirty="0"/>
          </a:p>
        </p:txBody>
      </p:sp>
      <p:sp>
        <p:nvSpPr>
          <p:cNvPr id="25" name="Text 19"/>
          <p:cNvSpPr txBox="1"/>
          <p:nvPr/>
        </p:nvSpPr>
        <p:spPr>
          <a:xfrm>
            <a:off x="6414516" y="4645152"/>
            <a:ext cx="5088636"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Loss from currency movements on receivables, payables, investments and foreign debt. Example: in the 2013 taper tantrum the rupee fell to about ₹68 per dollar, squeezing importers and ECB borrowers.</a:t>
            </a:r>
            <a:endParaRPr lang="en-US" sz="1650" dirty="0"/>
          </a:p>
        </p:txBody>
      </p:sp>
      <p:sp>
        <p:nvSpPr>
          <p:cNvPr id="2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Liquidity Risk: A Closer Look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38728" cy="4937760"/>
          </a:xfrm>
          <a:prstGeom prst="roundRect">
            <a:avLst>
              <a:gd name="adj" fmla="val 206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704088" y="1444752"/>
            <a:ext cx="548640" cy="54864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35762" y="1576426"/>
            <a:ext cx="285293" cy="285293"/>
          </a:xfrm>
          <a:prstGeom prst="rect">
            <a:avLst/>
          </a:prstGeom>
        </p:spPr>
      </p:pic>
      <p:sp>
        <p:nvSpPr>
          <p:cNvPr id="9" name="Text 6"/>
          <p:cNvSpPr txBox="1"/>
          <p:nvPr/>
        </p:nvSpPr>
        <p:spPr>
          <a:xfrm>
            <a:off x="1371600" y="1444752"/>
            <a:ext cx="2560320" cy="548640"/>
          </a:xfrm>
          <a:prstGeom prst="rect">
            <a:avLst/>
          </a:prstGeom>
          <a:noFill/>
          <a:ln/>
        </p:spPr>
        <p:txBody>
          <a:bodyPr wrap="square" lIns="0" tIns="0" rIns="0" bIns="0" rtlCol="0" anchor="ctr"/>
          <a:lstStyle/>
          <a:p>
            <a:pPr marL="0" indent="0" algn="l">
              <a:buNone/>
            </a:pPr>
            <a:r>
              <a:rPr lang="en-US" sz="1650" b="1" dirty="0">
                <a:solidFill>
                  <a:srgbClr val="14213D"/>
                </a:solidFill>
                <a:latin typeface="Cambria" pitchFamily="34" charset="0"/>
                <a:ea typeface="Cambria" pitchFamily="34" charset="-122"/>
                <a:cs typeface="Cambria" pitchFamily="34" charset="-120"/>
              </a:rPr>
              <a:t>Funding liquidity risk</a:t>
            </a:r>
            <a:endParaRPr lang="en-US" sz="1650" dirty="0"/>
          </a:p>
        </p:txBody>
      </p:sp>
      <p:sp>
        <p:nvSpPr>
          <p:cNvPr id="10" name="Text 7"/>
          <p:cNvSpPr txBox="1"/>
          <p:nvPr/>
        </p:nvSpPr>
        <p:spPr>
          <a:xfrm>
            <a:off x="731520" y="2194560"/>
            <a:ext cx="3108960" cy="393192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1E2533"/>
                </a:solidFill>
                <a:latin typeface="Calibri" pitchFamily="34" charset="0"/>
                <a:ea typeface="Calibri" pitchFamily="34" charset="-122"/>
                <a:cs typeface="Calibri" pitchFamily="34" charset="-120"/>
              </a:rPr>
              <a:t>Cannot raise cash to repay deposits, CP or bonds when due.</a:t>
            </a:r>
            <a:endParaRPr lang="en-US" sz="1500" dirty="0"/>
          </a:p>
          <a:p>
            <a:pPr marL="177800" indent="-177800" algn="l">
              <a:spcAft>
                <a:spcPts val="1000"/>
              </a:spcAft>
              <a:buSzPct val="100000"/>
              <a:buChar char="•"/>
            </a:pPr>
            <a:r>
              <a:rPr lang="en-US" sz="1500" dirty="0">
                <a:solidFill>
                  <a:srgbClr val="1E2533"/>
                </a:solidFill>
                <a:latin typeface="Calibri" pitchFamily="34" charset="0"/>
                <a:ea typeface="Calibri" pitchFamily="34" charset="-122"/>
                <a:cs typeface="Calibri" pitchFamily="34" charset="-120"/>
              </a:rPr>
              <a:t>Arises from borrowing short to lend long (ALM mismatch).</a:t>
            </a:r>
            <a:endParaRPr lang="en-US" sz="1500" dirty="0"/>
          </a:p>
          <a:p>
            <a:pPr marL="177800" indent="-177800" algn="l">
              <a:spcAft>
                <a:spcPts val="1000"/>
              </a:spcAft>
              <a:buSzPct val="100000"/>
              <a:buChar char="•"/>
            </a:pPr>
            <a:r>
              <a:rPr lang="en-US" sz="1500" dirty="0">
                <a:solidFill>
                  <a:srgbClr val="1E2533"/>
                </a:solidFill>
                <a:latin typeface="Calibri" pitchFamily="34" charset="0"/>
                <a:ea typeface="Calibri" pitchFamily="34" charset="-122"/>
                <a:cs typeface="Calibri" pitchFamily="34" charset="-120"/>
              </a:rPr>
              <a:t>Metrics: LCR, NSFR, maturity-bucket gaps, reliance on wholesale funds.</a:t>
            </a:r>
            <a:endParaRPr lang="en-US" sz="1500" dirty="0"/>
          </a:p>
        </p:txBody>
      </p:sp>
      <p:sp>
        <p:nvSpPr>
          <p:cNvPr id="11" name="Shape 8"/>
          <p:cNvSpPr/>
          <p:nvPr/>
        </p:nvSpPr>
        <p:spPr>
          <a:xfrm>
            <a:off x="4315968" y="1280160"/>
            <a:ext cx="3538728" cy="4937760"/>
          </a:xfrm>
          <a:prstGeom prst="roundRect">
            <a:avLst>
              <a:gd name="adj" fmla="val 206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517136" y="1444752"/>
            <a:ext cx="548640" cy="54864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648810" y="1576426"/>
            <a:ext cx="285293" cy="285293"/>
          </a:xfrm>
          <a:prstGeom prst="rect">
            <a:avLst/>
          </a:prstGeom>
        </p:spPr>
      </p:pic>
      <p:sp>
        <p:nvSpPr>
          <p:cNvPr id="14" name="Text 10"/>
          <p:cNvSpPr txBox="1"/>
          <p:nvPr/>
        </p:nvSpPr>
        <p:spPr>
          <a:xfrm>
            <a:off x="5184648" y="1444752"/>
            <a:ext cx="2560320" cy="548640"/>
          </a:xfrm>
          <a:prstGeom prst="rect">
            <a:avLst/>
          </a:prstGeom>
          <a:noFill/>
          <a:ln/>
        </p:spPr>
        <p:txBody>
          <a:bodyPr wrap="square" lIns="0" tIns="0" rIns="0" bIns="0" rtlCol="0" anchor="ctr"/>
          <a:lstStyle/>
          <a:p>
            <a:pPr marL="0" indent="0" algn="l">
              <a:buNone/>
            </a:pPr>
            <a:r>
              <a:rPr lang="en-US" sz="1650" b="1" dirty="0">
                <a:solidFill>
                  <a:srgbClr val="14213D"/>
                </a:solidFill>
                <a:latin typeface="Cambria" pitchFamily="34" charset="0"/>
                <a:ea typeface="Cambria" pitchFamily="34" charset="-122"/>
                <a:cs typeface="Cambria" pitchFamily="34" charset="-120"/>
              </a:rPr>
              <a:t>Market liquidity risk</a:t>
            </a:r>
            <a:endParaRPr lang="en-US" sz="1650" dirty="0"/>
          </a:p>
        </p:txBody>
      </p:sp>
      <p:sp>
        <p:nvSpPr>
          <p:cNvPr id="15" name="Text 11"/>
          <p:cNvSpPr txBox="1"/>
          <p:nvPr/>
        </p:nvSpPr>
        <p:spPr>
          <a:xfrm>
            <a:off x="4544568" y="2194560"/>
            <a:ext cx="3108960" cy="393192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1E2533"/>
                </a:solidFill>
                <a:latin typeface="Calibri" pitchFamily="34" charset="0"/>
                <a:ea typeface="Calibri" pitchFamily="34" charset="-122"/>
                <a:cs typeface="Calibri" pitchFamily="34" charset="-120"/>
              </a:rPr>
              <a:t>Cannot sell an asset quickly without a large price discount.</a:t>
            </a:r>
            <a:endParaRPr lang="en-US" sz="1500" dirty="0"/>
          </a:p>
          <a:p>
            <a:pPr marL="177800" indent="-177800" algn="l">
              <a:spcAft>
                <a:spcPts val="1000"/>
              </a:spcAft>
              <a:buSzPct val="100000"/>
              <a:buChar char="•"/>
            </a:pPr>
            <a:r>
              <a:rPr lang="en-US" sz="1500" dirty="0">
                <a:solidFill>
                  <a:srgbClr val="1E2533"/>
                </a:solidFill>
                <a:latin typeface="Calibri" pitchFamily="34" charset="0"/>
                <a:ea typeface="Calibri" pitchFamily="34" charset="-122"/>
                <a:cs typeface="Calibri" pitchFamily="34" charset="-120"/>
              </a:rPr>
              <a:t>Wide bid-ask spreads, thin trading in corporate bonds and small caps.</a:t>
            </a:r>
            <a:endParaRPr lang="en-US" sz="1500" dirty="0"/>
          </a:p>
          <a:p>
            <a:pPr marL="177800" indent="-177800" algn="l">
              <a:spcAft>
                <a:spcPts val="1000"/>
              </a:spcAft>
              <a:buSzPct val="100000"/>
              <a:buChar char="•"/>
            </a:pPr>
            <a:r>
              <a:rPr lang="en-US" sz="1500" dirty="0">
                <a:solidFill>
                  <a:srgbClr val="1E2533"/>
                </a:solidFill>
                <a:latin typeface="Calibri" pitchFamily="34" charset="0"/>
                <a:ea typeface="Calibri" pitchFamily="34" charset="-122"/>
                <a:cs typeface="Calibri" pitchFamily="34" charset="-120"/>
              </a:rPr>
              <a:t>Metrics: bid-ask spread, days to liquidate, market impact cost.</a:t>
            </a:r>
            <a:endParaRPr lang="en-US" sz="1500" dirty="0"/>
          </a:p>
        </p:txBody>
      </p:sp>
      <p:sp>
        <p:nvSpPr>
          <p:cNvPr id="16" name="Shape 12"/>
          <p:cNvSpPr/>
          <p:nvPr/>
        </p:nvSpPr>
        <p:spPr>
          <a:xfrm>
            <a:off x="8129016" y="1280160"/>
            <a:ext cx="3557016" cy="4937760"/>
          </a:xfrm>
          <a:prstGeom prst="roundRect">
            <a:avLst>
              <a:gd name="adj" fmla="val 2057"/>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7" name="Text 13"/>
          <p:cNvSpPr txBox="1"/>
          <p:nvPr/>
        </p:nvSpPr>
        <p:spPr>
          <a:xfrm>
            <a:off x="8321040" y="1417320"/>
            <a:ext cx="3200400" cy="4663440"/>
          </a:xfrm>
          <a:prstGeom prst="rect">
            <a:avLst/>
          </a:prstGeom>
          <a:noFill/>
          <a:ln/>
        </p:spPr>
        <p:txBody>
          <a:bodyPr wrap="square" lIns="0" tIns="0" rIns="0" bIns="0" rtlCol="0" anchor="t"/>
          <a:lstStyle/>
          <a:p>
            <a:pPr marL="0" indent="0" algn="l">
              <a:spcAft>
                <a:spcPts val="800"/>
              </a:spcAft>
              <a:buNone/>
            </a:pPr>
            <a:r>
              <a:rPr lang="en-US" sz="1600" b="1" dirty="0">
                <a:solidFill>
                  <a:srgbClr val="C9A227"/>
                </a:solidFill>
                <a:latin typeface="Calibri" pitchFamily="34" charset="0"/>
                <a:ea typeface="Calibri" pitchFamily="34" charset="-122"/>
                <a:cs typeface="Calibri" pitchFamily="34" charset="-120"/>
              </a:rPr>
              <a:t>When the two meet</a:t>
            </a:r>
            <a:endParaRPr lang="en-US" sz="1600" dirty="0"/>
          </a:p>
          <a:p>
            <a:pPr marL="0" indent="0" algn="l">
              <a:buNone/>
            </a:pPr>
            <a:r>
              <a:rPr lang="en-US" sz="1400" b="1" dirty="0">
                <a:solidFill>
                  <a:srgbClr val="EAD9A0"/>
                </a:solidFill>
                <a:latin typeface="Calibri" pitchFamily="34" charset="0"/>
                <a:ea typeface="Calibri" pitchFamily="34" charset="-122"/>
                <a:cs typeface="Calibri" pitchFamily="34" charset="-120"/>
              </a:rPr>
              <a:t>IL&amp;FS (2018)</a:t>
            </a:r>
            <a:endParaRPr lang="en-US" sz="1600" dirty="0"/>
          </a:p>
          <a:p>
            <a:pPr marL="0" indent="0" algn="l">
              <a:spcAft>
                <a:spcPts val="800"/>
              </a:spcAft>
              <a:buNone/>
            </a:pPr>
            <a:r>
              <a:rPr lang="en-US" sz="1400" dirty="0">
                <a:solidFill>
                  <a:srgbClr val="FFFFFF"/>
                </a:solidFill>
                <a:latin typeface="Calibri" pitchFamily="34" charset="0"/>
                <a:ea typeface="Calibri" pitchFamily="34" charset="-122"/>
                <a:cs typeface="Calibri" pitchFamily="34" charset="-120"/>
              </a:rPr>
              <a:t>Short-term borrowing funded long projects; defaults froze CP markets for NBFCs.</a:t>
            </a:r>
            <a:endParaRPr lang="en-US" sz="1600" dirty="0"/>
          </a:p>
          <a:p>
            <a:pPr marL="0" indent="0" algn="l">
              <a:buNone/>
            </a:pPr>
            <a:r>
              <a:rPr lang="en-US" sz="1400" b="1" dirty="0">
                <a:solidFill>
                  <a:srgbClr val="EAD9A0"/>
                </a:solidFill>
                <a:latin typeface="Calibri" pitchFamily="34" charset="0"/>
                <a:ea typeface="Calibri" pitchFamily="34" charset="-122"/>
                <a:cs typeface="Calibri" pitchFamily="34" charset="-120"/>
              </a:rPr>
              <a:t>Franklin Templeton (2020)</a:t>
            </a:r>
            <a:endParaRPr lang="en-US" sz="1600" dirty="0"/>
          </a:p>
          <a:p>
            <a:pPr marL="0" indent="0" algn="l">
              <a:spcAft>
                <a:spcPts val="800"/>
              </a:spcAft>
              <a:buNone/>
            </a:pPr>
            <a:r>
              <a:rPr lang="en-US" sz="1400" dirty="0">
                <a:solidFill>
                  <a:srgbClr val="FFFFFF"/>
                </a:solidFill>
                <a:latin typeface="Calibri" pitchFamily="34" charset="0"/>
                <a:ea typeface="Calibri" pitchFamily="34" charset="-122"/>
                <a:cs typeface="Calibri" pitchFamily="34" charset="-120"/>
              </a:rPr>
              <a:t>Redemptions plus illiquid lower-rated bonds led to the winding up of six debt schemes.</a:t>
            </a:r>
            <a:endParaRPr lang="en-US" sz="1600" dirty="0"/>
          </a:p>
          <a:p>
            <a:pPr marL="0" indent="0" algn="l">
              <a:buNone/>
            </a:pPr>
            <a:r>
              <a:rPr lang="en-US" sz="1400" b="1" dirty="0">
                <a:solidFill>
                  <a:srgbClr val="EAD9A0"/>
                </a:solidFill>
                <a:latin typeface="Calibri" pitchFamily="34" charset="0"/>
                <a:ea typeface="Calibri" pitchFamily="34" charset="-122"/>
                <a:cs typeface="Calibri" pitchFamily="34" charset="-120"/>
              </a:rPr>
              <a:t>Silicon Valley Bank (2023)</a:t>
            </a:r>
            <a:endParaRPr lang="en-US" sz="1600" dirty="0"/>
          </a:p>
          <a:p>
            <a:pPr marL="0" indent="0" algn="l">
              <a:buNone/>
            </a:pPr>
            <a:r>
              <a:rPr lang="en-US" sz="1400" dirty="0">
                <a:solidFill>
                  <a:srgbClr val="FFFFFF"/>
                </a:solidFill>
                <a:latin typeface="Calibri" pitchFamily="34" charset="0"/>
                <a:ea typeface="Calibri" pitchFamily="34" charset="-122"/>
                <a:cs typeface="Calibri" pitchFamily="34" charset="-120"/>
              </a:rPr>
              <a:t>Deposit flight forced sales of bonds carrying losses from rising rates.</a:t>
            </a:r>
            <a:endParaRPr lang="en-US" sz="16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ii. Insurance Risk: Five Underwriting Risks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Mortality</a:t>
            </a:r>
            <a:endParaRPr lang="en-US" sz="1700" dirty="0"/>
          </a:p>
        </p:txBody>
      </p:sp>
      <p:sp>
        <p:nvSpPr>
          <p:cNvPr id="10" name="Text 7"/>
          <p:cNvSpPr txBox="1"/>
          <p:nvPr/>
        </p:nvSpPr>
        <p:spPr>
          <a:xfrm>
            <a:off x="685800" y="2039112"/>
            <a:ext cx="3179064"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Policyholders die earlier than priced. 1 lakh term policies of ₹20 lakh; deaths 1.8 vs 1.2 per 1,000 → excess claims ₹12 crore.</a:t>
            </a:r>
            <a:endParaRPr lang="en-US" sz="1550" dirty="0"/>
          </a:p>
        </p:txBody>
      </p:sp>
      <p:sp>
        <p:nvSpPr>
          <p:cNvPr id="11" name="Shape 8"/>
          <p:cNvSpPr/>
          <p:nvPr/>
        </p:nvSpPr>
        <p:spPr>
          <a:xfrm>
            <a:off x="4322064"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504944"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625645" y="1583741"/>
            <a:ext cx="261518" cy="261518"/>
          </a:xfrm>
          <a:prstGeom prst="rect">
            <a:avLst/>
          </a:prstGeom>
        </p:spPr>
      </p:pic>
      <p:sp>
        <p:nvSpPr>
          <p:cNvPr id="14" name="Text 10"/>
          <p:cNvSpPr txBox="1"/>
          <p:nvPr/>
        </p:nvSpPr>
        <p:spPr>
          <a:xfrm>
            <a:off x="5099304"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Morbidity</a:t>
            </a:r>
            <a:endParaRPr lang="en-US" sz="1700" dirty="0"/>
          </a:p>
        </p:txBody>
      </p:sp>
      <p:sp>
        <p:nvSpPr>
          <p:cNvPr id="15" name="Text 11"/>
          <p:cNvSpPr txBox="1"/>
          <p:nvPr/>
        </p:nvSpPr>
        <p:spPr>
          <a:xfrm>
            <a:off x="4504944" y="2039112"/>
            <a:ext cx="3179064"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Illness or disability is more frequent or costly than assumed. 2 lakh health lives; claim rate 10% vs 8%; ₹50,000 average → ₹20 crore extra.</a:t>
            </a:r>
            <a:endParaRPr lang="en-US" sz="1550" dirty="0"/>
          </a:p>
        </p:txBody>
      </p:sp>
      <p:sp>
        <p:nvSpPr>
          <p:cNvPr id="16" name="Shape 12"/>
          <p:cNvSpPr/>
          <p:nvPr/>
        </p:nvSpPr>
        <p:spPr>
          <a:xfrm>
            <a:off x="8141208"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8324088" y="146304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444789" y="1583741"/>
            <a:ext cx="261518" cy="261518"/>
          </a:xfrm>
          <a:prstGeom prst="rect">
            <a:avLst/>
          </a:prstGeom>
        </p:spPr>
      </p:pic>
      <p:sp>
        <p:nvSpPr>
          <p:cNvPr id="19" name="Text 14"/>
          <p:cNvSpPr txBox="1"/>
          <p:nvPr/>
        </p:nvSpPr>
        <p:spPr>
          <a:xfrm>
            <a:off x="8918448"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Longevity</a:t>
            </a:r>
            <a:endParaRPr lang="en-US" sz="1700" dirty="0"/>
          </a:p>
        </p:txBody>
      </p:sp>
      <p:sp>
        <p:nvSpPr>
          <p:cNvPr id="20" name="Text 15"/>
          <p:cNvSpPr txBox="1"/>
          <p:nvPr/>
        </p:nvSpPr>
        <p:spPr>
          <a:xfrm>
            <a:off x="8324088" y="2039112"/>
            <a:ext cx="3179064"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Annuitants live longer than priced. ₹1 lakh a year at 7%: PV for 20 years ₹10,59,401; for 23 years ₹11,27,219; shortfall ₹67,817 each.</a:t>
            </a:r>
            <a:endParaRPr lang="en-US" sz="1550" dirty="0"/>
          </a:p>
        </p:txBody>
      </p:sp>
      <p:sp>
        <p:nvSpPr>
          <p:cNvPr id="21" name="Shape 16"/>
          <p:cNvSpPr/>
          <p:nvPr/>
        </p:nvSpPr>
        <p:spPr>
          <a:xfrm>
            <a:off x="502920"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685800"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806501" y="4189781"/>
            <a:ext cx="261518" cy="261518"/>
          </a:xfrm>
          <a:prstGeom prst="rect">
            <a:avLst/>
          </a:prstGeom>
        </p:spPr>
      </p:pic>
      <p:sp>
        <p:nvSpPr>
          <p:cNvPr id="24" name="Text 18"/>
          <p:cNvSpPr txBox="1"/>
          <p:nvPr/>
        </p:nvSpPr>
        <p:spPr>
          <a:xfrm>
            <a:off x="1280160"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Expense</a:t>
            </a:r>
            <a:endParaRPr lang="en-US" sz="1700" dirty="0"/>
          </a:p>
        </p:txBody>
      </p:sp>
      <p:sp>
        <p:nvSpPr>
          <p:cNvPr id="25" name="Text 19"/>
          <p:cNvSpPr txBox="1"/>
          <p:nvPr/>
        </p:nvSpPr>
        <p:spPr>
          <a:xfrm>
            <a:off x="685800" y="4645152"/>
            <a:ext cx="3179064"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Administration costs exceed pricing. 5 lakh policies at ₹750 actual vs ₹600 priced → overrun ₹7.5 crore.</a:t>
            </a:r>
            <a:endParaRPr lang="en-US" sz="1550" dirty="0"/>
          </a:p>
        </p:txBody>
      </p:sp>
      <p:sp>
        <p:nvSpPr>
          <p:cNvPr id="26" name="Shape 20"/>
          <p:cNvSpPr/>
          <p:nvPr/>
        </p:nvSpPr>
        <p:spPr>
          <a:xfrm>
            <a:off x="4322064"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4504944" y="4069080"/>
            <a:ext cx="502920" cy="50292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4625645" y="4189781"/>
            <a:ext cx="261518" cy="261518"/>
          </a:xfrm>
          <a:prstGeom prst="rect">
            <a:avLst/>
          </a:prstGeom>
        </p:spPr>
      </p:pic>
      <p:sp>
        <p:nvSpPr>
          <p:cNvPr id="29" name="Text 22"/>
          <p:cNvSpPr txBox="1"/>
          <p:nvPr/>
        </p:nvSpPr>
        <p:spPr>
          <a:xfrm>
            <a:off x="5099304"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Lapse</a:t>
            </a:r>
            <a:endParaRPr lang="en-US" sz="1700" dirty="0"/>
          </a:p>
        </p:txBody>
      </p:sp>
      <p:sp>
        <p:nvSpPr>
          <p:cNvPr id="30" name="Text 23"/>
          <p:cNvSpPr txBox="1"/>
          <p:nvPr/>
        </p:nvSpPr>
        <p:spPr>
          <a:xfrm>
            <a:off x="4504944" y="4645152"/>
            <a:ext cx="3179064"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Policyholders stop paying premiums, so acquisition costs go unrecovered. Lapses 9% vs 5% on 1 lakh policies at ₹8,000 lost profit each → ₹3.2 crore.</a:t>
            </a:r>
            <a:endParaRPr lang="en-US" sz="1550" dirty="0"/>
          </a:p>
        </p:txBody>
      </p:sp>
      <p:sp>
        <p:nvSpPr>
          <p:cNvPr id="31" name="Shape 24"/>
          <p:cNvSpPr/>
          <p:nvPr/>
        </p:nvSpPr>
        <p:spPr>
          <a:xfrm>
            <a:off x="8141208" y="3886200"/>
            <a:ext cx="3544824" cy="2331720"/>
          </a:xfrm>
          <a:prstGeom prst="roundRect">
            <a:avLst>
              <a:gd name="adj" fmla="val 3137"/>
            </a:avLst>
          </a:prstGeom>
          <a:solidFill>
            <a:srgbClr val="EFE8D6"/>
          </a:solidFill>
          <a:ln w="9525">
            <a:solidFill>
              <a:srgbClr val="EFE8D6"/>
            </a:solidFill>
            <a:prstDash val="solid"/>
          </a:ln>
          <a:effectLst>
            <a:outerShdw blurRad="63500" dist="19050" dir="5400000" algn="bl" rotWithShape="0">
              <a:srgbClr val="000000">
                <a:alpha val="13000"/>
              </a:srgbClr>
            </a:outerShdw>
          </a:effectLst>
        </p:spPr>
      </p:sp>
      <p:sp>
        <p:nvSpPr>
          <p:cNvPr id="32" name="Shape 25"/>
          <p:cNvSpPr/>
          <p:nvPr/>
        </p:nvSpPr>
        <p:spPr>
          <a:xfrm>
            <a:off x="8324088" y="4069080"/>
            <a:ext cx="502920" cy="50292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8444789" y="4189781"/>
            <a:ext cx="261518" cy="261518"/>
          </a:xfrm>
          <a:prstGeom prst="rect">
            <a:avLst/>
          </a:prstGeom>
        </p:spPr>
      </p:pic>
      <p:sp>
        <p:nvSpPr>
          <p:cNvPr id="34" name="Text 26"/>
          <p:cNvSpPr txBox="1"/>
          <p:nvPr/>
        </p:nvSpPr>
        <p:spPr>
          <a:xfrm>
            <a:off x="8918448"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Managed by</a:t>
            </a:r>
            <a:endParaRPr lang="en-US" sz="1700" dirty="0"/>
          </a:p>
        </p:txBody>
      </p:sp>
      <p:sp>
        <p:nvSpPr>
          <p:cNvPr id="35" name="Text 27"/>
          <p:cNvSpPr txBox="1"/>
          <p:nvPr/>
        </p:nvSpPr>
        <p:spPr>
          <a:xfrm>
            <a:off x="8324088" y="4645152"/>
            <a:ext cx="3179064" cy="146304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Prudent pricing, medical underwriting, reinsurance, experience studies, persistency drives, expense control and IRDAI solvency buffers.</a:t>
            </a:r>
            <a:endParaRPr lang="en-US" sz="1550" dirty="0"/>
          </a:p>
        </p:txBody>
      </p:sp>
      <p:sp>
        <p:nvSpPr>
          <p:cNvPr id="3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iii. Operational Risk: Definition and Basel Event Types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11183112" cy="960120"/>
          </a:xfrm>
          <a:prstGeom prst="roundRect">
            <a:avLst>
              <a:gd name="adj" fmla="val 7619"/>
            </a:avLst>
          </a:prstGeom>
          <a:solidFill>
            <a:srgbClr val="14213D"/>
          </a:solidFill>
          <a:ln w="15875">
            <a:solidFill>
              <a:srgbClr val="C9A227"/>
            </a:solidFill>
            <a:prstDash val="solid"/>
          </a:ln>
        </p:spPr>
      </p:sp>
      <p:sp>
        <p:nvSpPr>
          <p:cNvPr id="7" name="Text 5"/>
          <p:cNvSpPr txBox="1"/>
          <p:nvPr/>
        </p:nvSpPr>
        <p:spPr>
          <a:xfrm>
            <a:off x="685800" y="1307592"/>
            <a:ext cx="10817352" cy="813816"/>
          </a:xfrm>
          <a:prstGeom prst="rect">
            <a:avLst/>
          </a:prstGeom>
          <a:noFill/>
          <a:ln/>
        </p:spPr>
        <p:txBody>
          <a:bodyPr wrap="square" lIns="0" tIns="0" rIns="0" bIns="0" rtlCol="0" anchor="ctr"/>
          <a:lstStyle/>
          <a:p>
            <a:pPr marL="0" indent="0" algn="l">
              <a:buNone/>
            </a:pPr>
            <a:r>
              <a:rPr lang="en-US" sz="1500" i="1" dirty="0">
                <a:solidFill>
                  <a:srgbClr val="FFFFFF"/>
                </a:solidFill>
                <a:latin typeface="Calibri" pitchFamily="34" charset="0"/>
                <a:ea typeface="Calibri" pitchFamily="34" charset="-122"/>
                <a:cs typeface="Calibri" pitchFamily="34" charset="-120"/>
              </a:rPr>
              <a:t>Operational risk: the risk of loss resulting from inadequate or failed internal processes, people and systems, or from external events. It includes legal risk but excludes strategic and reputational risk (Basel Committee).</a:t>
            </a:r>
            <a:endParaRPr lang="en-US" sz="1500" dirty="0"/>
          </a:p>
        </p:txBody>
      </p:sp>
      <p:sp>
        <p:nvSpPr>
          <p:cNvPr id="8" name="Shape 6"/>
          <p:cNvSpPr/>
          <p:nvPr/>
        </p:nvSpPr>
        <p:spPr>
          <a:xfrm>
            <a:off x="502920" y="2423160"/>
            <a:ext cx="2590038" cy="1760220"/>
          </a:xfrm>
          <a:prstGeom prst="roundRect">
            <a:avLst>
              <a:gd name="adj" fmla="val 41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258775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1. Internal fraud</a:t>
            </a:r>
            <a:endParaRPr lang="en-US" sz="1550" dirty="0"/>
          </a:p>
        </p:txBody>
      </p:sp>
      <p:sp>
        <p:nvSpPr>
          <p:cNvPr id="10" name="Text 8"/>
          <p:cNvSpPr txBox="1"/>
          <p:nvPr/>
        </p:nvSpPr>
        <p:spPr>
          <a:xfrm>
            <a:off x="685800" y="324612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Unauthorised activity, theft by employees.</a:t>
            </a:r>
            <a:endParaRPr lang="en-US" sz="1600" dirty="0"/>
          </a:p>
        </p:txBody>
      </p:sp>
      <p:sp>
        <p:nvSpPr>
          <p:cNvPr id="11" name="Shape 9"/>
          <p:cNvSpPr/>
          <p:nvPr/>
        </p:nvSpPr>
        <p:spPr>
          <a:xfrm>
            <a:off x="3367278" y="2423160"/>
            <a:ext cx="2590038" cy="1760220"/>
          </a:xfrm>
          <a:prstGeom prst="roundRect">
            <a:avLst>
              <a:gd name="adj" fmla="val 41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Text 10"/>
          <p:cNvSpPr txBox="1"/>
          <p:nvPr/>
        </p:nvSpPr>
        <p:spPr>
          <a:xfrm>
            <a:off x="3550158" y="258775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2. External fraud</a:t>
            </a:r>
            <a:endParaRPr lang="en-US" sz="1550" dirty="0"/>
          </a:p>
        </p:txBody>
      </p:sp>
      <p:sp>
        <p:nvSpPr>
          <p:cNvPr id="13" name="Text 11"/>
          <p:cNvSpPr txBox="1"/>
          <p:nvPr/>
        </p:nvSpPr>
        <p:spPr>
          <a:xfrm>
            <a:off x="3550158" y="324612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Cheque fraud, card skimming, hacking.</a:t>
            </a:r>
            <a:endParaRPr lang="en-US" sz="1600" dirty="0"/>
          </a:p>
        </p:txBody>
      </p:sp>
      <p:sp>
        <p:nvSpPr>
          <p:cNvPr id="14" name="Shape 12"/>
          <p:cNvSpPr/>
          <p:nvPr/>
        </p:nvSpPr>
        <p:spPr>
          <a:xfrm>
            <a:off x="6231636" y="2423160"/>
            <a:ext cx="2590038" cy="1760220"/>
          </a:xfrm>
          <a:prstGeom prst="roundRect">
            <a:avLst>
              <a:gd name="adj" fmla="val 41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5" name="Text 13"/>
          <p:cNvSpPr txBox="1"/>
          <p:nvPr/>
        </p:nvSpPr>
        <p:spPr>
          <a:xfrm>
            <a:off x="6414516" y="258775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3. Employment practices</a:t>
            </a:r>
            <a:endParaRPr lang="en-US" sz="1550" dirty="0"/>
          </a:p>
        </p:txBody>
      </p:sp>
      <p:sp>
        <p:nvSpPr>
          <p:cNvPr id="16" name="Text 14"/>
          <p:cNvSpPr txBox="1"/>
          <p:nvPr/>
        </p:nvSpPr>
        <p:spPr>
          <a:xfrm>
            <a:off x="6414516" y="324612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Discrimination claims, workplace safety.</a:t>
            </a:r>
            <a:endParaRPr lang="en-US" sz="1600" dirty="0"/>
          </a:p>
        </p:txBody>
      </p:sp>
      <p:sp>
        <p:nvSpPr>
          <p:cNvPr id="17" name="Shape 15"/>
          <p:cNvSpPr/>
          <p:nvPr/>
        </p:nvSpPr>
        <p:spPr>
          <a:xfrm>
            <a:off x="9095994" y="2423160"/>
            <a:ext cx="2590038" cy="1760220"/>
          </a:xfrm>
          <a:prstGeom prst="roundRect">
            <a:avLst>
              <a:gd name="adj" fmla="val 41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8" name="Text 16"/>
          <p:cNvSpPr txBox="1"/>
          <p:nvPr/>
        </p:nvSpPr>
        <p:spPr>
          <a:xfrm>
            <a:off x="9278874" y="258775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4. Clients, products &amp; practices</a:t>
            </a:r>
            <a:endParaRPr lang="en-US" sz="1550" dirty="0"/>
          </a:p>
        </p:txBody>
      </p:sp>
      <p:sp>
        <p:nvSpPr>
          <p:cNvPr id="19" name="Text 17"/>
          <p:cNvSpPr txBox="1"/>
          <p:nvPr/>
        </p:nvSpPr>
        <p:spPr>
          <a:xfrm>
            <a:off x="9278874" y="324612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Mis-selling, breach of fiduciary duty.</a:t>
            </a:r>
            <a:endParaRPr lang="en-US" sz="1600" dirty="0"/>
          </a:p>
        </p:txBody>
      </p:sp>
      <p:sp>
        <p:nvSpPr>
          <p:cNvPr id="20" name="Shape 18"/>
          <p:cNvSpPr/>
          <p:nvPr/>
        </p:nvSpPr>
        <p:spPr>
          <a:xfrm>
            <a:off x="502920" y="4457700"/>
            <a:ext cx="2590038" cy="1760220"/>
          </a:xfrm>
          <a:prstGeom prst="roundRect">
            <a:avLst>
              <a:gd name="adj" fmla="val 41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1" name="Text 19"/>
          <p:cNvSpPr txBox="1"/>
          <p:nvPr/>
        </p:nvSpPr>
        <p:spPr>
          <a:xfrm>
            <a:off x="685800" y="462229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5. Damage to physical assets</a:t>
            </a:r>
            <a:endParaRPr lang="en-US" sz="1550" dirty="0"/>
          </a:p>
        </p:txBody>
      </p:sp>
      <p:sp>
        <p:nvSpPr>
          <p:cNvPr id="22" name="Text 20"/>
          <p:cNvSpPr txBox="1"/>
          <p:nvPr/>
        </p:nvSpPr>
        <p:spPr>
          <a:xfrm>
            <a:off x="685800" y="528066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Floods, fire, cyclones, terrorism.</a:t>
            </a:r>
            <a:endParaRPr lang="en-US" sz="1600" dirty="0"/>
          </a:p>
        </p:txBody>
      </p:sp>
      <p:sp>
        <p:nvSpPr>
          <p:cNvPr id="23" name="Shape 21"/>
          <p:cNvSpPr/>
          <p:nvPr/>
        </p:nvSpPr>
        <p:spPr>
          <a:xfrm>
            <a:off x="3367278" y="4457700"/>
            <a:ext cx="2590038" cy="1760220"/>
          </a:xfrm>
          <a:prstGeom prst="roundRect">
            <a:avLst>
              <a:gd name="adj" fmla="val 41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4" name="Text 22"/>
          <p:cNvSpPr txBox="1"/>
          <p:nvPr/>
        </p:nvSpPr>
        <p:spPr>
          <a:xfrm>
            <a:off x="3550158" y="462229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6. Business disruption &amp; system failures</a:t>
            </a:r>
            <a:endParaRPr lang="en-US" sz="1550" dirty="0"/>
          </a:p>
        </p:txBody>
      </p:sp>
      <p:sp>
        <p:nvSpPr>
          <p:cNvPr id="25" name="Text 23"/>
          <p:cNvSpPr txBox="1"/>
          <p:nvPr/>
        </p:nvSpPr>
        <p:spPr>
          <a:xfrm>
            <a:off x="3550158" y="528066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Outages, software bugs, telecom failure.</a:t>
            </a:r>
            <a:endParaRPr lang="en-US" sz="1600" dirty="0"/>
          </a:p>
        </p:txBody>
      </p:sp>
      <p:sp>
        <p:nvSpPr>
          <p:cNvPr id="26" name="Shape 24"/>
          <p:cNvSpPr/>
          <p:nvPr/>
        </p:nvSpPr>
        <p:spPr>
          <a:xfrm>
            <a:off x="6231636" y="4457700"/>
            <a:ext cx="2590038" cy="1760220"/>
          </a:xfrm>
          <a:prstGeom prst="roundRect">
            <a:avLst>
              <a:gd name="adj" fmla="val 41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Text 25"/>
          <p:cNvSpPr txBox="1"/>
          <p:nvPr/>
        </p:nvSpPr>
        <p:spPr>
          <a:xfrm>
            <a:off x="6414516" y="462229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7. Execution, delivery &amp; process management</a:t>
            </a:r>
            <a:endParaRPr lang="en-US" sz="1550" dirty="0"/>
          </a:p>
        </p:txBody>
      </p:sp>
      <p:sp>
        <p:nvSpPr>
          <p:cNvPr id="28" name="Text 26"/>
          <p:cNvSpPr txBox="1"/>
          <p:nvPr/>
        </p:nvSpPr>
        <p:spPr>
          <a:xfrm>
            <a:off x="6414516" y="528066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Data-entry errors, failed settlement, missed deadlines.</a:t>
            </a:r>
            <a:endParaRPr lang="en-US" sz="1600" dirty="0"/>
          </a:p>
        </p:txBody>
      </p:sp>
      <p:sp>
        <p:nvSpPr>
          <p:cNvPr id="29" name="Shape 27"/>
          <p:cNvSpPr/>
          <p:nvPr/>
        </p:nvSpPr>
        <p:spPr>
          <a:xfrm>
            <a:off x="9095994" y="4457700"/>
            <a:ext cx="2590038" cy="1760220"/>
          </a:xfrm>
          <a:prstGeom prst="roundRect">
            <a:avLst>
              <a:gd name="adj" fmla="val 4156"/>
            </a:avLst>
          </a:prstGeom>
          <a:solidFill>
            <a:srgbClr val="EFE8D6"/>
          </a:solidFill>
          <a:ln w="9525">
            <a:solidFill>
              <a:srgbClr val="EFE8D6"/>
            </a:solidFill>
            <a:prstDash val="solid"/>
          </a:ln>
          <a:effectLst>
            <a:outerShdw blurRad="63500" dist="19050" dir="5400000" algn="bl" rotWithShape="0">
              <a:srgbClr val="000000">
                <a:alpha val="13000"/>
              </a:srgbClr>
            </a:outerShdw>
          </a:effectLst>
        </p:spPr>
      </p:sp>
      <p:sp>
        <p:nvSpPr>
          <p:cNvPr id="30" name="Text 28"/>
          <p:cNvSpPr txBox="1"/>
          <p:nvPr/>
        </p:nvSpPr>
        <p:spPr>
          <a:xfrm>
            <a:off x="9278874" y="4622292"/>
            <a:ext cx="2224278" cy="640080"/>
          </a:xfrm>
          <a:prstGeom prst="rect">
            <a:avLst/>
          </a:prstGeom>
          <a:noFill/>
          <a:ln/>
        </p:spPr>
        <p:txBody>
          <a:bodyPr wrap="square" lIns="0" tIns="0" rIns="0" bIns="0" rtlCol="0" anchor="t"/>
          <a:lstStyle/>
          <a:p>
            <a:pPr marL="0" indent="0" algn="l">
              <a:buNone/>
            </a:pPr>
            <a:r>
              <a:rPr lang="en-US" sz="1550" b="1" dirty="0">
                <a:solidFill>
                  <a:srgbClr val="14213D"/>
                </a:solidFill>
                <a:latin typeface="Cambria" pitchFamily="34" charset="0"/>
                <a:ea typeface="Cambria" pitchFamily="34" charset="-122"/>
                <a:cs typeface="Cambria" pitchFamily="34" charset="-120"/>
              </a:rPr>
              <a:t>Measuring it</a:t>
            </a:r>
            <a:endParaRPr lang="en-US" sz="1550" dirty="0"/>
          </a:p>
        </p:txBody>
      </p:sp>
      <p:sp>
        <p:nvSpPr>
          <p:cNvPr id="31" name="Text 29"/>
          <p:cNvSpPr txBox="1"/>
          <p:nvPr/>
        </p:nvSpPr>
        <p:spPr>
          <a:xfrm>
            <a:off x="9278874" y="5280660"/>
            <a:ext cx="2224278" cy="827532"/>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Loss data, KRIs, RCSA; Basel III standardised approach links capital to business size and loss history.</a:t>
            </a:r>
            <a:endParaRPr lang="en-US" sz="1600" dirty="0"/>
          </a:p>
        </p:txBody>
      </p:sp>
      <p:sp>
        <p:nvSpPr>
          <p:cNvPr id="32"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Operational Risk Events: Indian and Global Examples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663440"/>
        </p:xfrm>
        <a:graphic>
          <a:graphicData uri="http://schemas.openxmlformats.org/drawingml/2006/table">
            <a:tbl>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457200">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Event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Basel event type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What happened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Lesson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1051560">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PNB–Nirav Modi fraud (2018)</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Internal &amp; external fraud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Letters of undertaking were issued through SWIFT without entries in the core banking system; losses exceeded ₹11,000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Integrate SWIFT with core banking; enforce maker-checker and staff rotation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1560">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NSE trading halt (Feb 2021)</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Business disruption &amp; system failure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Telecom link problems halted trading for several hours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Disaster-recovery switchover and clear market-wide communication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1051560">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CrowdStrike update (Jul 2024)</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Business disruption &amp; system failure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A faulty security update crashed Windows systems globally; Indian airports reverted to manual check-in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Third-party and vendor concentration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51560">
                <a:tc>
                  <a:txBody>
                    <a:bodyPr/>
                    <a:lstStyle/>
                    <a:p>
                      <a:pPr marL="0" indent="0" algn="l">
                        <a:buNone/>
                      </a:pPr>
                      <a:r>
                        <a:rPr lang="en-US" sz="1450" b="1" dirty="0">
                          <a:solidFill>
                            <a:srgbClr val="1E2533"/>
                          </a:solidFill>
                          <a:latin typeface="Calibri" pitchFamily="34" charset="0"/>
                          <a:ea typeface="Calibri" pitchFamily="34" charset="-122"/>
                          <a:cs typeface="Calibri" pitchFamily="34" charset="-120"/>
                        </a:rPr>
                        <a:t>Chennai floods (Dec 2015)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Damage to physical assets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Plants, IT campuses and bank branches shut for days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50" dirty="0">
                          <a:solidFill>
                            <a:srgbClr val="1E2533"/>
                          </a:solidFill>
                          <a:latin typeface="Calibri" pitchFamily="34" charset="0"/>
                          <a:ea typeface="Calibri" pitchFamily="34" charset="-122"/>
                          <a:cs typeface="Calibri" pitchFamily="34" charset="-120"/>
                        </a:rPr>
                        <a:t>Business continuity plans and geographic diversification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iv. Regulatory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Text 4"/>
          <p:cNvSpPr txBox="1"/>
          <p:nvPr/>
        </p:nvSpPr>
        <p:spPr>
          <a:xfrm>
            <a:off x="502920" y="1188720"/>
            <a:ext cx="11183112" cy="68580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Regulatory risk is the risk that a change in laws, regulations or their enforcement, or a regulator's action against the firm, reduces its value, restricts its business or imposes penalties.</a:t>
            </a:r>
            <a:endParaRPr lang="en-US" sz="1550" dirty="0"/>
          </a:p>
        </p:txBody>
      </p:sp>
      <p:sp>
        <p:nvSpPr>
          <p:cNvPr id="7" name="Shape 5"/>
          <p:cNvSpPr/>
          <p:nvPr/>
        </p:nvSpPr>
        <p:spPr>
          <a:xfrm>
            <a:off x="502920" y="1965960"/>
            <a:ext cx="5454396" cy="1485900"/>
          </a:xfrm>
          <a:prstGeom prst="roundRect">
            <a:avLst>
              <a:gd name="adj" fmla="val 492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Shape 6"/>
          <p:cNvSpPr/>
          <p:nvPr/>
        </p:nvSpPr>
        <p:spPr>
          <a:xfrm>
            <a:off x="685800" y="2148840"/>
            <a:ext cx="502920" cy="502920"/>
          </a:xfrm>
          <a:prstGeom prst="ellipse">
            <a:avLst/>
          </a:prstGeom>
          <a:solidFill>
            <a:srgbClr val="14213D"/>
          </a:solidFill>
          <a:ln w="12700">
            <a:solidFill>
              <a:srgbClr val="14213D"/>
            </a:solidFill>
            <a:prstDash val="solid"/>
          </a:ln>
        </p:spPr>
      </p:sp>
      <p:pic>
        <p:nvPicPr>
          <p:cNvPr id="9" name="Image 0" descr="preencoded.png"/>
          <p:cNvPicPr>
            <a:picLocks noChangeAspect="1"/>
          </p:cNvPicPr>
          <p:nvPr/>
        </p:nvPicPr>
        <p:blipFill>
          <a:blip r:embed="rId3"/>
          <a:stretch>
            <a:fillRect/>
          </a:stretch>
        </p:blipFill>
        <p:spPr>
          <a:xfrm>
            <a:off x="806501" y="2269541"/>
            <a:ext cx="261518" cy="261518"/>
          </a:xfrm>
          <a:prstGeom prst="rect">
            <a:avLst/>
          </a:prstGeom>
        </p:spPr>
      </p:pic>
      <p:sp>
        <p:nvSpPr>
          <p:cNvPr id="10" name="Text 7"/>
          <p:cNvSpPr txBox="1"/>
          <p:nvPr/>
        </p:nvSpPr>
        <p:spPr>
          <a:xfrm>
            <a:off x="1280160" y="211226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Action against a firm</a:t>
            </a:r>
            <a:endParaRPr lang="en-US" sz="1700" dirty="0"/>
          </a:p>
        </p:txBody>
      </p:sp>
      <p:sp>
        <p:nvSpPr>
          <p:cNvPr id="11" name="Text 8"/>
          <p:cNvSpPr txBox="1"/>
          <p:nvPr/>
        </p:nvSpPr>
        <p:spPr>
          <a:xfrm>
            <a:off x="685800" y="2724912"/>
            <a:ext cx="5088636" cy="6172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RBI barred Paytm Payments Bank from accepting fresh deposits from March 2024; the parent's business model had to change.</a:t>
            </a:r>
            <a:endParaRPr lang="en-US" sz="1550" dirty="0"/>
          </a:p>
        </p:txBody>
      </p:sp>
      <p:sp>
        <p:nvSpPr>
          <p:cNvPr id="12" name="Shape 9"/>
          <p:cNvSpPr/>
          <p:nvPr/>
        </p:nvSpPr>
        <p:spPr>
          <a:xfrm>
            <a:off x="6231636" y="1965960"/>
            <a:ext cx="5454396" cy="1485900"/>
          </a:xfrm>
          <a:prstGeom prst="roundRect">
            <a:avLst>
              <a:gd name="adj" fmla="val 492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0"/>
          <p:cNvSpPr/>
          <p:nvPr/>
        </p:nvSpPr>
        <p:spPr>
          <a:xfrm>
            <a:off x="6414516" y="2148840"/>
            <a:ext cx="502920" cy="502920"/>
          </a:xfrm>
          <a:prstGeom prst="ellipse">
            <a:avLst/>
          </a:prstGeom>
          <a:solidFill>
            <a:srgbClr val="14213D"/>
          </a:solidFill>
          <a:ln w="12700">
            <a:solidFill>
              <a:srgbClr val="14213D"/>
            </a:solidFill>
            <a:prstDash val="solid"/>
          </a:ln>
        </p:spPr>
      </p:sp>
      <p:pic>
        <p:nvPicPr>
          <p:cNvPr id="14" name="Image 1" descr="preencoded.png"/>
          <p:cNvPicPr>
            <a:picLocks noChangeAspect="1"/>
          </p:cNvPicPr>
          <p:nvPr/>
        </p:nvPicPr>
        <p:blipFill>
          <a:blip r:embed="rId4"/>
          <a:stretch>
            <a:fillRect/>
          </a:stretch>
        </p:blipFill>
        <p:spPr>
          <a:xfrm>
            <a:off x="6535217" y="2269541"/>
            <a:ext cx="261518" cy="261518"/>
          </a:xfrm>
          <a:prstGeom prst="rect">
            <a:avLst/>
          </a:prstGeom>
        </p:spPr>
      </p:pic>
      <p:sp>
        <p:nvSpPr>
          <p:cNvPr id="15" name="Text 11"/>
          <p:cNvSpPr txBox="1"/>
          <p:nvPr/>
        </p:nvSpPr>
        <p:spPr>
          <a:xfrm>
            <a:off x="7008876" y="211226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Market-wide rule change</a:t>
            </a:r>
            <a:endParaRPr lang="en-US" sz="1700" dirty="0"/>
          </a:p>
        </p:txBody>
      </p:sp>
      <p:sp>
        <p:nvSpPr>
          <p:cNvPr id="16" name="Text 12"/>
          <p:cNvSpPr txBox="1"/>
          <p:nvPr/>
        </p:nvSpPr>
        <p:spPr>
          <a:xfrm>
            <a:off x="6414516" y="2724912"/>
            <a:ext cx="5088636" cy="6172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SEBI suspended futures trading in several agricultural commodities (wheat, chana, mustard, soybean, crude palm oil and others) from December 2021.</a:t>
            </a:r>
            <a:endParaRPr lang="en-US" sz="1550" dirty="0"/>
          </a:p>
        </p:txBody>
      </p:sp>
      <p:sp>
        <p:nvSpPr>
          <p:cNvPr id="17" name="Shape 13"/>
          <p:cNvSpPr/>
          <p:nvPr/>
        </p:nvSpPr>
        <p:spPr>
          <a:xfrm>
            <a:off x="502920" y="3726180"/>
            <a:ext cx="5454396" cy="1485900"/>
          </a:xfrm>
          <a:prstGeom prst="roundRect">
            <a:avLst>
              <a:gd name="adj" fmla="val 492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8" name="Shape 14"/>
          <p:cNvSpPr/>
          <p:nvPr/>
        </p:nvSpPr>
        <p:spPr>
          <a:xfrm>
            <a:off x="685800" y="3909060"/>
            <a:ext cx="502920" cy="502920"/>
          </a:xfrm>
          <a:prstGeom prst="ellipse">
            <a:avLst/>
          </a:prstGeom>
          <a:solidFill>
            <a:srgbClr val="14213D"/>
          </a:solidFill>
          <a:ln w="12700">
            <a:solidFill>
              <a:srgbClr val="14213D"/>
            </a:solidFill>
            <a:prstDash val="solid"/>
          </a:ln>
        </p:spPr>
      </p:sp>
      <p:pic>
        <p:nvPicPr>
          <p:cNvPr id="19" name="Image 2" descr="preencoded.png"/>
          <p:cNvPicPr>
            <a:picLocks noChangeAspect="1"/>
          </p:cNvPicPr>
          <p:nvPr/>
        </p:nvPicPr>
        <p:blipFill>
          <a:blip r:embed="rId5"/>
          <a:stretch>
            <a:fillRect/>
          </a:stretch>
        </p:blipFill>
        <p:spPr>
          <a:xfrm>
            <a:off x="806501" y="4029761"/>
            <a:ext cx="261518" cy="261518"/>
          </a:xfrm>
          <a:prstGeom prst="rect">
            <a:avLst/>
          </a:prstGeom>
        </p:spPr>
      </p:pic>
      <p:sp>
        <p:nvSpPr>
          <p:cNvPr id="20" name="Text 15"/>
          <p:cNvSpPr txBox="1"/>
          <p:nvPr/>
        </p:nvSpPr>
        <p:spPr>
          <a:xfrm>
            <a:off x="1280160" y="387248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Derivatives tightening</a:t>
            </a:r>
            <a:endParaRPr lang="en-US" sz="1700" dirty="0"/>
          </a:p>
        </p:txBody>
      </p:sp>
      <p:sp>
        <p:nvSpPr>
          <p:cNvPr id="21" name="Text 16"/>
          <p:cNvSpPr txBox="1"/>
          <p:nvPr/>
        </p:nvSpPr>
        <p:spPr>
          <a:xfrm>
            <a:off x="685800" y="4485132"/>
            <a:ext cx="5088636" cy="6172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SEBI's late-2024 F&amp;O measures raised minimum contract size and limited weekly expiries to one benchmark index per exchange, cutting volumes.</a:t>
            </a:r>
            <a:endParaRPr lang="en-US" sz="1550" dirty="0"/>
          </a:p>
        </p:txBody>
      </p:sp>
      <p:sp>
        <p:nvSpPr>
          <p:cNvPr id="22" name="Shape 17"/>
          <p:cNvSpPr/>
          <p:nvPr/>
        </p:nvSpPr>
        <p:spPr>
          <a:xfrm>
            <a:off x="6231636" y="3726180"/>
            <a:ext cx="5454396" cy="1485900"/>
          </a:xfrm>
          <a:prstGeom prst="roundRect">
            <a:avLst>
              <a:gd name="adj" fmla="val 492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3" name="Shape 18"/>
          <p:cNvSpPr/>
          <p:nvPr/>
        </p:nvSpPr>
        <p:spPr>
          <a:xfrm>
            <a:off x="6414516" y="3909060"/>
            <a:ext cx="502920" cy="502920"/>
          </a:xfrm>
          <a:prstGeom prst="ellipse">
            <a:avLst/>
          </a:prstGeom>
          <a:solidFill>
            <a:srgbClr val="14213D"/>
          </a:solidFill>
          <a:ln w="12700">
            <a:solidFill>
              <a:srgbClr val="14213D"/>
            </a:solidFill>
            <a:prstDash val="solid"/>
          </a:ln>
        </p:spPr>
      </p:sp>
      <p:pic>
        <p:nvPicPr>
          <p:cNvPr id="24" name="Image 3" descr="preencoded.png"/>
          <p:cNvPicPr>
            <a:picLocks noChangeAspect="1"/>
          </p:cNvPicPr>
          <p:nvPr/>
        </p:nvPicPr>
        <p:blipFill>
          <a:blip r:embed="rId6"/>
          <a:stretch>
            <a:fillRect/>
          </a:stretch>
        </p:blipFill>
        <p:spPr>
          <a:xfrm>
            <a:off x="6535217" y="4029761"/>
            <a:ext cx="261518" cy="261518"/>
          </a:xfrm>
          <a:prstGeom prst="rect">
            <a:avLst/>
          </a:prstGeom>
        </p:spPr>
      </p:pic>
      <p:sp>
        <p:nvSpPr>
          <p:cNvPr id="25" name="Text 19"/>
          <p:cNvSpPr txBox="1"/>
          <p:nvPr/>
        </p:nvSpPr>
        <p:spPr>
          <a:xfrm>
            <a:off x="7008876" y="3872484"/>
            <a:ext cx="4494276"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Tax change</a:t>
            </a:r>
            <a:endParaRPr lang="en-US" sz="1700" dirty="0"/>
          </a:p>
        </p:txBody>
      </p:sp>
      <p:sp>
        <p:nvSpPr>
          <p:cNvPr id="26" name="Text 20"/>
          <p:cNvSpPr txBox="1"/>
          <p:nvPr/>
        </p:nvSpPr>
        <p:spPr>
          <a:xfrm>
            <a:off x="6414516" y="4485132"/>
            <a:ext cx="5088636" cy="6172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The July 2024 Budget raised LTCG and STCG rates on listed equity, changing after-tax returns overnight.</a:t>
            </a:r>
            <a:endParaRPr lang="en-US" sz="1550" dirty="0"/>
          </a:p>
        </p:txBody>
      </p:sp>
      <p:sp>
        <p:nvSpPr>
          <p:cNvPr id="27" name="Shape 21"/>
          <p:cNvSpPr/>
          <p:nvPr/>
        </p:nvSpPr>
        <p:spPr>
          <a:xfrm>
            <a:off x="502920" y="5440680"/>
            <a:ext cx="11183112" cy="777240"/>
          </a:xfrm>
          <a:prstGeom prst="roundRect">
            <a:avLst>
              <a:gd name="adj" fmla="val 9412"/>
            </a:avLst>
          </a:prstGeom>
          <a:solidFill>
            <a:srgbClr val="14213D"/>
          </a:solidFill>
          <a:ln w="15875">
            <a:solidFill>
              <a:srgbClr val="C9A227"/>
            </a:solidFill>
            <a:prstDash val="solid"/>
          </a:ln>
        </p:spPr>
      </p:sp>
      <p:sp>
        <p:nvSpPr>
          <p:cNvPr id="28" name="Text 22"/>
          <p:cNvSpPr txBox="1"/>
          <p:nvPr/>
        </p:nvSpPr>
        <p:spPr>
          <a:xfrm>
            <a:off x="685800" y="5513832"/>
            <a:ext cx="10817352" cy="630936"/>
          </a:xfrm>
          <a:prstGeom prst="rect">
            <a:avLst/>
          </a:prstGeom>
          <a:noFill/>
          <a:ln/>
        </p:spPr>
        <p:txBody>
          <a:bodyPr wrap="square" lIns="0" tIns="0" rIns="0" bIns="0" rtlCol="0" anchor="ctr"/>
          <a:lstStyle/>
          <a:p>
            <a:pPr marL="0" indent="0" algn="l">
              <a:buNone/>
            </a:pPr>
            <a:r>
              <a:rPr lang="en-US" sz="1450" i="1" dirty="0">
                <a:solidFill>
                  <a:srgbClr val="FFFFFF"/>
                </a:solidFill>
                <a:latin typeface="Calibri" pitchFamily="34" charset="0"/>
                <a:ea typeface="Calibri" pitchFamily="34" charset="-122"/>
                <a:cs typeface="Calibri" pitchFamily="34" charset="-120"/>
              </a:rPr>
              <a:t>Managing it: regulatory horizon scanning, a strong compliance function, engagement with regulators during consultations, and scenario plans for adverse rule changes.</a:t>
            </a:r>
            <a:endParaRPr lang="en-US" sz="1450" dirty="0"/>
          </a:p>
        </p:txBody>
      </p:sp>
      <p:sp>
        <p:nvSpPr>
          <p:cNvPr id="29"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13</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v. Reputational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4937760" cy="4937760"/>
          </a:xfrm>
          <a:prstGeom prst="roundRect">
            <a:avLst>
              <a:gd name="adj" fmla="val 1481"/>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7" name="Text 5"/>
          <p:cNvSpPr txBox="1"/>
          <p:nvPr/>
        </p:nvSpPr>
        <p:spPr>
          <a:xfrm>
            <a:off x="731520" y="1417320"/>
            <a:ext cx="4526280" cy="4663440"/>
          </a:xfrm>
          <a:prstGeom prst="rect">
            <a:avLst/>
          </a:prstGeom>
          <a:noFill/>
          <a:ln/>
        </p:spPr>
        <p:txBody>
          <a:bodyPr wrap="square" lIns="0" tIns="0" rIns="0" bIns="0" rtlCol="0" anchor="t"/>
          <a:lstStyle/>
          <a:p>
            <a:pPr marL="0" indent="0" algn="l">
              <a:spcAft>
                <a:spcPts val="600"/>
              </a:spcAft>
              <a:buNone/>
            </a:pPr>
            <a:r>
              <a:rPr lang="en-US" sz="1700" b="1" dirty="0">
                <a:solidFill>
                  <a:srgbClr val="C9A227"/>
                </a:solidFill>
                <a:latin typeface="Calibri" pitchFamily="34" charset="0"/>
                <a:ea typeface="Calibri" pitchFamily="34" charset="-122"/>
                <a:cs typeface="Calibri" pitchFamily="34" charset="-120"/>
              </a:rPr>
              <a:t>Meaning</a:t>
            </a:r>
            <a:endParaRPr lang="en-US" sz="1700" dirty="0"/>
          </a:p>
          <a:p>
            <a:pPr marL="0" indent="0" algn="l">
              <a:spcAft>
                <a:spcPts val="1000"/>
              </a:spcAft>
              <a:buNone/>
            </a:pPr>
            <a:r>
              <a:rPr lang="en-US" sz="1500" dirty="0">
                <a:solidFill>
                  <a:srgbClr val="FFFFFF"/>
                </a:solidFill>
                <a:latin typeface="Calibri" pitchFamily="34" charset="0"/>
                <a:ea typeface="Calibri" pitchFamily="34" charset="-122"/>
                <a:cs typeface="Calibri" pitchFamily="34" charset="-120"/>
              </a:rPr>
              <a:t>The risk of loss from damage to the trust that customers, investors, employees, regulators and the public place in the firm.</a:t>
            </a:r>
            <a:endParaRPr lang="en-US" sz="1700" dirty="0"/>
          </a:p>
          <a:p>
            <a:pPr marL="0" indent="0" algn="l">
              <a:spcAft>
                <a:spcPts val="600"/>
              </a:spcAft>
              <a:buNone/>
            </a:pPr>
            <a:r>
              <a:rPr lang="en-US" sz="1700" b="1" dirty="0">
                <a:solidFill>
                  <a:srgbClr val="C9A227"/>
                </a:solidFill>
                <a:latin typeface="Calibri" pitchFamily="34" charset="0"/>
                <a:ea typeface="Calibri" pitchFamily="34" charset="-122"/>
                <a:cs typeface="Calibri" pitchFamily="34" charset="-120"/>
              </a:rPr>
              <a:t>Why it is special</a:t>
            </a:r>
            <a:endParaRPr lang="en-US" sz="1700" dirty="0"/>
          </a:p>
          <a:p>
            <a:pPr marL="177800" indent="-177800" algn="l">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Usually a consequence of other risks (fraud, mis-selling, product failure, data breach).</a:t>
            </a:r>
            <a:endParaRPr lang="en-US" sz="1700" dirty="0"/>
          </a:p>
          <a:p>
            <a:pPr marL="177800" indent="-177800" algn="l">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Hard to measure and slow to repair.</a:t>
            </a:r>
            <a:endParaRPr lang="en-US" sz="1700" dirty="0"/>
          </a:p>
          <a:p>
            <a:pPr marL="177800" indent="-177800" algn="l">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Social media spreads it in hours; for banks it can trigger a deposit run.</a:t>
            </a:r>
            <a:endParaRPr lang="en-US" sz="17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715000" y="1280160"/>
          <a:ext cx="5971032" cy="4480560"/>
        </p:xfrm>
        <a:graphic>
          <a:graphicData uri="http://schemas.openxmlformats.org/drawingml/2006/table">
            <a:tbl>
              <a:tblPr/>
              <a:tblGrid>
                <a:gridCol w="1691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67712">
                  <a:extLst>
                    <a:ext uri="{9D8B030D-6E8A-4147-A177-3AD203B41FA5}">
                      <a16:colId xmlns:a16="http://schemas.microsoft.com/office/drawing/2014/main" val="20002"/>
                    </a:ext>
                  </a:extLst>
                </a:gridCol>
              </a:tblGrid>
              <a:tr h="45720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Case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Trigger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Reputational consequence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100584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Nestlé India, Maggi (2015)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FSSAI ban over lead and MSG labelling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Product withdrawn; market share collapsed before a gradual recovery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Satyam (2009)</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Accounting fraud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Clients and employees left; company acquired by Tech Mahindra</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100584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Wells Fargo (2016)</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Millions of unauthorised customer accounts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Fines, CEO exit, and a Federal Reserve asset cap</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Any bank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Rumours on social media</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Queues at branches despite sound finances: a reputational run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14</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14</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Sources of Risk</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Where risks come from: internal and external drivers</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Internal vs external sources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PESTLE lens with Indian examples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Cause → event → consequence (bow-tie)</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Mapping sources to risk types and early indicators</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14</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Internal and External Sources of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5541264"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731520" y="1444752"/>
            <a:ext cx="566928" cy="566928"/>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67583" y="1580815"/>
            <a:ext cx="294803" cy="294803"/>
          </a:xfrm>
          <a:prstGeom prst="rect">
            <a:avLst/>
          </a:prstGeom>
        </p:spPr>
      </p:pic>
      <p:sp>
        <p:nvSpPr>
          <p:cNvPr id="9" name="Text 6"/>
          <p:cNvSpPr txBox="1"/>
          <p:nvPr/>
        </p:nvSpPr>
        <p:spPr>
          <a:xfrm>
            <a:off x="1463040" y="1417320"/>
            <a:ext cx="4389120" cy="411480"/>
          </a:xfrm>
          <a:prstGeom prst="rect">
            <a:avLst/>
          </a:prstGeom>
          <a:noFill/>
          <a:ln/>
        </p:spPr>
        <p:txBody>
          <a:bodyPr wrap="square" lIns="0" tIns="0" rIns="0" bIns="0" rtlCol="0" anchor="t"/>
          <a:lstStyle/>
          <a:p>
            <a:pPr marL="0" indent="0" algn="l">
              <a:buNone/>
            </a:pPr>
            <a:r>
              <a:rPr lang="en-US" sz="1900" b="1" dirty="0">
                <a:solidFill>
                  <a:srgbClr val="14213D"/>
                </a:solidFill>
                <a:latin typeface="Cambria" pitchFamily="34" charset="0"/>
                <a:ea typeface="Cambria" pitchFamily="34" charset="-122"/>
                <a:cs typeface="Cambria" pitchFamily="34" charset="-120"/>
              </a:rPr>
              <a:t>Internal sources</a:t>
            </a:r>
            <a:endParaRPr lang="en-US" sz="1900" dirty="0"/>
          </a:p>
        </p:txBody>
      </p:sp>
      <p:sp>
        <p:nvSpPr>
          <p:cNvPr id="10" name="Text 7"/>
          <p:cNvSpPr txBox="1"/>
          <p:nvPr/>
        </p:nvSpPr>
        <p:spPr>
          <a:xfrm>
            <a:off x="1463040" y="1810512"/>
            <a:ext cx="4389120" cy="274320"/>
          </a:xfrm>
          <a:prstGeom prst="rect">
            <a:avLst/>
          </a:prstGeom>
          <a:noFill/>
          <a:ln/>
        </p:spPr>
        <p:txBody>
          <a:bodyPr wrap="square" lIns="0" tIns="0" rIns="0" bIns="0" rtlCol="0" anchor="t"/>
          <a:lstStyle/>
          <a:p>
            <a:pPr marL="0" indent="0" algn="l">
              <a:buNone/>
            </a:pPr>
            <a:r>
              <a:rPr lang="en-US" sz="1250" i="1" dirty="0">
                <a:solidFill>
                  <a:srgbClr val="8C6D0F"/>
                </a:solidFill>
                <a:latin typeface="Calibri" pitchFamily="34" charset="0"/>
                <a:ea typeface="Calibri" pitchFamily="34" charset="-122"/>
                <a:cs typeface="Calibri" pitchFamily="34" charset="-120"/>
              </a:rPr>
              <a:t>Within the firm's control (at least partly)</a:t>
            </a:r>
            <a:endParaRPr lang="en-US" sz="1250" dirty="0"/>
          </a:p>
        </p:txBody>
      </p:sp>
      <p:sp>
        <p:nvSpPr>
          <p:cNvPr id="11" name="Text 8"/>
          <p:cNvSpPr txBox="1"/>
          <p:nvPr/>
        </p:nvSpPr>
        <p:spPr>
          <a:xfrm>
            <a:off x="777240" y="2331720"/>
            <a:ext cx="5029200" cy="3749040"/>
          </a:xfrm>
          <a:prstGeom prst="rect">
            <a:avLst/>
          </a:prstGeom>
          <a:noFill/>
          <a:ln/>
        </p:spPr>
        <p:txBody>
          <a:bodyPr wrap="square" lIns="0" tIns="0" rIns="0" bIns="0" rtlCol="0" anchor="t"/>
          <a:lstStyle/>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People:</a:t>
            </a:r>
            <a:r>
              <a:rPr lang="en-US" sz="1550" dirty="0">
                <a:solidFill>
                  <a:srgbClr val="1E2533"/>
                </a:solidFill>
                <a:latin typeface="Calibri" pitchFamily="34" charset="0"/>
                <a:ea typeface="Calibri" pitchFamily="34" charset="-122"/>
                <a:cs typeface="Calibri" pitchFamily="34" charset="-120"/>
              </a:rPr>
              <a:t> Errors, fraud, key-person dependence, weak skills</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Processes:</a:t>
            </a:r>
            <a:r>
              <a:rPr lang="en-US" sz="1550" dirty="0">
                <a:solidFill>
                  <a:srgbClr val="1E2533"/>
                </a:solidFill>
                <a:latin typeface="Calibri" pitchFamily="34" charset="0"/>
                <a:ea typeface="Calibri" pitchFamily="34" charset="-122"/>
                <a:cs typeface="Calibri" pitchFamily="34" charset="-120"/>
              </a:rPr>
              <a:t> Poor design, missing controls, manual workarounds</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Systems:</a:t>
            </a:r>
            <a:r>
              <a:rPr lang="en-US" sz="1550" dirty="0">
                <a:solidFill>
                  <a:srgbClr val="1E2533"/>
                </a:solidFill>
                <a:latin typeface="Calibri" pitchFamily="34" charset="0"/>
                <a:ea typeface="Calibri" pitchFamily="34" charset="-122"/>
                <a:cs typeface="Calibri" pitchFamily="34" charset="-120"/>
              </a:rPr>
              <a:t> Legacy IT, cyber vulnerabilities, data quality</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Strategy:</a:t>
            </a:r>
            <a:r>
              <a:rPr lang="en-US" sz="1550" dirty="0">
                <a:solidFill>
                  <a:srgbClr val="1E2533"/>
                </a:solidFill>
                <a:latin typeface="Calibri" pitchFamily="34" charset="0"/>
                <a:ea typeface="Calibri" pitchFamily="34" charset="-122"/>
                <a:cs typeface="Calibri" pitchFamily="34" charset="-120"/>
              </a:rPr>
              <a:t> Aggressive growth, concentration, acquisitions</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Financial structure:</a:t>
            </a:r>
            <a:r>
              <a:rPr lang="en-US" sz="1550" dirty="0">
                <a:solidFill>
                  <a:srgbClr val="1E2533"/>
                </a:solidFill>
                <a:latin typeface="Calibri" pitchFamily="34" charset="0"/>
                <a:ea typeface="Calibri" pitchFamily="34" charset="-122"/>
                <a:cs typeface="Calibri" pitchFamily="34" charset="-120"/>
              </a:rPr>
              <a:t> High leverage, ALM mismatch, FX debt</a:t>
            </a:r>
            <a:endParaRPr lang="en-US" sz="1550" dirty="0"/>
          </a:p>
        </p:txBody>
      </p:sp>
      <p:sp>
        <p:nvSpPr>
          <p:cNvPr id="12" name="Shape 9"/>
          <p:cNvSpPr/>
          <p:nvPr/>
        </p:nvSpPr>
        <p:spPr>
          <a:xfrm>
            <a:off x="6144768" y="1280160"/>
            <a:ext cx="5541264"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0"/>
          <p:cNvSpPr/>
          <p:nvPr/>
        </p:nvSpPr>
        <p:spPr>
          <a:xfrm>
            <a:off x="6373368" y="1444752"/>
            <a:ext cx="566928" cy="566928"/>
          </a:xfrm>
          <a:prstGeom prst="ellipse">
            <a:avLst/>
          </a:prstGeom>
          <a:solidFill>
            <a:srgbClr val="14213D"/>
          </a:solidFill>
          <a:ln w="12700">
            <a:solidFill>
              <a:srgbClr val="14213D"/>
            </a:solidFill>
            <a:prstDash val="solid"/>
          </a:ln>
        </p:spPr>
      </p:sp>
      <p:pic>
        <p:nvPicPr>
          <p:cNvPr id="14" name="Image 1" descr="preencoded.png"/>
          <p:cNvPicPr>
            <a:picLocks noChangeAspect="1"/>
          </p:cNvPicPr>
          <p:nvPr/>
        </p:nvPicPr>
        <p:blipFill>
          <a:blip r:embed="rId4"/>
          <a:stretch>
            <a:fillRect/>
          </a:stretch>
        </p:blipFill>
        <p:spPr>
          <a:xfrm>
            <a:off x="6509431" y="1580815"/>
            <a:ext cx="294803" cy="294803"/>
          </a:xfrm>
          <a:prstGeom prst="rect">
            <a:avLst/>
          </a:prstGeom>
        </p:spPr>
      </p:pic>
      <p:sp>
        <p:nvSpPr>
          <p:cNvPr id="15" name="Text 11"/>
          <p:cNvSpPr txBox="1"/>
          <p:nvPr/>
        </p:nvSpPr>
        <p:spPr>
          <a:xfrm>
            <a:off x="7104888" y="1417320"/>
            <a:ext cx="4389120" cy="411480"/>
          </a:xfrm>
          <a:prstGeom prst="rect">
            <a:avLst/>
          </a:prstGeom>
          <a:noFill/>
          <a:ln/>
        </p:spPr>
        <p:txBody>
          <a:bodyPr wrap="square" lIns="0" tIns="0" rIns="0" bIns="0" rtlCol="0" anchor="t"/>
          <a:lstStyle/>
          <a:p>
            <a:pPr marL="0" indent="0" algn="l">
              <a:buNone/>
            </a:pPr>
            <a:r>
              <a:rPr lang="en-US" sz="1900" b="1" dirty="0">
                <a:solidFill>
                  <a:srgbClr val="14213D"/>
                </a:solidFill>
                <a:latin typeface="Cambria" pitchFamily="34" charset="0"/>
                <a:ea typeface="Cambria" pitchFamily="34" charset="-122"/>
                <a:cs typeface="Cambria" pitchFamily="34" charset="-120"/>
              </a:rPr>
              <a:t>External sources</a:t>
            </a:r>
            <a:endParaRPr lang="en-US" sz="1900" dirty="0"/>
          </a:p>
        </p:txBody>
      </p:sp>
      <p:sp>
        <p:nvSpPr>
          <p:cNvPr id="16" name="Text 12"/>
          <p:cNvSpPr txBox="1"/>
          <p:nvPr/>
        </p:nvSpPr>
        <p:spPr>
          <a:xfrm>
            <a:off x="7104888" y="1810512"/>
            <a:ext cx="4389120" cy="274320"/>
          </a:xfrm>
          <a:prstGeom prst="rect">
            <a:avLst/>
          </a:prstGeom>
          <a:noFill/>
          <a:ln/>
        </p:spPr>
        <p:txBody>
          <a:bodyPr wrap="square" lIns="0" tIns="0" rIns="0" bIns="0" rtlCol="0" anchor="t"/>
          <a:lstStyle/>
          <a:p>
            <a:pPr marL="0" indent="0" algn="l">
              <a:buNone/>
            </a:pPr>
            <a:r>
              <a:rPr lang="en-US" sz="1250" i="1" dirty="0">
                <a:solidFill>
                  <a:srgbClr val="8C6D0F"/>
                </a:solidFill>
                <a:latin typeface="Calibri" pitchFamily="34" charset="0"/>
                <a:ea typeface="Calibri" pitchFamily="34" charset="-122"/>
                <a:cs typeface="Calibri" pitchFamily="34" charset="-120"/>
              </a:rPr>
              <a:t>Outside the firm's control; must be anticipated</a:t>
            </a:r>
            <a:endParaRPr lang="en-US" sz="1250" dirty="0"/>
          </a:p>
        </p:txBody>
      </p:sp>
      <p:sp>
        <p:nvSpPr>
          <p:cNvPr id="17" name="Text 13"/>
          <p:cNvSpPr txBox="1"/>
          <p:nvPr/>
        </p:nvSpPr>
        <p:spPr>
          <a:xfrm>
            <a:off x="6419088" y="2331720"/>
            <a:ext cx="5029200" cy="3749040"/>
          </a:xfrm>
          <a:prstGeom prst="rect">
            <a:avLst/>
          </a:prstGeom>
          <a:noFill/>
          <a:ln/>
        </p:spPr>
        <p:txBody>
          <a:bodyPr wrap="square" lIns="0" tIns="0" rIns="0" bIns="0" rtlCol="0" anchor="t"/>
          <a:lstStyle/>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Economic &amp; market:</a:t>
            </a:r>
            <a:r>
              <a:rPr lang="en-US" sz="1550" dirty="0">
                <a:solidFill>
                  <a:srgbClr val="1E2533"/>
                </a:solidFill>
                <a:latin typeface="Calibri" pitchFamily="34" charset="0"/>
                <a:ea typeface="Calibri" pitchFamily="34" charset="-122"/>
                <a:cs typeface="Calibri" pitchFamily="34" charset="-120"/>
              </a:rPr>
              <a:t> Rates, inflation, FX, commodity prices, recessions</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Political &amp; regulatory:</a:t>
            </a:r>
            <a:r>
              <a:rPr lang="en-US" sz="1550" dirty="0">
                <a:solidFill>
                  <a:srgbClr val="1E2533"/>
                </a:solidFill>
                <a:latin typeface="Calibri" pitchFamily="34" charset="0"/>
                <a:ea typeface="Calibri" pitchFamily="34" charset="-122"/>
                <a:cs typeface="Calibri" pitchFamily="34" charset="-120"/>
              </a:rPr>
              <a:t> Policy, tax, trade restrictions, sanctions</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Natural &amp; climate:</a:t>
            </a:r>
            <a:r>
              <a:rPr lang="en-US" sz="1550" dirty="0">
                <a:solidFill>
                  <a:srgbClr val="1E2533"/>
                </a:solidFill>
                <a:latin typeface="Calibri" pitchFamily="34" charset="0"/>
                <a:ea typeface="Calibri" pitchFamily="34" charset="-122"/>
                <a:cs typeface="Calibri" pitchFamily="34" charset="-120"/>
              </a:rPr>
              <a:t> Cyclones, floods, monsoon failure, heat waves</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Technological:</a:t>
            </a:r>
            <a:r>
              <a:rPr lang="en-US" sz="1550" dirty="0">
                <a:solidFill>
                  <a:srgbClr val="1E2533"/>
                </a:solidFill>
                <a:latin typeface="Calibri" pitchFamily="34" charset="0"/>
                <a:ea typeface="Calibri" pitchFamily="34" charset="-122"/>
                <a:cs typeface="Calibri" pitchFamily="34" charset="-120"/>
              </a:rPr>
              <a:t> Disruption, cyber attacks, vendor outages</a:t>
            </a:r>
            <a:endParaRPr lang="en-US" sz="1550" dirty="0"/>
          </a:p>
          <a:p>
            <a:pPr marL="177800" indent="-177800" algn="l">
              <a:spcAft>
                <a:spcPts val="1000"/>
              </a:spcAft>
              <a:buSzPct val="100000"/>
              <a:buChar char="•"/>
            </a:pPr>
            <a:r>
              <a:rPr lang="en-US" sz="1550" b="1" dirty="0">
                <a:solidFill>
                  <a:srgbClr val="1E2533"/>
                </a:solidFill>
                <a:latin typeface="Calibri" pitchFamily="34" charset="0"/>
                <a:ea typeface="Calibri" pitchFamily="34" charset="-122"/>
                <a:cs typeface="Calibri" pitchFamily="34" charset="-120"/>
              </a:rPr>
              <a:t>Counterparties:</a:t>
            </a:r>
            <a:r>
              <a:rPr lang="en-US" sz="1550" dirty="0">
                <a:solidFill>
                  <a:srgbClr val="1E2533"/>
                </a:solidFill>
                <a:latin typeface="Calibri" pitchFamily="34" charset="0"/>
                <a:ea typeface="Calibri" pitchFamily="34" charset="-122"/>
                <a:cs typeface="Calibri" pitchFamily="34" charset="-120"/>
              </a:rPr>
              <a:t> Customer default, supplier failure, bank failure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14</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A PESTLE Lens on Sources of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2676144" y="1417320"/>
            <a:ext cx="1188720" cy="274320"/>
          </a:xfrm>
          <a:prstGeom prst="rect">
            <a:avLst/>
          </a:prstGeom>
          <a:noFill/>
          <a:ln/>
        </p:spPr>
        <p:txBody>
          <a:bodyPr wrap="square" lIns="0" tIns="0" rIns="0" bIns="0" rtlCol="0" anchor="ctr"/>
          <a:lstStyle/>
          <a:p>
            <a:pPr marL="0" indent="0" algn="r">
              <a:buNone/>
            </a:pPr>
            <a:r>
              <a:rPr lang="en-US" sz="1000" b="1" dirty="0">
                <a:solidFill>
                  <a:srgbClr val="8C6D0F"/>
                </a:solidFill>
                <a:latin typeface="Calibri" pitchFamily="34" charset="0"/>
                <a:ea typeface="Calibri" pitchFamily="34" charset="-122"/>
                <a:cs typeface="Calibri" pitchFamily="34" charset="-120"/>
              </a:rPr>
              <a:t>P</a:t>
            </a:r>
            <a:endParaRPr lang="en-US" sz="1000" dirty="0"/>
          </a:p>
        </p:txBody>
      </p:sp>
      <p:sp>
        <p:nvSpPr>
          <p:cNvPr id="10" name="Text 7"/>
          <p:cNvSpPr txBox="1"/>
          <p:nvPr/>
        </p:nvSpPr>
        <p:spPr>
          <a:xfrm>
            <a:off x="1280160"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Political</a:t>
            </a:r>
            <a:endParaRPr lang="en-US" sz="1700" dirty="0"/>
          </a:p>
        </p:txBody>
      </p:sp>
      <p:sp>
        <p:nvSpPr>
          <p:cNvPr id="11" name="Text 8"/>
          <p:cNvSpPr txBox="1"/>
          <p:nvPr/>
        </p:nvSpPr>
        <p:spPr>
          <a:xfrm>
            <a:off x="685800"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Elections, trade restrictions, export bans (e.g. India's wheat export ban, May 2022).</a:t>
            </a:r>
            <a:endParaRPr lang="en-US" sz="1650" dirty="0"/>
          </a:p>
        </p:txBody>
      </p:sp>
      <p:sp>
        <p:nvSpPr>
          <p:cNvPr id="12" name="Shape 9"/>
          <p:cNvSpPr/>
          <p:nvPr/>
        </p:nvSpPr>
        <p:spPr>
          <a:xfrm>
            <a:off x="4322064"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3" name="Shape 10"/>
          <p:cNvSpPr/>
          <p:nvPr/>
        </p:nvSpPr>
        <p:spPr>
          <a:xfrm>
            <a:off x="4504944" y="1463040"/>
            <a:ext cx="502920" cy="502920"/>
          </a:xfrm>
          <a:prstGeom prst="ellipse">
            <a:avLst/>
          </a:prstGeom>
          <a:solidFill>
            <a:srgbClr val="14213D"/>
          </a:solidFill>
          <a:ln w="12700">
            <a:solidFill>
              <a:srgbClr val="14213D"/>
            </a:solidFill>
            <a:prstDash val="solid"/>
          </a:ln>
        </p:spPr>
      </p:sp>
      <p:pic>
        <p:nvPicPr>
          <p:cNvPr id="14" name="Image 1" descr="preencoded.png"/>
          <p:cNvPicPr>
            <a:picLocks noChangeAspect="1"/>
          </p:cNvPicPr>
          <p:nvPr/>
        </p:nvPicPr>
        <p:blipFill>
          <a:blip r:embed="rId4"/>
          <a:stretch>
            <a:fillRect/>
          </a:stretch>
        </p:blipFill>
        <p:spPr>
          <a:xfrm>
            <a:off x="4625645" y="1583741"/>
            <a:ext cx="261518" cy="261518"/>
          </a:xfrm>
          <a:prstGeom prst="rect">
            <a:avLst/>
          </a:prstGeom>
        </p:spPr>
      </p:pic>
      <p:sp>
        <p:nvSpPr>
          <p:cNvPr id="15" name="Text 11"/>
          <p:cNvSpPr txBox="1"/>
          <p:nvPr/>
        </p:nvSpPr>
        <p:spPr>
          <a:xfrm>
            <a:off x="6495288" y="1417320"/>
            <a:ext cx="1188720" cy="274320"/>
          </a:xfrm>
          <a:prstGeom prst="rect">
            <a:avLst/>
          </a:prstGeom>
          <a:noFill/>
          <a:ln/>
        </p:spPr>
        <p:txBody>
          <a:bodyPr wrap="square" lIns="0" tIns="0" rIns="0" bIns="0" rtlCol="0" anchor="ctr"/>
          <a:lstStyle/>
          <a:p>
            <a:pPr marL="0" indent="0" algn="r">
              <a:buNone/>
            </a:pPr>
            <a:r>
              <a:rPr lang="en-US" sz="1000" b="1" dirty="0">
                <a:solidFill>
                  <a:srgbClr val="8C6D0F"/>
                </a:solidFill>
                <a:latin typeface="Calibri" pitchFamily="34" charset="0"/>
                <a:ea typeface="Calibri" pitchFamily="34" charset="-122"/>
                <a:cs typeface="Calibri" pitchFamily="34" charset="-120"/>
              </a:rPr>
              <a:t>E</a:t>
            </a:r>
            <a:endParaRPr lang="en-US" sz="1000" dirty="0"/>
          </a:p>
        </p:txBody>
      </p:sp>
      <p:sp>
        <p:nvSpPr>
          <p:cNvPr id="16" name="Text 12"/>
          <p:cNvSpPr txBox="1"/>
          <p:nvPr/>
        </p:nvSpPr>
        <p:spPr>
          <a:xfrm>
            <a:off x="5099304"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Economic</a:t>
            </a:r>
            <a:endParaRPr lang="en-US" sz="1700" dirty="0"/>
          </a:p>
        </p:txBody>
      </p:sp>
      <p:sp>
        <p:nvSpPr>
          <p:cNvPr id="17" name="Text 13"/>
          <p:cNvSpPr txBox="1"/>
          <p:nvPr/>
        </p:nvSpPr>
        <p:spPr>
          <a:xfrm>
            <a:off x="4504944"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Inflation, repo-rate cycles, rupee moves, crude oil prices, credit cycles.</a:t>
            </a:r>
            <a:endParaRPr lang="en-US" sz="1650" dirty="0"/>
          </a:p>
        </p:txBody>
      </p:sp>
      <p:sp>
        <p:nvSpPr>
          <p:cNvPr id="18" name="Shape 14"/>
          <p:cNvSpPr/>
          <p:nvPr/>
        </p:nvSpPr>
        <p:spPr>
          <a:xfrm>
            <a:off x="8141208"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Shape 15"/>
          <p:cNvSpPr/>
          <p:nvPr/>
        </p:nvSpPr>
        <p:spPr>
          <a:xfrm>
            <a:off x="8324088" y="1463040"/>
            <a:ext cx="502920" cy="502920"/>
          </a:xfrm>
          <a:prstGeom prst="ellipse">
            <a:avLst/>
          </a:prstGeom>
          <a:solidFill>
            <a:srgbClr val="14213D"/>
          </a:solidFill>
          <a:ln w="12700">
            <a:solidFill>
              <a:srgbClr val="14213D"/>
            </a:solidFill>
            <a:prstDash val="solid"/>
          </a:ln>
        </p:spPr>
      </p:sp>
      <p:pic>
        <p:nvPicPr>
          <p:cNvPr id="20" name="Image 2" descr="preencoded.png"/>
          <p:cNvPicPr>
            <a:picLocks noChangeAspect="1"/>
          </p:cNvPicPr>
          <p:nvPr/>
        </p:nvPicPr>
        <p:blipFill>
          <a:blip r:embed="rId5"/>
          <a:stretch>
            <a:fillRect/>
          </a:stretch>
        </p:blipFill>
        <p:spPr>
          <a:xfrm>
            <a:off x="8444789" y="1583741"/>
            <a:ext cx="261518" cy="261518"/>
          </a:xfrm>
          <a:prstGeom prst="rect">
            <a:avLst/>
          </a:prstGeom>
        </p:spPr>
      </p:pic>
      <p:sp>
        <p:nvSpPr>
          <p:cNvPr id="21" name="Text 16"/>
          <p:cNvSpPr txBox="1"/>
          <p:nvPr/>
        </p:nvSpPr>
        <p:spPr>
          <a:xfrm>
            <a:off x="10314432" y="1417320"/>
            <a:ext cx="1188720" cy="274320"/>
          </a:xfrm>
          <a:prstGeom prst="rect">
            <a:avLst/>
          </a:prstGeom>
          <a:noFill/>
          <a:ln/>
        </p:spPr>
        <p:txBody>
          <a:bodyPr wrap="square" lIns="0" tIns="0" rIns="0" bIns="0" rtlCol="0" anchor="ctr"/>
          <a:lstStyle/>
          <a:p>
            <a:pPr marL="0" indent="0" algn="r">
              <a:buNone/>
            </a:pPr>
            <a:r>
              <a:rPr lang="en-US" sz="1000" b="1" dirty="0">
                <a:solidFill>
                  <a:srgbClr val="8C6D0F"/>
                </a:solidFill>
                <a:latin typeface="Calibri" pitchFamily="34" charset="0"/>
                <a:ea typeface="Calibri" pitchFamily="34" charset="-122"/>
                <a:cs typeface="Calibri" pitchFamily="34" charset="-120"/>
              </a:rPr>
              <a:t>S</a:t>
            </a:r>
            <a:endParaRPr lang="en-US" sz="1000" dirty="0"/>
          </a:p>
        </p:txBody>
      </p:sp>
      <p:sp>
        <p:nvSpPr>
          <p:cNvPr id="22" name="Text 17"/>
          <p:cNvSpPr txBox="1"/>
          <p:nvPr/>
        </p:nvSpPr>
        <p:spPr>
          <a:xfrm>
            <a:off x="8918448"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Social</a:t>
            </a:r>
            <a:endParaRPr lang="en-US" sz="1700" dirty="0"/>
          </a:p>
        </p:txBody>
      </p:sp>
      <p:sp>
        <p:nvSpPr>
          <p:cNvPr id="23" name="Text 18"/>
          <p:cNvSpPr txBox="1"/>
          <p:nvPr/>
        </p:nvSpPr>
        <p:spPr>
          <a:xfrm>
            <a:off x="8324088"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Demographics, changing consumer behaviour, labour unrest, public health.</a:t>
            </a:r>
            <a:endParaRPr lang="en-US" sz="1650" dirty="0"/>
          </a:p>
        </p:txBody>
      </p:sp>
      <p:sp>
        <p:nvSpPr>
          <p:cNvPr id="24" name="Shape 19"/>
          <p:cNvSpPr/>
          <p:nvPr/>
        </p:nvSpPr>
        <p:spPr>
          <a:xfrm>
            <a:off x="502920"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5" name="Shape 20"/>
          <p:cNvSpPr/>
          <p:nvPr/>
        </p:nvSpPr>
        <p:spPr>
          <a:xfrm>
            <a:off x="685800" y="4069080"/>
            <a:ext cx="502920" cy="502920"/>
          </a:xfrm>
          <a:prstGeom prst="ellipse">
            <a:avLst/>
          </a:prstGeom>
          <a:solidFill>
            <a:srgbClr val="14213D"/>
          </a:solidFill>
          <a:ln w="12700">
            <a:solidFill>
              <a:srgbClr val="14213D"/>
            </a:solidFill>
            <a:prstDash val="solid"/>
          </a:ln>
        </p:spPr>
      </p:sp>
      <p:pic>
        <p:nvPicPr>
          <p:cNvPr id="26" name="Image 3" descr="preencoded.png"/>
          <p:cNvPicPr>
            <a:picLocks noChangeAspect="1"/>
          </p:cNvPicPr>
          <p:nvPr/>
        </p:nvPicPr>
        <p:blipFill>
          <a:blip r:embed="rId6"/>
          <a:stretch>
            <a:fillRect/>
          </a:stretch>
        </p:blipFill>
        <p:spPr>
          <a:xfrm>
            <a:off x="806501" y="4189781"/>
            <a:ext cx="261518" cy="261518"/>
          </a:xfrm>
          <a:prstGeom prst="rect">
            <a:avLst/>
          </a:prstGeom>
        </p:spPr>
      </p:pic>
      <p:sp>
        <p:nvSpPr>
          <p:cNvPr id="27" name="Text 21"/>
          <p:cNvSpPr txBox="1"/>
          <p:nvPr/>
        </p:nvSpPr>
        <p:spPr>
          <a:xfrm>
            <a:off x="2676144" y="4023360"/>
            <a:ext cx="1188720" cy="274320"/>
          </a:xfrm>
          <a:prstGeom prst="rect">
            <a:avLst/>
          </a:prstGeom>
          <a:noFill/>
          <a:ln/>
        </p:spPr>
        <p:txBody>
          <a:bodyPr wrap="square" lIns="0" tIns="0" rIns="0" bIns="0" rtlCol="0" anchor="ctr"/>
          <a:lstStyle/>
          <a:p>
            <a:pPr marL="0" indent="0" algn="r">
              <a:buNone/>
            </a:pPr>
            <a:r>
              <a:rPr lang="en-US" sz="1000" b="1" dirty="0">
                <a:solidFill>
                  <a:srgbClr val="8C6D0F"/>
                </a:solidFill>
                <a:latin typeface="Calibri" pitchFamily="34" charset="0"/>
                <a:ea typeface="Calibri" pitchFamily="34" charset="-122"/>
                <a:cs typeface="Calibri" pitchFamily="34" charset="-120"/>
              </a:rPr>
              <a:t>T</a:t>
            </a:r>
            <a:endParaRPr lang="en-US" sz="1000" dirty="0"/>
          </a:p>
        </p:txBody>
      </p:sp>
      <p:sp>
        <p:nvSpPr>
          <p:cNvPr id="28" name="Text 22"/>
          <p:cNvSpPr txBox="1"/>
          <p:nvPr/>
        </p:nvSpPr>
        <p:spPr>
          <a:xfrm>
            <a:off x="1280160"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Technological</a:t>
            </a:r>
            <a:endParaRPr lang="en-US" sz="1700" dirty="0"/>
          </a:p>
        </p:txBody>
      </p:sp>
      <p:sp>
        <p:nvSpPr>
          <p:cNvPr id="29" name="Text 23"/>
          <p:cNvSpPr txBox="1"/>
          <p:nvPr/>
        </p:nvSpPr>
        <p:spPr>
          <a:xfrm>
            <a:off x="685800"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Cyber attacks, UPI and fintech disruption, AI, obsolescence of legacy systems.</a:t>
            </a:r>
            <a:endParaRPr lang="en-US" sz="1650" dirty="0"/>
          </a:p>
        </p:txBody>
      </p:sp>
      <p:sp>
        <p:nvSpPr>
          <p:cNvPr id="30" name="Shape 24"/>
          <p:cNvSpPr/>
          <p:nvPr/>
        </p:nvSpPr>
        <p:spPr>
          <a:xfrm>
            <a:off x="4322064"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1" name="Shape 25"/>
          <p:cNvSpPr/>
          <p:nvPr/>
        </p:nvSpPr>
        <p:spPr>
          <a:xfrm>
            <a:off x="4504944" y="4069080"/>
            <a:ext cx="502920" cy="502920"/>
          </a:xfrm>
          <a:prstGeom prst="ellipse">
            <a:avLst/>
          </a:prstGeom>
          <a:solidFill>
            <a:srgbClr val="14213D"/>
          </a:solidFill>
          <a:ln w="12700">
            <a:solidFill>
              <a:srgbClr val="14213D"/>
            </a:solidFill>
            <a:prstDash val="solid"/>
          </a:ln>
        </p:spPr>
      </p:sp>
      <p:pic>
        <p:nvPicPr>
          <p:cNvPr id="32" name="Image 4" descr="preencoded.png"/>
          <p:cNvPicPr>
            <a:picLocks noChangeAspect="1"/>
          </p:cNvPicPr>
          <p:nvPr/>
        </p:nvPicPr>
        <p:blipFill>
          <a:blip r:embed="rId7"/>
          <a:stretch>
            <a:fillRect/>
          </a:stretch>
        </p:blipFill>
        <p:spPr>
          <a:xfrm>
            <a:off x="4625645" y="4189781"/>
            <a:ext cx="261518" cy="261518"/>
          </a:xfrm>
          <a:prstGeom prst="rect">
            <a:avLst/>
          </a:prstGeom>
        </p:spPr>
      </p:pic>
      <p:sp>
        <p:nvSpPr>
          <p:cNvPr id="33" name="Text 26"/>
          <p:cNvSpPr txBox="1"/>
          <p:nvPr/>
        </p:nvSpPr>
        <p:spPr>
          <a:xfrm>
            <a:off x="6495288" y="4023360"/>
            <a:ext cx="1188720" cy="274320"/>
          </a:xfrm>
          <a:prstGeom prst="rect">
            <a:avLst/>
          </a:prstGeom>
          <a:noFill/>
          <a:ln/>
        </p:spPr>
        <p:txBody>
          <a:bodyPr wrap="square" lIns="0" tIns="0" rIns="0" bIns="0" rtlCol="0" anchor="ctr"/>
          <a:lstStyle/>
          <a:p>
            <a:pPr marL="0" indent="0" algn="r">
              <a:buNone/>
            </a:pPr>
            <a:r>
              <a:rPr lang="en-US" sz="1000" b="1" dirty="0">
                <a:solidFill>
                  <a:srgbClr val="8C6D0F"/>
                </a:solidFill>
                <a:latin typeface="Calibri" pitchFamily="34" charset="0"/>
                <a:ea typeface="Calibri" pitchFamily="34" charset="-122"/>
                <a:cs typeface="Calibri" pitchFamily="34" charset="-120"/>
              </a:rPr>
              <a:t>L</a:t>
            </a:r>
            <a:endParaRPr lang="en-US" sz="1000" dirty="0"/>
          </a:p>
        </p:txBody>
      </p:sp>
      <p:sp>
        <p:nvSpPr>
          <p:cNvPr id="34" name="Text 27"/>
          <p:cNvSpPr txBox="1"/>
          <p:nvPr/>
        </p:nvSpPr>
        <p:spPr>
          <a:xfrm>
            <a:off x="5099304"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Legal</a:t>
            </a:r>
            <a:endParaRPr lang="en-US" sz="1700" dirty="0"/>
          </a:p>
        </p:txBody>
      </p:sp>
      <p:sp>
        <p:nvSpPr>
          <p:cNvPr id="35" name="Text 28"/>
          <p:cNvSpPr txBox="1"/>
          <p:nvPr/>
        </p:nvSpPr>
        <p:spPr>
          <a:xfrm>
            <a:off x="4504944"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New laws (DPDP Act 2023 on data protection), litigation, contract disputes.</a:t>
            </a:r>
            <a:endParaRPr lang="en-US" sz="1650" dirty="0"/>
          </a:p>
        </p:txBody>
      </p:sp>
      <p:sp>
        <p:nvSpPr>
          <p:cNvPr id="36" name="Shape 29"/>
          <p:cNvSpPr/>
          <p:nvPr/>
        </p:nvSpPr>
        <p:spPr>
          <a:xfrm>
            <a:off x="8141208"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7" name="Shape 30"/>
          <p:cNvSpPr/>
          <p:nvPr/>
        </p:nvSpPr>
        <p:spPr>
          <a:xfrm>
            <a:off x="8324088" y="4069080"/>
            <a:ext cx="502920" cy="502920"/>
          </a:xfrm>
          <a:prstGeom prst="ellipse">
            <a:avLst/>
          </a:prstGeom>
          <a:solidFill>
            <a:srgbClr val="14213D"/>
          </a:solidFill>
          <a:ln w="12700">
            <a:solidFill>
              <a:srgbClr val="14213D"/>
            </a:solidFill>
            <a:prstDash val="solid"/>
          </a:ln>
        </p:spPr>
      </p:sp>
      <p:pic>
        <p:nvPicPr>
          <p:cNvPr id="38" name="Image 5" descr="preencoded.png"/>
          <p:cNvPicPr>
            <a:picLocks noChangeAspect="1"/>
          </p:cNvPicPr>
          <p:nvPr/>
        </p:nvPicPr>
        <p:blipFill>
          <a:blip r:embed="rId8"/>
          <a:stretch>
            <a:fillRect/>
          </a:stretch>
        </p:blipFill>
        <p:spPr>
          <a:xfrm>
            <a:off x="8444789" y="4189781"/>
            <a:ext cx="261518" cy="261518"/>
          </a:xfrm>
          <a:prstGeom prst="rect">
            <a:avLst/>
          </a:prstGeom>
        </p:spPr>
      </p:pic>
      <p:sp>
        <p:nvSpPr>
          <p:cNvPr id="39" name="Text 31"/>
          <p:cNvSpPr txBox="1"/>
          <p:nvPr/>
        </p:nvSpPr>
        <p:spPr>
          <a:xfrm>
            <a:off x="10314432" y="4023360"/>
            <a:ext cx="1188720" cy="274320"/>
          </a:xfrm>
          <a:prstGeom prst="rect">
            <a:avLst/>
          </a:prstGeom>
          <a:noFill/>
          <a:ln/>
        </p:spPr>
        <p:txBody>
          <a:bodyPr wrap="square" lIns="0" tIns="0" rIns="0" bIns="0" rtlCol="0" anchor="ctr"/>
          <a:lstStyle/>
          <a:p>
            <a:pPr marL="0" indent="0" algn="r">
              <a:buNone/>
            </a:pPr>
            <a:r>
              <a:rPr lang="en-US" sz="1000" b="1" dirty="0">
                <a:solidFill>
                  <a:srgbClr val="8C6D0F"/>
                </a:solidFill>
                <a:latin typeface="Calibri" pitchFamily="34" charset="0"/>
                <a:ea typeface="Calibri" pitchFamily="34" charset="-122"/>
                <a:cs typeface="Calibri" pitchFamily="34" charset="-120"/>
              </a:rPr>
              <a:t>E</a:t>
            </a:r>
            <a:endParaRPr lang="en-US" sz="1000" dirty="0"/>
          </a:p>
        </p:txBody>
      </p:sp>
      <p:sp>
        <p:nvSpPr>
          <p:cNvPr id="40" name="Text 32"/>
          <p:cNvSpPr txBox="1"/>
          <p:nvPr/>
        </p:nvSpPr>
        <p:spPr>
          <a:xfrm>
            <a:off x="8918448"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Environmental</a:t>
            </a:r>
            <a:endParaRPr lang="en-US" sz="1700" dirty="0"/>
          </a:p>
        </p:txBody>
      </p:sp>
      <p:sp>
        <p:nvSpPr>
          <p:cNvPr id="41" name="Text 33"/>
          <p:cNvSpPr txBox="1"/>
          <p:nvPr/>
        </p:nvSpPr>
        <p:spPr>
          <a:xfrm>
            <a:off x="8324088"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Cyclones, floods, heat stress, carbon regulation, transition to renewables.</a:t>
            </a:r>
            <a:endParaRPr lang="en-US" sz="1650" dirty="0"/>
          </a:p>
        </p:txBody>
      </p:sp>
      <p:sp>
        <p:nvSpPr>
          <p:cNvPr id="42"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14</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Cause, Event and Consequence: The Bow-Tie View</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Text 4"/>
          <p:cNvSpPr txBox="1"/>
          <p:nvPr/>
        </p:nvSpPr>
        <p:spPr>
          <a:xfrm>
            <a:off x="502920" y="1188720"/>
            <a:ext cx="11183112" cy="457200"/>
          </a:xfrm>
          <a:prstGeom prst="rect">
            <a:avLst/>
          </a:prstGeom>
          <a:noFill/>
          <a:ln/>
        </p:spPr>
        <p:txBody>
          <a:bodyPr wrap="square" lIns="0" tIns="0" rIns="0" bIns="0" rtlCol="0" anchor="t"/>
          <a:lstStyle/>
          <a:p>
            <a:pPr marL="0" indent="0" algn="l">
              <a:buNone/>
            </a:pPr>
            <a:r>
              <a:rPr lang="en-US" sz="1500" i="1" dirty="0">
                <a:solidFill>
                  <a:srgbClr val="5C6577"/>
                </a:solidFill>
                <a:latin typeface="Calibri" pitchFamily="34" charset="0"/>
                <a:ea typeface="Calibri" pitchFamily="34" charset="-122"/>
                <a:cs typeface="Calibri" pitchFamily="34" charset="-120"/>
              </a:rPr>
              <a:t>Example: an auto-component plant near Chennai during a severe cyclone (as with Cyclone Michaung, December 2023)</a:t>
            </a:r>
            <a:endParaRPr lang="en-US" sz="1500" dirty="0"/>
          </a:p>
        </p:txBody>
      </p:sp>
      <p:sp>
        <p:nvSpPr>
          <p:cNvPr id="7" name="Shape 5"/>
          <p:cNvSpPr/>
          <p:nvPr/>
        </p:nvSpPr>
        <p:spPr>
          <a:xfrm>
            <a:off x="502920" y="1783080"/>
            <a:ext cx="3017520" cy="3383280"/>
          </a:xfrm>
          <a:prstGeom prst="roundRect">
            <a:avLst>
              <a:gd name="adj" fmla="val 2424"/>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8" name="Text 6"/>
          <p:cNvSpPr txBox="1"/>
          <p:nvPr/>
        </p:nvSpPr>
        <p:spPr>
          <a:xfrm>
            <a:off x="640080" y="1847088"/>
            <a:ext cx="2743200" cy="411480"/>
          </a:xfrm>
          <a:prstGeom prst="rect">
            <a:avLst/>
          </a:prstGeom>
          <a:noFill/>
          <a:ln/>
        </p:spPr>
        <p:txBody>
          <a:bodyPr wrap="square" lIns="0" tIns="0" rIns="0" bIns="0" rtlCol="0" anchor="t"/>
          <a:lstStyle/>
          <a:p>
            <a:pPr marL="0" indent="0" algn="ctr">
              <a:buNone/>
            </a:pPr>
            <a:r>
              <a:rPr lang="en-US" sz="1600" b="1" dirty="0">
                <a:solidFill>
                  <a:srgbClr val="14213D"/>
                </a:solidFill>
                <a:latin typeface="Cambria" pitchFamily="34" charset="0"/>
                <a:ea typeface="Cambria" pitchFamily="34" charset="-122"/>
                <a:cs typeface="Cambria" pitchFamily="34" charset="-120"/>
              </a:rPr>
              <a:t>Causes (sources)</a:t>
            </a:r>
            <a:endParaRPr lang="en-US" sz="1600" dirty="0"/>
          </a:p>
        </p:txBody>
      </p:sp>
      <p:sp>
        <p:nvSpPr>
          <p:cNvPr id="9" name="Text 7"/>
          <p:cNvSpPr txBox="1"/>
          <p:nvPr/>
        </p:nvSpPr>
        <p:spPr>
          <a:xfrm>
            <a:off x="685800" y="2331720"/>
            <a:ext cx="2651760" cy="2743200"/>
          </a:xfrm>
          <a:prstGeom prst="rect">
            <a:avLst/>
          </a:prstGeom>
          <a:noFill/>
          <a:ln/>
        </p:spPr>
        <p:txBody>
          <a:bodyPr wrap="square" lIns="0" tIns="0" rIns="0" bIns="0" rtlCol="0" anchor="t"/>
          <a:lstStyle/>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Extreme rainfall and wind</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Plant in a low-lying area</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Drainage blocked</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Single power feed</a:t>
            </a:r>
            <a:endParaRPr lang="en-US" sz="1400" dirty="0"/>
          </a:p>
        </p:txBody>
      </p:sp>
      <p:sp>
        <p:nvSpPr>
          <p:cNvPr id="10" name="Shape 8"/>
          <p:cNvSpPr/>
          <p:nvPr/>
        </p:nvSpPr>
        <p:spPr>
          <a:xfrm>
            <a:off x="4526280" y="1783080"/>
            <a:ext cx="3108960" cy="3383280"/>
          </a:xfrm>
          <a:prstGeom prst="roundRect">
            <a:avLst>
              <a:gd name="adj" fmla="val 2353"/>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1" name="Text 9"/>
          <p:cNvSpPr txBox="1"/>
          <p:nvPr/>
        </p:nvSpPr>
        <p:spPr>
          <a:xfrm>
            <a:off x="4663440" y="1847088"/>
            <a:ext cx="2834640" cy="411480"/>
          </a:xfrm>
          <a:prstGeom prst="rect">
            <a:avLst/>
          </a:prstGeom>
          <a:noFill/>
          <a:ln/>
        </p:spPr>
        <p:txBody>
          <a:bodyPr wrap="square" lIns="0" tIns="0" rIns="0" bIns="0" rtlCol="0" anchor="t"/>
          <a:lstStyle/>
          <a:p>
            <a:pPr marL="0" indent="0" algn="ctr">
              <a:buNone/>
            </a:pPr>
            <a:r>
              <a:rPr lang="en-US" sz="1600" b="1" dirty="0">
                <a:solidFill>
                  <a:srgbClr val="C9A227"/>
                </a:solidFill>
                <a:latin typeface="Cambria" pitchFamily="34" charset="0"/>
                <a:ea typeface="Cambria" pitchFamily="34" charset="-122"/>
                <a:cs typeface="Cambria" pitchFamily="34" charset="-120"/>
              </a:rPr>
              <a:t>Risk event</a:t>
            </a:r>
            <a:endParaRPr lang="en-US" sz="1600" dirty="0"/>
          </a:p>
        </p:txBody>
      </p:sp>
      <p:sp>
        <p:nvSpPr>
          <p:cNvPr id="12" name="Text 10"/>
          <p:cNvSpPr txBox="1"/>
          <p:nvPr/>
        </p:nvSpPr>
        <p:spPr>
          <a:xfrm>
            <a:off x="4709160" y="2331720"/>
            <a:ext cx="2743200" cy="2743200"/>
          </a:xfrm>
          <a:prstGeom prst="rect">
            <a:avLst/>
          </a:prstGeom>
          <a:noFill/>
          <a:ln/>
        </p:spPr>
        <p:txBody>
          <a:bodyPr wrap="square" lIns="0" tIns="0" rIns="0" bIns="0" rtlCol="0" anchor="t"/>
          <a:lstStyle/>
          <a:p>
            <a:pPr marL="177800" indent="-177800" algn="l">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Plant flooded; production stops for 7 days</a:t>
            </a:r>
            <a:endParaRPr lang="en-US" sz="1400" dirty="0"/>
          </a:p>
          <a:p>
            <a:pPr marL="177800" indent="-177800" algn="l">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Staff cannot reach the site</a:t>
            </a:r>
            <a:endParaRPr lang="en-US" sz="1400" dirty="0"/>
          </a:p>
          <a:p>
            <a:pPr marL="177800" indent="-177800" algn="l">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Finished goods trapped in the warehouse</a:t>
            </a:r>
            <a:endParaRPr lang="en-US" sz="1400" dirty="0"/>
          </a:p>
        </p:txBody>
      </p:sp>
      <p:sp>
        <p:nvSpPr>
          <p:cNvPr id="13" name="Shape 11"/>
          <p:cNvSpPr/>
          <p:nvPr/>
        </p:nvSpPr>
        <p:spPr>
          <a:xfrm>
            <a:off x="8641080" y="1783080"/>
            <a:ext cx="3044952" cy="3383280"/>
          </a:xfrm>
          <a:prstGeom prst="roundRect">
            <a:avLst>
              <a:gd name="adj" fmla="val 240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4" name="Text 12"/>
          <p:cNvSpPr txBox="1"/>
          <p:nvPr/>
        </p:nvSpPr>
        <p:spPr>
          <a:xfrm>
            <a:off x="8778240" y="1847088"/>
            <a:ext cx="2770632" cy="411480"/>
          </a:xfrm>
          <a:prstGeom prst="rect">
            <a:avLst/>
          </a:prstGeom>
          <a:noFill/>
          <a:ln/>
        </p:spPr>
        <p:txBody>
          <a:bodyPr wrap="square" lIns="0" tIns="0" rIns="0" bIns="0" rtlCol="0" anchor="t"/>
          <a:lstStyle/>
          <a:p>
            <a:pPr marL="0" indent="0" algn="ctr">
              <a:buNone/>
            </a:pPr>
            <a:r>
              <a:rPr lang="en-US" sz="1600" b="1" dirty="0">
                <a:solidFill>
                  <a:srgbClr val="14213D"/>
                </a:solidFill>
                <a:latin typeface="Cambria" pitchFamily="34" charset="0"/>
                <a:ea typeface="Cambria" pitchFamily="34" charset="-122"/>
                <a:cs typeface="Cambria" pitchFamily="34" charset="-120"/>
              </a:rPr>
              <a:t>Consequences</a:t>
            </a:r>
            <a:endParaRPr lang="en-US" sz="1600" dirty="0"/>
          </a:p>
        </p:txBody>
      </p:sp>
      <p:sp>
        <p:nvSpPr>
          <p:cNvPr id="15" name="Text 13"/>
          <p:cNvSpPr txBox="1"/>
          <p:nvPr/>
        </p:nvSpPr>
        <p:spPr>
          <a:xfrm>
            <a:off x="8823960" y="2331720"/>
            <a:ext cx="2679192" cy="2743200"/>
          </a:xfrm>
          <a:prstGeom prst="rect">
            <a:avLst/>
          </a:prstGeom>
          <a:noFill/>
          <a:ln/>
        </p:spPr>
        <p:txBody>
          <a:bodyPr wrap="square" lIns="0" tIns="0" rIns="0" bIns="0" rtlCol="0" anchor="t"/>
          <a:lstStyle/>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Missed deliveries to OEMs; penalties</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Damaged machinery and inventory</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Overtime to catch up; lost customers</a:t>
            </a:r>
            <a:endParaRPr lang="en-US" sz="1400" dirty="0"/>
          </a:p>
          <a:p>
            <a:pPr marL="177800" indent="-177800" algn="l">
              <a:spcAft>
                <a:spcPts val="800"/>
              </a:spcAft>
              <a:buSzPct val="100000"/>
              <a:buChar char="•"/>
            </a:pPr>
            <a:r>
              <a:rPr lang="en-US" sz="1400" dirty="0">
                <a:solidFill>
                  <a:srgbClr val="1E2533"/>
                </a:solidFill>
                <a:latin typeface="Calibri" pitchFamily="34" charset="0"/>
                <a:ea typeface="Calibri" pitchFamily="34" charset="-122"/>
                <a:cs typeface="Calibri" pitchFamily="34" charset="-120"/>
              </a:rPr>
              <a:t>Insurance claim and higher premium</a:t>
            </a:r>
            <a:endParaRPr lang="en-US" sz="1400" dirty="0"/>
          </a:p>
        </p:txBody>
      </p:sp>
      <p:sp>
        <p:nvSpPr>
          <p:cNvPr id="16" name="Shape 14"/>
          <p:cNvSpPr/>
          <p:nvPr/>
        </p:nvSpPr>
        <p:spPr>
          <a:xfrm>
            <a:off x="3611880" y="3200400"/>
            <a:ext cx="822960" cy="502920"/>
          </a:xfrm>
          <a:prstGeom prst="rightArrow">
            <a:avLst/>
          </a:prstGeom>
          <a:solidFill>
            <a:srgbClr val="C9A227"/>
          </a:solidFill>
          <a:ln w="12700">
            <a:solidFill>
              <a:srgbClr val="C9A227"/>
            </a:solidFill>
            <a:prstDash val="solid"/>
          </a:ln>
        </p:spPr>
      </p:sp>
      <p:sp>
        <p:nvSpPr>
          <p:cNvPr id="17" name="Shape 15"/>
          <p:cNvSpPr/>
          <p:nvPr/>
        </p:nvSpPr>
        <p:spPr>
          <a:xfrm>
            <a:off x="7726680" y="3200400"/>
            <a:ext cx="822960" cy="502920"/>
          </a:xfrm>
          <a:prstGeom prst="rightArrow">
            <a:avLst/>
          </a:prstGeom>
          <a:solidFill>
            <a:srgbClr val="C9A227"/>
          </a:solidFill>
          <a:ln w="12700">
            <a:solidFill>
              <a:srgbClr val="C9A227"/>
            </a:solidFill>
            <a:prstDash val="solid"/>
          </a:ln>
        </p:spPr>
      </p:sp>
      <p:sp>
        <p:nvSpPr>
          <p:cNvPr id="18" name="Shape 16"/>
          <p:cNvSpPr/>
          <p:nvPr/>
        </p:nvSpPr>
        <p:spPr>
          <a:xfrm>
            <a:off x="502920" y="5394960"/>
            <a:ext cx="5440680" cy="822960"/>
          </a:xfrm>
          <a:prstGeom prst="roundRect">
            <a:avLst>
              <a:gd name="adj" fmla="val 8889"/>
            </a:avLst>
          </a:prstGeom>
          <a:solidFill>
            <a:srgbClr val="EFE8D6"/>
          </a:solidFill>
          <a:ln w="9525">
            <a:solidFill>
              <a:srgbClr val="EFE8D6"/>
            </a:solidFill>
            <a:prstDash val="solid"/>
          </a:ln>
          <a:effectLst>
            <a:outerShdw blurRad="63500" dist="19050" dir="5400000" algn="bl" rotWithShape="0">
              <a:srgbClr val="000000">
                <a:alpha val="13000"/>
              </a:srgbClr>
            </a:outerShdw>
          </a:effectLst>
        </p:spPr>
      </p:sp>
      <p:sp>
        <p:nvSpPr>
          <p:cNvPr id="19" name="Shape 17"/>
          <p:cNvSpPr/>
          <p:nvPr/>
        </p:nvSpPr>
        <p:spPr>
          <a:xfrm>
            <a:off x="6245352" y="5394960"/>
            <a:ext cx="5440680" cy="822960"/>
          </a:xfrm>
          <a:prstGeom prst="roundRect">
            <a:avLst>
              <a:gd name="adj" fmla="val 8889"/>
            </a:avLst>
          </a:prstGeom>
          <a:solidFill>
            <a:srgbClr val="EFE8D6"/>
          </a:solidFill>
          <a:ln w="9525">
            <a:solidFill>
              <a:srgbClr val="EFE8D6"/>
            </a:solidFill>
            <a:prstDash val="solid"/>
          </a:ln>
          <a:effectLst>
            <a:outerShdw blurRad="63500" dist="19050" dir="5400000" algn="bl" rotWithShape="0">
              <a:srgbClr val="000000">
                <a:alpha val="13000"/>
              </a:srgbClr>
            </a:outerShdw>
          </a:effectLst>
        </p:spPr>
      </p:sp>
      <p:sp>
        <p:nvSpPr>
          <p:cNvPr id="20" name="Text 18"/>
          <p:cNvSpPr txBox="1"/>
          <p:nvPr/>
        </p:nvSpPr>
        <p:spPr>
          <a:xfrm>
            <a:off x="685800" y="5394960"/>
            <a:ext cx="5120640" cy="822960"/>
          </a:xfrm>
          <a:prstGeom prst="rect">
            <a:avLst/>
          </a:prstGeom>
          <a:noFill/>
          <a:ln/>
        </p:spPr>
        <p:txBody>
          <a:bodyPr wrap="square" lIns="0" tIns="0" rIns="0" bIns="0" rtlCol="0" anchor="ctr"/>
          <a:lstStyle/>
          <a:p>
            <a:pPr marL="0" indent="0" algn="l">
              <a:buNone/>
            </a:pPr>
            <a:r>
              <a:rPr lang="en-US" sz="1350" b="1" dirty="0">
                <a:solidFill>
                  <a:srgbClr val="14213D"/>
                </a:solidFill>
                <a:latin typeface="Calibri" pitchFamily="34" charset="0"/>
                <a:ea typeface="Calibri" pitchFamily="34" charset="-122"/>
                <a:cs typeface="Calibri" pitchFamily="34" charset="-120"/>
              </a:rPr>
              <a:t>Preventive controls (left side): </a:t>
            </a:r>
            <a:endParaRPr lang="en-US" sz="1350" dirty="0"/>
          </a:p>
          <a:p>
            <a:pPr marL="0" indent="0" algn="l">
              <a:buNone/>
            </a:pPr>
            <a:r>
              <a:rPr lang="en-US" sz="1350" dirty="0">
                <a:solidFill>
                  <a:srgbClr val="1E2533"/>
                </a:solidFill>
                <a:latin typeface="Calibri" pitchFamily="34" charset="0"/>
                <a:ea typeface="Calibri" pitchFamily="34" charset="-122"/>
                <a:cs typeface="Calibri" pitchFamily="34" charset="-120"/>
              </a:rPr>
              <a:t>raised plinth, drainage audit, dual power supply, weather alerts.</a:t>
            </a:r>
            <a:endParaRPr lang="en-US" sz="1350" dirty="0"/>
          </a:p>
        </p:txBody>
      </p:sp>
      <p:sp>
        <p:nvSpPr>
          <p:cNvPr id="21" name="Text 19"/>
          <p:cNvSpPr txBox="1"/>
          <p:nvPr/>
        </p:nvSpPr>
        <p:spPr>
          <a:xfrm>
            <a:off x="6428232" y="5394960"/>
            <a:ext cx="5120640" cy="822960"/>
          </a:xfrm>
          <a:prstGeom prst="rect">
            <a:avLst/>
          </a:prstGeom>
          <a:noFill/>
          <a:ln/>
        </p:spPr>
        <p:txBody>
          <a:bodyPr wrap="square" lIns="0" tIns="0" rIns="0" bIns="0" rtlCol="0" anchor="ctr"/>
          <a:lstStyle/>
          <a:p>
            <a:pPr marL="0" indent="0" algn="l">
              <a:buNone/>
            </a:pPr>
            <a:r>
              <a:rPr lang="en-US" sz="1350" b="1" dirty="0">
                <a:solidFill>
                  <a:srgbClr val="14213D"/>
                </a:solidFill>
                <a:latin typeface="Calibri" pitchFamily="34" charset="0"/>
                <a:ea typeface="Calibri" pitchFamily="34" charset="-122"/>
                <a:cs typeface="Calibri" pitchFamily="34" charset="-120"/>
              </a:rPr>
              <a:t>Mitigating controls (right side): </a:t>
            </a:r>
            <a:endParaRPr lang="en-US" sz="1350" dirty="0"/>
          </a:p>
          <a:p>
            <a:pPr marL="0" indent="0" algn="l">
              <a:buNone/>
            </a:pPr>
            <a:r>
              <a:rPr lang="en-US" sz="1350" dirty="0">
                <a:solidFill>
                  <a:srgbClr val="1E2533"/>
                </a:solidFill>
                <a:latin typeface="Calibri" pitchFamily="34" charset="0"/>
                <a:ea typeface="Calibri" pitchFamily="34" charset="-122"/>
                <a:cs typeface="Calibri" pitchFamily="34" charset="-120"/>
              </a:rPr>
              <a:t>second-source supplier, safety stock, BCP, property and business-interruption insurance.</a:t>
            </a:r>
            <a:endParaRPr lang="en-US" sz="13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14</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Mapping Sources to Risk Types and Early Indicators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29768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410712">
                  <a:extLst>
                    <a:ext uri="{9D8B030D-6E8A-4147-A177-3AD203B41FA5}">
                      <a16:colId xmlns:a16="http://schemas.microsoft.com/office/drawing/2014/main" val="20003"/>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Source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Resulting risk type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Indian example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Early indicator to monitor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4008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Monetary policy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Interest rate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Repo hikes of 2022–23 cut G-sec prices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MPC minutes, inflation prints, yield curve slope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Global risk-off</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Equity &amp; FX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FPI outflows weaken the rupee and the Nifty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FPI flow data, US yields, India VIX</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64008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Monsoon failure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Commodity &amp; credit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Rural demand slump; agri-loan stress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IMD forecasts, reservoir levels, food inflation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Wholesale funding reliance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Liquidity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NBFC funding freeze after IL&amp;FS (2018)</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CP spreads, maturity gaps, rating outlooks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64008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Weak internal controls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Operational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Unrecorded LoUs in the PNB fraud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Reconciliation breaks, audit findings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Customer complaints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Reputational &amp; regulatory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Mis-selling penalties on insurers and banks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Complaint volumes, ombudsman cases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15</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15</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Risk of Commodity Investment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Price, basis, volume, carry, margin and regulatory risk in commodity markets</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Meaning and explanation</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Types of commodity risk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Indian and global examples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Measurement and hedging formulas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Five quantitative problems (C1–C5) on MCX contracts</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Commodity Investment Risk: Meaning and Explanation</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11183112" cy="960120"/>
          </a:xfrm>
          <a:prstGeom prst="roundRect">
            <a:avLst>
              <a:gd name="adj" fmla="val 7619"/>
            </a:avLst>
          </a:prstGeom>
          <a:solidFill>
            <a:srgbClr val="14213D"/>
          </a:solidFill>
          <a:ln w="15875">
            <a:solidFill>
              <a:srgbClr val="C9A227"/>
            </a:solidFill>
            <a:prstDash val="solid"/>
          </a:ln>
        </p:spPr>
      </p:sp>
      <p:sp>
        <p:nvSpPr>
          <p:cNvPr id="7" name="Text 5"/>
          <p:cNvSpPr txBox="1"/>
          <p:nvPr/>
        </p:nvSpPr>
        <p:spPr>
          <a:xfrm>
            <a:off x="685800" y="1307592"/>
            <a:ext cx="10817352" cy="813816"/>
          </a:xfrm>
          <a:prstGeom prst="rect">
            <a:avLst/>
          </a:prstGeom>
          <a:noFill/>
          <a:ln/>
        </p:spPr>
        <p:txBody>
          <a:bodyPr wrap="square" lIns="0" tIns="0" rIns="0" bIns="0" rtlCol="0" anchor="ctr"/>
          <a:lstStyle/>
          <a:p>
            <a:pPr marL="0" indent="0" algn="l">
              <a:buNone/>
            </a:pPr>
            <a:r>
              <a:rPr lang="en-US" sz="1550" i="1" dirty="0">
                <a:solidFill>
                  <a:srgbClr val="FFFFFF"/>
                </a:solidFill>
                <a:latin typeface="Calibri" pitchFamily="34" charset="0"/>
                <a:ea typeface="Calibri" pitchFamily="34" charset="-122"/>
                <a:cs typeface="Calibri" pitchFamily="34" charset="-120"/>
              </a:rPr>
              <a:t>Commodity risk is the possibility that the value of a commodity holding, a futures position, or a business cash flow linked to a commodity changes adversely because of movements in commodity prices and related factors.</a:t>
            </a:r>
            <a:endParaRPr lang="en-US" sz="1550" dirty="0"/>
          </a:p>
        </p:txBody>
      </p:sp>
      <p:sp>
        <p:nvSpPr>
          <p:cNvPr id="8" name="Shape 6"/>
          <p:cNvSpPr/>
          <p:nvPr/>
        </p:nvSpPr>
        <p:spPr>
          <a:xfrm>
            <a:off x="502920" y="2423160"/>
            <a:ext cx="5541264"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731520" y="2542032"/>
            <a:ext cx="5120640" cy="3611880"/>
          </a:xfrm>
          <a:prstGeom prst="rect">
            <a:avLst/>
          </a:prstGeom>
          <a:noFill/>
          <a:ln/>
        </p:spPr>
        <p:txBody>
          <a:bodyPr wrap="square" lIns="0" tIns="0" rIns="0" bIns="0" rtlCol="0" anchor="t"/>
          <a:lstStyle/>
          <a:p>
            <a:pPr marL="0" indent="0" algn="l">
              <a:spcAft>
                <a:spcPts val="600"/>
              </a:spcAft>
              <a:buNone/>
            </a:pPr>
            <a:r>
              <a:rPr lang="en-US" sz="1600" b="1" dirty="0">
                <a:solidFill>
                  <a:srgbClr val="8C6D0F"/>
                </a:solidFill>
                <a:latin typeface="Calibri" pitchFamily="34" charset="0"/>
                <a:ea typeface="Calibri" pitchFamily="34" charset="-122"/>
                <a:cs typeface="Calibri" pitchFamily="34" charset="-120"/>
              </a:rPr>
              <a:t>Why commodity prices are risky</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Supply shocks:</a:t>
            </a:r>
            <a:r>
              <a:rPr lang="en-US" sz="1450" dirty="0">
                <a:solidFill>
                  <a:srgbClr val="1E2533"/>
                </a:solidFill>
                <a:latin typeface="Calibri" pitchFamily="34" charset="0"/>
                <a:ea typeface="Calibri" pitchFamily="34" charset="-122"/>
                <a:cs typeface="Calibri" pitchFamily="34" charset="-120"/>
              </a:rPr>
              <a:t> weather, monsoon, wars, OPEC+ decisions, mine strikes.</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Inelastic demand:</a:t>
            </a:r>
            <a:r>
              <a:rPr lang="en-US" sz="1450" dirty="0">
                <a:solidFill>
                  <a:srgbClr val="1E2533"/>
                </a:solidFill>
                <a:latin typeface="Calibri" pitchFamily="34" charset="0"/>
                <a:ea typeface="Calibri" pitchFamily="34" charset="-122"/>
                <a:cs typeface="Calibri" pitchFamily="34" charset="-120"/>
              </a:rPr>
              <a:t> small supply gaps cause large price swings.</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Storage and carry:</a:t>
            </a:r>
            <a:r>
              <a:rPr lang="en-US" sz="1450" dirty="0">
                <a:solidFill>
                  <a:srgbClr val="1E2533"/>
                </a:solidFill>
                <a:latin typeface="Calibri" pitchFamily="34" charset="0"/>
                <a:ea typeface="Calibri" pitchFamily="34" charset="-122"/>
                <a:cs typeface="Calibri" pitchFamily="34" charset="-120"/>
              </a:rPr>
              <a:t> futures prices depend on interest, storage cost and convenience yield (contango vs backwardation).</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Global pricing:</a:t>
            </a:r>
            <a:r>
              <a:rPr lang="en-US" sz="1450" dirty="0">
                <a:solidFill>
                  <a:srgbClr val="1E2533"/>
                </a:solidFill>
                <a:latin typeface="Calibri" pitchFamily="34" charset="0"/>
                <a:ea typeface="Calibri" pitchFamily="34" charset="-122"/>
                <a:cs typeface="Calibri" pitchFamily="34" charset="-120"/>
              </a:rPr>
              <a:t> most prices are set abroad in dollars, so the rupee adds a second layer of risk.</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Seasonality:</a:t>
            </a:r>
            <a:r>
              <a:rPr lang="en-US" sz="1450" dirty="0">
                <a:solidFill>
                  <a:srgbClr val="1E2533"/>
                </a:solidFill>
                <a:latin typeface="Calibri" pitchFamily="34" charset="0"/>
                <a:ea typeface="Calibri" pitchFamily="34" charset="-122"/>
                <a:cs typeface="Calibri" pitchFamily="34" charset="-120"/>
              </a:rPr>
              <a:t> agricultural prices follow sowing and harvest cycles.</a:t>
            </a:r>
            <a:endParaRPr lang="en-US" sz="1600" dirty="0"/>
          </a:p>
        </p:txBody>
      </p:sp>
      <p:sp>
        <p:nvSpPr>
          <p:cNvPr id="10" name="Shape 8"/>
          <p:cNvSpPr/>
          <p:nvPr/>
        </p:nvSpPr>
        <p:spPr>
          <a:xfrm>
            <a:off x="6144768" y="2423160"/>
            <a:ext cx="5541264"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6373368" y="2542032"/>
            <a:ext cx="5120640" cy="3611880"/>
          </a:xfrm>
          <a:prstGeom prst="rect">
            <a:avLst/>
          </a:prstGeom>
          <a:noFill/>
          <a:ln/>
        </p:spPr>
        <p:txBody>
          <a:bodyPr wrap="square" lIns="0" tIns="0" rIns="0" bIns="0" rtlCol="0" anchor="t"/>
          <a:lstStyle/>
          <a:p>
            <a:pPr marL="0" indent="0" algn="l">
              <a:spcAft>
                <a:spcPts val="600"/>
              </a:spcAft>
              <a:buNone/>
            </a:pPr>
            <a:r>
              <a:rPr lang="en-US" sz="1600" b="1" dirty="0">
                <a:solidFill>
                  <a:srgbClr val="8C6D0F"/>
                </a:solidFill>
                <a:latin typeface="Calibri" pitchFamily="34" charset="0"/>
                <a:ea typeface="Calibri" pitchFamily="34" charset="-122"/>
                <a:cs typeface="Calibri" pitchFamily="34" charset="-120"/>
              </a:rPr>
              <a:t>Who bears it</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Producers (naturally long):</a:t>
            </a:r>
            <a:r>
              <a:rPr lang="en-US" sz="1450" dirty="0">
                <a:solidFill>
                  <a:srgbClr val="1E2533"/>
                </a:solidFill>
                <a:latin typeface="Calibri" pitchFamily="34" charset="0"/>
                <a:ea typeface="Calibri" pitchFamily="34" charset="-122"/>
                <a:cs typeface="Calibri" pitchFamily="34" charset="-120"/>
              </a:rPr>
              <a:t> ONGC (crude), Hindustan Zinc, farmers; they lose when prices fall.</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Consumers (naturally short):</a:t>
            </a:r>
            <a:r>
              <a:rPr lang="en-US" sz="1450" dirty="0">
                <a:solidFill>
                  <a:srgbClr val="1E2533"/>
                </a:solidFill>
                <a:latin typeface="Calibri" pitchFamily="34" charset="0"/>
                <a:ea typeface="Calibri" pitchFamily="34" charset="-122"/>
                <a:cs typeface="Calibri" pitchFamily="34" charset="-120"/>
              </a:rPr>
              <a:t> airlines (ATF), paint makers (crude derivatives), jewellers (gold), cable makers (copper); they lose when prices rise.</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Investors:</a:t>
            </a:r>
            <a:r>
              <a:rPr lang="en-US" sz="1450" dirty="0">
                <a:solidFill>
                  <a:srgbClr val="1E2533"/>
                </a:solidFill>
                <a:latin typeface="Calibri" pitchFamily="34" charset="0"/>
                <a:ea typeface="Calibri" pitchFamily="34" charset="-122"/>
                <a:cs typeface="Calibri" pitchFamily="34" charset="-120"/>
              </a:rPr>
              <a:t> holders of gold and silver ETFs or commodity futures on MCX and NCDEX.</a:t>
            </a:r>
            <a:endParaRPr lang="en-US" sz="1600" dirty="0"/>
          </a:p>
          <a:p>
            <a:pPr marL="177800" indent="-177800" algn="l">
              <a:spcAft>
                <a:spcPts val="700"/>
              </a:spcAft>
              <a:buSzPct val="100000"/>
              <a:buChar char="•"/>
            </a:pPr>
            <a:r>
              <a:rPr lang="en-US" sz="1450" b="1" dirty="0">
                <a:solidFill>
                  <a:srgbClr val="1E2533"/>
                </a:solidFill>
                <a:latin typeface="Calibri" pitchFamily="34" charset="0"/>
                <a:ea typeface="Calibri" pitchFamily="34" charset="-122"/>
                <a:cs typeface="Calibri" pitchFamily="34" charset="-120"/>
              </a:rPr>
              <a:t>Lenders:</a:t>
            </a:r>
            <a:r>
              <a:rPr lang="en-US" sz="1450" dirty="0">
                <a:solidFill>
                  <a:srgbClr val="1E2533"/>
                </a:solidFill>
                <a:latin typeface="Calibri" pitchFamily="34" charset="0"/>
                <a:ea typeface="Calibri" pitchFamily="34" charset="-122"/>
                <a:cs typeface="Calibri" pitchFamily="34" charset="-120"/>
              </a:rPr>
              <a:t> banks financing commodity inventories (warehouse receipt loans).</a:t>
            </a:r>
            <a:endParaRPr lang="en-US" sz="16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Types of Commodity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457200" cy="45720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795528" y="1572768"/>
            <a:ext cx="237744" cy="237744"/>
          </a:xfrm>
          <a:prstGeom prst="rect">
            <a:avLst/>
          </a:prstGeom>
        </p:spPr>
      </p:pic>
      <p:sp>
        <p:nvSpPr>
          <p:cNvPr id="9" name="Text 6"/>
          <p:cNvSpPr txBox="1"/>
          <p:nvPr/>
        </p:nvSpPr>
        <p:spPr>
          <a:xfrm>
            <a:off x="1234440" y="14264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Price risk</a:t>
            </a:r>
            <a:endParaRPr lang="en-US" sz="1550" dirty="0"/>
          </a:p>
        </p:txBody>
      </p:sp>
      <p:sp>
        <p:nvSpPr>
          <p:cNvPr id="10" name="Text 7"/>
          <p:cNvSpPr txBox="1"/>
          <p:nvPr/>
        </p:nvSpPr>
        <p:spPr>
          <a:xfrm>
            <a:off x="685800"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Adverse change in the spot or futures price.</a:t>
            </a:r>
            <a:endParaRPr lang="en-US" sz="1600" dirty="0"/>
          </a:p>
        </p:txBody>
      </p:sp>
      <p:sp>
        <p:nvSpPr>
          <p:cNvPr id="11" name="Shape 8"/>
          <p:cNvSpPr/>
          <p:nvPr/>
        </p:nvSpPr>
        <p:spPr>
          <a:xfrm>
            <a:off x="3367278"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3550158" y="1463040"/>
            <a:ext cx="457200" cy="45720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3659886" y="1572768"/>
            <a:ext cx="237744" cy="237744"/>
          </a:xfrm>
          <a:prstGeom prst="rect">
            <a:avLst/>
          </a:prstGeom>
        </p:spPr>
      </p:pic>
      <p:sp>
        <p:nvSpPr>
          <p:cNvPr id="14" name="Text 10"/>
          <p:cNvSpPr txBox="1"/>
          <p:nvPr/>
        </p:nvSpPr>
        <p:spPr>
          <a:xfrm>
            <a:off x="4098798" y="14264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Basis risk</a:t>
            </a:r>
            <a:endParaRPr lang="en-US" sz="1550" dirty="0"/>
          </a:p>
        </p:txBody>
      </p:sp>
      <p:sp>
        <p:nvSpPr>
          <p:cNvPr id="15" name="Text 11"/>
          <p:cNvSpPr txBox="1"/>
          <p:nvPr/>
        </p:nvSpPr>
        <p:spPr>
          <a:xfrm>
            <a:off x="3550158"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Spot and futures do not move one-for-one (basis = S − F changes).</a:t>
            </a:r>
            <a:endParaRPr lang="en-US" sz="1600" dirty="0"/>
          </a:p>
        </p:txBody>
      </p:sp>
      <p:sp>
        <p:nvSpPr>
          <p:cNvPr id="16" name="Shape 12"/>
          <p:cNvSpPr/>
          <p:nvPr/>
        </p:nvSpPr>
        <p:spPr>
          <a:xfrm>
            <a:off x="6231636"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6414516" y="1463040"/>
            <a:ext cx="457200" cy="45720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6524244" y="1572768"/>
            <a:ext cx="237744" cy="237744"/>
          </a:xfrm>
          <a:prstGeom prst="rect">
            <a:avLst/>
          </a:prstGeom>
        </p:spPr>
      </p:pic>
      <p:sp>
        <p:nvSpPr>
          <p:cNvPr id="19" name="Text 14"/>
          <p:cNvSpPr txBox="1"/>
          <p:nvPr/>
        </p:nvSpPr>
        <p:spPr>
          <a:xfrm>
            <a:off x="6963156" y="14264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Quantity (volume) risk</a:t>
            </a:r>
            <a:endParaRPr lang="en-US" sz="1550" dirty="0"/>
          </a:p>
        </p:txBody>
      </p:sp>
      <p:sp>
        <p:nvSpPr>
          <p:cNvPr id="20" name="Text 15"/>
          <p:cNvSpPr txBox="1"/>
          <p:nvPr/>
        </p:nvSpPr>
        <p:spPr>
          <a:xfrm>
            <a:off x="6414516"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Uncertain output or demand: a poor harvest leaves a hedge over-sized.</a:t>
            </a:r>
            <a:endParaRPr lang="en-US" sz="1600" dirty="0"/>
          </a:p>
        </p:txBody>
      </p:sp>
      <p:sp>
        <p:nvSpPr>
          <p:cNvPr id="21" name="Shape 16"/>
          <p:cNvSpPr/>
          <p:nvPr/>
        </p:nvSpPr>
        <p:spPr>
          <a:xfrm>
            <a:off x="9095994"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9278874" y="1463040"/>
            <a:ext cx="457200" cy="45720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9388602" y="1572768"/>
            <a:ext cx="237744" cy="237744"/>
          </a:xfrm>
          <a:prstGeom prst="rect">
            <a:avLst/>
          </a:prstGeom>
        </p:spPr>
      </p:pic>
      <p:sp>
        <p:nvSpPr>
          <p:cNvPr id="24" name="Text 18"/>
          <p:cNvSpPr txBox="1"/>
          <p:nvPr/>
        </p:nvSpPr>
        <p:spPr>
          <a:xfrm>
            <a:off x="9827514" y="142646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Roll / carry risk</a:t>
            </a:r>
            <a:endParaRPr lang="en-US" sz="1550" dirty="0"/>
          </a:p>
        </p:txBody>
      </p:sp>
      <p:sp>
        <p:nvSpPr>
          <p:cNvPr id="25" name="Text 19"/>
          <p:cNvSpPr txBox="1"/>
          <p:nvPr/>
        </p:nvSpPr>
        <p:spPr>
          <a:xfrm>
            <a:off x="9278874"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Rolling futures in contango loses money each month (negative roll yield).</a:t>
            </a:r>
            <a:endParaRPr lang="en-US" sz="1600" dirty="0"/>
          </a:p>
        </p:txBody>
      </p:sp>
      <p:sp>
        <p:nvSpPr>
          <p:cNvPr id="26" name="Shape 20"/>
          <p:cNvSpPr/>
          <p:nvPr/>
        </p:nvSpPr>
        <p:spPr>
          <a:xfrm>
            <a:off x="502920"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685800" y="4069080"/>
            <a:ext cx="457200" cy="45720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795528" y="4178808"/>
            <a:ext cx="237744" cy="237744"/>
          </a:xfrm>
          <a:prstGeom prst="rect">
            <a:avLst/>
          </a:prstGeom>
        </p:spPr>
      </p:pic>
      <p:sp>
        <p:nvSpPr>
          <p:cNvPr id="29" name="Text 22"/>
          <p:cNvSpPr txBox="1"/>
          <p:nvPr/>
        </p:nvSpPr>
        <p:spPr>
          <a:xfrm>
            <a:off x="1234440" y="403250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Margin &amp; liquidity risk</a:t>
            </a:r>
            <a:endParaRPr lang="en-US" sz="1550" dirty="0"/>
          </a:p>
        </p:txBody>
      </p:sp>
      <p:sp>
        <p:nvSpPr>
          <p:cNvPr id="30" name="Text 23"/>
          <p:cNvSpPr txBox="1"/>
          <p:nvPr/>
        </p:nvSpPr>
        <p:spPr>
          <a:xfrm>
            <a:off x="685800"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Daily MTM calls on futures can drain cash even if the hedge is right.</a:t>
            </a:r>
            <a:endParaRPr lang="en-US" sz="1600" dirty="0"/>
          </a:p>
        </p:txBody>
      </p:sp>
      <p:sp>
        <p:nvSpPr>
          <p:cNvPr id="31" name="Shape 24"/>
          <p:cNvSpPr/>
          <p:nvPr/>
        </p:nvSpPr>
        <p:spPr>
          <a:xfrm>
            <a:off x="3367278"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2" name="Shape 25"/>
          <p:cNvSpPr/>
          <p:nvPr/>
        </p:nvSpPr>
        <p:spPr>
          <a:xfrm>
            <a:off x="3550158" y="4069080"/>
            <a:ext cx="457200" cy="45720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3659886" y="4178808"/>
            <a:ext cx="237744" cy="237744"/>
          </a:xfrm>
          <a:prstGeom prst="rect">
            <a:avLst/>
          </a:prstGeom>
        </p:spPr>
      </p:pic>
      <p:sp>
        <p:nvSpPr>
          <p:cNvPr id="34" name="Text 26"/>
          <p:cNvSpPr txBox="1"/>
          <p:nvPr/>
        </p:nvSpPr>
        <p:spPr>
          <a:xfrm>
            <a:off x="4098798" y="403250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Delivery &amp; quality risk</a:t>
            </a:r>
            <a:endParaRPr lang="en-US" sz="1550" dirty="0"/>
          </a:p>
        </p:txBody>
      </p:sp>
      <p:sp>
        <p:nvSpPr>
          <p:cNvPr id="35" name="Text 27"/>
          <p:cNvSpPr txBox="1"/>
          <p:nvPr/>
        </p:nvSpPr>
        <p:spPr>
          <a:xfrm>
            <a:off x="3550158"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Grade, location and warehouse issues at physical settlement.</a:t>
            </a:r>
            <a:endParaRPr lang="en-US" sz="1600" dirty="0"/>
          </a:p>
        </p:txBody>
      </p:sp>
      <p:sp>
        <p:nvSpPr>
          <p:cNvPr id="36" name="Shape 28"/>
          <p:cNvSpPr/>
          <p:nvPr/>
        </p:nvSpPr>
        <p:spPr>
          <a:xfrm>
            <a:off x="6231636"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7" name="Shape 29"/>
          <p:cNvSpPr/>
          <p:nvPr/>
        </p:nvSpPr>
        <p:spPr>
          <a:xfrm>
            <a:off x="6414516" y="4069080"/>
            <a:ext cx="457200" cy="457200"/>
          </a:xfrm>
          <a:prstGeom prst="ellipse">
            <a:avLst/>
          </a:prstGeom>
          <a:solidFill>
            <a:srgbClr val="14213D"/>
          </a:solidFill>
          <a:ln w="12700">
            <a:solidFill>
              <a:srgbClr val="14213D"/>
            </a:solidFill>
            <a:prstDash val="solid"/>
          </a:ln>
        </p:spPr>
      </p:sp>
      <p:pic>
        <p:nvPicPr>
          <p:cNvPr id="38" name="Image 6" descr="preencoded.png"/>
          <p:cNvPicPr>
            <a:picLocks noChangeAspect="1"/>
          </p:cNvPicPr>
          <p:nvPr/>
        </p:nvPicPr>
        <p:blipFill>
          <a:blip r:embed="rId9"/>
          <a:stretch>
            <a:fillRect/>
          </a:stretch>
        </p:blipFill>
        <p:spPr>
          <a:xfrm>
            <a:off x="6524244" y="4178808"/>
            <a:ext cx="237744" cy="237744"/>
          </a:xfrm>
          <a:prstGeom prst="rect">
            <a:avLst/>
          </a:prstGeom>
        </p:spPr>
      </p:pic>
      <p:sp>
        <p:nvSpPr>
          <p:cNvPr id="39" name="Text 30"/>
          <p:cNvSpPr txBox="1"/>
          <p:nvPr/>
        </p:nvSpPr>
        <p:spPr>
          <a:xfrm>
            <a:off x="6963156" y="403250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Regulatory risk</a:t>
            </a:r>
            <a:endParaRPr lang="en-US" sz="1550" dirty="0"/>
          </a:p>
        </p:txBody>
      </p:sp>
      <p:sp>
        <p:nvSpPr>
          <p:cNvPr id="40" name="Text 31"/>
          <p:cNvSpPr txBox="1"/>
          <p:nvPr/>
        </p:nvSpPr>
        <p:spPr>
          <a:xfrm>
            <a:off x="6414516"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Export bans, stock limits, suspension of futures trading.</a:t>
            </a:r>
            <a:endParaRPr lang="en-US" sz="1600" dirty="0"/>
          </a:p>
        </p:txBody>
      </p:sp>
      <p:sp>
        <p:nvSpPr>
          <p:cNvPr id="41" name="Shape 32"/>
          <p:cNvSpPr/>
          <p:nvPr/>
        </p:nvSpPr>
        <p:spPr>
          <a:xfrm>
            <a:off x="9095994"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42" name="Shape 33"/>
          <p:cNvSpPr/>
          <p:nvPr/>
        </p:nvSpPr>
        <p:spPr>
          <a:xfrm>
            <a:off x="9278874" y="4069080"/>
            <a:ext cx="457200" cy="457200"/>
          </a:xfrm>
          <a:prstGeom prst="ellipse">
            <a:avLst/>
          </a:prstGeom>
          <a:solidFill>
            <a:srgbClr val="14213D"/>
          </a:solidFill>
          <a:ln w="12700">
            <a:solidFill>
              <a:srgbClr val="14213D"/>
            </a:solidFill>
            <a:prstDash val="solid"/>
          </a:ln>
        </p:spPr>
      </p:sp>
      <p:pic>
        <p:nvPicPr>
          <p:cNvPr id="43" name="Image 7" descr="preencoded.png"/>
          <p:cNvPicPr>
            <a:picLocks noChangeAspect="1"/>
          </p:cNvPicPr>
          <p:nvPr/>
        </p:nvPicPr>
        <p:blipFill>
          <a:blip r:embed="rId10"/>
          <a:stretch>
            <a:fillRect/>
          </a:stretch>
        </p:blipFill>
        <p:spPr>
          <a:xfrm>
            <a:off x="9388602" y="4178808"/>
            <a:ext cx="237744" cy="237744"/>
          </a:xfrm>
          <a:prstGeom prst="rect">
            <a:avLst/>
          </a:prstGeom>
        </p:spPr>
      </p:pic>
      <p:sp>
        <p:nvSpPr>
          <p:cNvPr id="44" name="Text 34"/>
          <p:cNvSpPr txBox="1"/>
          <p:nvPr/>
        </p:nvSpPr>
        <p:spPr>
          <a:xfrm>
            <a:off x="9827514" y="4032504"/>
            <a:ext cx="1675638" cy="502920"/>
          </a:xfrm>
          <a:prstGeom prst="rect">
            <a:avLst/>
          </a:prstGeom>
          <a:noFill/>
          <a:ln/>
        </p:spPr>
        <p:txBody>
          <a:bodyPr wrap="square" lIns="0" tIns="0" rIns="0" bIns="0" rtlCol="0" anchor="ctr"/>
          <a:lstStyle/>
          <a:p>
            <a:pPr marL="0" indent="0" algn="l">
              <a:buNone/>
            </a:pPr>
            <a:r>
              <a:rPr lang="en-US" sz="1550" b="1" dirty="0">
                <a:solidFill>
                  <a:srgbClr val="14213D"/>
                </a:solidFill>
                <a:latin typeface="Cambria" pitchFamily="34" charset="0"/>
                <a:ea typeface="Cambria" pitchFamily="34" charset="-122"/>
                <a:cs typeface="Cambria" pitchFamily="34" charset="-120"/>
              </a:rPr>
              <a:t>Counterparty risk</a:t>
            </a:r>
            <a:endParaRPr lang="en-US" sz="1550" dirty="0"/>
          </a:p>
        </p:txBody>
      </p:sp>
      <p:sp>
        <p:nvSpPr>
          <p:cNvPr id="45" name="Text 35"/>
          <p:cNvSpPr txBox="1"/>
          <p:nvPr/>
        </p:nvSpPr>
        <p:spPr>
          <a:xfrm>
            <a:off x="9278874"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OTC or physical contract partners may default when prices move.</a:t>
            </a:r>
            <a:endParaRPr lang="en-US" sz="1600" dirty="0"/>
          </a:p>
        </p:txBody>
      </p:sp>
      <p:sp>
        <p:nvSpPr>
          <p:cNvPr id="4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Commodity Risk in Action: Examples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tblGrid>
              <a:tr h="45720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Event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Commodity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What happened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Risk illustrated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804672">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Negative oil price (Apr 2020)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Crude oil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NYMEX WTI May futures settled at about −$37.6 a barrel as storage filled; MCX's linked crude contract also settled below zero, causing large losses for long holders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Price, storage and settlement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4672">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LME nickel squeeze (Mar 2022)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Nickel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Prices more than doubled in two days; the LME suspended trading and cancelled trades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Price, liquidity and exchange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804672">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Wheat export ban (May 2022)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Wheat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India banned exports as a heat wave cut output; exporters' contracts were stranded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Regulatory and quantity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4672">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Agri futures suspension (Dec 2021)</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Wheat, chana, mustard, soybean, palm oil and others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SEBI suspended new futures contracts; hedgers lost their hedging tool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Regulatory and basis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804672">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Gold rally (2024–25)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Gold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Record prices in rupee terms raised jewellers' inventory costs and working capital needs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Price and margin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Commodity Risk: Measurement and Hedging Formulas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6309360"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89888"/>
            <a:ext cx="5852160"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Key formulas</a:t>
            </a:r>
            <a:endParaRPr lang="en-US" sz="1500" dirty="0"/>
          </a:p>
        </p:txBody>
      </p:sp>
      <p:sp>
        <p:nvSpPr>
          <p:cNvPr id="8" name="Text 6"/>
          <p:cNvSpPr txBox="1"/>
          <p:nvPr/>
        </p:nvSpPr>
        <p:spPr>
          <a:xfrm>
            <a:off x="731520" y="1783080"/>
            <a:ext cx="5852160" cy="4343400"/>
          </a:xfrm>
          <a:prstGeom prst="rect">
            <a:avLst/>
          </a:prstGeom>
          <a:noFill/>
          <a:ln/>
        </p:spPr>
        <p:txBody>
          <a:bodyPr wrap="square" lIns="0" tIns="0" rIns="0" bIns="0" rtlCol="0" anchor="t"/>
          <a:lstStyle/>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Periodic return and volatility</a:t>
            </a:r>
            <a:endParaRPr lang="en-US" sz="1350" dirty="0"/>
          </a:p>
          <a:p>
            <a:pPr marL="0" indent="0" algn="l">
              <a:spcAft>
                <a:spcPts val="200"/>
              </a:spcAft>
              <a:buNone/>
            </a:pPr>
            <a:r>
              <a:rPr lang="en-US" sz="1500" dirty="0">
                <a:solidFill>
                  <a:srgbClr val="1E2533"/>
                </a:solidFill>
                <a:latin typeface="Cambria" pitchFamily="34" charset="0"/>
                <a:ea typeface="Cambria" pitchFamily="34" charset="-122"/>
                <a:cs typeface="Cambria" pitchFamily="34" charset="-120"/>
              </a:rPr>
              <a:t>r</a:t>
            </a:r>
            <a:r>
              <a:rPr lang="en-US" sz="1500" baseline="-40000" dirty="0">
                <a:solidFill>
                  <a:srgbClr val="1E2533"/>
                </a:solidFill>
                <a:latin typeface="Cambria" pitchFamily="34" charset="0"/>
                <a:ea typeface="Cambria" pitchFamily="34" charset="-122"/>
                <a:cs typeface="Cambria" pitchFamily="34" charset="-120"/>
              </a:rPr>
              <a:t>t</a:t>
            </a:r>
            <a:r>
              <a:rPr lang="en-US" sz="1500" dirty="0">
                <a:solidFill>
                  <a:srgbClr val="1E2533"/>
                </a:solidFill>
                <a:latin typeface="Cambria" pitchFamily="34" charset="0"/>
                <a:ea typeface="Cambria" pitchFamily="34" charset="-122"/>
                <a:cs typeface="Cambria" pitchFamily="34" charset="-120"/>
              </a:rPr>
              <a:t> = (P</a:t>
            </a:r>
            <a:r>
              <a:rPr lang="en-US" sz="1500" baseline="-40000" dirty="0">
                <a:solidFill>
                  <a:srgbClr val="1E2533"/>
                </a:solidFill>
                <a:latin typeface="Cambria" pitchFamily="34" charset="0"/>
                <a:ea typeface="Cambria" pitchFamily="34" charset="-122"/>
                <a:cs typeface="Cambria" pitchFamily="34" charset="-120"/>
              </a:rPr>
              <a:t>t</a:t>
            </a:r>
            <a:r>
              <a:rPr lang="en-US" sz="1500" dirty="0">
                <a:solidFill>
                  <a:srgbClr val="1E2533"/>
                </a:solidFill>
                <a:latin typeface="Cambria" pitchFamily="34" charset="0"/>
                <a:ea typeface="Cambria" pitchFamily="34" charset="-122"/>
                <a:cs typeface="Cambria" pitchFamily="34" charset="-120"/>
              </a:rPr>
              <a:t> − P</a:t>
            </a:r>
            <a:r>
              <a:rPr lang="en-US" sz="1500" baseline="-40000" dirty="0">
                <a:solidFill>
                  <a:srgbClr val="1E2533"/>
                </a:solidFill>
                <a:latin typeface="Cambria" pitchFamily="34" charset="0"/>
                <a:ea typeface="Cambria" pitchFamily="34" charset="-122"/>
                <a:cs typeface="Cambria" pitchFamily="34" charset="-120"/>
              </a:rPr>
              <a:t>t−1</a:t>
            </a:r>
            <a:r>
              <a:rPr lang="en-US" sz="1500" dirty="0">
                <a:solidFill>
                  <a:srgbClr val="1E2533"/>
                </a:solidFill>
                <a:latin typeface="Cambria" pitchFamily="34" charset="0"/>
                <a:ea typeface="Cambria" pitchFamily="34" charset="-122"/>
                <a:cs typeface="Cambria" pitchFamily="34" charset="-120"/>
              </a:rPr>
              <a:t>) ÷ P</a:t>
            </a:r>
            <a:r>
              <a:rPr lang="en-US" sz="1500" baseline="-40000" dirty="0">
                <a:solidFill>
                  <a:srgbClr val="1E2533"/>
                </a:solidFill>
                <a:latin typeface="Cambria" pitchFamily="34" charset="0"/>
                <a:ea typeface="Cambria" pitchFamily="34" charset="-122"/>
                <a:cs typeface="Cambria" pitchFamily="34" charset="-120"/>
              </a:rPr>
              <a:t>t−1</a:t>
            </a:r>
            <a:r>
              <a:rPr lang="en-US" sz="1500" dirty="0">
                <a:solidFill>
                  <a:srgbClr val="1E2533"/>
                </a:solidFill>
                <a:latin typeface="Cambria" pitchFamily="34" charset="0"/>
                <a:ea typeface="Cambria" pitchFamily="34" charset="-122"/>
                <a:cs typeface="Cambria" pitchFamily="34" charset="-120"/>
              </a:rPr>
              <a:t>;  σ</a:t>
            </a:r>
            <a:r>
              <a:rPr lang="en-US" sz="1500" baseline="-40000" dirty="0">
                <a:solidFill>
                  <a:srgbClr val="1E2533"/>
                </a:solidFill>
                <a:latin typeface="Cambria" pitchFamily="34" charset="0"/>
                <a:ea typeface="Cambria" pitchFamily="34" charset="-122"/>
                <a:cs typeface="Cambria" pitchFamily="34" charset="-120"/>
              </a:rPr>
              <a:t>annual</a:t>
            </a:r>
            <a:r>
              <a:rPr lang="en-US" sz="1500" dirty="0">
                <a:solidFill>
                  <a:srgbClr val="1E2533"/>
                </a:solidFill>
                <a:latin typeface="Cambria" pitchFamily="34" charset="0"/>
                <a:ea typeface="Cambria" pitchFamily="34" charset="-122"/>
                <a:cs typeface="Cambria" pitchFamily="34" charset="-120"/>
              </a:rPr>
              <a:t> = σ</a:t>
            </a:r>
            <a:r>
              <a:rPr lang="en-US" sz="1500" baseline="-40000" dirty="0">
                <a:solidFill>
                  <a:srgbClr val="1E2533"/>
                </a:solidFill>
                <a:latin typeface="Cambria" pitchFamily="34" charset="0"/>
                <a:ea typeface="Cambria" pitchFamily="34" charset="-122"/>
                <a:cs typeface="Cambria" pitchFamily="34" charset="-120"/>
              </a:rPr>
              <a:t>monthly</a:t>
            </a:r>
            <a:r>
              <a:rPr lang="en-US" sz="1500" dirty="0">
                <a:solidFill>
                  <a:srgbClr val="1E2533"/>
                </a:solidFill>
                <a:latin typeface="Cambria" pitchFamily="34" charset="0"/>
                <a:ea typeface="Cambria" pitchFamily="34" charset="-122"/>
                <a:cs typeface="Cambria" pitchFamily="34" charset="-120"/>
              </a:rPr>
              <a:t> × √12</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Commodity VaR (parametric)</a:t>
            </a:r>
            <a:endParaRPr lang="en-US" sz="1350" dirty="0"/>
          </a:p>
          <a:p>
            <a:pPr marL="0" indent="0" algn="l">
              <a:spcAft>
                <a:spcPts val="200"/>
              </a:spcAft>
              <a:buNone/>
            </a:pPr>
            <a:r>
              <a:rPr lang="en-US" sz="1500" dirty="0">
                <a:solidFill>
                  <a:srgbClr val="1E2533"/>
                </a:solidFill>
                <a:latin typeface="Cambria" pitchFamily="34" charset="0"/>
                <a:ea typeface="Cambria" pitchFamily="34" charset="-122"/>
                <a:cs typeface="Cambria" pitchFamily="34" charset="-120"/>
              </a:rPr>
              <a:t>VaR = z</a:t>
            </a:r>
            <a:r>
              <a:rPr lang="en-US" sz="1500" baseline="-40000" dirty="0">
                <a:solidFill>
                  <a:srgbClr val="1E2533"/>
                </a:solidFill>
                <a:latin typeface="Cambria" pitchFamily="34" charset="0"/>
                <a:ea typeface="Cambria" pitchFamily="34" charset="-122"/>
                <a:cs typeface="Cambria" pitchFamily="34" charset="-120"/>
              </a:rPr>
              <a:t>c</a:t>
            </a:r>
            <a:r>
              <a:rPr lang="en-US" sz="1500" dirty="0">
                <a:solidFill>
                  <a:srgbClr val="1E2533"/>
                </a:solidFill>
                <a:latin typeface="Cambria" pitchFamily="34" charset="0"/>
                <a:ea typeface="Cambria" pitchFamily="34" charset="-122"/>
                <a:cs typeface="Cambria" pitchFamily="34" charset="-120"/>
              </a:rPr>
              <a:t> × σ × V</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Basis and effective hedged price</a:t>
            </a:r>
            <a:endParaRPr lang="en-US" sz="1350" dirty="0"/>
          </a:p>
          <a:p>
            <a:pPr marL="0" indent="0" algn="l">
              <a:spcAft>
                <a:spcPts val="200"/>
              </a:spcAft>
              <a:buNone/>
            </a:pPr>
            <a:r>
              <a:rPr lang="en-US" sz="1500" dirty="0">
                <a:solidFill>
                  <a:srgbClr val="1E2533"/>
                </a:solidFill>
                <a:latin typeface="Cambria" pitchFamily="34" charset="0"/>
                <a:ea typeface="Cambria" pitchFamily="34" charset="-122"/>
                <a:cs typeface="Cambria" pitchFamily="34" charset="-120"/>
              </a:rPr>
              <a:t>b = S − F;  Effective price = F</a:t>
            </a:r>
            <a:r>
              <a:rPr lang="en-US" sz="1500" baseline="-40000" dirty="0">
                <a:solidFill>
                  <a:srgbClr val="1E2533"/>
                </a:solidFill>
                <a:latin typeface="Cambria" pitchFamily="34" charset="0"/>
                <a:ea typeface="Cambria" pitchFamily="34" charset="-122"/>
                <a:cs typeface="Cambria" pitchFamily="34" charset="-120"/>
              </a:rPr>
              <a:t>1</a:t>
            </a:r>
            <a:r>
              <a:rPr lang="en-US" sz="1500" dirty="0">
                <a:solidFill>
                  <a:srgbClr val="1E2533"/>
                </a:solidFill>
                <a:latin typeface="Cambria" pitchFamily="34" charset="0"/>
                <a:ea typeface="Cambria" pitchFamily="34" charset="-122"/>
                <a:cs typeface="Cambria" pitchFamily="34" charset="-120"/>
              </a:rPr>
              <a:t> + b</a:t>
            </a:r>
            <a:r>
              <a:rPr lang="en-US" sz="1500" baseline="-40000" dirty="0">
                <a:solidFill>
                  <a:srgbClr val="1E2533"/>
                </a:solidFill>
                <a:latin typeface="Cambria" pitchFamily="34" charset="0"/>
                <a:ea typeface="Cambria" pitchFamily="34" charset="-122"/>
                <a:cs typeface="Cambria" pitchFamily="34" charset="-120"/>
              </a:rPr>
              <a:t>2</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Minimum variance hedge ratio</a:t>
            </a:r>
            <a:endParaRPr lang="en-US" sz="1350" dirty="0"/>
          </a:p>
          <a:p>
            <a:pPr marL="0" indent="0" algn="l">
              <a:spcAft>
                <a:spcPts val="200"/>
              </a:spcAft>
              <a:buNone/>
            </a:pPr>
            <a:r>
              <a:rPr lang="en-US" sz="1500" dirty="0">
                <a:solidFill>
                  <a:srgbClr val="1E2533"/>
                </a:solidFill>
                <a:latin typeface="Cambria" pitchFamily="34" charset="0"/>
                <a:ea typeface="Cambria" pitchFamily="34" charset="-122"/>
                <a:cs typeface="Cambria" pitchFamily="34" charset="-120"/>
              </a:rPr>
              <a:t>h</a:t>
            </a:r>
            <a:r>
              <a:rPr lang="en-US" sz="1500" baseline="30000" dirty="0">
                <a:solidFill>
                  <a:srgbClr val="1E2533"/>
                </a:solidFill>
                <a:latin typeface="Cambria" pitchFamily="34" charset="0"/>
                <a:ea typeface="Cambria" pitchFamily="34" charset="-122"/>
                <a:cs typeface="Cambria" pitchFamily="34" charset="-120"/>
              </a:rPr>
              <a:t>*</a:t>
            </a:r>
            <a:r>
              <a:rPr lang="en-US" sz="1500" dirty="0">
                <a:solidFill>
                  <a:srgbClr val="1E2533"/>
                </a:solidFill>
                <a:latin typeface="Cambria" pitchFamily="34" charset="0"/>
                <a:ea typeface="Cambria" pitchFamily="34" charset="-122"/>
                <a:cs typeface="Cambria" pitchFamily="34" charset="-120"/>
              </a:rPr>
              <a:t> = ρ × σ</a:t>
            </a:r>
            <a:r>
              <a:rPr lang="en-US" sz="1500" baseline="-40000" dirty="0">
                <a:solidFill>
                  <a:srgbClr val="1E2533"/>
                </a:solidFill>
                <a:latin typeface="Cambria" pitchFamily="34" charset="0"/>
                <a:ea typeface="Cambria" pitchFamily="34" charset="-122"/>
                <a:cs typeface="Cambria" pitchFamily="34" charset="-120"/>
              </a:rPr>
              <a:t>S</a:t>
            </a:r>
            <a:r>
              <a:rPr lang="en-US" sz="1500" dirty="0">
                <a:solidFill>
                  <a:srgbClr val="1E2533"/>
                </a:solidFill>
                <a:latin typeface="Cambria" pitchFamily="34" charset="0"/>
                <a:ea typeface="Cambria" pitchFamily="34" charset="-122"/>
                <a:cs typeface="Cambria" pitchFamily="34" charset="-120"/>
              </a:rPr>
              <a:t> ÷ σ</a:t>
            </a:r>
            <a:r>
              <a:rPr lang="en-US" sz="1500" baseline="-40000" dirty="0">
                <a:solidFill>
                  <a:srgbClr val="1E2533"/>
                </a:solidFill>
                <a:latin typeface="Cambria" pitchFamily="34" charset="0"/>
                <a:ea typeface="Cambria" pitchFamily="34" charset="-122"/>
                <a:cs typeface="Cambria" pitchFamily="34" charset="-120"/>
              </a:rPr>
              <a:t>F</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Optimal number of contracts</a:t>
            </a:r>
            <a:endParaRPr lang="en-US" sz="1350" dirty="0"/>
          </a:p>
          <a:p>
            <a:pPr marL="0" indent="0" algn="l">
              <a:spcAft>
                <a:spcPts val="200"/>
              </a:spcAft>
              <a:buNone/>
            </a:pPr>
            <a:r>
              <a:rPr lang="en-US" sz="1500" dirty="0">
                <a:solidFill>
                  <a:srgbClr val="1E2533"/>
                </a:solidFill>
                <a:latin typeface="Cambria" pitchFamily="34" charset="0"/>
                <a:ea typeface="Cambria" pitchFamily="34" charset="-122"/>
                <a:cs typeface="Cambria" pitchFamily="34" charset="-120"/>
              </a:rPr>
              <a:t>N</a:t>
            </a:r>
            <a:r>
              <a:rPr lang="en-US" sz="1500" baseline="30000" dirty="0">
                <a:solidFill>
                  <a:srgbClr val="1E2533"/>
                </a:solidFill>
                <a:latin typeface="Cambria" pitchFamily="34" charset="0"/>
                <a:ea typeface="Cambria" pitchFamily="34" charset="-122"/>
                <a:cs typeface="Cambria" pitchFamily="34" charset="-120"/>
              </a:rPr>
              <a:t>*</a:t>
            </a:r>
            <a:r>
              <a:rPr lang="en-US" sz="1500" dirty="0">
                <a:solidFill>
                  <a:srgbClr val="1E2533"/>
                </a:solidFill>
                <a:latin typeface="Cambria" pitchFamily="34" charset="0"/>
                <a:ea typeface="Cambria" pitchFamily="34" charset="-122"/>
                <a:cs typeface="Cambria" pitchFamily="34" charset="-120"/>
              </a:rPr>
              <a:t> = h</a:t>
            </a:r>
            <a:r>
              <a:rPr lang="en-US" sz="1500" baseline="30000" dirty="0">
                <a:solidFill>
                  <a:srgbClr val="1E2533"/>
                </a:solidFill>
                <a:latin typeface="Cambria" pitchFamily="34" charset="0"/>
                <a:ea typeface="Cambria" pitchFamily="34" charset="-122"/>
                <a:cs typeface="Cambria" pitchFamily="34" charset="-120"/>
              </a:rPr>
              <a:t>*</a:t>
            </a:r>
            <a:r>
              <a:rPr lang="en-US" sz="1500" dirty="0">
                <a:solidFill>
                  <a:srgbClr val="1E2533"/>
                </a:solidFill>
                <a:latin typeface="Cambria" pitchFamily="34" charset="0"/>
                <a:ea typeface="Cambria" pitchFamily="34" charset="-122"/>
                <a:cs typeface="Cambria" pitchFamily="34" charset="-120"/>
              </a:rPr>
              <a:t> × Q</a:t>
            </a:r>
            <a:r>
              <a:rPr lang="en-US" sz="1500" baseline="-40000" dirty="0">
                <a:solidFill>
                  <a:srgbClr val="1E2533"/>
                </a:solidFill>
                <a:latin typeface="Cambria" pitchFamily="34" charset="0"/>
                <a:ea typeface="Cambria" pitchFamily="34" charset="-122"/>
                <a:cs typeface="Cambria" pitchFamily="34" charset="-120"/>
              </a:rPr>
              <a:t>A</a:t>
            </a:r>
            <a:r>
              <a:rPr lang="en-US" sz="1500" dirty="0">
                <a:solidFill>
                  <a:srgbClr val="1E2533"/>
                </a:solidFill>
                <a:latin typeface="Cambria" pitchFamily="34" charset="0"/>
                <a:ea typeface="Cambria" pitchFamily="34" charset="-122"/>
                <a:cs typeface="Cambria" pitchFamily="34" charset="-120"/>
              </a:rPr>
              <a:t> ÷ Q</a:t>
            </a:r>
            <a:r>
              <a:rPr lang="en-US" sz="1500" baseline="-40000" dirty="0">
                <a:solidFill>
                  <a:srgbClr val="1E2533"/>
                </a:solidFill>
                <a:latin typeface="Cambria" pitchFamily="34" charset="0"/>
                <a:ea typeface="Cambria" pitchFamily="34" charset="-122"/>
                <a:cs typeface="Cambria" pitchFamily="34" charset="-120"/>
              </a:rPr>
              <a:t>F</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Hedge effectiveness</a:t>
            </a:r>
            <a:endParaRPr lang="en-US" sz="1350" dirty="0"/>
          </a:p>
          <a:p>
            <a:pPr marL="0" indent="0" algn="l">
              <a:spcAft>
                <a:spcPts val="200"/>
              </a:spcAft>
              <a:buNone/>
            </a:pPr>
            <a:r>
              <a:rPr lang="en-US" sz="1500" dirty="0">
                <a:solidFill>
                  <a:srgbClr val="1E2533"/>
                </a:solidFill>
                <a:latin typeface="Cambria" pitchFamily="34" charset="0"/>
                <a:ea typeface="Cambria" pitchFamily="34" charset="-122"/>
                <a:cs typeface="Cambria" pitchFamily="34" charset="-120"/>
              </a:rPr>
              <a:t>HE = ρ</a:t>
            </a:r>
            <a:r>
              <a:rPr lang="en-US" sz="1500" baseline="30000" dirty="0">
                <a:solidFill>
                  <a:srgbClr val="1E2533"/>
                </a:solidFill>
                <a:latin typeface="Cambria" pitchFamily="34" charset="0"/>
                <a:ea typeface="Cambria" pitchFamily="34" charset="-122"/>
                <a:cs typeface="Cambria" pitchFamily="34" charset="-120"/>
              </a:rPr>
              <a:t>2</a:t>
            </a:r>
            <a:endParaRPr lang="en-US" sz="1350" dirty="0"/>
          </a:p>
          <a:p>
            <a:pPr marL="0" indent="0" algn="l">
              <a:spcBef>
                <a:spcPts val="900"/>
              </a:spcBef>
              <a:buNone/>
            </a:pPr>
            <a:r>
              <a:rPr lang="en-US" sz="1350" b="1" dirty="0">
                <a:solidFill>
                  <a:srgbClr val="14213D"/>
                </a:solidFill>
                <a:latin typeface="Calibri" pitchFamily="34" charset="0"/>
                <a:ea typeface="Calibri" pitchFamily="34" charset="-122"/>
                <a:cs typeface="Calibri" pitchFamily="34" charset="-120"/>
              </a:rPr>
              <a:t>Cost of carry and daily MTM</a:t>
            </a:r>
            <a:endParaRPr lang="en-US" sz="1350" dirty="0"/>
          </a:p>
          <a:p>
            <a:pPr marL="0" indent="0" algn="l">
              <a:spcAft>
                <a:spcPts val="200"/>
              </a:spcAft>
              <a:buNone/>
            </a:pPr>
            <a:r>
              <a:rPr lang="en-US" sz="1500" dirty="0">
                <a:solidFill>
                  <a:srgbClr val="1E2533"/>
                </a:solidFill>
                <a:latin typeface="Cambria" pitchFamily="34" charset="0"/>
                <a:ea typeface="Cambria" pitchFamily="34" charset="-122"/>
                <a:cs typeface="Cambria" pitchFamily="34" charset="-120"/>
              </a:rPr>
              <a:t>F = S e</a:t>
            </a:r>
            <a:r>
              <a:rPr lang="en-US" sz="1500" baseline="30000" dirty="0">
                <a:solidFill>
                  <a:srgbClr val="1E2533"/>
                </a:solidFill>
                <a:latin typeface="Cambria" pitchFamily="34" charset="0"/>
                <a:ea typeface="Cambria" pitchFamily="34" charset="-122"/>
                <a:cs typeface="Cambria" pitchFamily="34" charset="-120"/>
              </a:rPr>
              <a:t>(r + u − y)T</a:t>
            </a:r>
            <a:r>
              <a:rPr lang="en-US" sz="1500" dirty="0">
                <a:solidFill>
                  <a:srgbClr val="1E2533"/>
                </a:solidFill>
                <a:latin typeface="Cambria" pitchFamily="34" charset="0"/>
                <a:ea typeface="Cambria" pitchFamily="34" charset="-122"/>
                <a:cs typeface="Cambria" pitchFamily="34" charset="-120"/>
              </a:rPr>
              <a:t>;  MTM</a:t>
            </a:r>
            <a:r>
              <a:rPr lang="en-US" sz="1500" baseline="-40000" dirty="0">
                <a:solidFill>
                  <a:srgbClr val="1E2533"/>
                </a:solidFill>
                <a:latin typeface="Cambria" pitchFamily="34" charset="0"/>
                <a:ea typeface="Cambria" pitchFamily="34" charset="-122"/>
                <a:cs typeface="Cambria" pitchFamily="34" charset="-120"/>
              </a:rPr>
              <a:t>t</a:t>
            </a:r>
            <a:r>
              <a:rPr lang="en-US" sz="1500" dirty="0">
                <a:solidFill>
                  <a:srgbClr val="1E2533"/>
                </a:solidFill>
                <a:latin typeface="Cambria" pitchFamily="34" charset="0"/>
                <a:ea typeface="Cambria" pitchFamily="34" charset="-122"/>
                <a:cs typeface="Cambria" pitchFamily="34" charset="-120"/>
              </a:rPr>
              <a:t> = (F</a:t>
            </a:r>
            <a:r>
              <a:rPr lang="en-US" sz="1500" baseline="-40000" dirty="0">
                <a:solidFill>
                  <a:srgbClr val="1E2533"/>
                </a:solidFill>
                <a:latin typeface="Cambria" pitchFamily="34" charset="0"/>
                <a:ea typeface="Cambria" pitchFamily="34" charset="-122"/>
                <a:cs typeface="Cambria" pitchFamily="34" charset="-120"/>
              </a:rPr>
              <a:t>t</a:t>
            </a:r>
            <a:r>
              <a:rPr lang="en-US" sz="1500" dirty="0">
                <a:solidFill>
                  <a:srgbClr val="1E2533"/>
                </a:solidFill>
                <a:latin typeface="Cambria" pitchFamily="34" charset="0"/>
                <a:ea typeface="Cambria" pitchFamily="34" charset="-122"/>
                <a:cs typeface="Cambria" pitchFamily="34" charset="-120"/>
              </a:rPr>
              <a:t> − F</a:t>
            </a:r>
            <a:r>
              <a:rPr lang="en-US" sz="1500" baseline="-40000" dirty="0">
                <a:solidFill>
                  <a:srgbClr val="1E2533"/>
                </a:solidFill>
                <a:latin typeface="Cambria" pitchFamily="34" charset="0"/>
                <a:ea typeface="Cambria" pitchFamily="34" charset="-122"/>
                <a:cs typeface="Cambria" pitchFamily="34" charset="-120"/>
              </a:rPr>
              <a:t>t−1</a:t>
            </a:r>
            <a:r>
              <a:rPr lang="en-US" sz="1500" dirty="0">
                <a:solidFill>
                  <a:srgbClr val="1E2533"/>
                </a:solidFill>
                <a:latin typeface="Cambria" pitchFamily="34" charset="0"/>
                <a:ea typeface="Cambria" pitchFamily="34" charset="-122"/>
                <a:cs typeface="Cambria" pitchFamily="34" charset="-120"/>
              </a:rPr>
              <a:t>) × Q</a:t>
            </a:r>
            <a:endParaRPr lang="en-US" sz="1350" dirty="0"/>
          </a:p>
        </p:txBody>
      </p:sp>
      <p:sp>
        <p:nvSpPr>
          <p:cNvPr id="9" name="Shape 7"/>
          <p:cNvSpPr/>
          <p:nvPr/>
        </p:nvSpPr>
        <p:spPr>
          <a:xfrm>
            <a:off x="7086600" y="1280160"/>
            <a:ext cx="4599432" cy="4937760"/>
          </a:xfrm>
          <a:prstGeom prst="roundRect">
            <a:avLst>
              <a:gd name="adj" fmla="val 159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7315200" y="1389888"/>
            <a:ext cx="414223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Notation key</a:t>
            </a:r>
            <a:endParaRPr lang="en-US" sz="15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7315200" y="1810512"/>
          <a:ext cx="4142232" cy="914400"/>
        </p:xfrm>
        <a:graphic>
          <a:graphicData uri="http://schemas.openxmlformats.org/drawingml/2006/table">
            <a:tbl>
              <a:tblPr/>
              <a:tblGrid>
                <a:gridCol w="1143000">
                  <a:extLst>
                    <a:ext uri="{9D8B030D-6E8A-4147-A177-3AD203B41FA5}">
                      <a16:colId xmlns:a16="http://schemas.microsoft.com/office/drawing/2014/main" val="20000"/>
                    </a:ext>
                  </a:extLst>
                </a:gridCol>
                <a:gridCol w="2999232">
                  <a:extLst>
                    <a:ext uri="{9D8B030D-6E8A-4147-A177-3AD203B41FA5}">
                      <a16:colId xmlns:a16="http://schemas.microsoft.com/office/drawing/2014/main" val="20001"/>
                    </a:ext>
                  </a:extLst>
                </a:gridCol>
              </a:tblGrid>
              <a:tr h="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Symbol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Meaning</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P</a:t>
                      </a:r>
                      <a:r>
                        <a:rPr lang="en-US" sz="1250" b="1" baseline="-40000" dirty="0">
                          <a:solidFill>
                            <a:srgbClr val="1E2533"/>
                          </a:solidFill>
                          <a:latin typeface="Calibri" pitchFamily="34" charset="0"/>
                          <a:ea typeface="Calibri" pitchFamily="34" charset="-122"/>
                          <a:cs typeface="Calibri" pitchFamily="34" charset="-120"/>
                        </a:rPr>
                        <a:t>t</a:t>
                      </a:r>
                      <a:r>
                        <a:rPr lang="en-US" sz="1250" b="1" dirty="0">
                          <a:solidFill>
                            <a:srgbClr val="1E2533"/>
                          </a:solidFill>
                          <a:latin typeface="Calibri" pitchFamily="34" charset="0"/>
                          <a:ea typeface="Calibri" pitchFamily="34" charset="-122"/>
                          <a:cs typeface="Calibri" pitchFamily="34" charset="-120"/>
                        </a:rPr>
                        <a:t>, S, F</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Price at t; spot price; futures price</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b</a:t>
                      </a:r>
                      <a:r>
                        <a:rPr lang="en-US" sz="1250" b="1" baseline="-40000" dirty="0">
                          <a:solidFill>
                            <a:srgbClr val="1E2533"/>
                          </a:solidFill>
                          <a:latin typeface="Calibri" pitchFamily="34" charset="0"/>
                          <a:ea typeface="Calibri" pitchFamily="34" charset="-122"/>
                          <a:cs typeface="Calibri" pitchFamily="34" charset="-120"/>
                        </a:rPr>
                        <a:t>1</a:t>
                      </a:r>
                      <a:r>
                        <a:rPr lang="en-US" sz="1250" b="1" dirty="0">
                          <a:solidFill>
                            <a:srgbClr val="1E2533"/>
                          </a:solidFill>
                          <a:latin typeface="Calibri" pitchFamily="34" charset="0"/>
                          <a:ea typeface="Calibri" pitchFamily="34" charset="-122"/>
                          <a:cs typeface="Calibri" pitchFamily="34" charset="-120"/>
                        </a:rPr>
                        <a:t>, b</a:t>
                      </a:r>
                      <a:r>
                        <a:rPr lang="en-US" sz="1250" b="1" baseline="-40000" dirty="0">
                          <a:solidFill>
                            <a:srgbClr val="1E2533"/>
                          </a:solidFill>
                          <a:latin typeface="Calibri" pitchFamily="34" charset="0"/>
                          <a:ea typeface="Calibri" pitchFamily="34" charset="-122"/>
                          <a:cs typeface="Calibri" pitchFamily="34" charset="-120"/>
                        </a:rPr>
                        <a:t>2</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Basis when the hedge is placed and lifted</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σ</a:t>
                      </a:r>
                      <a:r>
                        <a:rPr lang="en-US" sz="1250" b="1" baseline="-40000" dirty="0">
                          <a:solidFill>
                            <a:srgbClr val="1E2533"/>
                          </a:solidFill>
                          <a:latin typeface="Calibri" pitchFamily="34" charset="0"/>
                          <a:ea typeface="Calibri" pitchFamily="34" charset="-122"/>
                          <a:cs typeface="Calibri" pitchFamily="34" charset="-120"/>
                        </a:rPr>
                        <a:t>S</a:t>
                      </a:r>
                      <a:r>
                        <a:rPr lang="en-US" sz="1250" b="1" dirty="0">
                          <a:solidFill>
                            <a:srgbClr val="1E2533"/>
                          </a:solidFill>
                          <a:latin typeface="Calibri" pitchFamily="34" charset="0"/>
                          <a:ea typeface="Calibri" pitchFamily="34" charset="-122"/>
                          <a:cs typeface="Calibri" pitchFamily="34" charset="-120"/>
                        </a:rPr>
                        <a:t>, σ</a:t>
                      </a:r>
                      <a:r>
                        <a:rPr lang="en-US" sz="1250" b="1" baseline="-40000" dirty="0">
                          <a:solidFill>
                            <a:srgbClr val="1E2533"/>
                          </a:solidFill>
                          <a:latin typeface="Calibri" pitchFamily="34" charset="0"/>
                          <a:ea typeface="Calibri" pitchFamily="34" charset="-122"/>
                          <a:cs typeface="Calibri" pitchFamily="34" charset="-120"/>
                        </a:rPr>
                        <a:t>F</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Std. dev. of spot and futures price changes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ρ</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Correlation of spot and futures price changes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Q</a:t>
                      </a:r>
                      <a:r>
                        <a:rPr lang="en-US" sz="1250" b="1" baseline="-40000" dirty="0">
                          <a:solidFill>
                            <a:srgbClr val="1E2533"/>
                          </a:solidFill>
                          <a:latin typeface="Calibri" pitchFamily="34" charset="0"/>
                          <a:ea typeface="Calibri" pitchFamily="34" charset="-122"/>
                          <a:cs typeface="Calibri" pitchFamily="34" charset="-120"/>
                        </a:rPr>
                        <a:t>A</a:t>
                      </a:r>
                      <a:r>
                        <a:rPr lang="en-US" sz="1250" b="1" dirty="0">
                          <a:solidFill>
                            <a:srgbClr val="1E2533"/>
                          </a:solidFill>
                          <a:latin typeface="Calibri" pitchFamily="34" charset="0"/>
                          <a:ea typeface="Calibri" pitchFamily="34" charset="-122"/>
                          <a:cs typeface="Calibri" pitchFamily="34" charset="-120"/>
                        </a:rPr>
                        <a:t>, Q</a:t>
                      </a:r>
                      <a:r>
                        <a:rPr lang="en-US" sz="1250" b="1" baseline="-40000" dirty="0">
                          <a:solidFill>
                            <a:srgbClr val="1E2533"/>
                          </a:solidFill>
                          <a:latin typeface="Calibri" pitchFamily="34" charset="0"/>
                          <a:ea typeface="Calibri" pitchFamily="34" charset="-122"/>
                          <a:cs typeface="Calibri" pitchFamily="34" charset="-120"/>
                        </a:rPr>
                        <a:t>F</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Size of exposure; size of one futures contract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V, z</a:t>
                      </a:r>
                      <a:r>
                        <a:rPr lang="en-US" sz="1250" b="1" baseline="-40000" dirty="0">
                          <a:solidFill>
                            <a:srgbClr val="1E2533"/>
                          </a:solidFill>
                          <a:latin typeface="Calibri" pitchFamily="34" charset="0"/>
                          <a:ea typeface="Calibri" pitchFamily="34" charset="-122"/>
                          <a:cs typeface="Calibri" pitchFamily="34" charset="-120"/>
                        </a:rPr>
                        <a:t>c</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Position value; normal quantile</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r, u, y, 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Interest rate, storage cost, convenience yield (all continuous), time in years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Q</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Quantity covered by the futures position</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r h="0">
                <a:tc>
                  <a:txBody>
                    <a:bodyPr/>
                    <a:lstStyle/>
                    <a:p>
                      <a:pPr marL="0" indent="0" algn="l">
                        <a:buNone/>
                      </a:pPr>
                      <a:r>
                        <a:rPr lang="en-US" sz="1250" b="1" dirty="0">
                          <a:solidFill>
                            <a:srgbClr val="1E2533"/>
                          </a:solidFill>
                          <a:latin typeface="Calibri" pitchFamily="34" charset="0"/>
                          <a:ea typeface="Calibri" pitchFamily="34" charset="-122"/>
                          <a:cs typeface="Calibri" pitchFamily="34" charset="-120"/>
                        </a:rPr>
                        <a:t>Lots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533"/>
                          </a:solidFill>
                          <a:latin typeface="Calibri" pitchFamily="34" charset="0"/>
                          <a:ea typeface="Calibri" pitchFamily="34" charset="-122"/>
                          <a:cs typeface="Calibri" pitchFamily="34" charset="-120"/>
                        </a:rPr>
                        <a:t>MCX Gold 1 kg (price per 10 g); Crude 100 bbl; Copper 2,500 kg</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C1 · Long Hedge of Gold Purchases with MCX Gold Futures</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Basic</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Chennai jewellery manufacturer must buy 3 kg of gold in two months for wedding-season orders already priced with customers. It fears a price rise and hedges on MCX. Prices are illustrative.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Gold required</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3 kg</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MCX Gold lot size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 kg (quoted per 10 g)</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Futures price today (F</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₹99,200 per 10 g</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Scenario A at purchase: S</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 / F</a:t>
                      </a:r>
                      <a:r>
                        <a:rPr lang="en-US" sz="1500" baseline="-40000" dirty="0">
                          <a:solidFill>
                            <a:srgbClr val="1E2533"/>
                          </a:solidFill>
                          <a:latin typeface="Calibri" pitchFamily="34" charset="0"/>
                          <a:ea typeface="Calibri" pitchFamily="34" charset="-122"/>
                          <a:cs typeface="Calibri" pitchFamily="34" charset="-120"/>
                        </a:rPr>
                        <a:t>2</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₹1,04,500 / ₹1,05,100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Scenario B at purchase: S</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 / F</a:t>
                      </a:r>
                      <a:r>
                        <a:rPr lang="en-US" sz="1500" baseline="-40000" dirty="0">
                          <a:solidFill>
                            <a:srgbClr val="1E2533"/>
                          </a:solidFill>
                          <a:latin typeface="Calibri" pitchFamily="34" charset="0"/>
                          <a:ea typeface="Calibri" pitchFamily="34" charset="-122"/>
                          <a:cs typeface="Calibri" pitchFamily="34" charset="-120"/>
                        </a:rPr>
                        <a:t>2</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₹94,000 / ₹94,700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Hedge position: buy or sell, and how many lots?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Scenario A: futures P&amp;L, spot cost and net cost per 10 g.</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Scenario B: the same calculations.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Show that the effective price equals F</a:t>
            </a:r>
            <a:r>
              <a:rPr lang="en-US" sz="1550" baseline="-40000" dirty="0">
                <a:solidFill>
                  <a:srgbClr val="FFFFFF"/>
                </a:solidFill>
                <a:latin typeface="Calibri" pitchFamily="34" charset="0"/>
                <a:ea typeface="Calibri" pitchFamily="34" charset="-122"/>
                <a:cs typeface="Calibri" pitchFamily="34" charset="-120"/>
              </a:rPr>
              <a:t>1</a:t>
            </a:r>
            <a:r>
              <a:rPr lang="en-US" sz="1550" dirty="0">
                <a:solidFill>
                  <a:srgbClr val="FFFFFF"/>
                </a:solidFill>
                <a:latin typeface="Calibri" pitchFamily="34" charset="0"/>
                <a:ea typeface="Calibri" pitchFamily="34" charset="-122"/>
                <a:cs typeface="Calibri" pitchFamily="34" charset="-120"/>
              </a:rPr>
              <a:t> + b</a:t>
            </a:r>
            <a:r>
              <a:rPr lang="en-US" sz="1550" baseline="-40000" dirty="0">
                <a:solidFill>
                  <a:srgbClr val="FFFFFF"/>
                </a:solidFill>
                <a:latin typeface="Calibri" pitchFamily="34" charset="0"/>
                <a:ea typeface="Calibri" pitchFamily="34" charset="-122"/>
                <a:cs typeface="Calibri" pitchFamily="34" charset="-120"/>
              </a:rPr>
              <a:t>2</a:t>
            </a:r>
            <a:r>
              <a:rPr lang="en-US" sz="1550" dirty="0">
                <a:solidFill>
                  <a:srgbClr val="FFFFFF"/>
                </a:solidFill>
                <a:latin typeface="Calibri" pitchFamily="34" charset="0"/>
                <a:ea typeface="Calibri" pitchFamily="34" charset="-122"/>
                <a:cs typeface="Calibri" pitchFamily="34" charset="-120"/>
              </a:rPr>
              <a:t> and explain why it differs across scenarios.</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C1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Position</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Future purchase = short in physical gold → go </a:t>
            </a:r>
            <a:r>
              <a:rPr lang="en-US" sz="1500" b="1" dirty="0">
                <a:solidFill>
                  <a:srgbClr val="1E2533"/>
                </a:solidFill>
                <a:latin typeface="Calibri" pitchFamily="34" charset="0"/>
                <a:ea typeface="Calibri" pitchFamily="34" charset="-122"/>
                <a:cs typeface="Calibri" pitchFamily="34" charset="-120"/>
              </a:rPr>
              <a:t>long</a:t>
            </a:r>
            <a:r>
              <a:rPr lang="en-US" sz="1500" dirty="0">
                <a:solidFill>
                  <a:srgbClr val="1E2533"/>
                </a:solidFill>
                <a:latin typeface="Calibri" pitchFamily="34" charset="0"/>
                <a:ea typeface="Calibri" pitchFamily="34" charset="-122"/>
                <a:cs typeface="Calibri" pitchFamily="34" charset="-120"/>
              </a:rPr>
              <a:t>: buy 3 lots (3 kg = 300 units of 10 g).</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Scenario A: prices rise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Futures gain = (1,05,100 − 99,200) × 300 = 5,900 × 300 = ₹17,70,000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Spot cost = 1,04,500 × 300 = ₹3,13,50,000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Net cost = ₹3,13,50,000 − ₹17,70,000 = ₹2,95,80,000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₹98,600 per 10 g</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Scenario B: prices fall</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Futures loss = (94,700 − 99,200) × 300 = −₹13,50,000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Spot cost = 94,000 × 300 = ₹2,82,00,000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Net cost = ₹2,82,00,000 + 13,50,000 = ₹2,95,50,000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₹98,500 per 10 g</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Check: effective price = F</a:t>
            </a:r>
            <a:r>
              <a:rPr lang="en-US" sz="1550" b="1" baseline="-40000" dirty="0">
                <a:solidFill>
                  <a:srgbClr val="8C6D0F"/>
                </a:solidFill>
                <a:latin typeface="Calibri" pitchFamily="34" charset="0"/>
                <a:ea typeface="Calibri" pitchFamily="34" charset="-122"/>
                <a:cs typeface="Calibri" pitchFamily="34" charset="-120"/>
              </a:rPr>
              <a:t>1</a:t>
            </a:r>
            <a:r>
              <a:rPr lang="en-US" sz="1550" b="1" dirty="0">
                <a:solidFill>
                  <a:srgbClr val="8C6D0F"/>
                </a:solidFill>
                <a:latin typeface="Calibri" pitchFamily="34" charset="0"/>
                <a:ea typeface="Calibri" pitchFamily="34" charset="-122"/>
                <a:cs typeface="Calibri" pitchFamily="34" charset="-120"/>
              </a:rPr>
              <a:t> + b</a:t>
            </a:r>
            <a:r>
              <a:rPr lang="en-US" sz="1550" b="1" baseline="-40000" dirty="0">
                <a:solidFill>
                  <a:srgbClr val="8C6D0F"/>
                </a:solidFill>
                <a:latin typeface="Calibri" pitchFamily="34" charset="0"/>
                <a:ea typeface="Calibri" pitchFamily="34" charset="-122"/>
                <a:cs typeface="Calibri" pitchFamily="34" charset="-120"/>
              </a:rPr>
              <a:t>2</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 99,200 + (1,04,500 − 1,05,100) = 98,600;   B: 99,200 + (94,000 − 94,700) = 98,500</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Buy 3 MCX Gold lots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 net ₹98,600 per 10 g</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 net ₹98,500 per 10 g</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Price risk removed; only basis risk (₹100 gap) remains</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The hedge locks in roughly ₹98,500–98,600 whatever happens. The small difference comes from the basis at the time the hedge is lifted.</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C2 · Short Hedge and Basis Risk in MCX Crude Oil</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small upstream producer in Gujarat will sell 20,000 barrels of crude in three months at the then-prevailing local price. To protect revenue it sells MCX crude oil futures today. Prices are illustrative (₹ per barrel).</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Quantity to be sold</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20,000 barrels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MCX crude lot size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100 barrels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Today: spot S</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 / futures F</a:t>
                      </a:r>
                      <a:r>
                        <a:rPr lang="en-US" sz="1500" baseline="-40000" dirty="0">
                          <a:solidFill>
                            <a:srgbClr val="1E2533"/>
                          </a:solidFill>
                          <a:latin typeface="Calibri" pitchFamily="34" charset="0"/>
                          <a:ea typeface="Calibri" pitchFamily="34" charset="-122"/>
                          <a:cs typeface="Calibri" pitchFamily="34" charset="-120"/>
                        </a:rPr>
                        <a:t>1</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₹6,350 / ₹6,400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At sale: spot S</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 / futures F</a:t>
                      </a:r>
                      <a:r>
                        <a:rPr lang="en-US" sz="1500" baseline="-40000" dirty="0">
                          <a:solidFill>
                            <a:srgbClr val="1E2533"/>
                          </a:solidFill>
                          <a:latin typeface="Calibri" pitchFamily="34" charset="0"/>
                          <a:ea typeface="Calibri" pitchFamily="34" charset="-122"/>
                          <a:cs typeface="Calibri" pitchFamily="34" charset="-120"/>
                        </a:rPr>
                        <a:t>2</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₹5,900 / ₹5,980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Alternative at sale: S</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 / F</a:t>
                      </a:r>
                      <a:r>
                        <a:rPr lang="en-US" sz="1500" baseline="-40000" dirty="0">
                          <a:solidFill>
                            <a:srgbClr val="1E2533"/>
                          </a:solidFill>
                          <a:latin typeface="Calibri" pitchFamily="34" charset="0"/>
                          <a:ea typeface="Calibri" pitchFamily="34" charset="-122"/>
                          <a:cs typeface="Calibri" pitchFamily="34" charset="-120"/>
                        </a:rPr>
                        <a:t>2</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₹5,960 / ₹5,980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Number of contracts and direction.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Futures P&amp;L, physical revenue and effective price per barrel.</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Initial and final basis; how did the change in basis affect the hedger?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Effective price if the basis at sale is −20 instead (alternative).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C2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Position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Sell 20,000 ÷ 100 = </a:t>
            </a:r>
            <a:r>
              <a:rPr lang="en-US" sz="1500" b="1" dirty="0">
                <a:solidFill>
                  <a:srgbClr val="14213D"/>
                </a:solidFill>
                <a:latin typeface="Cambria" pitchFamily="34" charset="0"/>
                <a:ea typeface="Cambria" pitchFamily="34" charset="-122"/>
                <a:cs typeface="Cambria" pitchFamily="34" charset="-120"/>
              </a:rPr>
              <a:t>200 contracts</a:t>
            </a:r>
            <a:r>
              <a:rPr lang="en-US" sz="1500" dirty="0">
                <a:solidFill>
                  <a:srgbClr val="14213D"/>
                </a:solidFill>
                <a:latin typeface="Cambria" pitchFamily="34" charset="0"/>
                <a:ea typeface="Cambria" pitchFamily="34" charset="-122"/>
                <a:cs typeface="Cambria" pitchFamily="34" charset="-120"/>
              </a:rPr>
              <a:t> (short hedge: the producer is naturally long)</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Outcome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Futures gain = (6,400 − 5,980) × 20,000 = 420 × 20,000 = ₹84,00,000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Physical revenue = 5,900 × 20,000 = ₹11,80,00,000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Total = ₹11,80,00,000 + ₹84,00,000 = ₹12,64,00,000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₹6,320 per barrel</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Basis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b</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6,350 − 6,400 = -50;   b</a:t>
            </a:r>
            <a:r>
              <a:rPr lang="en-US" sz="1500" baseline="-4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5,900 − 5,980 = -80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Effective price = F</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b</a:t>
            </a:r>
            <a:r>
              <a:rPr lang="en-US" sz="1500" baseline="-4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6,400 + (-80) = 6,320</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The basis weakened by ₹30 (from −50 to −80), so the short hedger received ₹30 less than F</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 + b</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 = ₹6,350.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Basis −20 at sale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Effective = 5,960 + (6,400 − 5,980) = ₹6,380 per barrel (basis strengthened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hedger gains)</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Sell 200 crude futures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Effective price ₹6,320/bbl</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vs unhedged ₹5,900/bbl</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With b</a:t>
            </a:r>
            <a:r>
              <a:rPr lang="en-US" sz="1500" baseline="-40000" dirty="0">
                <a:solidFill>
                  <a:srgbClr val="FFFFFF"/>
                </a:solidFill>
                <a:latin typeface="Calibri" pitchFamily="34" charset="0"/>
                <a:ea typeface="Calibri" pitchFamily="34" charset="-122"/>
                <a:cs typeface="Calibri" pitchFamily="34" charset="-120"/>
              </a:rPr>
              <a:t>2</a:t>
            </a:r>
            <a:r>
              <a:rPr lang="en-US" sz="1500" dirty="0">
                <a:solidFill>
                  <a:srgbClr val="FFFFFF"/>
                </a:solidFill>
                <a:latin typeface="Calibri" pitchFamily="34" charset="0"/>
                <a:ea typeface="Calibri" pitchFamily="34" charset="-122"/>
                <a:cs typeface="Calibri" pitchFamily="34" charset="-120"/>
              </a:rPr>
              <a:t> = −20: ₹6,380/bbl</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A short hedger benefits when the basis strengthens and loses when it weakens. Hedging swaps price risk for the much smaller basis risk.</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C3 · Cross-Hedging Jet Fuel with Crude Oil Futures</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An Indian airline expects to buy aviation turbine fuel (ATF) equivalent to 1,50,000 barrels next quarter. There is no liquid ATF futures contract, so it cross-hedges with MCX crude oil futures using the minimum variance hedge ratio.</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Exposure (Q</a:t>
                      </a:r>
                      <a:r>
                        <a:rPr lang="en-US" sz="1500" baseline="-40000" dirty="0">
                          <a:solidFill>
                            <a:srgbClr val="1E2533"/>
                          </a:solidFill>
                          <a:latin typeface="Calibri" pitchFamily="34" charset="0"/>
                          <a:ea typeface="Calibri" pitchFamily="34" charset="-122"/>
                          <a:cs typeface="Calibri" pitchFamily="34" charset="-120"/>
                        </a:rPr>
                        <a:t>A</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1,50,000 barrels (ATF equivalent)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Contract size (Q</a:t>
                      </a:r>
                      <a:r>
                        <a:rPr lang="en-US" sz="1500" baseline="-40000" dirty="0">
                          <a:solidFill>
                            <a:srgbClr val="1E2533"/>
                          </a:solidFill>
                          <a:latin typeface="Calibri" pitchFamily="34" charset="0"/>
                          <a:ea typeface="Calibri" pitchFamily="34" charset="-122"/>
                          <a:cs typeface="Calibri" pitchFamily="34" charset="-120"/>
                        </a:rPr>
                        <a:t>F</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100 barrels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σ of monthly ATF price changes (σ</a:t>
                      </a:r>
                      <a:r>
                        <a:rPr lang="en-US" sz="1500" baseline="-40000" dirty="0">
                          <a:solidFill>
                            <a:srgbClr val="1E2533"/>
                          </a:solidFill>
                          <a:latin typeface="Calibri" pitchFamily="34" charset="0"/>
                          <a:ea typeface="Calibri" pitchFamily="34" charset="-122"/>
                          <a:cs typeface="Calibri" pitchFamily="34" charset="-120"/>
                        </a:rPr>
                        <a:t>S</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σ of monthly crude futures changes (σ</a:t>
                      </a:r>
                      <a:r>
                        <a:rPr lang="en-US" sz="1500" baseline="-40000" dirty="0">
                          <a:solidFill>
                            <a:srgbClr val="1E2533"/>
                          </a:solidFill>
                          <a:latin typeface="Calibri" pitchFamily="34" charset="0"/>
                          <a:ea typeface="Calibri" pitchFamily="34" charset="-122"/>
                          <a:cs typeface="Calibri" pitchFamily="34" charset="-120"/>
                        </a:rPr>
                        <a:t>F</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5.6%</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Correlation (ρ)</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0.88</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Minimum variance hedge ratio h*.</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Optimal number of futures contracts (buy or sell?).</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Hedge effectiveness.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Residual monthly volatility of the hedged position (per unit of exposure).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C3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Hedge ratio</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h</a:t>
            </a:r>
            <a:r>
              <a:rPr lang="en-US" sz="1500" baseline="30000" dirty="0">
                <a:solidFill>
                  <a:srgbClr val="14213D"/>
                </a:solidFill>
                <a:latin typeface="Cambria" pitchFamily="34" charset="0"/>
                <a:ea typeface="Cambria" pitchFamily="34" charset="-122"/>
                <a:cs typeface="Cambria" pitchFamily="34" charset="-120"/>
              </a:rPr>
              <a:t>*</a:t>
            </a:r>
            <a:r>
              <a:rPr lang="en-US" sz="1500" dirty="0">
                <a:solidFill>
                  <a:srgbClr val="14213D"/>
                </a:solidFill>
                <a:latin typeface="Cambria" pitchFamily="34" charset="0"/>
                <a:ea typeface="Cambria" pitchFamily="34" charset="-122"/>
                <a:cs typeface="Cambria" pitchFamily="34" charset="-120"/>
              </a:rPr>
              <a:t> = ρ × σ</a:t>
            </a:r>
            <a:r>
              <a:rPr lang="en-US" sz="1500" baseline="-40000" dirty="0">
                <a:solidFill>
                  <a:srgbClr val="14213D"/>
                </a:solidFill>
                <a:latin typeface="Cambria" pitchFamily="34" charset="0"/>
                <a:ea typeface="Cambria" pitchFamily="34" charset="-122"/>
                <a:cs typeface="Cambria" pitchFamily="34" charset="-120"/>
              </a:rPr>
              <a:t>S</a:t>
            </a:r>
            <a:r>
              <a:rPr lang="en-US" sz="1500" dirty="0">
                <a:solidFill>
                  <a:srgbClr val="14213D"/>
                </a:solidFill>
                <a:latin typeface="Cambria" pitchFamily="34" charset="0"/>
                <a:ea typeface="Cambria" pitchFamily="34" charset="-122"/>
                <a:cs typeface="Cambria" pitchFamily="34" charset="-120"/>
              </a:rPr>
              <a:t> ÷ σ</a:t>
            </a:r>
            <a:r>
              <a:rPr lang="en-US" sz="1500" baseline="-40000" dirty="0">
                <a:solidFill>
                  <a:srgbClr val="14213D"/>
                </a:solidFill>
                <a:latin typeface="Cambria" pitchFamily="34" charset="0"/>
                <a:ea typeface="Cambria" pitchFamily="34" charset="-122"/>
                <a:cs typeface="Cambria" pitchFamily="34" charset="-120"/>
              </a:rPr>
              <a:t>F</a:t>
            </a:r>
            <a:r>
              <a:rPr lang="en-US" sz="1500" dirty="0">
                <a:solidFill>
                  <a:srgbClr val="14213D"/>
                </a:solidFill>
                <a:latin typeface="Cambria" pitchFamily="34" charset="0"/>
                <a:ea typeface="Cambria" pitchFamily="34" charset="-122"/>
                <a:cs typeface="Cambria" pitchFamily="34" charset="-120"/>
              </a:rPr>
              <a:t> = 0.88 × 5.0 ÷ 5.6 = 4.40 ÷ 5.6 = 0.7857</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Number of contracts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a:t>
            </a:r>
            <a:r>
              <a:rPr lang="en-US" sz="1500" baseline="30000" dirty="0">
                <a:solidFill>
                  <a:srgbClr val="14213D"/>
                </a:solidFill>
                <a:latin typeface="Cambria" pitchFamily="34" charset="0"/>
                <a:ea typeface="Cambria" pitchFamily="34" charset="-122"/>
                <a:cs typeface="Cambria" pitchFamily="34" charset="-120"/>
              </a:rPr>
              <a:t>*</a:t>
            </a:r>
            <a:r>
              <a:rPr lang="en-US" sz="1500" dirty="0">
                <a:solidFill>
                  <a:srgbClr val="14213D"/>
                </a:solidFill>
                <a:latin typeface="Cambria" pitchFamily="34" charset="0"/>
                <a:ea typeface="Cambria" pitchFamily="34" charset="-122"/>
                <a:cs typeface="Cambria" pitchFamily="34" charset="-120"/>
              </a:rPr>
              <a:t> = h</a:t>
            </a:r>
            <a:r>
              <a:rPr lang="en-US" sz="1500" baseline="30000" dirty="0">
                <a:solidFill>
                  <a:srgbClr val="14213D"/>
                </a:solidFill>
                <a:latin typeface="Cambria" pitchFamily="34" charset="0"/>
                <a:ea typeface="Cambria" pitchFamily="34" charset="-122"/>
                <a:cs typeface="Cambria" pitchFamily="34" charset="-120"/>
              </a:rPr>
              <a:t>*</a:t>
            </a:r>
            <a:r>
              <a:rPr lang="en-US" sz="1500" dirty="0">
                <a:solidFill>
                  <a:srgbClr val="14213D"/>
                </a:solidFill>
                <a:latin typeface="Cambria" pitchFamily="34" charset="0"/>
                <a:ea typeface="Cambria" pitchFamily="34" charset="-122"/>
                <a:cs typeface="Cambria" pitchFamily="34" charset="-120"/>
              </a:rPr>
              <a:t> × Q</a:t>
            </a:r>
            <a:r>
              <a:rPr lang="en-US" sz="1500" baseline="-40000" dirty="0">
                <a:solidFill>
                  <a:srgbClr val="14213D"/>
                </a:solidFill>
                <a:latin typeface="Cambria" pitchFamily="34" charset="0"/>
                <a:ea typeface="Cambria" pitchFamily="34" charset="-122"/>
                <a:cs typeface="Cambria" pitchFamily="34" charset="-120"/>
              </a:rPr>
              <a:t>A</a:t>
            </a:r>
            <a:r>
              <a:rPr lang="en-US" sz="1500" dirty="0">
                <a:solidFill>
                  <a:srgbClr val="14213D"/>
                </a:solidFill>
                <a:latin typeface="Cambria" pitchFamily="34" charset="0"/>
                <a:ea typeface="Cambria" pitchFamily="34" charset="-122"/>
                <a:cs typeface="Cambria" pitchFamily="34" charset="-120"/>
              </a:rPr>
              <a:t> ÷ Q</a:t>
            </a:r>
            <a:r>
              <a:rPr lang="en-US" sz="1500" baseline="-40000" dirty="0">
                <a:solidFill>
                  <a:srgbClr val="14213D"/>
                </a:solidFill>
                <a:latin typeface="Cambria" pitchFamily="34" charset="0"/>
                <a:ea typeface="Cambria" pitchFamily="34" charset="-122"/>
                <a:cs typeface="Cambria" pitchFamily="34" charset="-120"/>
              </a:rPr>
              <a:t>F</a:t>
            </a:r>
            <a:r>
              <a:rPr lang="en-US" sz="1500" dirty="0">
                <a:solidFill>
                  <a:srgbClr val="14213D"/>
                </a:solidFill>
                <a:latin typeface="Cambria" pitchFamily="34" charset="0"/>
                <a:ea typeface="Cambria" pitchFamily="34" charset="-122"/>
                <a:cs typeface="Cambria" pitchFamily="34" charset="-120"/>
              </a:rPr>
              <a:t> = 0.7857 × 1,50,000 ÷ 100 = 1178.57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a:t>
            </a:r>
            <a:r>
              <a:rPr lang="en-US" sz="1500" b="1" dirty="0">
                <a:solidFill>
                  <a:srgbClr val="14213D"/>
                </a:solidFill>
                <a:latin typeface="Cambria" pitchFamily="34" charset="0"/>
                <a:ea typeface="Cambria" pitchFamily="34" charset="-122"/>
                <a:cs typeface="Cambria" pitchFamily="34" charset="-120"/>
              </a:rPr>
              <a:t>buy 1179 contracts</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The airline is naturally short fuel (it must buy later), so it takes a long futures position.</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Hedge effectiveness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HE = ρ</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0.88</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0.7744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77.44% of the variance is removed</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Residual volatility</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40000" dirty="0">
                <a:solidFill>
                  <a:srgbClr val="14213D"/>
                </a:solidFill>
                <a:latin typeface="Cambria" pitchFamily="34" charset="0"/>
                <a:ea typeface="Cambria" pitchFamily="34" charset="-122"/>
                <a:cs typeface="Cambria" pitchFamily="34" charset="-120"/>
              </a:rPr>
              <a:t>hedged</a:t>
            </a:r>
            <a:r>
              <a:rPr lang="en-US" sz="1500" dirty="0">
                <a:solidFill>
                  <a:srgbClr val="14213D"/>
                </a:solidFill>
                <a:latin typeface="Cambria" pitchFamily="34" charset="0"/>
                <a:ea typeface="Cambria" pitchFamily="34" charset="-122"/>
                <a:cs typeface="Cambria" pitchFamily="34" charset="-120"/>
              </a:rPr>
              <a:t> = σ</a:t>
            </a:r>
            <a:r>
              <a:rPr lang="en-US" sz="1500" baseline="-40000" dirty="0">
                <a:solidFill>
                  <a:srgbClr val="14213D"/>
                </a:solidFill>
                <a:latin typeface="Cambria" pitchFamily="34" charset="0"/>
                <a:ea typeface="Cambria" pitchFamily="34" charset="-122"/>
                <a:cs typeface="Cambria" pitchFamily="34" charset="-120"/>
              </a:rPr>
              <a:t>S</a:t>
            </a:r>
            <a:r>
              <a:rPr lang="en-US" sz="1500" dirty="0">
                <a:solidFill>
                  <a:srgbClr val="14213D"/>
                </a:solidFill>
                <a:latin typeface="Cambria" pitchFamily="34" charset="0"/>
                <a:ea typeface="Cambria" pitchFamily="34" charset="-122"/>
                <a:cs typeface="Cambria" pitchFamily="34" charset="-120"/>
              </a:rPr>
              <a:t> × √(1 − ρ</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5.0 × √(1 − 0.7744) = 5.0 × 0.4750 = 2.375%</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 = 0.7857</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Buy 1179 MCX crude contracts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Hedge effectiveness 77.44%</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Residual σ ≈ 2.37% a month (vs 5.0% unhedged)</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A 1:1 hedge would over-hedge, because crude futures are more volatile than ATF and not perfectly correlated with it. The imperfect correlation leaves basis risk.</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C4 · Volatility and VaR of an MCX Copper Position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cable manufacturer holds a long position of 10 MCX copper lots as an inventory hedge. The CFO wants to know how risky the position is. Monthly closing prices (₹ per kg, illustrative) are given.</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Monthly closes M0 to M6 (₹/kg)</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860, 878, 852, 889, 905, 871, 896</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MCX copper lot size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2,500 kg</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Lots held</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 (long)</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Confidence level</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95% (z = 1.645)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Horizon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One month</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Six monthly returns.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Mean and sample standard deviation of monthly returns.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Annualised volatility.</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95% one-month VaR of the position at the latest price.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C4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914400"/>
        </p:xfrm>
        <a:graphic>
          <a:graphicData uri="http://schemas.openxmlformats.org/drawingml/2006/table">
            <a:tbl>
              <a:tblPr/>
              <a:tblGrid>
                <a:gridCol w="13258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Month</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Return r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2.0930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−2.9613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4.3427</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1.7998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−3.7569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2.8703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(r − μ)</a:t>
                      </a:r>
                      <a:r>
                        <a:rPr lang="en-US" sz="1300" baseline="30000" dirty="0">
                          <a:solidFill>
                            <a:srgbClr val="1E2533"/>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1.8544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13.6349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13.0426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1.1417</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20.1437</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4.5753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bl>
          </a:graphicData>
        </a:graphic>
      </p:graphicFrame>
      <p:sp>
        <p:nvSpPr>
          <p:cNvPr id="8" name="Text 5"/>
          <p:cNvSpPr txBox="1"/>
          <p:nvPr/>
        </p:nvSpPr>
        <p:spPr>
          <a:xfrm>
            <a:off x="685800" y="2350008"/>
            <a:ext cx="7360920" cy="3794760"/>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Returns, e.g. M1</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r</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(878 − 860) ÷ 860 = 2.0930%  (others in the table)</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Mean and standard deviation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μ = Σr ÷ 6 = 4.3876 ÷ 6 = 0.7313%</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 = √[Σ(r − μ)</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5] = √(54.3926 ÷ 5) = 3.2983%</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Annualised volatility</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40000" dirty="0">
                <a:solidFill>
                  <a:srgbClr val="14213D"/>
                </a:solidFill>
                <a:latin typeface="Cambria" pitchFamily="34" charset="0"/>
                <a:ea typeface="Cambria" pitchFamily="34" charset="-122"/>
                <a:cs typeface="Cambria" pitchFamily="34" charset="-120"/>
              </a:rPr>
              <a:t>annual</a:t>
            </a:r>
            <a:r>
              <a:rPr lang="en-US" sz="1500" dirty="0">
                <a:solidFill>
                  <a:srgbClr val="14213D"/>
                </a:solidFill>
                <a:latin typeface="Cambria" pitchFamily="34" charset="0"/>
                <a:ea typeface="Cambria" pitchFamily="34" charset="-122"/>
                <a:cs typeface="Cambria" pitchFamily="34" charset="-120"/>
              </a:rPr>
              <a:t> = 3.2983 × √12 = 11.43%</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95% one-month VaR</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 = 896 × 2,500 × 10 = ₹2,24,00,000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 = 1.645 × 0.032983 × ₹2,24,00,000 = ₹12,15,343</a:t>
            </a:r>
            <a:endParaRPr lang="en-US" sz="155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μ = 0.73% a month</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σ = 3.30% a month</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Annual σ = 11.43%</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95% 1-month VaR ≈ ₹12,15,343</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Six data points are for classroom practice. A risk desk would use at least two to three years of daily or weekly data and compare with MCX's own margin (SPAN) requirements.</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C5 · Margin and Mark-to-Market Risk on MCX Crude Futures</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trader buys 2 lots of MCX crude oil futures. Futures are marked to market daily. If the margin balance falls below the maintenance level, the broker calls for funds to restore it to the initial margin. Figures are illustrative.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Position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Long 2 lots (200 barrels)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Entry price (F</a:t>
                      </a:r>
                      <a:r>
                        <a:rPr lang="en-US" sz="1500" baseline="-40000" dirty="0">
                          <a:solidFill>
                            <a:srgbClr val="1E2533"/>
                          </a:solidFill>
                          <a:latin typeface="Calibri" pitchFamily="34" charset="0"/>
                          <a:ea typeface="Calibri" pitchFamily="34" charset="-122"/>
                          <a:cs typeface="Calibri" pitchFamily="34" charset="-120"/>
                        </a:rPr>
                        <a:t>0</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₹6,200 per barrel</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Initial margin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₹2,50,000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Maintenance margin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₹1,90,000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Settlement prices, Days 1–5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6,150; 6,020; 5,880; 6,050; 6,110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Daily MTM and margin account balance for five days.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Day and amount of any margin call.</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Total P&amp;L and a reconciliation with the final balance.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Leverage and the return on initial margin vs the price change.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15</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C5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914400"/>
        </p:xfrm>
        <a:graphic>
          <a:graphicData uri="http://schemas.openxmlformats.org/drawingml/2006/table">
            <a:tbl>
              <a:tblPr/>
              <a:tblGrid>
                <a:gridCol w="914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Day</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Settle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Daily MTM</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Balance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Margin call</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Closing</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Day 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6,150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₹2,40,000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₹2,40,000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Day 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6,020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−₹26,000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₹2,14,000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₹2,14,000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Day 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5,880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−₹28,000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₹1,86,000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₹64,000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₹2,50,000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Day 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6,050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+₹34,000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₹2,84,000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₹2,84,000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Day 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6,110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+₹12,000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₹2,96,000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₹2,96,000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685800" y="3035808"/>
            <a:ext cx="7360920" cy="3108960"/>
          </a:xfrm>
          <a:prstGeom prst="rect">
            <a:avLst/>
          </a:prstGeom>
          <a:noFill/>
          <a:ln/>
        </p:spPr>
        <p:txBody>
          <a:bodyPr wrap="square" lIns="0" tIns="0" rIns="0" bIns="0" rtlCol="0" anchor="t"/>
          <a:lstStyle/>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MTM</a:t>
            </a:r>
            <a:r>
              <a:rPr lang="en-US" sz="1500" baseline="-40000" dirty="0">
                <a:solidFill>
                  <a:srgbClr val="14213D"/>
                </a:solidFill>
                <a:latin typeface="Cambria" pitchFamily="34" charset="0"/>
                <a:ea typeface="Cambria" pitchFamily="34" charset="-122"/>
                <a:cs typeface="Cambria" pitchFamily="34" charset="-120"/>
              </a:rPr>
              <a:t>t</a:t>
            </a:r>
            <a:r>
              <a:rPr lang="en-US" sz="1500" dirty="0">
                <a:solidFill>
                  <a:srgbClr val="14213D"/>
                </a:solidFill>
                <a:latin typeface="Cambria" pitchFamily="34" charset="0"/>
                <a:ea typeface="Cambria" pitchFamily="34" charset="-122"/>
                <a:cs typeface="Cambria" pitchFamily="34" charset="-120"/>
              </a:rPr>
              <a:t> = (F</a:t>
            </a:r>
            <a:r>
              <a:rPr lang="en-US" sz="1500" baseline="-40000" dirty="0">
                <a:solidFill>
                  <a:srgbClr val="14213D"/>
                </a:solidFill>
                <a:latin typeface="Cambria" pitchFamily="34" charset="0"/>
                <a:ea typeface="Cambria" pitchFamily="34" charset="-122"/>
                <a:cs typeface="Cambria" pitchFamily="34" charset="-120"/>
              </a:rPr>
              <a:t>t</a:t>
            </a:r>
            <a:r>
              <a:rPr lang="en-US" sz="1500" dirty="0">
                <a:solidFill>
                  <a:srgbClr val="14213D"/>
                </a:solidFill>
                <a:latin typeface="Cambria" pitchFamily="34" charset="0"/>
                <a:ea typeface="Cambria" pitchFamily="34" charset="-122"/>
                <a:cs typeface="Cambria" pitchFamily="34" charset="-120"/>
              </a:rPr>
              <a:t> − F</a:t>
            </a:r>
            <a:r>
              <a:rPr lang="en-US" sz="1500" baseline="-40000" dirty="0">
                <a:solidFill>
                  <a:srgbClr val="14213D"/>
                </a:solidFill>
                <a:latin typeface="Cambria" pitchFamily="34" charset="0"/>
                <a:ea typeface="Cambria" pitchFamily="34" charset="-122"/>
                <a:cs typeface="Cambria" pitchFamily="34" charset="-120"/>
              </a:rPr>
              <a:t>t−1</a:t>
            </a:r>
            <a:r>
              <a:rPr lang="en-US" sz="1500" dirty="0">
                <a:solidFill>
                  <a:srgbClr val="14213D"/>
                </a:solidFill>
                <a:latin typeface="Cambria" pitchFamily="34" charset="0"/>
                <a:ea typeface="Cambria" pitchFamily="34" charset="-122"/>
                <a:cs typeface="Cambria" pitchFamily="34" charset="-120"/>
              </a:rPr>
              <a:t>) × 200;  e.g. Day 3: (5,880 − 6,020) × 200 = −₹28,000</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Day 3 balance ₹1,86,000 &lt; ₹1,90,000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call = 2,50,000 − 1,86,000 = ₹64,000</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Total P&amp;L = (6,110 − 6,200) × 200 = −₹18,000</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Check: final ₹2,96,000 − deposits (2,50,000 + 64,000) = −₹18,000 </a:t>
            </a:r>
            <a:r>
              <a:rPr lang="en-US" sz="1500" dirty="0">
                <a:solidFill>
                  <a:srgbClr val="14213D"/>
                </a:solidFill>
                <a:latin typeface="Calibri" pitchFamily="34" charset="0"/>
                <a:ea typeface="Calibri" pitchFamily="34" charset="-122"/>
                <a:cs typeface="Calibri" pitchFamily="34" charset="-120"/>
              </a:rPr>
              <a:t>✓</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Leverage = (6,200 × 200) ÷ 2,50,000 = 4.96×</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Return on margin = −18,000 ÷ 2,50,000 = −7.20% vs price change −1.45%</a:t>
            </a:r>
            <a:endParaRPr lang="en-US" sz="150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Margin call on Day 3: ₹64,000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Final balance ₹2,96,000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Net P&amp;L −₹18,000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Leverage ≈ 4.96×</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Even a correct hedge can fail if the firm cannot meet interim margin calls. Liquidity planning is part of commodity risk management.</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16</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16</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Risk of Equity Investment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Why share prices move, how to measure equity risk, and how to limit it</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Meaning and explanation</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Types of equity risk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Indian examples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Measurement formulas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Five quantitative problems (E1–E5)</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Equity Investment Risk: Meaning and Explanation</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11183112" cy="914400"/>
          </a:xfrm>
          <a:prstGeom prst="roundRect">
            <a:avLst>
              <a:gd name="adj" fmla="val 8000"/>
            </a:avLst>
          </a:prstGeom>
          <a:solidFill>
            <a:srgbClr val="14213D"/>
          </a:solidFill>
          <a:ln w="15875">
            <a:solidFill>
              <a:srgbClr val="C9A227"/>
            </a:solidFill>
            <a:prstDash val="solid"/>
          </a:ln>
        </p:spPr>
      </p:sp>
      <p:sp>
        <p:nvSpPr>
          <p:cNvPr id="7" name="Text 5"/>
          <p:cNvSpPr txBox="1"/>
          <p:nvPr/>
        </p:nvSpPr>
        <p:spPr>
          <a:xfrm>
            <a:off x="685800" y="1307592"/>
            <a:ext cx="10817352" cy="768096"/>
          </a:xfrm>
          <a:prstGeom prst="rect">
            <a:avLst/>
          </a:prstGeom>
          <a:noFill/>
          <a:ln/>
        </p:spPr>
        <p:txBody>
          <a:bodyPr wrap="square" lIns="0" tIns="0" rIns="0" bIns="0" rtlCol="0" anchor="ctr"/>
          <a:lstStyle/>
          <a:p>
            <a:pPr marL="0" indent="0" algn="l">
              <a:buNone/>
            </a:pPr>
            <a:r>
              <a:rPr lang="en-US" sz="1550" i="1" dirty="0">
                <a:solidFill>
                  <a:srgbClr val="FFFFFF"/>
                </a:solidFill>
                <a:latin typeface="Calibri" pitchFamily="34" charset="0"/>
                <a:ea typeface="Calibri" pitchFamily="34" charset="-122"/>
                <a:cs typeface="Calibri" pitchFamily="34" charset="-120"/>
              </a:rPr>
              <a:t>Equity risk is the possibility that the realised return on shares (dividends + capital gains) falls short of the expected return, including the possibility of losing part or all of the capital invested.</a:t>
            </a:r>
            <a:endParaRPr lang="en-US" sz="1550" dirty="0"/>
          </a:p>
        </p:txBody>
      </p:sp>
      <p:sp>
        <p:nvSpPr>
          <p:cNvPr id="8" name="Shape 6"/>
          <p:cNvSpPr/>
          <p:nvPr/>
        </p:nvSpPr>
        <p:spPr>
          <a:xfrm>
            <a:off x="502920" y="2377440"/>
            <a:ext cx="6583680" cy="3840480"/>
          </a:xfrm>
          <a:prstGeom prst="roundRect">
            <a:avLst>
              <a:gd name="adj" fmla="val 1905"/>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731520" y="2487168"/>
            <a:ext cx="6172200" cy="3657600"/>
          </a:xfrm>
          <a:prstGeom prst="rect">
            <a:avLst/>
          </a:prstGeom>
          <a:noFill/>
          <a:ln/>
        </p:spPr>
        <p:txBody>
          <a:bodyPr wrap="square" lIns="0" tIns="0" rIns="0" bIns="0" rtlCol="0" anchor="t"/>
          <a:lstStyle/>
          <a:p>
            <a:pPr marL="0" indent="0" algn="l">
              <a:spcAft>
                <a:spcPts val="600"/>
              </a:spcAft>
              <a:buNone/>
            </a:pPr>
            <a:r>
              <a:rPr lang="en-US" sz="1600" b="1" dirty="0">
                <a:solidFill>
                  <a:srgbClr val="8C6D0F"/>
                </a:solidFill>
                <a:latin typeface="Calibri" pitchFamily="34" charset="0"/>
                <a:ea typeface="Calibri" pitchFamily="34" charset="-122"/>
                <a:cs typeface="Calibri" pitchFamily="34" charset="-120"/>
              </a:rPr>
              <a:t>What drives share prices</a:t>
            </a:r>
            <a:endParaRPr lang="en-US" sz="1600" dirty="0"/>
          </a:p>
          <a:p>
            <a:pPr marL="0" indent="0" algn="l">
              <a:spcAft>
                <a:spcPts val="600"/>
              </a:spcAft>
              <a:buNone/>
            </a:pPr>
            <a:r>
              <a:rPr lang="en-US" sz="1450" b="1" dirty="0">
                <a:solidFill>
                  <a:srgbClr val="14213D"/>
                </a:solidFill>
                <a:latin typeface="Calibri" pitchFamily="34" charset="0"/>
                <a:ea typeface="Calibri" pitchFamily="34" charset="-122"/>
                <a:cs typeface="Calibri" pitchFamily="34" charset="-120"/>
              </a:rPr>
              <a:t>Price = Expected earnings × Valuation multiple (P/E)</a:t>
            </a:r>
            <a:endParaRPr lang="en-US" sz="1600" dirty="0"/>
          </a:p>
          <a:p>
            <a:pPr marL="177800" indent="-177800" algn="l">
              <a:spcAft>
                <a:spcPts val="800"/>
              </a:spcAft>
              <a:buSzPct val="100000"/>
              <a:buChar char="•"/>
            </a:pPr>
            <a:r>
              <a:rPr lang="en-US" sz="1450" b="1" dirty="0">
                <a:solidFill>
                  <a:srgbClr val="1E2533"/>
                </a:solidFill>
                <a:latin typeface="Calibri" pitchFamily="34" charset="0"/>
                <a:ea typeface="Calibri" pitchFamily="34" charset="-122"/>
                <a:cs typeface="Calibri" pitchFamily="34" charset="-120"/>
              </a:rPr>
              <a:t>Earnings risk:</a:t>
            </a:r>
            <a:r>
              <a:rPr lang="en-US" sz="1450" dirty="0">
                <a:solidFill>
                  <a:srgbClr val="1E2533"/>
                </a:solidFill>
                <a:latin typeface="Calibri" pitchFamily="34" charset="0"/>
                <a:ea typeface="Calibri" pitchFamily="34" charset="-122"/>
                <a:cs typeface="Calibri" pitchFamily="34" charset="-120"/>
              </a:rPr>
              <a:t> profits disappoint due to demand, costs or competition.</a:t>
            </a:r>
            <a:endParaRPr lang="en-US" sz="1600" dirty="0"/>
          </a:p>
          <a:p>
            <a:pPr marL="177800" indent="-177800" algn="l">
              <a:spcAft>
                <a:spcPts val="800"/>
              </a:spcAft>
              <a:buSzPct val="100000"/>
              <a:buChar char="•"/>
            </a:pPr>
            <a:r>
              <a:rPr lang="en-US" sz="1450" b="1" dirty="0">
                <a:solidFill>
                  <a:srgbClr val="1E2533"/>
                </a:solidFill>
                <a:latin typeface="Calibri" pitchFamily="34" charset="0"/>
                <a:ea typeface="Calibri" pitchFamily="34" charset="-122"/>
                <a:cs typeface="Calibri" pitchFamily="34" charset="-120"/>
              </a:rPr>
              <a:t>Valuation risk:</a:t>
            </a:r>
            <a:r>
              <a:rPr lang="en-US" sz="1450" dirty="0">
                <a:solidFill>
                  <a:srgbClr val="1E2533"/>
                </a:solidFill>
                <a:latin typeface="Calibri" pitchFamily="34" charset="0"/>
                <a:ea typeface="Calibri" pitchFamily="34" charset="-122"/>
                <a:cs typeface="Calibri" pitchFamily="34" charset="-120"/>
              </a:rPr>
              <a:t> P/E contracts when interest rates rise or sentiment sours, even if earnings hold.</a:t>
            </a:r>
            <a:endParaRPr lang="en-US" sz="1600" dirty="0"/>
          </a:p>
          <a:p>
            <a:pPr marL="177800" indent="-177800" algn="l">
              <a:spcAft>
                <a:spcPts val="800"/>
              </a:spcAft>
              <a:buSzPct val="100000"/>
              <a:buChar char="•"/>
            </a:pPr>
            <a:r>
              <a:rPr lang="en-US" sz="1450" b="1" dirty="0">
                <a:solidFill>
                  <a:srgbClr val="1E2533"/>
                </a:solidFill>
                <a:latin typeface="Calibri" pitchFamily="34" charset="0"/>
                <a:ea typeface="Calibri" pitchFamily="34" charset="-122"/>
                <a:cs typeface="Calibri" pitchFamily="34" charset="-120"/>
              </a:rPr>
              <a:t>Flow risk:</a:t>
            </a:r>
            <a:r>
              <a:rPr lang="en-US" sz="1450" dirty="0">
                <a:solidFill>
                  <a:srgbClr val="1E2533"/>
                </a:solidFill>
                <a:latin typeface="Calibri" pitchFamily="34" charset="0"/>
                <a:ea typeface="Calibri" pitchFamily="34" charset="-122"/>
                <a:cs typeface="Calibri" pitchFamily="34" charset="-120"/>
              </a:rPr>
              <a:t> FPI selling or retail euphoria moves prices away from fundamentals.</a:t>
            </a:r>
            <a:endParaRPr lang="en-US" sz="1600" dirty="0"/>
          </a:p>
          <a:p>
            <a:pPr marL="177800" indent="-177800" algn="l">
              <a:spcAft>
                <a:spcPts val="800"/>
              </a:spcAft>
              <a:buSzPct val="100000"/>
              <a:buChar char="•"/>
            </a:pPr>
            <a:r>
              <a:rPr lang="en-US" sz="1450" b="1" dirty="0">
                <a:solidFill>
                  <a:srgbClr val="1E2533"/>
                </a:solidFill>
                <a:latin typeface="Calibri" pitchFamily="34" charset="0"/>
                <a:ea typeface="Calibri" pitchFamily="34" charset="-122"/>
                <a:cs typeface="Calibri" pitchFamily="34" charset="-120"/>
              </a:rPr>
              <a:t>Residual claim:</a:t>
            </a:r>
            <a:r>
              <a:rPr lang="en-US" sz="1450" dirty="0">
                <a:solidFill>
                  <a:srgbClr val="1E2533"/>
                </a:solidFill>
                <a:latin typeface="Calibri" pitchFamily="34" charset="0"/>
                <a:ea typeface="Calibri" pitchFamily="34" charset="-122"/>
                <a:cs typeface="Calibri" pitchFamily="34" charset="-120"/>
              </a:rPr>
              <a:t> shareholders are paid last; in insolvency equity is often wiped out.</a:t>
            </a:r>
            <a:endParaRPr lang="en-US" sz="1600" dirty="0"/>
          </a:p>
        </p:txBody>
      </p:sp>
      <p:sp>
        <p:nvSpPr>
          <p:cNvPr id="10" name="Shape 8"/>
          <p:cNvSpPr/>
          <p:nvPr/>
        </p:nvSpPr>
        <p:spPr>
          <a:xfrm>
            <a:off x="7360920" y="2377440"/>
            <a:ext cx="4325112" cy="3840480"/>
          </a:xfrm>
          <a:prstGeom prst="roundRect">
            <a:avLst>
              <a:gd name="adj" fmla="val 1905"/>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1" name="Text 9"/>
          <p:cNvSpPr txBox="1"/>
          <p:nvPr/>
        </p:nvSpPr>
        <p:spPr>
          <a:xfrm>
            <a:off x="7562088" y="2487168"/>
            <a:ext cx="3931920" cy="3657600"/>
          </a:xfrm>
          <a:prstGeom prst="rect">
            <a:avLst/>
          </a:prstGeom>
          <a:noFill/>
          <a:ln/>
        </p:spPr>
        <p:txBody>
          <a:bodyPr wrap="square" lIns="0" tIns="0" rIns="0" bIns="0" rtlCol="0" anchor="t"/>
          <a:lstStyle/>
          <a:p>
            <a:pPr marL="0" indent="0" algn="l">
              <a:spcAft>
                <a:spcPts val="600"/>
              </a:spcAft>
              <a:buNone/>
            </a:pPr>
            <a:r>
              <a:rPr lang="en-US" sz="1600" b="1" dirty="0">
                <a:solidFill>
                  <a:srgbClr val="C9A227"/>
                </a:solidFill>
                <a:latin typeface="Calibri" pitchFamily="34" charset="0"/>
                <a:ea typeface="Calibri" pitchFamily="34" charset="-122"/>
                <a:cs typeface="Calibri" pitchFamily="34" charset="-120"/>
              </a:rPr>
              <a:t>Return and risk</a:t>
            </a:r>
            <a:endParaRPr lang="en-US" sz="1600" dirty="0"/>
          </a:p>
          <a:p>
            <a:pPr marL="0" indent="0" algn="l">
              <a:spcAft>
                <a:spcPts val="200"/>
              </a:spcAft>
              <a:buNone/>
            </a:pPr>
            <a:r>
              <a:rPr lang="en-US" sz="1450" dirty="0">
                <a:solidFill>
                  <a:srgbClr val="FFFFFF"/>
                </a:solidFill>
                <a:latin typeface="Calibri" pitchFamily="34" charset="0"/>
                <a:ea typeface="Calibri" pitchFamily="34" charset="-122"/>
                <a:cs typeface="Calibri" pitchFamily="34" charset="-120"/>
              </a:rPr>
              <a:t>Holding-period return:</a:t>
            </a:r>
            <a:endParaRPr lang="en-US" sz="1600" dirty="0"/>
          </a:p>
          <a:p>
            <a:pPr marL="0" indent="0" algn="l">
              <a:spcAft>
                <a:spcPts val="800"/>
              </a:spcAft>
              <a:buNone/>
            </a:pPr>
            <a:r>
              <a:rPr lang="en-US" sz="1450" b="1" dirty="0">
                <a:solidFill>
                  <a:srgbClr val="EAD9A0"/>
                </a:solidFill>
                <a:latin typeface="Calibri" pitchFamily="34" charset="0"/>
                <a:ea typeface="Calibri" pitchFamily="34" charset="-122"/>
                <a:cs typeface="Calibri" pitchFamily="34" charset="-120"/>
              </a:rPr>
              <a:t>R = (P</a:t>
            </a:r>
            <a:r>
              <a:rPr lang="en-US" sz="1450" b="1" baseline="-40000" dirty="0">
                <a:solidFill>
                  <a:srgbClr val="EAD9A0"/>
                </a:solidFill>
                <a:latin typeface="Calibri" pitchFamily="34" charset="0"/>
                <a:ea typeface="Calibri" pitchFamily="34" charset="-122"/>
                <a:cs typeface="Calibri" pitchFamily="34" charset="-120"/>
              </a:rPr>
              <a:t>1</a:t>
            </a:r>
            <a:r>
              <a:rPr lang="en-US" sz="1450" b="1" dirty="0">
                <a:solidFill>
                  <a:srgbClr val="EAD9A0"/>
                </a:solidFill>
                <a:latin typeface="Calibri" pitchFamily="34" charset="0"/>
                <a:ea typeface="Calibri" pitchFamily="34" charset="-122"/>
                <a:cs typeface="Calibri" pitchFamily="34" charset="-120"/>
              </a:rPr>
              <a:t> − P</a:t>
            </a:r>
            <a:r>
              <a:rPr lang="en-US" sz="1450" b="1" baseline="-40000" dirty="0">
                <a:solidFill>
                  <a:srgbClr val="EAD9A0"/>
                </a:solidFill>
                <a:latin typeface="Calibri" pitchFamily="34" charset="0"/>
                <a:ea typeface="Calibri" pitchFamily="34" charset="-122"/>
                <a:cs typeface="Calibri" pitchFamily="34" charset="-120"/>
              </a:rPr>
              <a:t>0</a:t>
            </a:r>
            <a:r>
              <a:rPr lang="en-US" sz="1450" b="1" dirty="0">
                <a:solidFill>
                  <a:srgbClr val="EAD9A0"/>
                </a:solidFill>
                <a:latin typeface="Calibri" pitchFamily="34" charset="0"/>
                <a:ea typeface="Calibri" pitchFamily="34" charset="-122"/>
                <a:cs typeface="Calibri" pitchFamily="34" charset="-120"/>
              </a:rPr>
              <a:t> + D</a:t>
            </a:r>
            <a:r>
              <a:rPr lang="en-US" sz="1450" b="1" baseline="-40000" dirty="0">
                <a:solidFill>
                  <a:srgbClr val="EAD9A0"/>
                </a:solidFill>
                <a:latin typeface="Calibri" pitchFamily="34" charset="0"/>
                <a:ea typeface="Calibri" pitchFamily="34" charset="-122"/>
                <a:cs typeface="Calibri" pitchFamily="34" charset="-120"/>
              </a:rPr>
              <a:t>1</a:t>
            </a:r>
            <a:r>
              <a:rPr lang="en-US" sz="1450" b="1" dirty="0">
                <a:solidFill>
                  <a:srgbClr val="EAD9A0"/>
                </a:solidFill>
                <a:latin typeface="Calibri" pitchFamily="34" charset="0"/>
                <a:ea typeface="Calibri" pitchFamily="34" charset="-122"/>
                <a:cs typeface="Calibri" pitchFamily="34" charset="-120"/>
              </a:rPr>
              <a:t>) ÷ P</a:t>
            </a:r>
            <a:r>
              <a:rPr lang="en-US" sz="1450" b="1" baseline="-40000" dirty="0">
                <a:solidFill>
                  <a:srgbClr val="EAD9A0"/>
                </a:solidFill>
                <a:latin typeface="Calibri" pitchFamily="34" charset="0"/>
                <a:ea typeface="Calibri" pitchFamily="34" charset="-122"/>
                <a:cs typeface="Calibri" pitchFamily="34" charset="-120"/>
              </a:rPr>
              <a:t>0</a:t>
            </a:r>
            <a:endParaRPr lang="en-US" sz="1600" dirty="0"/>
          </a:p>
          <a:p>
            <a:pPr marL="0" indent="0" algn="l">
              <a:spcAft>
                <a:spcPts val="800"/>
              </a:spcAft>
              <a:buNone/>
            </a:pPr>
            <a:r>
              <a:rPr lang="en-US" sz="1450" dirty="0">
                <a:solidFill>
                  <a:srgbClr val="FFFFFF"/>
                </a:solidFill>
                <a:latin typeface="Calibri" pitchFamily="34" charset="0"/>
                <a:ea typeface="Calibri" pitchFamily="34" charset="-122"/>
                <a:cs typeface="Calibri" pitchFamily="34" charset="-120"/>
              </a:rPr>
              <a:t>Total risk (σ) = systematic (β) + unsystematic (firm-specific).</a:t>
            </a:r>
            <a:endParaRPr lang="en-US" sz="1600" dirty="0"/>
          </a:p>
          <a:p>
            <a:pPr marL="0" indent="0" algn="l">
              <a:buNone/>
            </a:pPr>
            <a:r>
              <a:rPr lang="en-US" sz="1450" i="1" dirty="0">
                <a:solidFill>
                  <a:srgbClr val="EAD9A0"/>
                </a:solidFill>
                <a:latin typeface="Calibri" pitchFamily="34" charset="0"/>
                <a:ea typeface="Calibri" pitchFamily="34" charset="-122"/>
                <a:cs typeface="Calibri" pitchFamily="34" charset="-120"/>
              </a:rPr>
              <a:t>Indian equities have delivered high long-run returns with high volatility: annual σ of the Nifty 50 is typically in the high teens.</a:t>
            </a:r>
            <a:endParaRPr lang="en-US" sz="16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Types of Equity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457200" cy="45720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795528" y="1572768"/>
            <a:ext cx="237744" cy="237744"/>
          </a:xfrm>
          <a:prstGeom prst="rect">
            <a:avLst/>
          </a:prstGeom>
        </p:spPr>
      </p:pic>
      <p:sp>
        <p:nvSpPr>
          <p:cNvPr id="9" name="Text 6"/>
          <p:cNvSpPr txBox="1"/>
          <p:nvPr/>
        </p:nvSpPr>
        <p:spPr>
          <a:xfrm>
            <a:off x="1234440"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Market (systematic)</a:t>
            </a:r>
            <a:endParaRPr lang="en-US" sz="1500" dirty="0"/>
          </a:p>
        </p:txBody>
      </p:sp>
      <p:sp>
        <p:nvSpPr>
          <p:cNvPr id="10" name="Text 7"/>
          <p:cNvSpPr txBox="1"/>
          <p:nvPr/>
        </p:nvSpPr>
        <p:spPr>
          <a:xfrm>
            <a:off x="685800"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Broad market falls: recession, rate hikes, global shocks.</a:t>
            </a:r>
            <a:endParaRPr lang="en-US" sz="1600" dirty="0"/>
          </a:p>
        </p:txBody>
      </p:sp>
      <p:sp>
        <p:nvSpPr>
          <p:cNvPr id="11" name="Shape 8"/>
          <p:cNvSpPr/>
          <p:nvPr/>
        </p:nvSpPr>
        <p:spPr>
          <a:xfrm>
            <a:off x="3367278"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3550158" y="1463040"/>
            <a:ext cx="457200" cy="45720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3659886" y="1572768"/>
            <a:ext cx="237744" cy="237744"/>
          </a:xfrm>
          <a:prstGeom prst="rect">
            <a:avLst/>
          </a:prstGeom>
        </p:spPr>
      </p:pic>
      <p:sp>
        <p:nvSpPr>
          <p:cNvPr id="14" name="Text 10"/>
          <p:cNvSpPr txBox="1"/>
          <p:nvPr/>
        </p:nvSpPr>
        <p:spPr>
          <a:xfrm>
            <a:off x="4098798"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Company-specific</a:t>
            </a:r>
            <a:endParaRPr lang="en-US" sz="1500" dirty="0"/>
          </a:p>
        </p:txBody>
      </p:sp>
      <p:sp>
        <p:nvSpPr>
          <p:cNvPr id="15" name="Text 11"/>
          <p:cNvSpPr txBox="1"/>
          <p:nvPr/>
        </p:nvSpPr>
        <p:spPr>
          <a:xfrm>
            <a:off x="3550158"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Earnings miss, fraud, management exit, product failure.</a:t>
            </a:r>
            <a:endParaRPr lang="en-US" sz="1600" dirty="0"/>
          </a:p>
        </p:txBody>
      </p:sp>
      <p:sp>
        <p:nvSpPr>
          <p:cNvPr id="16" name="Shape 12"/>
          <p:cNvSpPr/>
          <p:nvPr/>
        </p:nvSpPr>
        <p:spPr>
          <a:xfrm>
            <a:off x="6231636"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6414516" y="1463040"/>
            <a:ext cx="457200" cy="45720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6524244" y="1572768"/>
            <a:ext cx="237744" cy="237744"/>
          </a:xfrm>
          <a:prstGeom prst="rect">
            <a:avLst/>
          </a:prstGeom>
        </p:spPr>
      </p:pic>
      <p:sp>
        <p:nvSpPr>
          <p:cNvPr id="19" name="Text 14"/>
          <p:cNvSpPr txBox="1"/>
          <p:nvPr/>
        </p:nvSpPr>
        <p:spPr>
          <a:xfrm>
            <a:off x="6963156"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Sector &amp; concentration</a:t>
            </a:r>
            <a:endParaRPr lang="en-US" sz="1500" dirty="0"/>
          </a:p>
        </p:txBody>
      </p:sp>
      <p:sp>
        <p:nvSpPr>
          <p:cNvPr id="20" name="Text 15"/>
          <p:cNvSpPr txBox="1"/>
          <p:nvPr/>
        </p:nvSpPr>
        <p:spPr>
          <a:xfrm>
            <a:off x="6414516"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Too much in one sector or stock (e.g. PSU banks, small-caps).</a:t>
            </a:r>
            <a:endParaRPr lang="en-US" sz="1600" dirty="0"/>
          </a:p>
        </p:txBody>
      </p:sp>
      <p:sp>
        <p:nvSpPr>
          <p:cNvPr id="21" name="Shape 16"/>
          <p:cNvSpPr/>
          <p:nvPr/>
        </p:nvSpPr>
        <p:spPr>
          <a:xfrm>
            <a:off x="9095994"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9278874" y="1463040"/>
            <a:ext cx="457200" cy="45720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9388602" y="1572768"/>
            <a:ext cx="237744" cy="237744"/>
          </a:xfrm>
          <a:prstGeom prst="rect">
            <a:avLst/>
          </a:prstGeom>
        </p:spPr>
      </p:pic>
      <p:sp>
        <p:nvSpPr>
          <p:cNvPr id="24" name="Text 18"/>
          <p:cNvSpPr txBox="1"/>
          <p:nvPr/>
        </p:nvSpPr>
        <p:spPr>
          <a:xfrm>
            <a:off x="9827514"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Liquidity risk</a:t>
            </a:r>
            <a:endParaRPr lang="en-US" sz="1500" dirty="0"/>
          </a:p>
        </p:txBody>
      </p:sp>
      <p:sp>
        <p:nvSpPr>
          <p:cNvPr id="25" name="Text 19"/>
          <p:cNvSpPr txBox="1"/>
          <p:nvPr/>
        </p:nvSpPr>
        <p:spPr>
          <a:xfrm>
            <a:off x="9278874"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Thinly traded stocks: high impact cost, circuit limits.</a:t>
            </a:r>
            <a:endParaRPr lang="en-US" sz="1600" dirty="0"/>
          </a:p>
        </p:txBody>
      </p:sp>
      <p:sp>
        <p:nvSpPr>
          <p:cNvPr id="26" name="Shape 20"/>
          <p:cNvSpPr/>
          <p:nvPr/>
        </p:nvSpPr>
        <p:spPr>
          <a:xfrm>
            <a:off x="502920"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685800" y="4069080"/>
            <a:ext cx="457200" cy="45720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795528" y="4178808"/>
            <a:ext cx="237744" cy="237744"/>
          </a:xfrm>
          <a:prstGeom prst="rect">
            <a:avLst/>
          </a:prstGeom>
        </p:spPr>
      </p:pic>
      <p:sp>
        <p:nvSpPr>
          <p:cNvPr id="29" name="Text 22"/>
          <p:cNvSpPr txBox="1"/>
          <p:nvPr/>
        </p:nvSpPr>
        <p:spPr>
          <a:xfrm>
            <a:off x="1234440"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Volatility risk</a:t>
            </a:r>
            <a:endParaRPr lang="en-US" sz="1500" dirty="0"/>
          </a:p>
        </p:txBody>
      </p:sp>
      <p:sp>
        <p:nvSpPr>
          <p:cNvPr id="30" name="Text 23"/>
          <p:cNvSpPr txBox="1"/>
          <p:nvPr/>
        </p:nvSpPr>
        <p:spPr>
          <a:xfrm>
            <a:off x="685800"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Sudden spikes in India VIX; margin calls on leveraged positions.</a:t>
            </a:r>
            <a:endParaRPr lang="en-US" sz="1600" dirty="0"/>
          </a:p>
        </p:txBody>
      </p:sp>
      <p:sp>
        <p:nvSpPr>
          <p:cNvPr id="31" name="Shape 24"/>
          <p:cNvSpPr/>
          <p:nvPr/>
        </p:nvSpPr>
        <p:spPr>
          <a:xfrm>
            <a:off x="3367278"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2" name="Shape 25"/>
          <p:cNvSpPr/>
          <p:nvPr/>
        </p:nvSpPr>
        <p:spPr>
          <a:xfrm>
            <a:off x="3550158" y="4069080"/>
            <a:ext cx="457200" cy="45720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3659886" y="4178808"/>
            <a:ext cx="237744" cy="237744"/>
          </a:xfrm>
          <a:prstGeom prst="rect">
            <a:avLst/>
          </a:prstGeom>
        </p:spPr>
      </p:pic>
      <p:sp>
        <p:nvSpPr>
          <p:cNvPr id="34" name="Text 26"/>
          <p:cNvSpPr txBox="1"/>
          <p:nvPr/>
        </p:nvSpPr>
        <p:spPr>
          <a:xfrm>
            <a:off x="4098798"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Valuation risk</a:t>
            </a:r>
            <a:endParaRPr lang="en-US" sz="1500" dirty="0"/>
          </a:p>
        </p:txBody>
      </p:sp>
      <p:sp>
        <p:nvSpPr>
          <p:cNvPr id="35" name="Text 27"/>
          <p:cNvSpPr txBox="1"/>
          <p:nvPr/>
        </p:nvSpPr>
        <p:spPr>
          <a:xfrm>
            <a:off x="3550158"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Buying at stretched P/E multiples that later compress.</a:t>
            </a:r>
            <a:endParaRPr lang="en-US" sz="1600" dirty="0"/>
          </a:p>
        </p:txBody>
      </p:sp>
      <p:sp>
        <p:nvSpPr>
          <p:cNvPr id="36" name="Shape 28"/>
          <p:cNvSpPr/>
          <p:nvPr/>
        </p:nvSpPr>
        <p:spPr>
          <a:xfrm>
            <a:off x="6231636"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7" name="Shape 29"/>
          <p:cNvSpPr/>
          <p:nvPr/>
        </p:nvSpPr>
        <p:spPr>
          <a:xfrm>
            <a:off x="6414516" y="4069080"/>
            <a:ext cx="457200" cy="457200"/>
          </a:xfrm>
          <a:prstGeom prst="ellipse">
            <a:avLst/>
          </a:prstGeom>
          <a:solidFill>
            <a:srgbClr val="14213D"/>
          </a:solidFill>
          <a:ln w="12700">
            <a:solidFill>
              <a:srgbClr val="14213D"/>
            </a:solidFill>
            <a:prstDash val="solid"/>
          </a:ln>
        </p:spPr>
      </p:sp>
      <p:pic>
        <p:nvPicPr>
          <p:cNvPr id="38" name="Image 6" descr="preencoded.png"/>
          <p:cNvPicPr>
            <a:picLocks noChangeAspect="1"/>
          </p:cNvPicPr>
          <p:nvPr/>
        </p:nvPicPr>
        <p:blipFill>
          <a:blip r:embed="rId9"/>
          <a:stretch>
            <a:fillRect/>
          </a:stretch>
        </p:blipFill>
        <p:spPr>
          <a:xfrm>
            <a:off x="6524244" y="4178808"/>
            <a:ext cx="237744" cy="237744"/>
          </a:xfrm>
          <a:prstGeom prst="rect">
            <a:avLst/>
          </a:prstGeom>
        </p:spPr>
      </p:pic>
      <p:sp>
        <p:nvSpPr>
          <p:cNvPr id="39" name="Text 30"/>
          <p:cNvSpPr txBox="1"/>
          <p:nvPr/>
        </p:nvSpPr>
        <p:spPr>
          <a:xfrm>
            <a:off x="6963156"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Governance &amp; event risk</a:t>
            </a:r>
            <a:endParaRPr lang="en-US" sz="1500" dirty="0"/>
          </a:p>
        </p:txBody>
      </p:sp>
      <p:sp>
        <p:nvSpPr>
          <p:cNvPr id="40" name="Text 31"/>
          <p:cNvSpPr txBox="1"/>
          <p:nvPr/>
        </p:nvSpPr>
        <p:spPr>
          <a:xfrm>
            <a:off x="6414516"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Related-party deals, pledged promoter shares, short-seller reports.</a:t>
            </a:r>
            <a:endParaRPr lang="en-US" sz="1600" dirty="0"/>
          </a:p>
        </p:txBody>
      </p:sp>
      <p:sp>
        <p:nvSpPr>
          <p:cNvPr id="41" name="Shape 32"/>
          <p:cNvSpPr/>
          <p:nvPr/>
        </p:nvSpPr>
        <p:spPr>
          <a:xfrm>
            <a:off x="9095994"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42" name="Shape 33"/>
          <p:cNvSpPr/>
          <p:nvPr/>
        </p:nvSpPr>
        <p:spPr>
          <a:xfrm>
            <a:off x="9278874" y="4069080"/>
            <a:ext cx="457200" cy="457200"/>
          </a:xfrm>
          <a:prstGeom prst="ellipse">
            <a:avLst/>
          </a:prstGeom>
          <a:solidFill>
            <a:srgbClr val="14213D"/>
          </a:solidFill>
          <a:ln w="12700">
            <a:solidFill>
              <a:srgbClr val="14213D"/>
            </a:solidFill>
            <a:prstDash val="solid"/>
          </a:ln>
        </p:spPr>
      </p:sp>
      <p:pic>
        <p:nvPicPr>
          <p:cNvPr id="43" name="Image 7" descr="preencoded.png"/>
          <p:cNvPicPr>
            <a:picLocks noChangeAspect="1"/>
          </p:cNvPicPr>
          <p:nvPr/>
        </p:nvPicPr>
        <p:blipFill>
          <a:blip r:embed="rId10"/>
          <a:stretch>
            <a:fillRect/>
          </a:stretch>
        </p:blipFill>
        <p:spPr>
          <a:xfrm>
            <a:off x="9388602" y="4178808"/>
            <a:ext cx="237744" cy="237744"/>
          </a:xfrm>
          <a:prstGeom prst="rect">
            <a:avLst/>
          </a:prstGeom>
        </p:spPr>
      </p:pic>
      <p:sp>
        <p:nvSpPr>
          <p:cNvPr id="44" name="Text 34"/>
          <p:cNvSpPr txBox="1"/>
          <p:nvPr/>
        </p:nvSpPr>
        <p:spPr>
          <a:xfrm>
            <a:off x="9827514"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Currency risk (foreign investors)</a:t>
            </a:r>
            <a:endParaRPr lang="en-US" sz="1500" dirty="0"/>
          </a:p>
        </p:txBody>
      </p:sp>
      <p:sp>
        <p:nvSpPr>
          <p:cNvPr id="45" name="Text 35"/>
          <p:cNvSpPr txBox="1"/>
          <p:nvPr/>
        </p:nvSpPr>
        <p:spPr>
          <a:xfrm>
            <a:off x="9278874"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 falling rupee cuts dollar returns for FPIs, triggering outflows.</a:t>
            </a:r>
            <a:endParaRPr lang="en-US" sz="1600" dirty="0"/>
          </a:p>
        </p:txBody>
      </p:sp>
      <p:sp>
        <p:nvSpPr>
          <p:cNvPr id="4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Equity Risk in Action: Indian Examples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26517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624535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Event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Type of equity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happened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COVID-19 crash (Mar 2020)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Market (systematic)</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Nifty 50 fell about 38% from its January peak in roughly two months; it recovered to new highs within a year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Adani group (Jan–Feb 2023)</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Governance &amp; event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After the Hindenburg Research report, group companies lost over $100 billion of market value within weeks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Paytm IPO (Nov 2021)</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Valuation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Shares listed below the ₹2,150 issue price and closed about 27% lower on debut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Yes Bank (2018–2020)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Company-specific</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Share price collapsed from over ₹300 to below ₹20 as asset-quality problems surfaced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Small-cap froth (Mar 2024)</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Liquidity &amp; valuation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SEBI flagged froth; AMCs began publishing stress tests on how long small-cap funds would take to sell holdings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Equity Risk: Measurement Formulas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6492240"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89888"/>
            <a:ext cx="6035040"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Key formulas</a:t>
            </a:r>
            <a:endParaRPr lang="en-US" sz="1500" dirty="0"/>
          </a:p>
        </p:txBody>
      </p:sp>
      <p:sp>
        <p:nvSpPr>
          <p:cNvPr id="8" name="Text 6"/>
          <p:cNvSpPr txBox="1"/>
          <p:nvPr/>
        </p:nvSpPr>
        <p:spPr>
          <a:xfrm>
            <a:off x="731520" y="1783080"/>
            <a:ext cx="6035040" cy="4343400"/>
          </a:xfrm>
          <a:prstGeom prst="rect">
            <a:avLst/>
          </a:prstGeom>
          <a:noFill/>
          <a:ln/>
        </p:spPr>
        <p:txBody>
          <a:bodyPr wrap="square" lIns="0" tIns="0" rIns="0" bIns="0" rtlCol="0" anchor="t"/>
          <a:lstStyle/>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Expected return and risk (scenarios)</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E(R) = Σ p</a:t>
            </a:r>
            <a:r>
              <a:rPr lang="en-US" sz="1650" baseline="-40000" dirty="0">
                <a:solidFill>
                  <a:srgbClr val="1E2533"/>
                </a:solidFill>
                <a:latin typeface="Cambria" pitchFamily="34" charset="0"/>
                <a:ea typeface="Cambria" pitchFamily="34" charset="-122"/>
                <a:cs typeface="Cambria" pitchFamily="34" charset="-120"/>
              </a:rPr>
              <a:t>i</a:t>
            </a:r>
            <a:r>
              <a:rPr lang="en-US" sz="1650" dirty="0">
                <a:solidFill>
                  <a:srgbClr val="1E2533"/>
                </a:solidFill>
                <a:latin typeface="Cambria" pitchFamily="34" charset="0"/>
                <a:ea typeface="Cambria" pitchFamily="34" charset="-122"/>
                <a:cs typeface="Cambria" pitchFamily="34" charset="-120"/>
              </a:rPr>
              <a:t>R</a:t>
            </a:r>
            <a:r>
              <a:rPr lang="en-US" sz="1650" baseline="-40000" dirty="0">
                <a:solidFill>
                  <a:srgbClr val="1E2533"/>
                </a:solidFill>
                <a:latin typeface="Cambria" pitchFamily="34" charset="0"/>
                <a:ea typeface="Cambria" pitchFamily="34" charset="-122"/>
                <a:cs typeface="Cambria" pitchFamily="34" charset="-120"/>
              </a:rPr>
              <a:t>i</a:t>
            </a:r>
            <a:r>
              <a:rPr lang="en-US" sz="1650" dirty="0">
                <a:solidFill>
                  <a:srgbClr val="1E2533"/>
                </a:solidFill>
                <a:latin typeface="Cambria" pitchFamily="34" charset="0"/>
                <a:ea typeface="Cambria" pitchFamily="34" charset="-122"/>
                <a:cs typeface="Cambria" pitchFamily="34" charset="-120"/>
              </a:rPr>
              <a:t>;   σ</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Σ p</a:t>
            </a:r>
            <a:r>
              <a:rPr lang="en-US" sz="1650" baseline="-40000" dirty="0">
                <a:solidFill>
                  <a:srgbClr val="1E2533"/>
                </a:solidFill>
                <a:latin typeface="Cambria" pitchFamily="34" charset="0"/>
                <a:ea typeface="Cambria" pitchFamily="34" charset="-122"/>
                <a:cs typeface="Cambria" pitchFamily="34" charset="-120"/>
              </a:rPr>
              <a:t>i</a:t>
            </a:r>
            <a:r>
              <a:rPr lang="en-US" sz="1650" dirty="0">
                <a:solidFill>
                  <a:srgbClr val="1E2533"/>
                </a:solidFill>
                <a:latin typeface="Cambria" pitchFamily="34" charset="0"/>
                <a:ea typeface="Cambria" pitchFamily="34" charset="-122"/>
                <a:cs typeface="Cambria" pitchFamily="34" charset="-120"/>
              </a:rPr>
              <a:t>[R</a:t>
            </a:r>
            <a:r>
              <a:rPr lang="en-US" sz="1650" baseline="-40000" dirty="0">
                <a:solidFill>
                  <a:srgbClr val="1E2533"/>
                </a:solidFill>
                <a:latin typeface="Cambria" pitchFamily="34" charset="0"/>
                <a:ea typeface="Cambria" pitchFamily="34" charset="-122"/>
                <a:cs typeface="Cambria" pitchFamily="34" charset="-120"/>
              </a:rPr>
              <a:t>i</a:t>
            </a:r>
            <a:r>
              <a:rPr lang="en-US" sz="1650" dirty="0">
                <a:solidFill>
                  <a:srgbClr val="1E2533"/>
                </a:solidFill>
                <a:latin typeface="Cambria" pitchFamily="34" charset="0"/>
                <a:ea typeface="Cambria" pitchFamily="34" charset="-122"/>
                <a:cs typeface="Cambria" pitchFamily="34" charset="-120"/>
              </a:rPr>
              <a:t> − E(R)]</a:t>
            </a:r>
            <a:r>
              <a:rPr lang="en-US" sz="1650" baseline="30000" dirty="0">
                <a:solidFill>
                  <a:srgbClr val="1E2533"/>
                </a:solidFill>
                <a:latin typeface="Cambria" pitchFamily="34" charset="0"/>
                <a:ea typeface="Cambria" pitchFamily="34" charset="-122"/>
                <a:cs typeface="Cambria" pitchFamily="34" charset="-120"/>
              </a:rPr>
              <a:t>2</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Two-asset portfolio</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σ</a:t>
            </a:r>
            <a:r>
              <a:rPr lang="en-US" sz="1650" baseline="-40000" dirty="0">
                <a:solidFill>
                  <a:srgbClr val="1E2533"/>
                </a:solidFill>
                <a:latin typeface="Cambria" pitchFamily="34" charset="0"/>
                <a:ea typeface="Cambria" pitchFamily="34" charset="-122"/>
                <a:cs typeface="Cambria" pitchFamily="34" charset="-120"/>
              </a:rPr>
              <a:t>p</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w</a:t>
            </a:r>
            <a:r>
              <a:rPr lang="en-US" sz="1650" baseline="-40000" dirty="0">
                <a:solidFill>
                  <a:srgbClr val="1E2533"/>
                </a:solidFill>
                <a:latin typeface="Cambria" pitchFamily="34" charset="0"/>
                <a:ea typeface="Cambria" pitchFamily="34" charset="-122"/>
                <a:cs typeface="Cambria" pitchFamily="34" charset="-120"/>
              </a:rPr>
              <a:t>A</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σ</a:t>
            </a:r>
            <a:r>
              <a:rPr lang="en-US" sz="1650" baseline="-40000" dirty="0">
                <a:solidFill>
                  <a:srgbClr val="1E2533"/>
                </a:solidFill>
                <a:latin typeface="Cambria" pitchFamily="34" charset="0"/>
                <a:ea typeface="Cambria" pitchFamily="34" charset="-122"/>
                <a:cs typeface="Cambria" pitchFamily="34" charset="-120"/>
              </a:rPr>
              <a:t>A</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w</a:t>
            </a:r>
            <a:r>
              <a:rPr lang="en-US" sz="1650" baseline="-40000" dirty="0">
                <a:solidFill>
                  <a:srgbClr val="1E2533"/>
                </a:solidFill>
                <a:latin typeface="Cambria" pitchFamily="34" charset="0"/>
                <a:ea typeface="Cambria" pitchFamily="34" charset="-122"/>
                <a:cs typeface="Cambria" pitchFamily="34" charset="-120"/>
              </a:rPr>
              <a:t>B</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σ</a:t>
            </a:r>
            <a:r>
              <a:rPr lang="en-US" sz="1650" baseline="-40000" dirty="0">
                <a:solidFill>
                  <a:srgbClr val="1E2533"/>
                </a:solidFill>
                <a:latin typeface="Cambria" pitchFamily="34" charset="0"/>
                <a:ea typeface="Cambria" pitchFamily="34" charset="-122"/>
                <a:cs typeface="Cambria" pitchFamily="34" charset="-120"/>
              </a:rPr>
              <a:t>B</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+ 2w</a:t>
            </a:r>
            <a:r>
              <a:rPr lang="en-US" sz="1650" baseline="-40000" dirty="0">
                <a:solidFill>
                  <a:srgbClr val="1E2533"/>
                </a:solidFill>
                <a:latin typeface="Cambria" pitchFamily="34" charset="0"/>
                <a:ea typeface="Cambria" pitchFamily="34" charset="-122"/>
                <a:cs typeface="Cambria" pitchFamily="34" charset="-120"/>
              </a:rPr>
              <a:t>A</a:t>
            </a:r>
            <a:r>
              <a:rPr lang="en-US" sz="1650" dirty="0">
                <a:solidFill>
                  <a:srgbClr val="1E2533"/>
                </a:solidFill>
                <a:latin typeface="Cambria" pitchFamily="34" charset="0"/>
                <a:ea typeface="Cambria" pitchFamily="34" charset="-122"/>
                <a:cs typeface="Cambria" pitchFamily="34" charset="-120"/>
              </a:rPr>
              <a:t>w</a:t>
            </a:r>
            <a:r>
              <a:rPr lang="en-US" sz="1650" baseline="-40000" dirty="0">
                <a:solidFill>
                  <a:srgbClr val="1E2533"/>
                </a:solidFill>
                <a:latin typeface="Cambria" pitchFamily="34" charset="0"/>
                <a:ea typeface="Cambria" pitchFamily="34" charset="-122"/>
                <a:cs typeface="Cambria" pitchFamily="34" charset="-120"/>
              </a:rPr>
              <a:t>B</a:t>
            </a:r>
            <a:r>
              <a:rPr lang="en-US" sz="1650" dirty="0">
                <a:solidFill>
                  <a:srgbClr val="1E2533"/>
                </a:solidFill>
                <a:latin typeface="Cambria" pitchFamily="34" charset="0"/>
                <a:ea typeface="Cambria" pitchFamily="34" charset="-122"/>
                <a:cs typeface="Cambria" pitchFamily="34" charset="-120"/>
              </a:rPr>
              <a:t>ρσ</a:t>
            </a:r>
            <a:r>
              <a:rPr lang="en-US" sz="1650" baseline="-40000" dirty="0">
                <a:solidFill>
                  <a:srgbClr val="1E2533"/>
                </a:solidFill>
                <a:latin typeface="Cambria" pitchFamily="34" charset="0"/>
                <a:ea typeface="Cambria" pitchFamily="34" charset="-122"/>
                <a:cs typeface="Cambria" pitchFamily="34" charset="-120"/>
              </a:rPr>
              <a:t>A</a:t>
            </a:r>
            <a:r>
              <a:rPr lang="en-US" sz="1650" dirty="0">
                <a:solidFill>
                  <a:srgbClr val="1E2533"/>
                </a:solidFill>
                <a:latin typeface="Cambria" pitchFamily="34" charset="0"/>
                <a:ea typeface="Cambria" pitchFamily="34" charset="-122"/>
                <a:cs typeface="Cambria" pitchFamily="34" charset="-120"/>
              </a:rPr>
              <a:t>σ</a:t>
            </a:r>
            <a:r>
              <a:rPr lang="en-US" sz="1650" baseline="-40000" dirty="0">
                <a:solidFill>
                  <a:srgbClr val="1E2533"/>
                </a:solidFill>
                <a:latin typeface="Cambria" pitchFamily="34" charset="0"/>
                <a:ea typeface="Cambria" pitchFamily="34" charset="-122"/>
                <a:cs typeface="Cambria" pitchFamily="34" charset="-120"/>
              </a:rPr>
              <a:t>B</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Minimum variance weight</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w</a:t>
            </a:r>
            <a:r>
              <a:rPr lang="en-US" sz="1650" baseline="-40000" dirty="0">
                <a:solidFill>
                  <a:srgbClr val="1E2533"/>
                </a:solidFill>
                <a:latin typeface="Cambria" pitchFamily="34" charset="0"/>
                <a:ea typeface="Cambria" pitchFamily="34" charset="-122"/>
                <a:cs typeface="Cambria" pitchFamily="34" charset="-120"/>
              </a:rPr>
              <a:t>A</a:t>
            </a:r>
            <a:r>
              <a:rPr lang="en-US" sz="1650" baseline="30000" dirty="0">
                <a:solidFill>
                  <a:srgbClr val="1E2533"/>
                </a:solidFill>
                <a:latin typeface="Cambria" pitchFamily="34" charset="0"/>
                <a:ea typeface="Cambria" pitchFamily="34" charset="-122"/>
                <a:cs typeface="Cambria" pitchFamily="34" charset="-120"/>
              </a:rPr>
              <a:t>*</a:t>
            </a:r>
            <a:r>
              <a:rPr lang="en-US" sz="1650" dirty="0">
                <a:solidFill>
                  <a:srgbClr val="1E2533"/>
                </a:solidFill>
                <a:latin typeface="Cambria" pitchFamily="34" charset="0"/>
                <a:ea typeface="Cambria" pitchFamily="34" charset="-122"/>
                <a:cs typeface="Cambria" pitchFamily="34" charset="-120"/>
              </a:rPr>
              <a:t> = (σ</a:t>
            </a:r>
            <a:r>
              <a:rPr lang="en-US" sz="1650" baseline="-40000" dirty="0">
                <a:solidFill>
                  <a:srgbClr val="1E2533"/>
                </a:solidFill>
                <a:latin typeface="Cambria" pitchFamily="34" charset="0"/>
                <a:ea typeface="Cambria" pitchFamily="34" charset="-122"/>
                <a:cs typeface="Cambria" pitchFamily="34" charset="-120"/>
              </a:rPr>
              <a:t>B</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ρσ</a:t>
            </a:r>
            <a:r>
              <a:rPr lang="en-US" sz="1650" baseline="-40000" dirty="0">
                <a:solidFill>
                  <a:srgbClr val="1E2533"/>
                </a:solidFill>
                <a:latin typeface="Cambria" pitchFamily="34" charset="0"/>
                <a:ea typeface="Cambria" pitchFamily="34" charset="-122"/>
                <a:cs typeface="Cambria" pitchFamily="34" charset="-120"/>
              </a:rPr>
              <a:t>A</a:t>
            </a:r>
            <a:r>
              <a:rPr lang="en-US" sz="1650" dirty="0">
                <a:solidFill>
                  <a:srgbClr val="1E2533"/>
                </a:solidFill>
                <a:latin typeface="Cambria" pitchFamily="34" charset="0"/>
                <a:ea typeface="Cambria" pitchFamily="34" charset="-122"/>
                <a:cs typeface="Cambria" pitchFamily="34" charset="-120"/>
              </a:rPr>
              <a:t>σ</a:t>
            </a:r>
            <a:r>
              <a:rPr lang="en-US" sz="1650" baseline="-40000" dirty="0">
                <a:solidFill>
                  <a:srgbClr val="1E2533"/>
                </a:solidFill>
                <a:latin typeface="Cambria" pitchFamily="34" charset="0"/>
                <a:ea typeface="Cambria" pitchFamily="34" charset="-122"/>
                <a:cs typeface="Cambria" pitchFamily="34" charset="-120"/>
              </a:rPr>
              <a:t>B</a:t>
            </a:r>
            <a:r>
              <a:rPr lang="en-US" sz="1650" dirty="0">
                <a:solidFill>
                  <a:srgbClr val="1E2533"/>
                </a:solidFill>
                <a:latin typeface="Cambria" pitchFamily="34" charset="0"/>
                <a:ea typeface="Cambria" pitchFamily="34" charset="-122"/>
                <a:cs typeface="Cambria" pitchFamily="34" charset="-120"/>
              </a:rPr>
              <a:t>) ÷ (σ</a:t>
            </a:r>
            <a:r>
              <a:rPr lang="en-US" sz="1650" baseline="-40000" dirty="0">
                <a:solidFill>
                  <a:srgbClr val="1E2533"/>
                </a:solidFill>
                <a:latin typeface="Cambria" pitchFamily="34" charset="0"/>
                <a:ea typeface="Cambria" pitchFamily="34" charset="-122"/>
                <a:cs typeface="Cambria" pitchFamily="34" charset="-120"/>
              </a:rPr>
              <a:t>A</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σ</a:t>
            </a:r>
            <a:r>
              <a:rPr lang="en-US" sz="1650" baseline="-40000" dirty="0">
                <a:solidFill>
                  <a:srgbClr val="1E2533"/>
                </a:solidFill>
                <a:latin typeface="Cambria" pitchFamily="34" charset="0"/>
                <a:ea typeface="Cambria" pitchFamily="34" charset="-122"/>
                <a:cs typeface="Cambria" pitchFamily="34" charset="-120"/>
              </a:rPr>
              <a:t>B</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− 2ρσ</a:t>
            </a:r>
            <a:r>
              <a:rPr lang="en-US" sz="1650" baseline="-40000" dirty="0">
                <a:solidFill>
                  <a:srgbClr val="1E2533"/>
                </a:solidFill>
                <a:latin typeface="Cambria" pitchFamily="34" charset="0"/>
                <a:ea typeface="Cambria" pitchFamily="34" charset="-122"/>
                <a:cs typeface="Cambria" pitchFamily="34" charset="-120"/>
              </a:rPr>
              <a:t>A</a:t>
            </a:r>
            <a:r>
              <a:rPr lang="en-US" sz="1650" dirty="0">
                <a:solidFill>
                  <a:srgbClr val="1E2533"/>
                </a:solidFill>
                <a:latin typeface="Cambria" pitchFamily="34" charset="0"/>
                <a:ea typeface="Cambria" pitchFamily="34" charset="-122"/>
                <a:cs typeface="Cambria" pitchFamily="34" charset="-120"/>
              </a:rPr>
              <a:t>σ</a:t>
            </a:r>
            <a:r>
              <a:rPr lang="en-US" sz="1650" baseline="-40000" dirty="0">
                <a:solidFill>
                  <a:srgbClr val="1E2533"/>
                </a:solidFill>
                <a:latin typeface="Cambria" pitchFamily="34" charset="0"/>
                <a:ea typeface="Cambria" pitchFamily="34" charset="-122"/>
                <a:cs typeface="Cambria" pitchFamily="34" charset="-120"/>
              </a:rPr>
              <a:t>B</a:t>
            </a:r>
            <a:r>
              <a:rPr lang="en-US" sz="1650" dirty="0">
                <a:solidFill>
                  <a:srgbClr val="1E2533"/>
                </a:solidFill>
                <a:latin typeface="Cambria" pitchFamily="34" charset="0"/>
                <a:ea typeface="Cambria" pitchFamily="34" charset="-122"/>
                <a:cs typeface="Cambria" pitchFamily="34" charset="-120"/>
              </a:rPr>
              <a:t>)</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Beta and CAPM</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β = Cov(R</a:t>
            </a:r>
            <a:r>
              <a:rPr lang="en-US" sz="1650" baseline="-40000" dirty="0">
                <a:solidFill>
                  <a:srgbClr val="1E2533"/>
                </a:solidFill>
                <a:latin typeface="Cambria" pitchFamily="34" charset="0"/>
                <a:ea typeface="Cambria" pitchFamily="34" charset="-122"/>
                <a:cs typeface="Cambria" pitchFamily="34" charset="-120"/>
              </a:rPr>
              <a:t>i</a:t>
            </a:r>
            <a:r>
              <a:rPr lang="en-US" sz="1650" dirty="0">
                <a:solidFill>
                  <a:srgbClr val="1E2533"/>
                </a:solidFill>
                <a:latin typeface="Cambria" pitchFamily="34" charset="0"/>
                <a:ea typeface="Cambria" pitchFamily="34" charset="-122"/>
                <a:cs typeface="Cambria" pitchFamily="34" charset="-120"/>
              </a:rPr>
              <a:t>, R</a:t>
            </a:r>
            <a:r>
              <a:rPr lang="en-US" sz="1650" baseline="-40000" dirty="0">
                <a:solidFill>
                  <a:srgbClr val="1E2533"/>
                </a:solidFill>
                <a:latin typeface="Cambria" pitchFamily="34" charset="0"/>
                <a:ea typeface="Cambria" pitchFamily="34" charset="-122"/>
                <a:cs typeface="Cambria" pitchFamily="34" charset="-120"/>
              </a:rPr>
              <a:t>m</a:t>
            </a:r>
            <a:r>
              <a:rPr lang="en-US" sz="1650" dirty="0">
                <a:solidFill>
                  <a:srgbClr val="1E2533"/>
                </a:solidFill>
                <a:latin typeface="Cambria" pitchFamily="34" charset="0"/>
                <a:ea typeface="Cambria" pitchFamily="34" charset="-122"/>
                <a:cs typeface="Cambria" pitchFamily="34" charset="-120"/>
              </a:rPr>
              <a:t>) ÷ σ</a:t>
            </a:r>
            <a:r>
              <a:rPr lang="en-US" sz="1650" baseline="-40000" dirty="0">
                <a:solidFill>
                  <a:srgbClr val="1E2533"/>
                </a:solidFill>
                <a:latin typeface="Cambria" pitchFamily="34" charset="0"/>
                <a:ea typeface="Cambria" pitchFamily="34" charset="-122"/>
                <a:cs typeface="Cambria" pitchFamily="34" charset="-120"/>
              </a:rPr>
              <a:t>m</a:t>
            </a:r>
            <a:r>
              <a:rPr lang="en-US" sz="1650" baseline="3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E(R</a:t>
            </a:r>
            <a:r>
              <a:rPr lang="en-US" sz="1650" baseline="-40000" dirty="0">
                <a:solidFill>
                  <a:srgbClr val="1E2533"/>
                </a:solidFill>
                <a:latin typeface="Cambria" pitchFamily="34" charset="0"/>
                <a:ea typeface="Cambria" pitchFamily="34" charset="-122"/>
                <a:cs typeface="Cambria" pitchFamily="34" charset="-120"/>
              </a:rPr>
              <a:t>i</a:t>
            </a:r>
            <a:r>
              <a:rPr lang="en-US" sz="1650" dirty="0">
                <a:solidFill>
                  <a:srgbClr val="1E2533"/>
                </a:solidFill>
                <a:latin typeface="Cambria" pitchFamily="34" charset="0"/>
                <a:ea typeface="Cambria" pitchFamily="34" charset="-122"/>
                <a:cs typeface="Cambria" pitchFamily="34" charset="-120"/>
              </a:rPr>
              <a:t>) = R</a:t>
            </a:r>
            <a:r>
              <a:rPr lang="en-US" sz="1650" baseline="-40000" dirty="0">
                <a:solidFill>
                  <a:srgbClr val="1E2533"/>
                </a:solidFill>
                <a:latin typeface="Cambria" pitchFamily="34" charset="0"/>
                <a:ea typeface="Cambria" pitchFamily="34" charset="-122"/>
                <a:cs typeface="Cambria" pitchFamily="34" charset="-120"/>
              </a:rPr>
              <a:t>f</a:t>
            </a:r>
            <a:r>
              <a:rPr lang="en-US" sz="1650" dirty="0">
                <a:solidFill>
                  <a:srgbClr val="1E2533"/>
                </a:solidFill>
                <a:latin typeface="Cambria" pitchFamily="34" charset="0"/>
                <a:ea typeface="Cambria" pitchFamily="34" charset="-122"/>
                <a:cs typeface="Cambria" pitchFamily="34" charset="-120"/>
              </a:rPr>
              <a:t> + β[E(R</a:t>
            </a:r>
            <a:r>
              <a:rPr lang="en-US" sz="1650" baseline="-40000" dirty="0">
                <a:solidFill>
                  <a:srgbClr val="1E2533"/>
                </a:solidFill>
                <a:latin typeface="Cambria" pitchFamily="34" charset="0"/>
                <a:ea typeface="Cambria" pitchFamily="34" charset="-122"/>
                <a:cs typeface="Cambria" pitchFamily="34" charset="-120"/>
              </a:rPr>
              <a:t>m</a:t>
            </a:r>
            <a:r>
              <a:rPr lang="en-US" sz="1650" dirty="0">
                <a:solidFill>
                  <a:srgbClr val="1E2533"/>
                </a:solidFill>
                <a:latin typeface="Cambria" pitchFamily="34" charset="0"/>
                <a:ea typeface="Cambria" pitchFamily="34" charset="-122"/>
                <a:cs typeface="Cambria" pitchFamily="34" charset="-120"/>
              </a:rPr>
              <a:t>) − R</a:t>
            </a:r>
            <a:r>
              <a:rPr lang="en-US" sz="1650" baseline="-40000" dirty="0">
                <a:solidFill>
                  <a:srgbClr val="1E2533"/>
                </a:solidFill>
                <a:latin typeface="Cambria" pitchFamily="34" charset="0"/>
                <a:ea typeface="Cambria" pitchFamily="34" charset="-122"/>
                <a:cs typeface="Cambria" pitchFamily="34" charset="-120"/>
              </a:rPr>
              <a:t>f</a:t>
            </a:r>
            <a:r>
              <a:rPr lang="en-US" sz="1650" dirty="0">
                <a:solidFill>
                  <a:srgbClr val="1E2533"/>
                </a:solidFill>
                <a:latin typeface="Cambria" pitchFamily="34" charset="0"/>
                <a:ea typeface="Cambria" pitchFamily="34" charset="-122"/>
                <a:cs typeface="Cambria" pitchFamily="34" charset="-120"/>
              </a:rPr>
              <a:t>]</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Maximum drawdown</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MDD = min</a:t>
            </a:r>
            <a:r>
              <a:rPr lang="en-US" sz="1650" baseline="-4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(P</a:t>
            </a:r>
            <a:r>
              <a:rPr lang="en-US" sz="1650" baseline="-4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 max</a:t>
            </a:r>
            <a:r>
              <a:rPr lang="en-US" sz="1650" baseline="-40000" dirty="0">
                <a:solidFill>
                  <a:srgbClr val="1E2533"/>
                </a:solidFill>
                <a:latin typeface="Cambria" pitchFamily="34" charset="0"/>
                <a:ea typeface="Cambria" pitchFamily="34" charset="-122"/>
                <a:cs typeface="Cambria" pitchFamily="34" charset="-120"/>
              </a:rPr>
              <a:t>s≤t</a:t>
            </a:r>
            <a:r>
              <a:rPr lang="en-US" sz="1650" dirty="0">
                <a:solidFill>
                  <a:srgbClr val="1E2533"/>
                </a:solidFill>
                <a:latin typeface="Cambria" pitchFamily="34" charset="0"/>
                <a:ea typeface="Cambria" pitchFamily="34" charset="-122"/>
                <a:cs typeface="Cambria" pitchFamily="34" charset="-120"/>
              </a:rPr>
              <a:t>P</a:t>
            </a:r>
            <a:r>
              <a:rPr lang="en-US" sz="1650" baseline="-40000" dirty="0">
                <a:solidFill>
                  <a:srgbClr val="1E2533"/>
                </a:solidFill>
                <a:latin typeface="Cambria" pitchFamily="34" charset="0"/>
                <a:ea typeface="Cambria" pitchFamily="34" charset="-122"/>
                <a:cs typeface="Cambria" pitchFamily="34" charset="-120"/>
              </a:rPr>
              <a:t>s</a:t>
            </a:r>
            <a:r>
              <a:rPr lang="en-US" sz="1650" dirty="0">
                <a:solidFill>
                  <a:srgbClr val="1E2533"/>
                </a:solidFill>
                <a:latin typeface="Cambria" pitchFamily="34" charset="0"/>
                <a:ea typeface="Cambria" pitchFamily="34" charset="-122"/>
                <a:cs typeface="Cambria" pitchFamily="34" charset="-120"/>
              </a:rPr>
              <a:t> − 1)</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Protective put (per unit, at expiry)</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Value = S</a:t>
            </a:r>
            <a:r>
              <a:rPr lang="en-US" sz="1650" baseline="-4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 max(K − S</a:t>
            </a:r>
            <a:r>
              <a:rPr lang="en-US" sz="1650" baseline="-4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0) − Premium</a:t>
            </a:r>
            <a:endParaRPr lang="en-US" sz="1450" dirty="0"/>
          </a:p>
        </p:txBody>
      </p:sp>
      <p:sp>
        <p:nvSpPr>
          <p:cNvPr id="9" name="Shape 7"/>
          <p:cNvSpPr/>
          <p:nvPr/>
        </p:nvSpPr>
        <p:spPr>
          <a:xfrm>
            <a:off x="7269480" y="1280160"/>
            <a:ext cx="4416552" cy="4937760"/>
          </a:xfrm>
          <a:prstGeom prst="roundRect">
            <a:avLst>
              <a:gd name="adj" fmla="val 165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7498080" y="1389888"/>
            <a:ext cx="395935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Notation key</a:t>
            </a:r>
            <a:endParaRPr lang="en-US" sz="15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7498080" y="1810512"/>
          <a:ext cx="3959352"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tblGrid>
              <a:tr h="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Symbol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Meaning</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p</a:t>
                      </a:r>
                      <a:r>
                        <a:rPr lang="en-US" sz="1350" b="1" baseline="-40000" dirty="0">
                          <a:solidFill>
                            <a:srgbClr val="1E2533"/>
                          </a:solidFill>
                          <a:latin typeface="Calibri" pitchFamily="34" charset="0"/>
                          <a:ea typeface="Calibri" pitchFamily="34" charset="-122"/>
                          <a:cs typeface="Calibri" pitchFamily="34" charset="-120"/>
                        </a:rPr>
                        <a:t>i</a:t>
                      </a:r>
                      <a:r>
                        <a:rPr lang="en-US" sz="1350" b="1" dirty="0">
                          <a:solidFill>
                            <a:srgbClr val="1E2533"/>
                          </a:solidFill>
                          <a:latin typeface="Calibri" pitchFamily="34" charset="0"/>
                          <a:ea typeface="Calibri" pitchFamily="34" charset="-122"/>
                          <a:cs typeface="Calibri" pitchFamily="34" charset="-120"/>
                        </a:rPr>
                        <a:t>, R</a:t>
                      </a:r>
                      <a:r>
                        <a:rPr lang="en-US" sz="1350" b="1" baseline="-40000" dirty="0">
                          <a:solidFill>
                            <a:srgbClr val="1E2533"/>
                          </a:solidFill>
                          <a:latin typeface="Calibri" pitchFamily="34" charset="0"/>
                          <a:ea typeface="Calibri" pitchFamily="34" charset="-122"/>
                          <a:cs typeface="Calibri" pitchFamily="34" charset="-120"/>
                        </a:rPr>
                        <a:t>i</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Probability and return in scenario i</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w</a:t>
                      </a:r>
                      <a:r>
                        <a:rPr lang="en-US" sz="1350" b="1" baseline="-40000" dirty="0">
                          <a:solidFill>
                            <a:srgbClr val="1E2533"/>
                          </a:solidFill>
                          <a:latin typeface="Calibri" pitchFamily="34" charset="0"/>
                          <a:ea typeface="Calibri" pitchFamily="34" charset="-122"/>
                          <a:cs typeface="Calibri" pitchFamily="34" charset="-120"/>
                        </a:rPr>
                        <a:t>A</a:t>
                      </a:r>
                      <a:r>
                        <a:rPr lang="en-US" sz="1350" b="1" dirty="0">
                          <a:solidFill>
                            <a:srgbClr val="1E2533"/>
                          </a:solidFill>
                          <a:latin typeface="Calibri" pitchFamily="34" charset="0"/>
                          <a:ea typeface="Calibri" pitchFamily="34" charset="-122"/>
                          <a:cs typeface="Calibri" pitchFamily="34" charset="-120"/>
                        </a:rPr>
                        <a:t>, w</a:t>
                      </a:r>
                      <a:r>
                        <a:rPr lang="en-US" sz="1350" b="1" baseline="-40000" dirty="0">
                          <a:solidFill>
                            <a:srgbClr val="1E2533"/>
                          </a:solidFill>
                          <a:latin typeface="Calibri" pitchFamily="34" charset="0"/>
                          <a:ea typeface="Calibri" pitchFamily="34" charset="-122"/>
                          <a:cs typeface="Calibri" pitchFamily="34" charset="-120"/>
                        </a:rPr>
                        <a:t>B</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Portfolio weights (sum to 1)</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σ</a:t>
                      </a:r>
                      <a:r>
                        <a:rPr lang="en-US" sz="1350" b="1" baseline="-40000" dirty="0">
                          <a:solidFill>
                            <a:srgbClr val="1E2533"/>
                          </a:solidFill>
                          <a:latin typeface="Calibri" pitchFamily="34" charset="0"/>
                          <a:ea typeface="Calibri" pitchFamily="34" charset="-122"/>
                          <a:cs typeface="Calibri" pitchFamily="34" charset="-120"/>
                        </a:rPr>
                        <a:t>A</a:t>
                      </a:r>
                      <a:r>
                        <a:rPr lang="en-US" sz="1350" b="1" dirty="0">
                          <a:solidFill>
                            <a:srgbClr val="1E2533"/>
                          </a:solidFill>
                          <a:latin typeface="Calibri" pitchFamily="34" charset="0"/>
                          <a:ea typeface="Calibri" pitchFamily="34" charset="-122"/>
                          <a:cs typeface="Calibri" pitchFamily="34" charset="-120"/>
                        </a:rPr>
                        <a:t>, σ</a:t>
                      </a:r>
                      <a:r>
                        <a:rPr lang="en-US" sz="1350" b="1" baseline="-40000" dirty="0">
                          <a:solidFill>
                            <a:srgbClr val="1E2533"/>
                          </a:solidFill>
                          <a:latin typeface="Calibri" pitchFamily="34" charset="0"/>
                          <a:ea typeface="Calibri" pitchFamily="34" charset="-122"/>
                          <a:cs typeface="Calibri" pitchFamily="34" charset="-120"/>
                        </a:rPr>
                        <a:t>B</a:t>
                      </a:r>
                      <a:r>
                        <a:rPr lang="en-US" sz="1350" b="1" dirty="0">
                          <a:solidFill>
                            <a:srgbClr val="1E2533"/>
                          </a:solidFill>
                          <a:latin typeface="Calibri" pitchFamily="34" charset="0"/>
                          <a:ea typeface="Calibri" pitchFamily="34" charset="-122"/>
                          <a:cs typeface="Calibri" pitchFamily="34" charset="-120"/>
                        </a:rPr>
                        <a:t>, ρ</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Standard deviations and correlation of A and B</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β</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Sensitivity of stock to the market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R</a:t>
                      </a:r>
                      <a:r>
                        <a:rPr lang="en-US" sz="1350" b="1" baseline="-40000" dirty="0">
                          <a:solidFill>
                            <a:srgbClr val="1E2533"/>
                          </a:solidFill>
                          <a:latin typeface="Calibri" pitchFamily="34" charset="0"/>
                          <a:ea typeface="Calibri" pitchFamily="34" charset="-122"/>
                          <a:cs typeface="Calibri" pitchFamily="34" charset="-120"/>
                        </a:rPr>
                        <a:t>f</a:t>
                      </a:r>
                      <a:r>
                        <a:rPr lang="en-US" sz="1350" b="1" dirty="0">
                          <a:solidFill>
                            <a:srgbClr val="1E2533"/>
                          </a:solidFill>
                          <a:latin typeface="Calibri" pitchFamily="34" charset="0"/>
                          <a:ea typeface="Calibri" pitchFamily="34" charset="-122"/>
                          <a:cs typeface="Calibri" pitchFamily="34" charset="-120"/>
                        </a:rPr>
                        <a:t>, R</a:t>
                      </a:r>
                      <a:r>
                        <a:rPr lang="en-US" sz="1350" b="1" baseline="-40000" dirty="0">
                          <a:solidFill>
                            <a:srgbClr val="1E2533"/>
                          </a:solidFill>
                          <a:latin typeface="Calibri" pitchFamily="34" charset="0"/>
                          <a:ea typeface="Calibri" pitchFamily="34" charset="-122"/>
                          <a:cs typeface="Calibri" pitchFamily="34" charset="-120"/>
                        </a:rPr>
                        <a:t>m</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Risk-free rate (e.g. 10-year G-sec) and market return (Nifty 50)</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P</a:t>
                      </a:r>
                      <a:r>
                        <a:rPr lang="en-US" sz="1350" b="1" baseline="-40000" dirty="0">
                          <a:solidFill>
                            <a:srgbClr val="1E2533"/>
                          </a:solidFill>
                          <a:latin typeface="Calibri" pitchFamily="34" charset="0"/>
                          <a:ea typeface="Calibri" pitchFamily="34" charset="-122"/>
                          <a:cs typeface="Calibri" pitchFamily="34" charset="-120"/>
                        </a:rPr>
                        <a:t>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Price or portfolio value at time 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K, S</a:t>
                      </a:r>
                      <a:r>
                        <a:rPr lang="en-US" sz="1350" b="1" baseline="-40000" dirty="0">
                          <a:solidFill>
                            <a:srgbClr val="1E2533"/>
                          </a:solidFill>
                          <a:latin typeface="Calibri" pitchFamily="34" charset="0"/>
                          <a:ea typeface="Calibri" pitchFamily="34" charset="-122"/>
                          <a:cs typeface="Calibri" pitchFamily="34" charset="-120"/>
                        </a:rPr>
                        <a:t>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Put strike price; index level at expiry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350" b="1" dirty="0">
                          <a:solidFill>
                            <a:srgbClr val="1E2533"/>
                          </a:solidFill>
                          <a:latin typeface="Calibri" pitchFamily="34" charset="0"/>
                          <a:ea typeface="Calibri" pitchFamily="34" charset="-122"/>
                          <a:cs typeface="Calibri" pitchFamily="34" charset="-120"/>
                        </a:rPr>
                        <a:t>CV</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Coefficient of variation = σ ÷ E(R)</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E1 · Expected Return and Risk from Economic Scenarios</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Basic</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An analyst covering Kaveri Cements Ltd (illustrative) models next year's return under three economic scenarios linked to infrastructure spending and monsoon outcomes.</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Scenario</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Probability</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Return</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1E2533"/>
                          </a:solidFill>
                          <a:latin typeface="Calibri" pitchFamily="34" charset="0"/>
                          <a:ea typeface="Calibri" pitchFamily="34" charset="-122"/>
                          <a:cs typeface="Calibri" pitchFamily="34" charset="-120"/>
                        </a:rPr>
                        <a:t>Boom (strong capex cycle)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E2533"/>
                          </a:solidFill>
                          <a:latin typeface="Calibri" pitchFamily="34" charset="0"/>
                          <a:ea typeface="Calibri" pitchFamily="34" charset="-122"/>
                          <a:cs typeface="Calibri" pitchFamily="34" charset="-120"/>
                        </a:rPr>
                        <a:t>0.25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E2533"/>
                          </a:solidFill>
                          <a:latin typeface="Calibri" pitchFamily="34" charset="0"/>
                          <a:ea typeface="Calibri" pitchFamily="34" charset="-122"/>
                          <a:cs typeface="Calibri" pitchFamily="34" charset="-120"/>
                        </a:rPr>
                        <a:t>32%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1E2533"/>
                          </a:solidFill>
                          <a:latin typeface="Calibri" pitchFamily="34" charset="0"/>
                          <a:ea typeface="Calibri" pitchFamily="34" charset="-122"/>
                          <a:cs typeface="Calibri" pitchFamily="34" charset="-120"/>
                        </a:rPr>
                        <a:t>Normal</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600" dirty="0">
                          <a:solidFill>
                            <a:srgbClr val="1E2533"/>
                          </a:solidFill>
                          <a:latin typeface="Calibri" pitchFamily="34" charset="0"/>
                          <a:ea typeface="Calibri" pitchFamily="34" charset="-122"/>
                          <a:cs typeface="Calibri" pitchFamily="34" charset="-120"/>
                        </a:rPr>
                        <a:t>0.50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600" dirty="0">
                          <a:solidFill>
                            <a:srgbClr val="1E2533"/>
                          </a:solidFill>
                          <a:latin typeface="Calibri" pitchFamily="34" charset="0"/>
                          <a:ea typeface="Calibri" pitchFamily="34" charset="-122"/>
                          <a:cs typeface="Calibri" pitchFamily="34" charset="-120"/>
                        </a:rPr>
                        <a:t>14%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1E2533"/>
                          </a:solidFill>
                          <a:latin typeface="Calibri" pitchFamily="34" charset="0"/>
                          <a:ea typeface="Calibri" pitchFamily="34" charset="-122"/>
                          <a:cs typeface="Calibri" pitchFamily="34" charset="-120"/>
                        </a:rPr>
                        <a:t>Recession</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E2533"/>
                          </a:solidFill>
                          <a:latin typeface="Calibri" pitchFamily="34" charset="0"/>
                          <a:ea typeface="Calibri" pitchFamily="34" charset="-122"/>
                          <a:cs typeface="Calibri" pitchFamily="34" charset="-120"/>
                        </a:rPr>
                        <a:t>0.25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E2533"/>
                          </a:solidFill>
                          <a:latin typeface="Calibri" pitchFamily="34" charset="0"/>
                          <a:ea typeface="Calibri" pitchFamily="34" charset="-122"/>
                          <a:cs typeface="Calibri" pitchFamily="34" charset="-120"/>
                        </a:rPr>
                        <a:t>−12%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Expected return E(R).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Variance and standard deviation.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Coefficient of variation.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Probability of a negative return and interpretation.</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E1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Expected return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E(R) = 0.25(32) + 0.50(14) + 0.25(−12) = 8 + 7 − 3 = 12.00%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Variance and standard deviation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Deviations: 32 − 12 = 20;  14 − 12 = 2;  −12 − 12 = −24</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0.25(20</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+ 0.50(2</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+ 0.25(−24)</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100 + 2 + 144 = 246 (%</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 = √246 = 15.68%</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Coefficient of variation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CV = σ ÷ E(R) = 15.68 ÷ 12 = 1.307</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Probability of loss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Only the recession scenario gives a negative return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P(R &lt; 0) = 25%</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A one-in-four chance of losing 12% accompanies the 12% expected return.</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E(R) = 12.00%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σ = 15.68%</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CV = 1.307 (risk per unit of return)</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P(loss) = 25%</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CV lets us compare stocks with different expected returns: a lower CV means less risk for each percentage point of expected return.</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E2 · Two-Stock Portfolio Risk and Diversification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An investor splits ₹10 lakh between an IT services stock (Coromandel Tech) and an FMCG stock (Nilgiri Consumer). Both names are illustrative; IT earnings depend on US demand, FMCG on domestic consumption, so correlation is low.</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Weights: IT (A) / FMCG (B)</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60% / 40%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Expected returns: A / B</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14% / 11%</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Standard deviations: σ</a:t>
                      </a:r>
                      <a:r>
                        <a:rPr lang="en-US" sz="1500" baseline="-40000" dirty="0">
                          <a:solidFill>
                            <a:srgbClr val="1E2533"/>
                          </a:solidFill>
                          <a:latin typeface="Calibri" pitchFamily="34" charset="0"/>
                          <a:ea typeface="Calibri" pitchFamily="34" charset="-122"/>
                          <a:cs typeface="Calibri" pitchFamily="34" charset="-120"/>
                        </a:rPr>
                        <a:t>A</a:t>
                      </a:r>
                      <a:r>
                        <a:rPr lang="en-US" sz="1500" dirty="0">
                          <a:solidFill>
                            <a:srgbClr val="1E2533"/>
                          </a:solidFill>
                          <a:latin typeface="Calibri" pitchFamily="34" charset="0"/>
                          <a:ea typeface="Calibri" pitchFamily="34" charset="-122"/>
                          <a:cs typeface="Calibri" pitchFamily="34" charset="-120"/>
                        </a:rPr>
                        <a:t> / σ</a:t>
                      </a:r>
                      <a:r>
                        <a:rPr lang="en-US" sz="1500" baseline="-40000" dirty="0">
                          <a:solidFill>
                            <a:srgbClr val="1E2533"/>
                          </a:solidFill>
                          <a:latin typeface="Calibri" pitchFamily="34" charset="0"/>
                          <a:ea typeface="Calibri" pitchFamily="34" charset="-122"/>
                          <a:cs typeface="Calibri" pitchFamily="34" charset="-120"/>
                        </a:rPr>
                        <a:t>B</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24% / 16%</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Correlation (ρ)</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0.25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Expected portfolio return.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Portfolio standard deviation.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Diversification benefit vs the weighted average σ.</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Minimum variance weights, their σ and expected return.</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E2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Expected return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E(R</a:t>
            </a:r>
            <a:r>
              <a:rPr lang="en-US" sz="1500" baseline="-40000" dirty="0">
                <a:solidFill>
                  <a:srgbClr val="14213D"/>
                </a:solidFill>
                <a:latin typeface="Cambria" pitchFamily="34" charset="0"/>
                <a:ea typeface="Cambria" pitchFamily="34" charset="-122"/>
                <a:cs typeface="Cambria" pitchFamily="34" charset="-120"/>
              </a:rPr>
              <a:t>p</a:t>
            </a:r>
            <a:r>
              <a:rPr lang="en-US" sz="1500" dirty="0">
                <a:solidFill>
                  <a:srgbClr val="14213D"/>
                </a:solidFill>
                <a:latin typeface="Cambria" pitchFamily="34" charset="0"/>
                <a:ea typeface="Cambria" pitchFamily="34" charset="-122"/>
                <a:cs typeface="Cambria" pitchFamily="34" charset="-120"/>
              </a:rPr>
              <a:t>) = 0.6(14) + 0.4(11) = 8.4 + 4.4 = 12.80%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Portfolio standard deviation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40000" dirty="0">
                <a:solidFill>
                  <a:srgbClr val="14213D"/>
                </a:solidFill>
                <a:latin typeface="Cambria" pitchFamily="34" charset="0"/>
                <a:ea typeface="Cambria" pitchFamily="34" charset="-122"/>
                <a:cs typeface="Cambria" pitchFamily="34" charset="-120"/>
              </a:rPr>
              <a:t>p</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0.36(576) + 0.16(256) + 2(0.6)(0.4)(0.25)(24)(16)</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 207.36 + 40.96 + 46.08 = 294.40;   σ</a:t>
            </a:r>
            <a:r>
              <a:rPr lang="en-US" sz="1500" baseline="-40000" dirty="0">
                <a:solidFill>
                  <a:srgbClr val="14213D"/>
                </a:solidFill>
                <a:latin typeface="Cambria" pitchFamily="34" charset="0"/>
                <a:ea typeface="Cambria" pitchFamily="34" charset="-122"/>
                <a:cs typeface="Cambria" pitchFamily="34" charset="-120"/>
              </a:rPr>
              <a:t>p</a:t>
            </a:r>
            <a:r>
              <a:rPr lang="en-US" sz="1500" dirty="0">
                <a:solidFill>
                  <a:srgbClr val="14213D"/>
                </a:solidFill>
                <a:latin typeface="Cambria" pitchFamily="34" charset="0"/>
                <a:ea typeface="Cambria" pitchFamily="34" charset="-122"/>
                <a:cs typeface="Cambria" pitchFamily="34" charset="-120"/>
              </a:rPr>
              <a:t> = 17.16%</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Diversification benefit</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Weighted average σ = 0.6(24) + 0.4(16) = 20.80%;  benefit = 20.80 − 17.16 = 3.64 pp</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Minimum variance portfolio</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w</a:t>
            </a:r>
            <a:r>
              <a:rPr lang="en-US" sz="1500" baseline="-40000" dirty="0">
                <a:solidFill>
                  <a:srgbClr val="14213D"/>
                </a:solidFill>
                <a:latin typeface="Cambria" pitchFamily="34" charset="0"/>
                <a:ea typeface="Cambria" pitchFamily="34" charset="-122"/>
                <a:cs typeface="Cambria" pitchFamily="34" charset="-120"/>
              </a:rPr>
              <a:t>A</a:t>
            </a:r>
            <a:r>
              <a:rPr lang="en-US" sz="1500" baseline="30000" dirty="0">
                <a:solidFill>
                  <a:srgbClr val="14213D"/>
                </a:solidFill>
                <a:latin typeface="Cambria" pitchFamily="34" charset="0"/>
                <a:ea typeface="Cambria" pitchFamily="34" charset="-122"/>
                <a:cs typeface="Cambria" pitchFamily="34" charset="-120"/>
              </a:rPr>
              <a:t>*</a:t>
            </a:r>
            <a:r>
              <a:rPr lang="en-US" sz="1500" dirty="0">
                <a:solidFill>
                  <a:srgbClr val="14213D"/>
                </a:solidFill>
                <a:latin typeface="Cambria" pitchFamily="34" charset="0"/>
                <a:ea typeface="Cambria" pitchFamily="34" charset="-122"/>
                <a:cs typeface="Cambria" pitchFamily="34" charset="-120"/>
              </a:rPr>
              <a:t> = (256 − 0.25 × 24 × 16) ÷ (576 + 256 − 2 × 96) = 160 ÷ 640 = 0.25</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σ</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0.0625(576) + 0.5625(256) + 2(0.25)(0.75)(96) = 36 + 144 + 36 = 216;  σ = 14.70%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E(R) = 0.25(14) + 0.75(11) = 11.75%</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E(R</a:t>
            </a:r>
            <a:r>
              <a:rPr lang="en-US" sz="1500" baseline="-40000" dirty="0">
                <a:solidFill>
                  <a:srgbClr val="FFFFFF"/>
                </a:solidFill>
                <a:latin typeface="Calibri" pitchFamily="34" charset="0"/>
                <a:ea typeface="Calibri" pitchFamily="34" charset="-122"/>
                <a:cs typeface="Calibri" pitchFamily="34" charset="-120"/>
              </a:rPr>
              <a:t>p</a:t>
            </a:r>
            <a:r>
              <a:rPr lang="en-US" sz="1500" dirty="0">
                <a:solidFill>
                  <a:srgbClr val="FFFFFF"/>
                </a:solidFill>
                <a:latin typeface="Calibri" pitchFamily="34" charset="0"/>
                <a:ea typeface="Calibri" pitchFamily="34" charset="-122"/>
                <a:cs typeface="Calibri" pitchFamily="34" charset="-120"/>
              </a:rPr>
              <a:t>) = 12.80%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σ</a:t>
            </a:r>
            <a:r>
              <a:rPr lang="en-US" sz="1500" baseline="-40000" dirty="0">
                <a:solidFill>
                  <a:srgbClr val="FFFFFF"/>
                </a:solidFill>
                <a:latin typeface="Calibri" pitchFamily="34" charset="0"/>
                <a:ea typeface="Calibri" pitchFamily="34" charset="-122"/>
                <a:cs typeface="Calibri" pitchFamily="34" charset="-120"/>
              </a:rPr>
              <a:t>p</a:t>
            </a:r>
            <a:r>
              <a:rPr lang="en-US" sz="1500" dirty="0">
                <a:solidFill>
                  <a:srgbClr val="FFFFFF"/>
                </a:solidFill>
                <a:latin typeface="Calibri" pitchFamily="34" charset="0"/>
                <a:ea typeface="Calibri" pitchFamily="34" charset="-122"/>
                <a:cs typeface="Calibri" pitchFamily="34" charset="-120"/>
              </a:rPr>
              <a:t> = 17.16%</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Benefit ≈ 3.64 percentage points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Min-variance: 25% A / 75% B, σ = 14.70%</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With ρ = 0.25 the portfolio is less risky than its components' weighted average. Only at ρ = +1 would there be no benefit.</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E3 · Estimating Beta from Returns and Applying CAPM</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Estimate the beta of Deccan Engineering Ltd (illustrative) against the Nifty 50 from six monthly returns, then compute its CAPM required return. Assume a risk-free rate (10-year G-sec) of 6.5% and an expected market return of 12.5%.</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tblGrid>
              <a:tr h="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Month</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Nifty 50 return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3.0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4.0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Deccan Engg. return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3.5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−3.0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−4.2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5.5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Mean monthly returns of the stock and the index.</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Covariance, market variance and beta.</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Correlation and R²; split total risk into systematic and unsystematic.</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CAPM required annual return.</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E3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Month</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Σ</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d</a:t>
                      </a:r>
                      <a:r>
                        <a:rPr lang="en-US" sz="1200" baseline="-40000" dirty="0">
                          <a:solidFill>
                            <a:srgbClr val="1E2533"/>
                          </a:solidFill>
                          <a:latin typeface="Calibri" pitchFamily="34" charset="0"/>
                          <a:ea typeface="Calibri" pitchFamily="34" charset="-122"/>
                          <a:cs typeface="Calibri" pitchFamily="34" charset="-120"/>
                        </a:rPr>
                        <a:t>m</a:t>
                      </a:r>
                      <a:r>
                        <a:rPr lang="en-US" sz="1200" dirty="0">
                          <a:solidFill>
                            <a:srgbClr val="1E2533"/>
                          </a:solidFill>
                          <a:latin typeface="Calibri" pitchFamily="34" charset="0"/>
                          <a:ea typeface="Calibri" pitchFamily="34" charset="-122"/>
                          <a:cs typeface="Calibri" pitchFamily="34" charset="-120"/>
                        </a:rPr>
                        <a:t> = R</a:t>
                      </a:r>
                      <a:r>
                        <a:rPr lang="en-US" sz="1200" baseline="-40000" dirty="0">
                          <a:solidFill>
                            <a:srgbClr val="1E2533"/>
                          </a:solidFill>
                          <a:latin typeface="Calibri" pitchFamily="34" charset="0"/>
                          <a:ea typeface="Calibri" pitchFamily="34" charset="-122"/>
                          <a:cs typeface="Calibri" pitchFamily="34" charset="-120"/>
                        </a:rPr>
                        <a:t>m</a:t>
                      </a:r>
                      <a:r>
                        <a:rPr lang="en-US" sz="1200" dirty="0">
                          <a:solidFill>
                            <a:srgbClr val="1E2533"/>
                          </a:solidFill>
                          <a:latin typeface="Calibri" pitchFamily="34" charset="0"/>
                          <a:ea typeface="Calibri" pitchFamily="34" charset="-122"/>
                          <a:cs typeface="Calibri" pitchFamily="34" charset="-120"/>
                        </a:rPr>
                        <a:t> − 1.0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−2.5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2.0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−3.5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3.0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d</a:t>
                      </a:r>
                      <a:r>
                        <a:rPr lang="en-US" sz="1200" baseline="-40000" dirty="0">
                          <a:solidFill>
                            <a:srgbClr val="1E2533"/>
                          </a:solidFill>
                          <a:latin typeface="Calibri" pitchFamily="34" charset="0"/>
                          <a:ea typeface="Calibri" pitchFamily="34" charset="-122"/>
                          <a:cs typeface="Calibri" pitchFamily="34" charset="-120"/>
                        </a:rPr>
                        <a:t>s</a:t>
                      </a:r>
                      <a:r>
                        <a:rPr lang="en-US" sz="1200" dirty="0">
                          <a:solidFill>
                            <a:srgbClr val="1E2533"/>
                          </a:solidFill>
                          <a:latin typeface="Calibri" pitchFamily="34" charset="0"/>
                          <a:ea typeface="Calibri" pitchFamily="34" charset="-122"/>
                          <a:cs typeface="Calibri" pitchFamily="34" charset="-120"/>
                        </a:rPr>
                        <a:t> = R</a:t>
                      </a:r>
                      <a:r>
                        <a:rPr lang="en-US" sz="1200" baseline="-40000" dirty="0">
                          <a:solidFill>
                            <a:srgbClr val="1E2533"/>
                          </a:solidFill>
                          <a:latin typeface="Calibri" pitchFamily="34" charset="0"/>
                          <a:ea typeface="Calibri" pitchFamily="34" charset="-122"/>
                          <a:cs typeface="Calibri" pitchFamily="34" charset="-120"/>
                        </a:rPr>
                        <a:t>s</a:t>
                      </a:r>
                      <a:r>
                        <a:rPr lang="en-US" sz="1200" dirty="0">
                          <a:solidFill>
                            <a:srgbClr val="1E2533"/>
                          </a:solidFill>
                          <a:latin typeface="Calibri" pitchFamily="34" charset="0"/>
                          <a:ea typeface="Calibri" pitchFamily="34" charset="-122"/>
                          <a:cs typeface="Calibri" pitchFamily="34" charset="-120"/>
                        </a:rPr>
                        <a:t> − 1.2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2.3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−4.2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−5.4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4.3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d</a:t>
                      </a:r>
                      <a:r>
                        <a:rPr lang="en-US" sz="1200" baseline="-40000" dirty="0">
                          <a:solidFill>
                            <a:srgbClr val="1E2533"/>
                          </a:solidFill>
                          <a:latin typeface="Calibri" pitchFamily="34" charset="0"/>
                          <a:ea typeface="Calibri" pitchFamily="34" charset="-122"/>
                          <a:cs typeface="Calibri" pitchFamily="34" charset="-120"/>
                        </a:rPr>
                        <a:t>m</a:t>
                      </a:r>
                      <a:r>
                        <a:rPr lang="en-US" sz="1200" dirty="0">
                          <a:solidFill>
                            <a:srgbClr val="1E2533"/>
                          </a:solidFill>
                          <a:latin typeface="Calibri" pitchFamily="34" charset="0"/>
                          <a:ea typeface="Calibri" pitchFamily="34" charset="-122"/>
                          <a:cs typeface="Calibri" pitchFamily="34" charset="-120"/>
                        </a:rPr>
                        <a:t> × d</a:t>
                      </a:r>
                      <a:r>
                        <a:rPr lang="en-US" sz="1200" baseline="-40000" dirty="0">
                          <a:solidFill>
                            <a:srgbClr val="1E2533"/>
                          </a:solidFill>
                          <a:latin typeface="Calibri" pitchFamily="34" charset="0"/>
                          <a:ea typeface="Calibri" pitchFamily="34" charset="-122"/>
                          <a:cs typeface="Calibri" pitchFamily="34" charset="-120"/>
                        </a:rPr>
                        <a:t>s</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2.30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10.50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3.20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18.90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12.90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47.80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d</a:t>
                      </a:r>
                      <a:r>
                        <a:rPr lang="en-US" sz="1200" baseline="-40000" dirty="0">
                          <a:solidFill>
                            <a:srgbClr val="1E2533"/>
                          </a:solidFill>
                          <a:latin typeface="Calibri" pitchFamily="34" charset="0"/>
                          <a:ea typeface="Calibri" pitchFamily="34" charset="-122"/>
                          <a:cs typeface="Calibri" pitchFamily="34" charset="-120"/>
                        </a:rPr>
                        <a:t>m</a:t>
                      </a:r>
                      <a:r>
                        <a:rPr lang="en-US" sz="1200" baseline="30000" dirty="0">
                          <a:solidFill>
                            <a:srgbClr val="1E2533"/>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6.25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4.00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12.25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9.00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32.50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1E2533"/>
                          </a:solidFill>
                          <a:latin typeface="Calibri" pitchFamily="34" charset="0"/>
                          <a:ea typeface="Calibri" pitchFamily="34" charset="-122"/>
                          <a:cs typeface="Calibri" pitchFamily="34" charset="-120"/>
                        </a:rPr>
                        <a:t>d</a:t>
                      </a:r>
                      <a:r>
                        <a:rPr lang="en-US" sz="1200" baseline="-40000" dirty="0">
                          <a:solidFill>
                            <a:srgbClr val="1E2533"/>
                          </a:solidFill>
                          <a:latin typeface="Calibri" pitchFamily="34" charset="0"/>
                          <a:ea typeface="Calibri" pitchFamily="34" charset="-122"/>
                          <a:cs typeface="Calibri" pitchFamily="34" charset="-120"/>
                        </a:rPr>
                        <a:t>s</a:t>
                      </a:r>
                      <a:r>
                        <a:rPr lang="en-US" sz="1200" baseline="30000" dirty="0">
                          <a:solidFill>
                            <a:srgbClr val="1E2533"/>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5.29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17.64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2.56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1.96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29.16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18.49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75.10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685800" y="3127248"/>
            <a:ext cx="7360920" cy="3017520"/>
          </a:xfrm>
          <a:prstGeom prst="rect">
            <a:avLst/>
          </a:prstGeom>
          <a:noFill/>
          <a:ln/>
        </p:spPr>
        <p:txBody>
          <a:bodyPr wrap="square" lIns="0" tIns="0" rIns="0" bIns="0" rtlCol="0" anchor="t"/>
          <a:lstStyle/>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 R̄</a:t>
            </a:r>
            <a:r>
              <a:rPr lang="en-US" sz="1500" baseline="-40000" dirty="0">
                <a:solidFill>
                  <a:srgbClr val="14213D"/>
                </a:solidFill>
                <a:latin typeface="Cambria" pitchFamily="34" charset="0"/>
                <a:ea typeface="Cambria" pitchFamily="34" charset="-122"/>
                <a:cs typeface="Cambria" pitchFamily="34" charset="-120"/>
              </a:rPr>
              <a:t>m</a:t>
            </a:r>
            <a:r>
              <a:rPr lang="en-US" sz="1500" dirty="0">
                <a:solidFill>
                  <a:srgbClr val="14213D"/>
                </a:solidFill>
                <a:latin typeface="Cambria" pitchFamily="34" charset="0"/>
                <a:ea typeface="Cambria" pitchFamily="34" charset="-122"/>
                <a:cs typeface="Cambria" pitchFamily="34" charset="-120"/>
              </a:rPr>
              <a:t> = 6.0 ÷ 6 = 1.00%;   R̄</a:t>
            </a:r>
            <a:r>
              <a:rPr lang="en-US" sz="1500" baseline="-40000" dirty="0">
                <a:solidFill>
                  <a:srgbClr val="14213D"/>
                </a:solidFill>
                <a:latin typeface="Cambria" pitchFamily="34" charset="0"/>
                <a:ea typeface="Cambria" pitchFamily="34" charset="-122"/>
                <a:cs typeface="Cambria" pitchFamily="34" charset="-120"/>
              </a:rPr>
              <a:t>s</a:t>
            </a:r>
            <a:r>
              <a:rPr lang="en-US" sz="1500" dirty="0">
                <a:solidFill>
                  <a:srgbClr val="14213D"/>
                </a:solidFill>
                <a:latin typeface="Cambria" pitchFamily="34" charset="0"/>
                <a:ea typeface="Cambria" pitchFamily="34" charset="-122"/>
                <a:cs typeface="Cambria" pitchFamily="34" charset="-120"/>
              </a:rPr>
              <a:t> = 7.2 ÷ 6 = 1.20%</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(b) Cov = 47.80 ÷ 5 = 9.560;  σ</a:t>
            </a:r>
            <a:r>
              <a:rPr lang="en-US" sz="1500" baseline="-40000" dirty="0">
                <a:solidFill>
                  <a:srgbClr val="14213D"/>
                </a:solidFill>
                <a:latin typeface="Cambria" pitchFamily="34" charset="0"/>
                <a:ea typeface="Cambria" pitchFamily="34" charset="-122"/>
                <a:cs typeface="Cambria" pitchFamily="34" charset="-120"/>
              </a:rPr>
              <a:t>m</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32.50 ÷ 5 = 6.50;  β = 9.560 ÷ 6.50 = 1.4708</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(c) ρ = 47.80 ÷ √(32.50 × 75.10) = 0.9675;  R</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0.9361</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Systematic share 93.6%; unsystematic 6.4% of σ</a:t>
            </a:r>
            <a:r>
              <a:rPr lang="en-US" sz="1500" baseline="-40000" dirty="0">
                <a:solidFill>
                  <a:srgbClr val="14213D"/>
                </a:solidFill>
                <a:latin typeface="Cambria" pitchFamily="34" charset="0"/>
                <a:ea typeface="Cambria" pitchFamily="34" charset="-122"/>
                <a:cs typeface="Cambria" pitchFamily="34" charset="-120"/>
              </a:rPr>
              <a:t>s</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15.02</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(d) E(R) = 6.5 + 1.4708 × (12.5 − 6.5) = 15.32%</a:t>
            </a:r>
            <a:endParaRPr lang="en-US" sz="150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β = 1.471</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ρ = 0.968, R² = 0.936</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Required return = 15.32%</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β &gt; 1 means the stock amplifies market moves: a 10% Nifty fall implies about a 14.7% expected fall. Six months is too short in practice; analysts use 2–5 years of data.</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E4 · Maximum Drawdown of a Mid-cap Stock</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Basic</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retail investor bought a mid-cap stock at ₹500 and tracked its weekly closing price. Drawdown measures the fall from the highest value reached so far: the pain an investor actually feels.</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1051560">
                  <a:extLst>
                    <a:ext uri="{9D8B030D-6E8A-4147-A177-3AD203B41FA5}">
                      <a16:colId xmlns:a16="http://schemas.microsoft.com/office/drawing/2014/main" val="20000"/>
                    </a:ext>
                  </a:extLst>
                </a:gridCol>
                <a:gridCol w="475488">
                  <a:extLst>
                    <a:ext uri="{9D8B030D-6E8A-4147-A177-3AD203B41FA5}">
                      <a16:colId xmlns:a16="http://schemas.microsoft.com/office/drawing/2014/main" val="20001"/>
                    </a:ext>
                  </a:extLst>
                </a:gridCol>
                <a:gridCol w="475488">
                  <a:extLst>
                    <a:ext uri="{9D8B030D-6E8A-4147-A177-3AD203B41FA5}">
                      <a16:colId xmlns:a16="http://schemas.microsoft.com/office/drawing/2014/main" val="20002"/>
                    </a:ext>
                  </a:extLst>
                </a:gridCol>
                <a:gridCol w="475488">
                  <a:extLst>
                    <a:ext uri="{9D8B030D-6E8A-4147-A177-3AD203B41FA5}">
                      <a16:colId xmlns:a16="http://schemas.microsoft.com/office/drawing/2014/main" val="20003"/>
                    </a:ext>
                  </a:extLst>
                </a:gridCol>
                <a:gridCol w="475488">
                  <a:extLst>
                    <a:ext uri="{9D8B030D-6E8A-4147-A177-3AD203B41FA5}">
                      <a16:colId xmlns:a16="http://schemas.microsoft.com/office/drawing/2014/main" val="20004"/>
                    </a:ext>
                  </a:extLst>
                </a:gridCol>
                <a:gridCol w="475488">
                  <a:extLst>
                    <a:ext uri="{9D8B030D-6E8A-4147-A177-3AD203B41FA5}">
                      <a16:colId xmlns:a16="http://schemas.microsoft.com/office/drawing/2014/main" val="20005"/>
                    </a:ext>
                  </a:extLst>
                </a:gridCol>
                <a:gridCol w="475488">
                  <a:extLst>
                    <a:ext uri="{9D8B030D-6E8A-4147-A177-3AD203B41FA5}">
                      <a16:colId xmlns:a16="http://schemas.microsoft.com/office/drawing/2014/main" val="20006"/>
                    </a:ext>
                  </a:extLst>
                </a:gridCol>
                <a:gridCol w="475488">
                  <a:extLst>
                    <a:ext uri="{9D8B030D-6E8A-4147-A177-3AD203B41FA5}">
                      <a16:colId xmlns:a16="http://schemas.microsoft.com/office/drawing/2014/main" val="20007"/>
                    </a:ext>
                  </a:extLst>
                </a:gridCol>
                <a:gridCol w="475488">
                  <a:extLst>
                    <a:ext uri="{9D8B030D-6E8A-4147-A177-3AD203B41FA5}">
                      <a16:colId xmlns:a16="http://schemas.microsoft.com/office/drawing/2014/main" val="20008"/>
                    </a:ext>
                  </a:extLst>
                </a:gridCol>
                <a:gridCol w="475488">
                  <a:extLst>
                    <a:ext uri="{9D8B030D-6E8A-4147-A177-3AD203B41FA5}">
                      <a16:colId xmlns:a16="http://schemas.microsoft.com/office/drawing/2014/main" val="20009"/>
                    </a:ext>
                  </a:extLst>
                </a:gridCol>
                <a:gridCol w="502920">
                  <a:extLst>
                    <a:ext uri="{9D8B030D-6E8A-4147-A177-3AD203B41FA5}">
                      <a16:colId xmlns:a16="http://schemas.microsoft.com/office/drawing/2014/main" val="20010"/>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Week</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7</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Price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500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540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585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560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610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520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470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505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560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E2533"/>
                          </a:solidFill>
                          <a:latin typeface="Calibri" pitchFamily="34" charset="0"/>
                          <a:ea typeface="Calibri" pitchFamily="34" charset="-122"/>
                          <a:cs typeface="Calibri" pitchFamily="34" charset="-120"/>
                        </a:rPr>
                        <a:t>630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Running peak for each week.</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Drawdown for each week.</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Maximum drawdown: from which peak to which trough?</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Gain needed from the trough to recover the peak.</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E4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6" name="Chart 0"/>
          <p:cNvGraphicFramePr/>
          <p:nvPr/>
        </p:nvGraphicFramePr>
        <p:xfrm>
          <a:off x="502920" y="1234440"/>
          <a:ext cx="5760720" cy="3520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02920" y="4892040"/>
          <a:ext cx="5760720" cy="914400"/>
        </p:xfrm>
        <a:graphic>
          <a:graphicData uri="http://schemas.openxmlformats.org/drawingml/2006/table">
            <a:tbl>
              <a:tblPr/>
              <a:tblGrid>
                <a:gridCol w="7315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gridCol w="502920">
                  <a:extLst>
                    <a:ext uri="{9D8B030D-6E8A-4147-A177-3AD203B41FA5}">
                      <a16:colId xmlns:a16="http://schemas.microsoft.com/office/drawing/2014/main" val="20009"/>
                    </a:ext>
                  </a:extLst>
                </a:gridCol>
                <a:gridCol w="502920">
                  <a:extLst>
                    <a:ext uri="{9D8B030D-6E8A-4147-A177-3AD203B41FA5}">
                      <a16:colId xmlns:a16="http://schemas.microsoft.com/office/drawing/2014/main" val="20010"/>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Week</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1</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2</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3</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4</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5</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6</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7</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8</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9</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10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Peak</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500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540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585</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585</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610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610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610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610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610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630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b="1" dirty="0">
                          <a:solidFill>
                            <a:srgbClr val="1E2533"/>
                          </a:solidFill>
                          <a:latin typeface="Calibri" pitchFamily="34" charset="0"/>
                          <a:ea typeface="Calibri" pitchFamily="34" charset="-122"/>
                          <a:cs typeface="Calibri" pitchFamily="34" charset="-120"/>
                        </a:rPr>
                        <a:t>DD %</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−4.27</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−14.75</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E2533"/>
                          </a:solidFill>
                          <a:latin typeface="Calibri" pitchFamily="34" charset="0"/>
                          <a:ea typeface="Calibri" pitchFamily="34" charset="-122"/>
                          <a:cs typeface="Calibri" pitchFamily="34" charset="-120"/>
                        </a:rPr>
                        <a:t>−22.95</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4DADA"/>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−17.21</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−8.20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533"/>
                          </a:solidFill>
                          <a:latin typeface="Calibri" pitchFamily="34" charset="0"/>
                          <a:ea typeface="Calibri" pitchFamily="34" charset="-122"/>
                          <a:cs typeface="Calibri" pitchFamily="34" charset="-120"/>
                        </a:rPr>
                        <a:t>0.00</a:t>
                      </a:r>
                      <a:endParaRPr lang="en-US" sz="1200" dirty="0"/>
                    </a:p>
                  </a:txBody>
                  <a:tcPr marL="25400" marR="254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8" name="Text 4"/>
          <p:cNvSpPr txBox="1"/>
          <p:nvPr/>
        </p:nvSpPr>
        <p:spPr>
          <a:xfrm>
            <a:off x="502920" y="5897880"/>
            <a:ext cx="5760720" cy="320040"/>
          </a:xfrm>
          <a:prstGeom prst="rect">
            <a:avLst/>
          </a:prstGeom>
          <a:noFill/>
          <a:ln/>
        </p:spPr>
        <p:txBody>
          <a:bodyPr wrap="square" lIns="0" tIns="0" rIns="0" bIns="0" rtlCol="0" anchor="t"/>
          <a:lstStyle/>
          <a:p>
            <a:pPr marL="0" indent="0" algn="l">
              <a:buNone/>
            </a:pPr>
            <a:r>
              <a:rPr lang="en-US" sz="1300" dirty="0">
                <a:solidFill>
                  <a:srgbClr val="14213D"/>
                </a:solidFill>
                <a:latin typeface="Cambria" pitchFamily="34" charset="0"/>
                <a:ea typeface="Cambria" pitchFamily="34" charset="-122"/>
                <a:cs typeface="Cambria" pitchFamily="34" charset="-120"/>
              </a:rPr>
              <a:t>DD</a:t>
            </a:r>
            <a:r>
              <a:rPr lang="en-US" sz="1300" baseline="-40000" dirty="0">
                <a:solidFill>
                  <a:srgbClr val="14213D"/>
                </a:solidFill>
                <a:latin typeface="Cambria" pitchFamily="34" charset="0"/>
                <a:ea typeface="Cambria" pitchFamily="34" charset="-122"/>
                <a:cs typeface="Cambria" pitchFamily="34" charset="-120"/>
              </a:rPr>
              <a:t>t</a:t>
            </a:r>
            <a:r>
              <a:rPr lang="en-US" sz="1300" dirty="0">
                <a:solidFill>
                  <a:srgbClr val="14213D"/>
                </a:solidFill>
                <a:latin typeface="Cambria" pitchFamily="34" charset="0"/>
                <a:ea typeface="Cambria" pitchFamily="34" charset="-122"/>
                <a:cs typeface="Cambria" pitchFamily="34" charset="-120"/>
              </a:rPr>
              <a:t> = P</a:t>
            </a:r>
            <a:r>
              <a:rPr lang="en-US" sz="1300" baseline="-40000" dirty="0">
                <a:solidFill>
                  <a:srgbClr val="14213D"/>
                </a:solidFill>
                <a:latin typeface="Cambria" pitchFamily="34" charset="0"/>
                <a:ea typeface="Cambria" pitchFamily="34" charset="-122"/>
                <a:cs typeface="Cambria" pitchFamily="34" charset="-120"/>
              </a:rPr>
              <a:t>t</a:t>
            </a:r>
            <a:r>
              <a:rPr lang="en-US" sz="1300" dirty="0">
                <a:solidFill>
                  <a:srgbClr val="14213D"/>
                </a:solidFill>
                <a:latin typeface="Cambria" pitchFamily="34" charset="0"/>
                <a:ea typeface="Cambria" pitchFamily="34" charset="-122"/>
                <a:cs typeface="Cambria" pitchFamily="34" charset="-120"/>
              </a:rPr>
              <a:t> ÷ Peak</a:t>
            </a:r>
            <a:r>
              <a:rPr lang="en-US" sz="1300" baseline="-40000" dirty="0">
                <a:solidFill>
                  <a:srgbClr val="14213D"/>
                </a:solidFill>
                <a:latin typeface="Cambria" pitchFamily="34" charset="0"/>
                <a:ea typeface="Cambria" pitchFamily="34" charset="-122"/>
                <a:cs typeface="Cambria" pitchFamily="34" charset="-120"/>
              </a:rPr>
              <a:t>t</a:t>
            </a:r>
            <a:r>
              <a:rPr lang="en-US" sz="1300" dirty="0">
                <a:solidFill>
                  <a:srgbClr val="14213D"/>
                </a:solidFill>
                <a:latin typeface="Cambria" pitchFamily="34" charset="0"/>
                <a:ea typeface="Cambria" pitchFamily="34" charset="-122"/>
                <a:cs typeface="Cambria" pitchFamily="34" charset="-120"/>
              </a:rPr>
              <a:t> − 1</a:t>
            </a:r>
            <a:endParaRPr lang="en-US" sz="1300" dirty="0"/>
          </a:p>
        </p:txBody>
      </p:sp>
      <p:sp>
        <p:nvSpPr>
          <p:cNvPr id="9" name="Shape 5"/>
          <p:cNvSpPr/>
          <p:nvPr/>
        </p:nvSpPr>
        <p:spPr>
          <a:xfrm>
            <a:off x="6492240" y="1234440"/>
            <a:ext cx="5193792"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6"/>
          <p:cNvSpPr txBox="1"/>
          <p:nvPr/>
        </p:nvSpPr>
        <p:spPr>
          <a:xfrm>
            <a:off x="6675120" y="1371600"/>
            <a:ext cx="4846320" cy="4754880"/>
          </a:xfrm>
          <a:prstGeom prst="rect">
            <a:avLst/>
          </a:prstGeom>
          <a:noFill/>
          <a:ln/>
        </p:spPr>
        <p:txBody>
          <a:bodyPr wrap="square" lIns="0" tIns="0" rIns="0" bIns="0" rtlCol="0" anchor="t"/>
          <a:lstStyle/>
          <a:p>
            <a:pPr marL="0" indent="0" algn="l">
              <a:buNone/>
            </a:pPr>
            <a:r>
              <a:rPr lang="en-US" sz="1450" b="1" dirty="0">
                <a:solidFill>
                  <a:srgbClr val="8C6D0F"/>
                </a:solidFill>
                <a:latin typeface="Calibri" pitchFamily="34" charset="0"/>
                <a:ea typeface="Calibri" pitchFamily="34" charset="-122"/>
                <a:cs typeface="Calibri" pitchFamily="34" charset="-120"/>
              </a:rPr>
              <a:t>(a)–(b) Peaks and drawdowns</a:t>
            </a:r>
            <a:endParaRPr lang="en-US" sz="1450" dirty="0"/>
          </a:p>
          <a:p>
            <a:pPr marL="0" indent="0" algn="l">
              <a:spcAft>
                <a:spcPts val="800"/>
              </a:spcAft>
              <a:buNone/>
            </a:pPr>
            <a:r>
              <a:rPr lang="en-US" sz="1450" dirty="0">
                <a:solidFill>
                  <a:srgbClr val="1E2533"/>
                </a:solidFill>
                <a:latin typeface="Calibri" pitchFamily="34" charset="0"/>
                <a:ea typeface="Calibri" pitchFamily="34" charset="-122"/>
                <a:cs typeface="Calibri" pitchFamily="34" charset="-120"/>
              </a:rPr>
              <a:t>The peak rises to ₹585 (W3), ₹610 (W5) and ₹630 (W10). Example W6: 520 ÷ 610 − 1 = −14.75%.</a:t>
            </a:r>
            <a:endParaRPr lang="en-US" sz="1450" dirty="0"/>
          </a:p>
          <a:p>
            <a:pPr marL="0" indent="0" algn="l">
              <a:buNone/>
            </a:pPr>
            <a:r>
              <a:rPr lang="en-US" sz="1450" b="1" dirty="0">
                <a:solidFill>
                  <a:srgbClr val="8C6D0F"/>
                </a:solidFill>
                <a:latin typeface="Calibri" pitchFamily="34" charset="0"/>
                <a:ea typeface="Calibri" pitchFamily="34" charset="-122"/>
                <a:cs typeface="Calibri" pitchFamily="34" charset="-120"/>
              </a:rPr>
              <a:t>(c) Maximum drawdown</a:t>
            </a:r>
            <a:endParaRPr lang="en-US" sz="1450" dirty="0"/>
          </a:p>
          <a:p>
            <a:pPr marL="0" indent="0" algn="l">
              <a:spcAft>
                <a:spcPts val="800"/>
              </a:spcAft>
              <a:buNone/>
            </a:pPr>
            <a:r>
              <a:rPr lang="en-US" sz="1450" dirty="0">
                <a:solidFill>
                  <a:srgbClr val="14213D"/>
                </a:solidFill>
                <a:latin typeface="Calibri" pitchFamily="34" charset="0"/>
                <a:ea typeface="Calibri" pitchFamily="34" charset="-122"/>
                <a:cs typeface="Calibri" pitchFamily="34" charset="-120"/>
              </a:rPr>
              <a:t>MDD = 470 ÷ 610 − 1 = −22.95%  (peak W5 → trough W7)</a:t>
            </a:r>
            <a:endParaRPr lang="en-US" sz="1450" dirty="0"/>
          </a:p>
          <a:p>
            <a:pPr marL="0" indent="0" algn="l">
              <a:buNone/>
            </a:pPr>
            <a:r>
              <a:rPr lang="en-US" sz="1450" b="1" dirty="0">
                <a:solidFill>
                  <a:srgbClr val="8C6D0F"/>
                </a:solidFill>
                <a:latin typeface="Calibri" pitchFamily="34" charset="0"/>
                <a:ea typeface="Calibri" pitchFamily="34" charset="-122"/>
                <a:cs typeface="Calibri" pitchFamily="34" charset="-120"/>
              </a:rPr>
              <a:t>(d) Recovery gain needed</a:t>
            </a:r>
            <a:endParaRPr lang="en-US" sz="1450" dirty="0"/>
          </a:p>
          <a:p>
            <a:pPr marL="0" indent="0" algn="l">
              <a:spcAft>
                <a:spcPts val="1000"/>
              </a:spcAft>
              <a:buNone/>
            </a:pPr>
            <a:r>
              <a:rPr lang="en-US" sz="1450" dirty="0">
                <a:solidFill>
                  <a:srgbClr val="14213D"/>
                </a:solidFill>
                <a:latin typeface="Calibri" pitchFamily="34" charset="0"/>
                <a:ea typeface="Calibri" pitchFamily="34" charset="-122"/>
                <a:cs typeface="Calibri" pitchFamily="34" charset="-120"/>
              </a:rPr>
              <a:t>610 ÷ 470 − 1 = +29.79%; recovered by W10 (₹630, new peak)</a:t>
            </a:r>
            <a:endParaRPr lang="en-US" sz="1450" dirty="0"/>
          </a:p>
          <a:p>
            <a:pPr marL="0" indent="0" algn="l">
              <a:buNone/>
            </a:pPr>
            <a:r>
              <a:rPr lang="en-US" sz="1450" b="1" dirty="0">
                <a:solidFill>
                  <a:srgbClr val="8C6D0F"/>
                </a:solidFill>
                <a:latin typeface="Calibri" pitchFamily="34" charset="0"/>
                <a:ea typeface="Calibri" pitchFamily="34" charset="-122"/>
                <a:cs typeface="Calibri" pitchFamily="34" charset="-120"/>
              </a:rPr>
              <a:t>Insight</a:t>
            </a:r>
            <a:endParaRPr lang="en-US" sz="1450" dirty="0"/>
          </a:p>
          <a:p>
            <a:pPr marL="0" indent="0" algn="l">
              <a:buNone/>
            </a:pPr>
            <a:r>
              <a:rPr lang="en-US" sz="1450" i="1" dirty="0">
                <a:solidFill>
                  <a:srgbClr val="1E2533"/>
                </a:solidFill>
                <a:latin typeface="Calibri" pitchFamily="34" charset="0"/>
                <a:ea typeface="Calibri" pitchFamily="34" charset="-122"/>
                <a:cs typeface="Calibri" pitchFamily="34" charset="-120"/>
              </a:rPr>
              <a:t>Losses and recoveries are asymmetric: a 22.95% fall needs a 29.79% rise to break even. Drawdown, not σ, is what makes investors panic-sell.</a:t>
            </a:r>
            <a:endParaRPr lang="en-US" sz="14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E5 · Protecting an Equity Portfolio with Nifty Put Options</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Advanced</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HNI investor holds a diversified equity portfolio (β = 1.0) and wants insurance against a crash over the next month without selling. She buys Nifty put options. Ignore dividends and the time value of the premium.</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Portfolio 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₹93,60,000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Portfolio beta</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Nifty 50 spot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24,000 (illustrative)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Put strike (K) / premium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23,500 / ₹240 per unit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Nifty lot size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65 units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Nifty at expiry: scenarios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21,600 / 24,000 / 26,400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Number of put lots and total premium.</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Net gain or loss of the hedged portfolio in each scenario.</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Maximum possible loss and the floor value of the portfolio.</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Cost of the insurance in the up scenario.</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16</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E5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914400"/>
        </p:xfrm>
        <a:graphic>
          <a:graphicData uri="http://schemas.openxmlformats.org/drawingml/2006/table">
            <a:tbl>
              <a:tblPr/>
              <a:tblGrid>
                <a:gridCol w="13258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Nifty at expiry</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Portfolio change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Put payoff</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Premium</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Net result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21,600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−₹9,36,000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₹7,41,000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−₹93,600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533"/>
                          </a:solidFill>
                          <a:latin typeface="Calibri" pitchFamily="34" charset="0"/>
                          <a:ea typeface="Calibri" pitchFamily="34" charset="-122"/>
                          <a:cs typeface="Calibri" pitchFamily="34" charset="-120"/>
                        </a:rPr>
                        <a:t>−₹2,88,600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24,000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−₹93,600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b="1" dirty="0">
                          <a:solidFill>
                            <a:srgbClr val="1E2533"/>
                          </a:solidFill>
                          <a:latin typeface="Calibri" pitchFamily="34" charset="0"/>
                          <a:ea typeface="Calibri" pitchFamily="34" charset="-122"/>
                          <a:cs typeface="Calibri" pitchFamily="34" charset="-120"/>
                        </a:rPr>
                        <a:t>−₹93,600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26,400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+₹9,36,000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−₹93,600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533"/>
                          </a:solidFill>
                          <a:latin typeface="Calibri" pitchFamily="34" charset="0"/>
                          <a:ea typeface="Calibri" pitchFamily="34" charset="-122"/>
                          <a:cs typeface="Calibri" pitchFamily="34" charset="-120"/>
                        </a:rPr>
                        <a:t>+₹8,42,400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txBox="1"/>
          <p:nvPr/>
        </p:nvSpPr>
        <p:spPr>
          <a:xfrm>
            <a:off x="685800" y="2670048"/>
            <a:ext cx="7360920" cy="3474720"/>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Lots and premium</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Lots = β × V ÷ (Nifty × lot) = 93,60,000 ÷ (24,000 × 65) = 6 lots = 390 units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Premium = 240 × 390 = ₹93,600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Example: Nifty 21,600 (−10%)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Put payoff = (23,500 − 21,600) × 390 = ₹7,41,000;  net = −9,36,000 + 7,41,000 − 93,600 = −₹2,88,600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Maximum loss and floor</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Max loss = (24,000 − 23,500) × 390 + 93,600 = ₹2,88,600;  floor = ₹90,71,400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Up scenario</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Gain ₹9,36,000 − premium ₹93,600 = ₹8,42,400: the insurance "costs" 1% of the portfolio</a:t>
            </a:r>
            <a:endParaRPr lang="en-US" sz="155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Buy 6 lots; premium ₹93,600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Loss capped at ₹2,88,600 (3.08%)</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Floor value ₹90,71,400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Upside kept, less the premium</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A put converts equity risk from symmetric to asymmetric: unlimited upside, limited downside, for a known price. Compare with futures hedging (Problem M4), which removes the upside too.</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17</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17</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Risk of Fixed Income Investment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Interest rate, reinvestment, credit, liquidity and inflation risk in bonds</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Meaning and the price–yield relationship</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Types of fixed income risk</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Indian and global examples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Duration, convexity, DV01 and expected credit loss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Five quantitative problems (F1–F5)</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Fixed Income Investment Risk: Meaning and Explanation</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11183112" cy="914400"/>
          </a:xfrm>
          <a:prstGeom prst="roundRect">
            <a:avLst>
              <a:gd name="adj" fmla="val 8000"/>
            </a:avLst>
          </a:prstGeom>
          <a:solidFill>
            <a:srgbClr val="14213D"/>
          </a:solidFill>
          <a:ln w="15875">
            <a:solidFill>
              <a:srgbClr val="C9A227"/>
            </a:solidFill>
            <a:prstDash val="solid"/>
          </a:ln>
        </p:spPr>
      </p:sp>
      <p:sp>
        <p:nvSpPr>
          <p:cNvPr id="7" name="Text 5"/>
          <p:cNvSpPr txBox="1"/>
          <p:nvPr/>
        </p:nvSpPr>
        <p:spPr>
          <a:xfrm>
            <a:off x="685800" y="1307592"/>
            <a:ext cx="10817352" cy="768096"/>
          </a:xfrm>
          <a:prstGeom prst="rect">
            <a:avLst/>
          </a:prstGeom>
          <a:noFill/>
          <a:ln/>
        </p:spPr>
        <p:txBody>
          <a:bodyPr wrap="square" lIns="0" tIns="0" rIns="0" bIns="0" rtlCol="0" anchor="ctr"/>
          <a:lstStyle/>
          <a:p>
            <a:pPr marL="0" indent="0" algn="l">
              <a:buNone/>
            </a:pPr>
            <a:r>
              <a:rPr lang="en-US" sz="1550" i="1" dirty="0">
                <a:solidFill>
                  <a:srgbClr val="FFFFFF"/>
                </a:solidFill>
                <a:latin typeface="Calibri" pitchFamily="34" charset="0"/>
                <a:ea typeface="Calibri" pitchFamily="34" charset="-122"/>
                <a:cs typeface="Calibri" pitchFamily="34" charset="-120"/>
              </a:rPr>
              <a:t>Fixed income risk is the possibility that the realised return on a bond or debt instrument differs from the yield promised at purchase, because interest rates, credit quality, liquidity or inflation change.</a:t>
            </a:r>
            <a:endParaRPr lang="en-US" sz="1550" dirty="0"/>
          </a:p>
        </p:txBody>
      </p:sp>
      <p:graphicFrame>
        <p:nvGraphicFramePr>
          <p:cNvPr id="8" name="Chart 0"/>
          <p:cNvGraphicFramePr/>
          <p:nvPr/>
        </p:nvGraphicFramePr>
        <p:xfrm>
          <a:off x="502920" y="2331720"/>
          <a:ext cx="539496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172200" y="2331720"/>
            <a:ext cx="5513832" cy="3886200"/>
          </a:xfrm>
          <a:prstGeom prst="roundRect">
            <a:avLst>
              <a:gd name="adj" fmla="val 1882"/>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7"/>
          <p:cNvSpPr txBox="1"/>
          <p:nvPr/>
        </p:nvSpPr>
        <p:spPr>
          <a:xfrm>
            <a:off x="6373368" y="2450592"/>
            <a:ext cx="5120640" cy="3657600"/>
          </a:xfrm>
          <a:prstGeom prst="rect">
            <a:avLst/>
          </a:prstGeom>
          <a:noFill/>
          <a:ln/>
        </p:spPr>
        <p:txBody>
          <a:bodyPr wrap="square" lIns="0" tIns="0" rIns="0" bIns="0" rtlCol="0" anchor="t"/>
          <a:lstStyle/>
          <a:p>
            <a:pPr marL="0" indent="0" algn="l">
              <a:spcAft>
                <a:spcPts val="600"/>
              </a:spcAft>
              <a:buNone/>
            </a:pPr>
            <a:r>
              <a:rPr lang="en-US" sz="1600" b="1" dirty="0">
                <a:solidFill>
                  <a:srgbClr val="8C6D0F"/>
                </a:solidFill>
                <a:latin typeface="Calibri" pitchFamily="34" charset="0"/>
                <a:ea typeface="Calibri" pitchFamily="34" charset="-122"/>
                <a:cs typeface="Calibri" pitchFamily="34" charset="-120"/>
              </a:rPr>
              <a:t>Four rules of bond price behaviour</a:t>
            </a:r>
            <a:endParaRPr lang="en-US" sz="1600" dirty="0"/>
          </a:p>
          <a:p>
            <a:pPr marL="177800" indent="-177800" algn="l">
              <a:spcAft>
                <a:spcPts val="800"/>
              </a:spcAft>
              <a:buSzPct val="100000"/>
              <a:buChar char="•"/>
            </a:pPr>
            <a:r>
              <a:rPr lang="en-US" sz="1450" dirty="0">
                <a:solidFill>
                  <a:srgbClr val="1E2533"/>
                </a:solidFill>
                <a:latin typeface="Calibri" pitchFamily="34" charset="0"/>
                <a:ea typeface="Calibri" pitchFamily="34" charset="-122"/>
                <a:cs typeface="Calibri" pitchFamily="34" charset="-120"/>
              </a:rPr>
              <a:t>Prices move </a:t>
            </a:r>
            <a:r>
              <a:rPr lang="en-US" sz="1450" b="1" dirty="0">
                <a:solidFill>
                  <a:srgbClr val="1E2533"/>
                </a:solidFill>
                <a:latin typeface="Calibri" pitchFamily="34" charset="0"/>
                <a:ea typeface="Calibri" pitchFamily="34" charset="-122"/>
                <a:cs typeface="Calibri" pitchFamily="34" charset="-120"/>
              </a:rPr>
              <a:t>inversely</a:t>
            </a:r>
            <a:r>
              <a:rPr lang="en-US" sz="1450" dirty="0">
                <a:solidFill>
                  <a:srgbClr val="1E2533"/>
                </a:solidFill>
                <a:latin typeface="Calibri" pitchFamily="34" charset="0"/>
                <a:ea typeface="Calibri" pitchFamily="34" charset="-122"/>
                <a:cs typeface="Calibri" pitchFamily="34" charset="-120"/>
              </a:rPr>
              <a:t> to yields: when RBI raises rates, bond prices fall.</a:t>
            </a:r>
            <a:endParaRPr lang="en-US" sz="1600" dirty="0"/>
          </a:p>
          <a:p>
            <a:pPr marL="177800" indent="-177800" algn="l">
              <a:spcAft>
                <a:spcPts val="800"/>
              </a:spcAft>
              <a:buSzPct val="100000"/>
              <a:buChar char="•"/>
            </a:pPr>
            <a:r>
              <a:rPr lang="en-US" sz="1450" dirty="0">
                <a:solidFill>
                  <a:srgbClr val="1E2533"/>
                </a:solidFill>
                <a:latin typeface="Calibri" pitchFamily="34" charset="0"/>
                <a:ea typeface="Calibri" pitchFamily="34" charset="-122"/>
                <a:cs typeface="Calibri" pitchFamily="34" charset="-120"/>
              </a:rPr>
              <a:t>Longer maturity → greater price sensitivity (higher duration).</a:t>
            </a:r>
            <a:endParaRPr lang="en-US" sz="1600" dirty="0"/>
          </a:p>
          <a:p>
            <a:pPr marL="177800" indent="-177800" algn="l">
              <a:spcAft>
                <a:spcPts val="800"/>
              </a:spcAft>
              <a:buSzPct val="100000"/>
              <a:buChar char="•"/>
            </a:pPr>
            <a:r>
              <a:rPr lang="en-US" sz="1450" dirty="0">
                <a:solidFill>
                  <a:srgbClr val="1E2533"/>
                </a:solidFill>
                <a:latin typeface="Calibri" pitchFamily="34" charset="0"/>
                <a:ea typeface="Calibri" pitchFamily="34" charset="-122"/>
                <a:cs typeface="Calibri" pitchFamily="34" charset="-120"/>
              </a:rPr>
              <a:t>Lower coupon → greater price sensitivity.</a:t>
            </a:r>
            <a:endParaRPr lang="en-US" sz="1600" dirty="0"/>
          </a:p>
          <a:p>
            <a:pPr marL="177800" indent="-177800" algn="l">
              <a:spcAft>
                <a:spcPts val="800"/>
              </a:spcAft>
              <a:buSzPct val="100000"/>
              <a:buChar char="•"/>
            </a:pPr>
            <a:r>
              <a:rPr lang="en-US" sz="1450" dirty="0">
                <a:solidFill>
                  <a:srgbClr val="1E2533"/>
                </a:solidFill>
                <a:latin typeface="Calibri" pitchFamily="34" charset="0"/>
                <a:ea typeface="Calibri" pitchFamily="34" charset="-122"/>
                <a:cs typeface="Calibri" pitchFamily="34" charset="-120"/>
              </a:rPr>
              <a:t>The curve is </a:t>
            </a:r>
            <a:r>
              <a:rPr lang="en-US" sz="1450" b="1" dirty="0">
                <a:solidFill>
                  <a:srgbClr val="1E2533"/>
                </a:solidFill>
                <a:latin typeface="Calibri" pitchFamily="34" charset="0"/>
                <a:ea typeface="Calibri" pitchFamily="34" charset="-122"/>
                <a:cs typeface="Calibri" pitchFamily="34" charset="-120"/>
              </a:rPr>
              <a:t>convex</a:t>
            </a:r>
            <a:r>
              <a:rPr lang="en-US" sz="1450" dirty="0">
                <a:solidFill>
                  <a:srgbClr val="1E2533"/>
                </a:solidFill>
                <a:latin typeface="Calibri" pitchFamily="34" charset="0"/>
                <a:ea typeface="Calibri" pitchFamily="34" charset="-122"/>
                <a:cs typeface="Calibri" pitchFamily="34" charset="-120"/>
              </a:rPr>
              <a:t>: a yield fall raises price by more than an equal yield rise lowers it.</a:t>
            </a:r>
            <a:endParaRPr lang="en-US" sz="1600" dirty="0"/>
          </a:p>
          <a:p>
            <a:pPr marL="0" indent="0" algn="l">
              <a:spcBef>
                <a:spcPts val="400"/>
              </a:spcBef>
              <a:buNone/>
            </a:pPr>
            <a:r>
              <a:rPr lang="en-US" sz="1450" i="1" dirty="0">
                <a:solidFill>
                  <a:srgbClr val="5C6577"/>
                </a:solidFill>
                <a:latin typeface="Calibri" pitchFamily="34" charset="0"/>
                <a:ea typeface="Calibri" pitchFamily="34" charset="-122"/>
                <a:cs typeface="Calibri" pitchFamily="34" charset="-120"/>
              </a:rPr>
              <a:t>Who bears it: bank treasuries (SLR G-secs), debt mutual funds, insurers and pension funds, EPFO, and individuals in bonds and debt funds.</a:t>
            </a:r>
            <a:endParaRPr lang="en-US" sz="16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Types of Fixed Income Risk</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457200" cy="45720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795528" y="1572768"/>
            <a:ext cx="237744" cy="237744"/>
          </a:xfrm>
          <a:prstGeom prst="rect">
            <a:avLst/>
          </a:prstGeom>
        </p:spPr>
      </p:pic>
      <p:sp>
        <p:nvSpPr>
          <p:cNvPr id="9" name="Text 6"/>
          <p:cNvSpPr txBox="1"/>
          <p:nvPr/>
        </p:nvSpPr>
        <p:spPr>
          <a:xfrm>
            <a:off x="1234440"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Interest rate (price) risk</a:t>
            </a:r>
            <a:endParaRPr lang="en-US" sz="1500" dirty="0"/>
          </a:p>
        </p:txBody>
      </p:sp>
      <p:sp>
        <p:nvSpPr>
          <p:cNvPr id="10" name="Text 7"/>
          <p:cNvSpPr txBox="1"/>
          <p:nvPr/>
        </p:nvSpPr>
        <p:spPr>
          <a:xfrm>
            <a:off x="685800"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Rising yields cut the market value of existing bonds.</a:t>
            </a:r>
            <a:endParaRPr lang="en-US" sz="1600" dirty="0"/>
          </a:p>
        </p:txBody>
      </p:sp>
      <p:sp>
        <p:nvSpPr>
          <p:cNvPr id="11" name="Shape 8"/>
          <p:cNvSpPr/>
          <p:nvPr/>
        </p:nvSpPr>
        <p:spPr>
          <a:xfrm>
            <a:off x="3367278"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3550158" y="1463040"/>
            <a:ext cx="457200" cy="45720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3659886" y="1572768"/>
            <a:ext cx="237744" cy="237744"/>
          </a:xfrm>
          <a:prstGeom prst="rect">
            <a:avLst/>
          </a:prstGeom>
        </p:spPr>
      </p:pic>
      <p:sp>
        <p:nvSpPr>
          <p:cNvPr id="14" name="Text 10"/>
          <p:cNvSpPr txBox="1"/>
          <p:nvPr/>
        </p:nvSpPr>
        <p:spPr>
          <a:xfrm>
            <a:off x="4098798"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Reinvestment risk</a:t>
            </a:r>
            <a:endParaRPr lang="en-US" sz="1500" dirty="0"/>
          </a:p>
        </p:txBody>
      </p:sp>
      <p:sp>
        <p:nvSpPr>
          <p:cNvPr id="15" name="Text 11"/>
          <p:cNvSpPr txBox="1"/>
          <p:nvPr/>
        </p:nvSpPr>
        <p:spPr>
          <a:xfrm>
            <a:off x="3550158"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Coupons must be reinvested at lower rates when yields fall.</a:t>
            </a:r>
            <a:endParaRPr lang="en-US" sz="1600" dirty="0"/>
          </a:p>
        </p:txBody>
      </p:sp>
      <p:sp>
        <p:nvSpPr>
          <p:cNvPr id="16" name="Shape 12"/>
          <p:cNvSpPr/>
          <p:nvPr/>
        </p:nvSpPr>
        <p:spPr>
          <a:xfrm>
            <a:off x="6231636"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6414516" y="1463040"/>
            <a:ext cx="457200" cy="45720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6524244" y="1572768"/>
            <a:ext cx="237744" cy="237744"/>
          </a:xfrm>
          <a:prstGeom prst="rect">
            <a:avLst/>
          </a:prstGeom>
        </p:spPr>
      </p:pic>
      <p:sp>
        <p:nvSpPr>
          <p:cNvPr id="19" name="Text 14"/>
          <p:cNvSpPr txBox="1"/>
          <p:nvPr/>
        </p:nvSpPr>
        <p:spPr>
          <a:xfrm>
            <a:off x="6963156"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Default risk</a:t>
            </a:r>
            <a:endParaRPr lang="en-US" sz="1500" dirty="0"/>
          </a:p>
        </p:txBody>
      </p:sp>
      <p:sp>
        <p:nvSpPr>
          <p:cNvPr id="20" name="Text 15"/>
          <p:cNvSpPr txBox="1"/>
          <p:nvPr/>
        </p:nvSpPr>
        <p:spPr>
          <a:xfrm>
            <a:off x="6414516"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Issuer fails to pay interest or principal (IL&amp;FS, DHFL).</a:t>
            </a:r>
            <a:endParaRPr lang="en-US" sz="1600" dirty="0"/>
          </a:p>
        </p:txBody>
      </p:sp>
      <p:sp>
        <p:nvSpPr>
          <p:cNvPr id="21" name="Shape 16"/>
          <p:cNvSpPr/>
          <p:nvPr/>
        </p:nvSpPr>
        <p:spPr>
          <a:xfrm>
            <a:off x="9095994" y="128016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9278874" y="1463040"/>
            <a:ext cx="457200" cy="45720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9388602" y="1572768"/>
            <a:ext cx="237744" cy="237744"/>
          </a:xfrm>
          <a:prstGeom prst="rect">
            <a:avLst/>
          </a:prstGeom>
        </p:spPr>
      </p:pic>
      <p:sp>
        <p:nvSpPr>
          <p:cNvPr id="24" name="Text 18"/>
          <p:cNvSpPr txBox="1"/>
          <p:nvPr/>
        </p:nvSpPr>
        <p:spPr>
          <a:xfrm>
            <a:off x="9827514" y="142646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Downgrade &amp; spread risk</a:t>
            </a:r>
            <a:endParaRPr lang="en-US" sz="1500" dirty="0"/>
          </a:p>
        </p:txBody>
      </p:sp>
      <p:sp>
        <p:nvSpPr>
          <p:cNvPr id="25" name="Text 19"/>
          <p:cNvSpPr txBox="1"/>
          <p:nvPr/>
        </p:nvSpPr>
        <p:spPr>
          <a:xfrm>
            <a:off x="9278874" y="199339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 rating cut or wider credit spread lowers price before any default.</a:t>
            </a:r>
            <a:endParaRPr lang="en-US" sz="1600" dirty="0"/>
          </a:p>
        </p:txBody>
      </p:sp>
      <p:sp>
        <p:nvSpPr>
          <p:cNvPr id="26" name="Shape 20"/>
          <p:cNvSpPr/>
          <p:nvPr/>
        </p:nvSpPr>
        <p:spPr>
          <a:xfrm>
            <a:off x="502920"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685800" y="4069080"/>
            <a:ext cx="457200" cy="45720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795528" y="4178808"/>
            <a:ext cx="237744" cy="237744"/>
          </a:xfrm>
          <a:prstGeom prst="rect">
            <a:avLst/>
          </a:prstGeom>
        </p:spPr>
      </p:pic>
      <p:sp>
        <p:nvSpPr>
          <p:cNvPr id="29" name="Text 22"/>
          <p:cNvSpPr txBox="1"/>
          <p:nvPr/>
        </p:nvSpPr>
        <p:spPr>
          <a:xfrm>
            <a:off x="1234440"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Liquidity risk</a:t>
            </a:r>
            <a:endParaRPr lang="en-US" sz="1500" dirty="0"/>
          </a:p>
        </p:txBody>
      </p:sp>
      <p:sp>
        <p:nvSpPr>
          <p:cNvPr id="30" name="Text 23"/>
          <p:cNvSpPr txBox="1"/>
          <p:nvPr/>
        </p:nvSpPr>
        <p:spPr>
          <a:xfrm>
            <a:off x="685800"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Corporate bonds trade thinly; selling in stress means deep discounts.</a:t>
            </a:r>
            <a:endParaRPr lang="en-US" sz="1600" dirty="0"/>
          </a:p>
        </p:txBody>
      </p:sp>
      <p:sp>
        <p:nvSpPr>
          <p:cNvPr id="31" name="Shape 24"/>
          <p:cNvSpPr/>
          <p:nvPr/>
        </p:nvSpPr>
        <p:spPr>
          <a:xfrm>
            <a:off x="3367278"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2" name="Shape 25"/>
          <p:cNvSpPr/>
          <p:nvPr/>
        </p:nvSpPr>
        <p:spPr>
          <a:xfrm>
            <a:off x="3550158" y="4069080"/>
            <a:ext cx="457200" cy="45720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3659886" y="4178808"/>
            <a:ext cx="237744" cy="237744"/>
          </a:xfrm>
          <a:prstGeom prst="rect">
            <a:avLst/>
          </a:prstGeom>
        </p:spPr>
      </p:pic>
      <p:sp>
        <p:nvSpPr>
          <p:cNvPr id="34" name="Text 26"/>
          <p:cNvSpPr txBox="1"/>
          <p:nvPr/>
        </p:nvSpPr>
        <p:spPr>
          <a:xfrm>
            <a:off x="4098798"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Inflation risk</a:t>
            </a:r>
            <a:endParaRPr lang="en-US" sz="1500" dirty="0"/>
          </a:p>
        </p:txBody>
      </p:sp>
      <p:sp>
        <p:nvSpPr>
          <p:cNvPr id="35" name="Text 27"/>
          <p:cNvSpPr txBox="1"/>
          <p:nvPr/>
        </p:nvSpPr>
        <p:spPr>
          <a:xfrm>
            <a:off x="3550158"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Fixed coupons lose purchasing power when inflation rises.</a:t>
            </a:r>
            <a:endParaRPr lang="en-US" sz="1600" dirty="0"/>
          </a:p>
        </p:txBody>
      </p:sp>
      <p:sp>
        <p:nvSpPr>
          <p:cNvPr id="36" name="Shape 28"/>
          <p:cNvSpPr/>
          <p:nvPr/>
        </p:nvSpPr>
        <p:spPr>
          <a:xfrm>
            <a:off x="6231636"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7" name="Shape 29"/>
          <p:cNvSpPr/>
          <p:nvPr/>
        </p:nvSpPr>
        <p:spPr>
          <a:xfrm>
            <a:off x="6414516" y="4069080"/>
            <a:ext cx="457200" cy="457200"/>
          </a:xfrm>
          <a:prstGeom prst="ellipse">
            <a:avLst/>
          </a:prstGeom>
          <a:solidFill>
            <a:srgbClr val="14213D"/>
          </a:solidFill>
          <a:ln w="12700">
            <a:solidFill>
              <a:srgbClr val="14213D"/>
            </a:solidFill>
            <a:prstDash val="solid"/>
          </a:ln>
        </p:spPr>
      </p:sp>
      <p:pic>
        <p:nvPicPr>
          <p:cNvPr id="38" name="Image 6" descr="preencoded.png"/>
          <p:cNvPicPr>
            <a:picLocks noChangeAspect="1"/>
          </p:cNvPicPr>
          <p:nvPr/>
        </p:nvPicPr>
        <p:blipFill>
          <a:blip r:embed="rId9"/>
          <a:stretch>
            <a:fillRect/>
          </a:stretch>
        </p:blipFill>
        <p:spPr>
          <a:xfrm>
            <a:off x="6524244" y="4178808"/>
            <a:ext cx="237744" cy="237744"/>
          </a:xfrm>
          <a:prstGeom prst="rect">
            <a:avLst/>
          </a:prstGeom>
        </p:spPr>
      </p:pic>
      <p:sp>
        <p:nvSpPr>
          <p:cNvPr id="39" name="Text 30"/>
          <p:cNvSpPr txBox="1"/>
          <p:nvPr/>
        </p:nvSpPr>
        <p:spPr>
          <a:xfrm>
            <a:off x="6963156"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Call / prepayment risk</a:t>
            </a:r>
            <a:endParaRPr lang="en-US" sz="1500" dirty="0"/>
          </a:p>
        </p:txBody>
      </p:sp>
      <p:sp>
        <p:nvSpPr>
          <p:cNvPr id="40" name="Text 31"/>
          <p:cNvSpPr txBox="1"/>
          <p:nvPr/>
        </p:nvSpPr>
        <p:spPr>
          <a:xfrm>
            <a:off x="6414516"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Issuer redeems early when rates fall; investor loses a high coupon.</a:t>
            </a:r>
            <a:endParaRPr lang="en-US" sz="1600" dirty="0"/>
          </a:p>
        </p:txBody>
      </p:sp>
      <p:sp>
        <p:nvSpPr>
          <p:cNvPr id="41" name="Shape 32"/>
          <p:cNvSpPr/>
          <p:nvPr/>
        </p:nvSpPr>
        <p:spPr>
          <a:xfrm>
            <a:off x="9095994" y="3886200"/>
            <a:ext cx="2590038"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42" name="Shape 33"/>
          <p:cNvSpPr/>
          <p:nvPr/>
        </p:nvSpPr>
        <p:spPr>
          <a:xfrm>
            <a:off x="9278874" y="4069080"/>
            <a:ext cx="457200" cy="457200"/>
          </a:xfrm>
          <a:prstGeom prst="ellipse">
            <a:avLst/>
          </a:prstGeom>
          <a:solidFill>
            <a:srgbClr val="14213D"/>
          </a:solidFill>
          <a:ln w="12700">
            <a:solidFill>
              <a:srgbClr val="14213D"/>
            </a:solidFill>
            <a:prstDash val="solid"/>
          </a:ln>
        </p:spPr>
      </p:sp>
      <p:pic>
        <p:nvPicPr>
          <p:cNvPr id="43" name="Image 7" descr="preencoded.png"/>
          <p:cNvPicPr>
            <a:picLocks noChangeAspect="1"/>
          </p:cNvPicPr>
          <p:nvPr/>
        </p:nvPicPr>
        <p:blipFill>
          <a:blip r:embed="rId10"/>
          <a:stretch>
            <a:fillRect/>
          </a:stretch>
        </p:blipFill>
        <p:spPr>
          <a:xfrm>
            <a:off x="9388602" y="4178808"/>
            <a:ext cx="237744" cy="237744"/>
          </a:xfrm>
          <a:prstGeom prst="rect">
            <a:avLst/>
          </a:prstGeom>
        </p:spPr>
      </p:pic>
      <p:sp>
        <p:nvSpPr>
          <p:cNvPr id="44" name="Text 34"/>
          <p:cNvSpPr txBox="1"/>
          <p:nvPr/>
        </p:nvSpPr>
        <p:spPr>
          <a:xfrm>
            <a:off x="9827514" y="4032504"/>
            <a:ext cx="1675638" cy="502920"/>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Structural / write-down risk</a:t>
            </a:r>
            <a:endParaRPr lang="en-US" sz="1500" dirty="0"/>
          </a:p>
        </p:txBody>
      </p:sp>
      <p:sp>
        <p:nvSpPr>
          <p:cNvPr id="45" name="Text 35"/>
          <p:cNvSpPr txBox="1"/>
          <p:nvPr/>
        </p:nvSpPr>
        <p:spPr>
          <a:xfrm>
            <a:off x="9278874" y="4599432"/>
            <a:ext cx="2224278" cy="1508760"/>
          </a:xfrm>
          <a:prstGeom prst="rect">
            <a:avLst/>
          </a:prstGeom>
          <a:noFill/>
          <a:ln/>
        </p:spPr>
        <p:txBody>
          <a:bodyPr wrap="square" lIns="0" tIns="0" rIns="0" bIns="0" rtlCol="0" anchor="t"/>
          <a:lstStyle/>
          <a:p>
            <a:pPr marL="0" indent="0" algn="l">
              <a:buNone/>
            </a:pPr>
            <a:r>
              <a:rPr lang="en-US" sz="1600" dirty="0">
                <a:solidFill>
                  <a:srgbClr val="1E2533"/>
                </a:solidFill>
                <a:latin typeface="Calibri" pitchFamily="34" charset="0"/>
                <a:ea typeface="Calibri" pitchFamily="34" charset="-122"/>
                <a:cs typeface="Calibri" pitchFamily="34" charset="-120"/>
              </a:rPr>
              <a:t>AT1 bonds can be written down or converted when a bank is in trouble.</a:t>
            </a:r>
            <a:endParaRPr lang="en-US" sz="1600" dirty="0"/>
          </a:p>
        </p:txBody>
      </p:sp>
      <p:sp>
        <p:nvSpPr>
          <p:cNvPr id="4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Fixed Income Risk in Action: Examples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12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97103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Event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happened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74980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RBI hiking cycle (May 2022–Feb 2023)</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Interest rate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Repo rose 250 bp to 6.50%; G-sec yields rose and banks reported mark-to-market losses on bond portfolios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IL&amp;FS (Sep 2018)</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Default, downgrade, liquidity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Paper rated AAA shortly before was downgraded to default; debt funds holding it marked down NAVs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74980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Franklin Templeton India (Apr 2020)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Liquidity &amp; credit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Six credit-oriented debt schemes were wound up after redemptions met illiquid lower-rated bonds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Yes Bank AT1 bonds (Mar 2020)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Structural write-down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About ₹8,400 crore of AT1 bonds were written down to zero under the reconstruction scheme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749808">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Silicon Valley Bank (Mar 2023)</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Interest rate &amp; liquidity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Losses on long-dated bonds bought at low yields were crystallised when depositors withdrew funds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Fixed Income Risk: Measurement Formulas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6400800"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89888"/>
            <a:ext cx="5943600"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Key formulas</a:t>
            </a:r>
            <a:endParaRPr lang="en-US" sz="1500" dirty="0"/>
          </a:p>
        </p:txBody>
      </p:sp>
      <p:sp>
        <p:nvSpPr>
          <p:cNvPr id="8" name="Text 6"/>
          <p:cNvSpPr txBox="1"/>
          <p:nvPr/>
        </p:nvSpPr>
        <p:spPr>
          <a:xfrm>
            <a:off x="731520" y="1783080"/>
            <a:ext cx="5943600" cy="4343400"/>
          </a:xfrm>
          <a:prstGeom prst="rect">
            <a:avLst/>
          </a:prstGeom>
          <a:noFill/>
          <a:ln/>
        </p:spPr>
        <p:txBody>
          <a:bodyPr wrap="square" lIns="0" tIns="0" rIns="0" bIns="0" rtlCol="0" anchor="t"/>
          <a:lstStyle/>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Bond price (m coupons a year)</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P = Σ (C/m) ÷ (1 + y/m)</a:t>
            </a:r>
            <a:r>
              <a:rPr lang="en-US" sz="1650" baseline="3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 F ÷ (1 + y/m)</a:t>
            </a:r>
            <a:r>
              <a:rPr lang="en-US" sz="1650" baseline="30000" dirty="0">
                <a:solidFill>
                  <a:srgbClr val="1E2533"/>
                </a:solidFill>
                <a:latin typeface="Cambria" pitchFamily="34" charset="0"/>
                <a:ea typeface="Cambria" pitchFamily="34" charset="-122"/>
                <a:cs typeface="Cambria" pitchFamily="34" charset="-120"/>
              </a:rPr>
              <a:t>mn</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Macaulay and modified duration</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D = Σ t × PV(CF</a:t>
            </a:r>
            <a:r>
              <a:rPr lang="en-US" sz="1650" baseline="-4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 P;   D</a:t>
            </a:r>
            <a:r>
              <a:rPr lang="en-US" sz="1650" baseline="-40000" dirty="0">
                <a:solidFill>
                  <a:srgbClr val="1E2533"/>
                </a:solidFill>
                <a:latin typeface="Cambria" pitchFamily="34" charset="0"/>
                <a:ea typeface="Cambria" pitchFamily="34" charset="-122"/>
                <a:cs typeface="Cambria" pitchFamily="34" charset="-120"/>
              </a:rPr>
              <a:t>mod</a:t>
            </a:r>
            <a:r>
              <a:rPr lang="en-US" sz="1650" dirty="0">
                <a:solidFill>
                  <a:srgbClr val="1E2533"/>
                </a:solidFill>
                <a:latin typeface="Cambria" pitchFamily="34" charset="0"/>
                <a:ea typeface="Cambria" pitchFamily="34" charset="-122"/>
                <a:cs typeface="Cambria" pitchFamily="34" charset="-120"/>
              </a:rPr>
              <a:t> = D ÷ (1 + y/m)</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Convexity (annual coupons)</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Conv = Σ CF</a:t>
            </a:r>
            <a:r>
              <a:rPr lang="en-US" sz="1650" baseline="-4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t(t+1) ÷ (1+y)</a:t>
            </a:r>
            <a:r>
              <a:rPr lang="en-US" sz="1650" baseline="30000" dirty="0">
                <a:solidFill>
                  <a:srgbClr val="1E2533"/>
                </a:solidFill>
                <a:latin typeface="Cambria" pitchFamily="34" charset="0"/>
                <a:ea typeface="Cambria" pitchFamily="34" charset="-122"/>
                <a:cs typeface="Cambria" pitchFamily="34" charset="-120"/>
              </a:rPr>
              <a:t>t+2</a:t>
            </a:r>
            <a:r>
              <a:rPr lang="en-US" sz="1650" dirty="0">
                <a:solidFill>
                  <a:srgbClr val="1E2533"/>
                </a:solidFill>
                <a:latin typeface="Cambria" pitchFamily="34" charset="0"/>
                <a:ea typeface="Cambria" pitchFamily="34" charset="-122"/>
                <a:cs typeface="Cambria" pitchFamily="34" charset="-120"/>
              </a:rPr>
              <a:t> ÷ P</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Price change approximation</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ΔP/P </a:t>
            </a:r>
            <a:r>
              <a:rPr lang="en-US" sz="1650" dirty="0">
                <a:solidFill>
                  <a:srgbClr val="1E2533"/>
                </a:solidFill>
                <a:latin typeface="Calibri" pitchFamily="34" charset="0"/>
                <a:ea typeface="Calibri" pitchFamily="34" charset="-122"/>
                <a:cs typeface="Calibri" pitchFamily="34" charset="-120"/>
              </a:rPr>
              <a:t>≈</a:t>
            </a:r>
            <a:r>
              <a:rPr lang="en-US" sz="1650" dirty="0">
                <a:solidFill>
                  <a:srgbClr val="1E2533"/>
                </a:solidFill>
                <a:latin typeface="Cambria" pitchFamily="34" charset="0"/>
                <a:ea typeface="Cambria" pitchFamily="34" charset="-122"/>
                <a:cs typeface="Cambria" pitchFamily="34" charset="-120"/>
              </a:rPr>
              <a:t> −D</a:t>
            </a:r>
            <a:r>
              <a:rPr lang="en-US" sz="1650" baseline="-40000" dirty="0">
                <a:solidFill>
                  <a:srgbClr val="1E2533"/>
                </a:solidFill>
                <a:latin typeface="Cambria" pitchFamily="34" charset="0"/>
                <a:ea typeface="Cambria" pitchFamily="34" charset="-122"/>
                <a:cs typeface="Cambria" pitchFamily="34" charset="-120"/>
              </a:rPr>
              <a:t>mod</a:t>
            </a:r>
            <a:r>
              <a:rPr lang="en-US" sz="1650" dirty="0">
                <a:solidFill>
                  <a:srgbClr val="1E2533"/>
                </a:solidFill>
                <a:latin typeface="Cambria" pitchFamily="34" charset="0"/>
                <a:ea typeface="Cambria" pitchFamily="34" charset="-122"/>
                <a:cs typeface="Cambria" pitchFamily="34" charset="-120"/>
              </a:rPr>
              <a:t>Δy + ½ Conv (Δy)</a:t>
            </a:r>
            <a:r>
              <a:rPr lang="en-US" sz="1650" baseline="30000" dirty="0">
                <a:solidFill>
                  <a:srgbClr val="1E2533"/>
                </a:solidFill>
                <a:latin typeface="Cambria" pitchFamily="34" charset="0"/>
                <a:ea typeface="Cambria" pitchFamily="34" charset="-122"/>
                <a:cs typeface="Cambria" pitchFamily="34" charset="-120"/>
              </a:rPr>
              <a:t>2</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DV01 and interest rate VaR</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DV01 = D</a:t>
            </a:r>
            <a:r>
              <a:rPr lang="en-US" sz="1650" baseline="-40000" dirty="0">
                <a:solidFill>
                  <a:srgbClr val="1E2533"/>
                </a:solidFill>
                <a:latin typeface="Cambria" pitchFamily="34" charset="0"/>
                <a:ea typeface="Cambria" pitchFamily="34" charset="-122"/>
                <a:cs typeface="Cambria" pitchFamily="34" charset="-120"/>
              </a:rPr>
              <a:t>mod</a:t>
            </a:r>
            <a:r>
              <a:rPr lang="en-US" sz="1650" dirty="0">
                <a:solidFill>
                  <a:srgbClr val="1E2533"/>
                </a:solidFill>
                <a:latin typeface="Cambria" pitchFamily="34" charset="0"/>
                <a:ea typeface="Cambria" pitchFamily="34" charset="-122"/>
                <a:cs typeface="Cambria" pitchFamily="34" charset="-120"/>
              </a:rPr>
              <a:t> × P × 0.0001;   VaR = z × σ</a:t>
            </a:r>
            <a:r>
              <a:rPr lang="en-US" sz="1650" baseline="-40000" dirty="0">
                <a:solidFill>
                  <a:srgbClr val="1E2533"/>
                </a:solidFill>
                <a:latin typeface="Cambria" pitchFamily="34" charset="0"/>
                <a:ea typeface="Cambria" pitchFamily="34" charset="-122"/>
                <a:cs typeface="Cambria" pitchFamily="34" charset="-120"/>
              </a:rPr>
              <a:t>Δy(bp)</a:t>
            </a:r>
            <a:r>
              <a:rPr lang="en-US" sz="1650" dirty="0">
                <a:solidFill>
                  <a:srgbClr val="1E2533"/>
                </a:solidFill>
                <a:latin typeface="Cambria" pitchFamily="34" charset="0"/>
                <a:ea typeface="Cambria" pitchFamily="34" charset="-122"/>
                <a:cs typeface="Cambria" pitchFamily="34" charset="-120"/>
              </a:rPr>
              <a:t> × DV01</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Expected credit loss and spread</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EL = PD × LGD × EAD;   Spread </a:t>
            </a:r>
            <a:r>
              <a:rPr lang="en-US" sz="1650" dirty="0">
                <a:solidFill>
                  <a:srgbClr val="1E2533"/>
                </a:solidFill>
                <a:latin typeface="Calibri" pitchFamily="34" charset="0"/>
                <a:ea typeface="Calibri" pitchFamily="34" charset="-122"/>
                <a:cs typeface="Calibri" pitchFamily="34" charset="-120"/>
              </a:rPr>
              <a:t>≈</a:t>
            </a:r>
            <a:r>
              <a:rPr lang="en-US" sz="1650" dirty="0">
                <a:solidFill>
                  <a:srgbClr val="1E2533"/>
                </a:solidFill>
                <a:latin typeface="Cambria" pitchFamily="34" charset="0"/>
                <a:ea typeface="Cambria" pitchFamily="34" charset="-122"/>
                <a:cs typeface="Cambria" pitchFamily="34" charset="-120"/>
              </a:rPr>
              <a:t> PD × LGD</a:t>
            </a:r>
            <a:endParaRPr lang="en-US" sz="1450" dirty="0"/>
          </a:p>
        </p:txBody>
      </p:sp>
      <p:sp>
        <p:nvSpPr>
          <p:cNvPr id="9" name="Shape 7"/>
          <p:cNvSpPr/>
          <p:nvPr/>
        </p:nvSpPr>
        <p:spPr>
          <a:xfrm>
            <a:off x="7178040" y="1280160"/>
            <a:ext cx="4507992" cy="4937760"/>
          </a:xfrm>
          <a:prstGeom prst="roundRect">
            <a:avLst>
              <a:gd name="adj" fmla="val 162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7406640" y="1389888"/>
            <a:ext cx="405079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Notation key</a:t>
            </a:r>
            <a:endParaRPr lang="en-US" sz="15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7406640" y="1810512"/>
          <a:ext cx="4050792" cy="914400"/>
        </p:xfrm>
        <a:graphic>
          <a:graphicData uri="http://schemas.openxmlformats.org/drawingml/2006/table">
            <a:tbl>
              <a:tblPr/>
              <a:tblGrid>
                <a:gridCol w="1143000">
                  <a:extLst>
                    <a:ext uri="{9D8B030D-6E8A-4147-A177-3AD203B41FA5}">
                      <a16:colId xmlns:a16="http://schemas.microsoft.com/office/drawing/2014/main" val="20000"/>
                    </a:ext>
                  </a:extLst>
                </a:gridCol>
                <a:gridCol w="2907792">
                  <a:extLst>
                    <a:ext uri="{9D8B030D-6E8A-4147-A177-3AD203B41FA5}">
                      <a16:colId xmlns:a16="http://schemas.microsoft.com/office/drawing/2014/main" val="20001"/>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Symbol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Meaning</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P, F</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Bond price; face value</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C, m, n</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Annual coupon; payments per year; years to maturity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y, Δy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Yield to maturity; change in yield (decimal)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CF</a:t>
                      </a:r>
                      <a:r>
                        <a:rPr lang="en-US" sz="1300" b="1" baseline="-40000" dirty="0">
                          <a:solidFill>
                            <a:srgbClr val="1E2533"/>
                          </a:solidFill>
                          <a:latin typeface="Calibri" pitchFamily="34" charset="0"/>
                          <a:ea typeface="Calibri" pitchFamily="34" charset="-122"/>
                          <a:cs typeface="Calibri" pitchFamily="34" charset="-120"/>
                        </a:rPr>
                        <a:t>t</a:t>
                      </a:r>
                      <a:r>
                        <a:rPr lang="en-US" sz="1300" b="1" dirty="0">
                          <a:solidFill>
                            <a:srgbClr val="1E2533"/>
                          </a:solidFill>
                          <a:latin typeface="Calibri" pitchFamily="34" charset="0"/>
                          <a:ea typeface="Calibri" pitchFamily="34" charset="-122"/>
                          <a:cs typeface="Calibri" pitchFamily="34" charset="-120"/>
                        </a:rPr>
                        <a:t>, 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Cash flow at time t; time in years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D, D</a:t>
                      </a:r>
                      <a:r>
                        <a:rPr lang="en-US" sz="1300" b="1" baseline="-40000" dirty="0">
                          <a:solidFill>
                            <a:srgbClr val="1E2533"/>
                          </a:solidFill>
                          <a:latin typeface="Calibri" pitchFamily="34" charset="0"/>
                          <a:ea typeface="Calibri" pitchFamily="34" charset="-122"/>
                          <a:cs typeface="Calibri" pitchFamily="34" charset="-120"/>
                        </a:rPr>
                        <a:t>mod</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Macaulay duration (years); modified duration</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Conv</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Convexity (years</a:t>
                      </a:r>
                      <a:r>
                        <a:rPr lang="en-US" sz="1300" baseline="30000" dirty="0">
                          <a:solidFill>
                            <a:srgbClr val="1E2533"/>
                          </a:solidFill>
                          <a:latin typeface="Calibri" pitchFamily="34" charset="0"/>
                          <a:ea typeface="Calibri" pitchFamily="34" charset="-122"/>
                          <a:cs typeface="Calibri" pitchFamily="34" charset="-120"/>
                        </a:rPr>
                        <a:t>2</a:t>
                      </a:r>
                      <a:r>
                        <a:rPr lang="en-US" sz="1300" dirty="0">
                          <a:solidFill>
                            <a:srgbClr val="1E2533"/>
                          </a:solidFill>
                          <a:latin typeface="Calibri" pitchFamily="34" charset="0"/>
                          <a:ea typeface="Calibri" pitchFamily="34" charset="-122"/>
                          <a:cs typeface="Calibri" pitchFamily="34" charset="-120"/>
                        </a:rPr>
                        <a: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DV01</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Price change for a 1 bp move in yield (₹)</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σ</a:t>
                      </a:r>
                      <a:r>
                        <a:rPr lang="en-US" sz="1300" b="1" baseline="-40000" dirty="0">
                          <a:solidFill>
                            <a:srgbClr val="1E2533"/>
                          </a:solidFill>
                          <a:latin typeface="Calibri" pitchFamily="34" charset="0"/>
                          <a:ea typeface="Calibri" pitchFamily="34" charset="-122"/>
                          <a:cs typeface="Calibri" pitchFamily="34" charset="-120"/>
                        </a:rPr>
                        <a:t>Δy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Std. dev. of daily yield change (bp)</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PD, LGD, EAD</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Probability of default; loss given default; exposure at default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F1 · Pricing a Government Security and the Effect of a Yield Rise</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Basic</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bank treasury holds a 7.10% Government of India security with exactly 5 years to maturity (semi-annual coupons, face ₹100), traded on NDS-OM. The market yield is 7.00%; after an unexpected CPI print, yields rise to 7.50%.</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Coupon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7.10% p.a., paid half-yearly (₹3.55 per half-year)</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Face 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Time to maturity</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 years (10 half-years)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Initial YTM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7.00% p.a. (3.50% per half-year)</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New YTM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7.50% p.a. (3.75% per half-year)</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Price at 7.00% YTM.</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Price at 7.50% YTM.</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Change in price in ₹ and %.</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Loss on a holding of face value ₹100 crore.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F1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Price at 7.00%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(1.035)</a:t>
            </a:r>
            <a:r>
              <a:rPr lang="en-US" sz="1500" baseline="30000" dirty="0">
                <a:solidFill>
                  <a:srgbClr val="14213D"/>
                </a:solidFill>
                <a:latin typeface="Cambria" pitchFamily="34" charset="0"/>
                <a:ea typeface="Cambria" pitchFamily="34" charset="-122"/>
                <a:cs typeface="Cambria" pitchFamily="34" charset="-120"/>
              </a:rPr>
              <a:t>−10</a:t>
            </a:r>
            <a:r>
              <a:rPr lang="en-US" sz="1500" dirty="0">
                <a:solidFill>
                  <a:srgbClr val="14213D"/>
                </a:solidFill>
                <a:latin typeface="Cambria" pitchFamily="34" charset="0"/>
                <a:ea typeface="Cambria" pitchFamily="34" charset="-122"/>
                <a:cs typeface="Cambria" pitchFamily="34" charset="-120"/>
              </a:rPr>
              <a:t> = 0.708919;  annuity factor = (1 − 0.708919) ÷ 0.035 = 8.316605</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 = 3.55 × 8.316605 + 100 × 0.708919 = 29.5239 + 70.8919 = ₹100.4158</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Price at 7.50%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(1.0375)</a:t>
            </a:r>
            <a:r>
              <a:rPr lang="en-US" sz="1500" baseline="30000" dirty="0">
                <a:solidFill>
                  <a:srgbClr val="14213D"/>
                </a:solidFill>
                <a:latin typeface="Cambria" pitchFamily="34" charset="0"/>
                <a:ea typeface="Cambria" pitchFamily="34" charset="-122"/>
                <a:cs typeface="Cambria" pitchFamily="34" charset="-120"/>
              </a:rPr>
              <a:t>−10</a:t>
            </a:r>
            <a:r>
              <a:rPr lang="en-US" sz="1500" dirty="0">
                <a:solidFill>
                  <a:srgbClr val="14213D"/>
                </a:solidFill>
                <a:latin typeface="Cambria" pitchFamily="34" charset="0"/>
                <a:ea typeface="Cambria" pitchFamily="34" charset="-122"/>
                <a:cs typeface="Cambria" pitchFamily="34" charset="-120"/>
              </a:rPr>
              <a:t> = 0.692020;  annuity factor = (1 − 0.692020) ÷ 0.0375 = 8.212787</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 = 3.55 × 8.212787 + 100 × 0.692020 = 29.1554 + 69.2020 = ₹98.3574</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Change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ΔP = 98.3574 − 100.4158 = −₹2.0584 per ₹100 face  (−2.05%)</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On ₹100 crore face value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Loss = 2.0584 ÷ 100 × ₹100 crore = ₹2.06 crore</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Price @ 7.00% = ₹100.42</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Price @ 7.50% = ₹98.36</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Change = −2.05%</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Loss on ₹100 cr ≈ ₹2.06 crore</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A 50 bp rise cost about 2% of value on a 5-year paper. On longer papers (10–30 years), the same shock costs far more; that is duration at work.</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F2 · Macaulay and Modified Duration of a Corporate Bond</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debt fund manager evaluates a 4-year, 8% annual-coupon bond issued by an AAA-rated PSU (face ₹1,000). The bond's yield to maturity is 9%. She needs its duration to manage the fund's interest rate risk.</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Face value (F)</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Coupon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 annual (₹80 a year)</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Maturity</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4 years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Yield to maturity (y)</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Present value of each cash flow and the bond price.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Macaulay duration.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Modified duration.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Estimated % and ₹ price change for a 25 bp rise in yield.</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F2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127"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914400"/>
        </p:xfrm>
        <a:graphic>
          <a:graphicData uri="http://schemas.openxmlformats.org/drawingml/2006/table">
            <a:tbl>
              <a:tblPr/>
              <a:tblGrid>
                <a:gridCol w="5486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CF</a:t>
                      </a:r>
                      <a:r>
                        <a:rPr lang="en-US" sz="1350" b="1" baseline="-40000" dirty="0">
                          <a:solidFill>
                            <a:srgbClr val="FFFFFF"/>
                          </a:solidFill>
                          <a:latin typeface="Calibri" pitchFamily="34" charset="0"/>
                          <a:ea typeface="Calibri" pitchFamily="34" charset="-122"/>
                          <a:cs typeface="Calibri" pitchFamily="34" charset="-120"/>
                        </a:rPr>
                        <a:t>t</a:t>
                      </a:r>
                      <a:r>
                        <a:rPr lang="en-US" sz="1350" b="1" dirty="0">
                          <a:solidFill>
                            <a:srgbClr val="FFFFFF"/>
                          </a:solidFill>
                          <a:latin typeface="Calibri" pitchFamily="34" charset="0"/>
                          <a:ea typeface="Calibri" pitchFamily="34" charset="-122"/>
                          <a:cs typeface="Calibri" pitchFamily="34" charset="-120"/>
                        </a:rPr>
                        <a:t>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DF = 1/(1.09)</a:t>
                      </a:r>
                      <a:r>
                        <a:rPr lang="en-US" sz="1350" b="1" baseline="30000" dirty="0">
                          <a:solidFill>
                            <a:srgbClr val="FFFFFF"/>
                          </a:solidFill>
                          <a:latin typeface="Calibri" pitchFamily="34" charset="0"/>
                          <a:ea typeface="Calibri" pitchFamily="34" charset="-122"/>
                          <a:cs typeface="Calibri" pitchFamily="34" charset="-120"/>
                        </a:rPr>
                        <a:t>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PV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Weight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 × PV</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0.917431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73.3945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0.0759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73.3945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0.841680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67.3344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0.0696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134.6688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0.772183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61.7747</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0.0638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185.3240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1,080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0.708425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765.0992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0.7907</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3060.3969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ctr">
                        <a:buNone/>
                      </a:pPr>
                      <a:r>
                        <a:rPr lang="en-US" sz="1350" b="1" dirty="0">
                          <a:solidFill>
                            <a:srgbClr val="1E2533"/>
                          </a:solidFill>
                          <a:latin typeface="Calibri" pitchFamily="34" charset="0"/>
                          <a:ea typeface="Calibri" pitchFamily="34" charset="-122"/>
                          <a:cs typeface="Calibri" pitchFamily="34" charset="-120"/>
                        </a:rPr>
                        <a:t>Σ</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533"/>
                          </a:solidFill>
                          <a:latin typeface="Calibri" pitchFamily="34" charset="0"/>
                          <a:ea typeface="Calibri" pitchFamily="34" charset="-122"/>
                          <a:cs typeface="Calibri" pitchFamily="34" charset="-120"/>
                        </a:rPr>
                        <a:t>967.6028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1.0000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533"/>
                          </a:solidFill>
                          <a:latin typeface="Calibri" pitchFamily="34" charset="0"/>
                          <a:ea typeface="Calibri" pitchFamily="34" charset="-122"/>
                          <a:cs typeface="Calibri" pitchFamily="34" charset="-120"/>
                        </a:rPr>
                        <a:t>3453.7842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685800" y="3127248"/>
            <a:ext cx="7360920" cy="3017520"/>
          </a:xfrm>
          <a:prstGeom prst="rect">
            <a:avLst/>
          </a:prstGeom>
          <a:noFill/>
          <a:ln/>
        </p:spPr>
        <p:txBody>
          <a:bodyPr wrap="square" lIns="0" tIns="0" rIns="0" bIns="0" rtlCol="0" anchor="t"/>
          <a:lstStyle/>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 Price P = Σ PV = ₹967.6028</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(b) D = Σ t × PV ÷ P = 3453.7842 ÷ 967.6028 = 3.5694 years</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(c) D</a:t>
            </a:r>
            <a:r>
              <a:rPr lang="en-US" sz="1500" baseline="-40000" dirty="0">
                <a:solidFill>
                  <a:srgbClr val="14213D"/>
                </a:solidFill>
                <a:latin typeface="Cambria" pitchFamily="34" charset="0"/>
                <a:ea typeface="Cambria" pitchFamily="34" charset="-122"/>
                <a:cs typeface="Cambria" pitchFamily="34" charset="-120"/>
              </a:rPr>
              <a:t>mod</a:t>
            </a:r>
            <a:r>
              <a:rPr lang="en-US" sz="1500" dirty="0">
                <a:solidFill>
                  <a:srgbClr val="14213D"/>
                </a:solidFill>
                <a:latin typeface="Cambria" pitchFamily="34" charset="0"/>
                <a:ea typeface="Cambria" pitchFamily="34" charset="-122"/>
                <a:cs typeface="Cambria" pitchFamily="34" charset="-120"/>
              </a:rPr>
              <a:t> = D ÷ (1 + y) = 3.5694 ÷ 1.09 = 3.2747</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(d) ΔP/P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−3.2747 × 0.0025 = −0.8187%;  ΔP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−7.92 per bond</a:t>
            </a:r>
            <a:endParaRPr lang="en-US" sz="150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Price = ₹967.60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Macaulay D = 3.5694 years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Modified D = 3.2747</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+25 bp → ≈ −0.82% (₹−7.92)</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Duration is the present-value-weighted average time to receive cash. About 79% of this bond's value sits in the final payment, so D is close to 4.</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F3 · Duration–Convexity Estimate vs Actual Price Change</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Advanced</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Continue with the 4-year 8% bond from Problem F2 (price ₹967.60 at 9% YTM, modified duration 3.2747). The fund manager wants to know how accurate duration alone is for large yield moves.</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Bond price at 9% (P</a:t>
                      </a:r>
                      <a:r>
                        <a:rPr lang="en-US" sz="1500" baseline="-40000" dirty="0">
                          <a:solidFill>
                            <a:srgbClr val="1E2533"/>
                          </a:solidFill>
                          <a:latin typeface="Calibri" pitchFamily="34" charset="0"/>
                          <a:ea typeface="Calibri" pitchFamily="34" charset="-122"/>
                          <a:cs typeface="Calibri" pitchFamily="34" charset="-120"/>
                        </a:rPr>
                        <a:t>0</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₹967.6028</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Modified duration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3.2747</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Yield shocks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+100 bp and −100 bp</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Cash flows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₹80, ₹80, ₹80, ₹1,080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Convexity of the bond.</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Duration-only and duration + convexity estimates for ±100 bp.</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Actual repriced values at 10% and 8%.</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Compare errors and explain the role of convexity.</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F3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914400"/>
        </p:xfrm>
        <a:graphic>
          <a:graphicData uri="http://schemas.openxmlformats.org/drawingml/2006/table">
            <a:tbl>
              <a:tblPr/>
              <a:tblGrid>
                <a:gridCol w="640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CF</a:t>
                      </a:r>
                      <a:r>
                        <a:rPr lang="en-US" sz="1350" b="1" baseline="-40000" dirty="0">
                          <a:solidFill>
                            <a:srgbClr val="FFFFFF"/>
                          </a:solidFill>
                          <a:latin typeface="Calibri" pitchFamily="34" charset="0"/>
                          <a:ea typeface="Calibri" pitchFamily="34" charset="-122"/>
                          <a:cs typeface="Calibri" pitchFamily="34" charset="-120"/>
                        </a:rPr>
                        <a:t>t</a:t>
                      </a:r>
                      <a:r>
                        <a:rPr lang="en-US" sz="1350" b="1" dirty="0">
                          <a:solidFill>
                            <a:srgbClr val="FFFFFF"/>
                          </a:solidFill>
                          <a:latin typeface="Calibri" pitchFamily="34" charset="0"/>
                          <a:ea typeface="Calibri" pitchFamily="34" charset="-122"/>
                          <a:cs typeface="Calibri" pitchFamily="34" charset="-120"/>
                        </a:rPr>
                        <a:t> × t(t+1)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 (1.09)</a:t>
                      </a:r>
                      <a:r>
                        <a:rPr lang="en-US" sz="1350" b="1" baseline="30000" dirty="0">
                          <a:solidFill>
                            <a:srgbClr val="FFFFFF"/>
                          </a:solidFill>
                          <a:latin typeface="Calibri" pitchFamily="34" charset="0"/>
                          <a:ea typeface="Calibri" pitchFamily="34" charset="-122"/>
                          <a:cs typeface="Calibri" pitchFamily="34" charset="-120"/>
                        </a:rPr>
                        <a:t>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Term</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160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1.295029</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123.5494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480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1.411582</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340.0441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960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1.538624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623.9341</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4</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21,600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1.677100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12879.3743</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ctr">
                        <a:buNone/>
                      </a:pPr>
                      <a:r>
                        <a:rPr lang="en-US" sz="1350" b="1" dirty="0">
                          <a:solidFill>
                            <a:srgbClr val="1E2533"/>
                          </a:solidFill>
                          <a:latin typeface="Calibri" pitchFamily="34" charset="0"/>
                          <a:ea typeface="Calibri" pitchFamily="34" charset="-122"/>
                          <a:cs typeface="Calibri" pitchFamily="34" charset="-120"/>
                        </a:rPr>
                        <a:t>Σ</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dirty="0">
                          <a:solidFill>
                            <a:srgbClr val="1E2533"/>
                          </a:solidFill>
                          <a:latin typeface="Calibri" pitchFamily="34" charset="0"/>
                          <a:ea typeface="Calibri" pitchFamily="34" charset="-122"/>
                          <a:cs typeface="Calibri" pitchFamily="34" charset="-120"/>
                        </a:rPr>
                        <a:t>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533"/>
                          </a:solidFill>
                          <a:latin typeface="Calibri" pitchFamily="34" charset="0"/>
                          <a:ea typeface="Calibri" pitchFamily="34" charset="-122"/>
                          <a:cs typeface="Calibri" pitchFamily="34" charset="-120"/>
                        </a:rPr>
                        <a:t>13966.9018</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685800" y="2944368"/>
            <a:ext cx="7360920" cy="3200400"/>
          </a:xfrm>
          <a:prstGeom prst="rect">
            <a:avLst/>
          </a:prstGeom>
          <a:noFill/>
          <a:ln/>
        </p:spPr>
        <p:txBody>
          <a:bodyPr wrap="square" lIns="0" tIns="0" rIns="0" bIns="0" rtlCol="0" anchor="t"/>
          <a:lstStyle/>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 Conv = 13966.9018 ÷ 967.6028 = 14.4345</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(b) +100 bp: duration −3.2747%; + ½ × 14.4345 × 0.01</a:t>
            </a:r>
            <a:r>
              <a:rPr lang="en-US" sz="1500" baseline="3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+0.0722%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−3.2025%</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−100 bp: duration +3.2747%; with convexity 3.3469%</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(c) Actual: P(10%) = ₹936.60 (−3.2038%);  P(8%) = ₹1000.00 (+3.3482%)</a:t>
            </a:r>
            <a:endParaRPr lang="en-US" sz="150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(d) Duration error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0.0709 pp; with convexity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0.0013 pp</a:t>
            </a:r>
            <a:endParaRPr lang="en-US" sz="150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Convexity = 14.43</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+100 bp: actual −3.20%, D+C −3.20%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−100 bp: actual +3.35%, D+C +3.35%</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Duration draws a straight line under a curved price–yield relationship. Convexity adds the curvature, so it helps the holder in both directions.</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F4 · DV01 and Interest Rate VaR of a Bank's G-sec Portfolio</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The treasury of a public sector bank holds G-secs in its Available-for-Sale (AFS) book. The Board's market risk policy sets limits on PV01/DV01 and VaR. The CRO asks for today's risk numbers.</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Market value of AFS G-secs (P)</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₹800 crore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Portfolio modified duration</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5.8</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σ of daily yield change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 bp</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Confidence level</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99% (z = 2.326)</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Stress scenario</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Parallel +250 bp (the 2022–23 hike cycle)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DV01 of the portfolio.</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1-day 99% VaR.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10-day 99% VaR.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Duration-based loss under the +250 bp stress scenario.</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F4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DV01</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DV01 = D</a:t>
            </a:r>
            <a:r>
              <a:rPr lang="en-US" sz="1500" baseline="-40000" dirty="0">
                <a:solidFill>
                  <a:srgbClr val="14213D"/>
                </a:solidFill>
                <a:latin typeface="Cambria" pitchFamily="34" charset="0"/>
                <a:ea typeface="Cambria" pitchFamily="34" charset="-122"/>
                <a:cs typeface="Cambria" pitchFamily="34" charset="-120"/>
              </a:rPr>
              <a:t>mod</a:t>
            </a:r>
            <a:r>
              <a:rPr lang="en-US" sz="1500" dirty="0">
                <a:solidFill>
                  <a:srgbClr val="14213D"/>
                </a:solidFill>
                <a:latin typeface="Cambria" pitchFamily="34" charset="0"/>
                <a:ea typeface="Cambria" pitchFamily="34" charset="-122"/>
                <a:cs typeface="Cambria" pitchFamily="34" charset="-120"/>
              </a:rPr>
              <a:t> × P × 0.0001 = 5.8 × ₹800 crore × 0.0001 = ₹46,40,000 (₹46.4 lakh)</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1-day 99% VaR</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 = z × σ</a:t>
            </a:r>
            <a:r>
              <a:rPr lang="en-US" sz="1500" baseline="-40000" dirty="0">
                <a:solidFill>
                  <a:srgbClr val="14213D"/>
                </a:solidFill>
                <a:latin typeface="Cambria" pitchFamily="34" charset="0"/>
                <a:ea typeface="Cambria" pitchFamily="34" charset="-122"/>
                <a:cs typeface="Cambria" pitchFamily="34" charset="-120"/>
              </a:rPr>
              <a:t>Δy</a:t>
            </a:r>
            <a:r>
              <a:rPr lang="en-US" sz="1500" dirty="0">
                <a:solidFill>
                  <a:srgbClr val="14213D"/>
                </a:solidFill>
                <a:latin typeface="Cambria" pitchFamily="34" charset="0"/>
                <a:ea typeface="Cambria" pitchFamily="34" charset="-122"/>
                <a:cs typeface="Cambria" pitchFamily="34" charset="-120"/>
              </a:rPr>
              <a:t> × DV01 = 2.326 × 5 × ₹46,40,000 = ₹5,39,63,200  (₹5.40 crore)</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10-day 99% VaR</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VaR</a:t>
            </a:r>
            <a:r>
              <a:rPr lang="en-US" sz="1500" baseline="-40000" dirty="0">
                <a:solidFill>
                  <a:srgbClr val="14213D"/>
                </a:solidFill>
                <a:latin typeface="Cambria" pitchFamily="34" charset="0"/>
                <a:ea typeface="Cambria" pitchFamily="34" charset="-122"/>
                <a:cs typeface="Cambria" pitchFamily="34" charset="-120"/>
              </a:rPr>
              <a:t>10</a:t>
            </a:r>
            <a:r>
              <a:rPr lang="en-US" sz="1500" dirty="0">
                <a:solidFill>
                  <a:srgbClr val="14213D"/>
                </a:solidFill>
                <a:latin typeface="Cambria" pitchFamily="34" charset="0"/>
                <a:ea typeface="Cambria" pitchFamily="34" charset="-122"/>
                <a:cs typeface="Cambria" pitchFamily="34" charset="-120"/>
              </a:rPr>
              <a:t> = ₹5.3963 crore × √10 = ₹17.06 crore</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+250 bp stress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ΔP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−D</a:t>
            </a:r>
            <a:r>
              <a:rPr lang="en-US" sz="1500" baseline="-40000" dirty="0">
                <a:solidFill>
                  <a:srgbClr val="14213D"/>
                </a:solidFill>
                <a:latin typeface="Cambria" pitchFamily="34" charset="0"/>
                <a:ea typeface="Cambria" pitchFamily="34" charset="-122"/>
                <a:cs typeface="Cambria" pitchFamily="34" charset="-120"/>
              </a:rPr>
              <a:t>mod</a:t>
            </a:r>
            <a:r>
              <a:rPr lang="en-US" sz="1500" dirty="0">
                <a:solidFill>
                  <a:srgbClr val="14213D"/>
                </a:solidFill>
                <a:latin typeface="Cambria" pitchFamily="34" charset="0"/>
                <a:ea typeface="Cambria" pitchFamily="34" charset="-122"/>
                <a:cs typeface="Cambria" pitchFamily="34" charset="-120"/>
              </a:rPr>
              <a:t> × Δy × P = −5.8 × 0.025 × ₹800 crore = −₹116 crore</a:t>
            </a:r>
            <a:endParaRPr lang="en-US" sz="1550" dirty="0"/>
          </a:p>
          <a:p>
            <a:pPr marL="0" indent="0" algn="l">
              <a:spcAft>
                <a:spcPts val="100"/>
              </a:spcAft>
              <a:buNone/>
            </a:pPr>
            <a:r>
              <a:rPr lang="en-US" sz="1400" i="1" dirty="0">
                <a:solidFill>
                  <a:srgbClr val="5C6577"/>
                </a:solidFill>
                <a:latin typeface="Calibri" pitchFamily="34" charset="0"/>
                <a:ea typeface="Calibri" pitchFamily="34" charset="-122"/>
                <a:cs typeface="Calibri" pitchFamily="34" charset="-120"/>
              </a:rPr>
              <a:t>Convexity would make the actual loss slightly smaller; a full revaluation should confirm.</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DV01 = ₹46.4 lakh per bp</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1-day 99% VaR ≈ ₹5.40 crore</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10-day 99% VaR ≈ ₹17.06 crore</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+250 bp stress ≈ −₹116 crore</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VaR describes a normal bad day; the stress test shows what a policy cycle can do. Boards need both numbers side by side.</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F5 · Expected Credit Loss and Spread-Implied Default Probability</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credit-risk debt fund holds three corporate bonds. The risk team estimates one-year expected loss and checks whether the market spread on the A-rated bond is consistent with its historical default rate.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Bond</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EAD (₹ crore)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PD (1-yr)</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LGD</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AAA PSU bond</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20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0.05%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40%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AA NBFC bond</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0.80%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55%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A real-estate bond</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3.00%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65%</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350" dirty="0">
                          <a:solidFill>
                            <a:srgbClr val="1E2533"/>
                          </a:solidFill>
                          <a:latin typeface="Calibri" pitchFamily="34" charset="0"/>
                          <a:ea typeface="Calibri" pitchFamily="34" charset="-122"/>
                          <a:cs typeface="Calibri" pitchFamily="34" charset="-120"/>
                        </a:rPr>
                        <a:t>A bond yield / 5-yr G-sec yield</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10.2% / 6.6%</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ctr">
                        <a:buNone/>
                      </a:pPr>
                      <a:r>
                        <a:rPr lang="en-US" sz="1350" dirty="0">
                          <a:solidFill>
                            <a:srgbClr val="1E2533"/>
                          </a:solidFill>
                          <a:latin typeface="Calibri" pitchFamily="34" charset="0"/>
                          <a:ea typeface="Calibri" pitchFamily="34" charset="-122"/>
                          <a:cs typeface="Calibri" pitchFamily="34" charset="-120"/>
                        </a:rPr>
                        <a:t> </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Expected loss on each bond.</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Total EL in ₹ and as % of the portfolio.</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Credit spread and spread-implied PD of the A-rated bond.</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Why does the implied PD exceed the historical 3%?</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17</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F5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EL = PD × LGD × EAD</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AAA: 0.0005 × 0.40 × ₹20 crore = ₹40,000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AA: 0.008 × 0.55 × ₹15 crore = ₹6,60,000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A: 0.03 × 0.65 × ₹10 crore = ₹19,50,000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Portfolio EL</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Total = ₹26,50,000;  ÷ ₹45 crore = 0.589%</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Spread-implied PD</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Spread = 10.2% − 6.6% = 3.6%</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PD</a:t>
            </a:r>
            <a:r>
              <a:rPr lang="en-US" sz="1500" baseline="-40000" dirty="0">
                <a:solidFill>
                  <a:srgbClr val="14213D"/>
                </a:solidFill>
                <a:latin typeface="Cambria" pitchFamily="34" charset="0"/>
                <a:ea typeface="Cambria" pitchFamily="34" charset="-122"/>
                <a:cs typeface="Cambria" pitchFamily="34" charset="-120"/>
              </a:rPr>
              <a:t>implied</a:t>
            </a:r>
            <a:r>
              <a:rPr lang="en-US" sz="1500" dirty="0">
                <a:solidFill>
                  <a:srgbClr val="14213D"/>
                </a:solidFill>
                <a:latin typeface="Cambria" pitchFamily="34" charset="0"/>
                <a:ea typeface="Cambria" pitchFamily="34" charset="-122"/>
                <a:cs typeface="Cambria" pitchFamily="34" charset="-120"/>
              </a:rPr>
              <a:t>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Spread ÷ LGD = 3.6% ÷ 0.65 = 5.54%</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Interpretation</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The spread also pays for liquidity risk, downgrade risk and investors' aversion to credit losses, so risk-neutral PD exceeds the historical PD.</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Portfolio EL = ₹26,50,000 (0.59%)</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A-rated bond = 73.6% of total EL</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Implied PD ≈ 5.54% vs 3.00% historical</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Only 22% of the money is in the A-rated bond, yet it causes 74% of expected loss. Credit risk is concentrated in the tail of the rating scale.</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822960" y="1828800"/>
            <a:ext cx="2377440" cy="2377440"/>
          </a:xfrm>
          <a:prstGeom prst="ellipse">
            <a:avLst/>
          </a:prstGeom>
          <a:solidFill>
            <a:srgbClr val="22335C"/>
          </a:solidFill>
          <a:ln w="31750">
            <a:solidFill>
              <a:srgbClr val="C9A227"/>
            </a:solidFill>
            <a:prstDash val="solid"/>
          </a:ln>
        </p:spPr>
      </p:sp>
      <p:sp>
        <p:nvSpPr>
          <p:cNvPr id="3" name="Text 1"/>
          <p:cNvSpPr txBox="1"/>
          <p:nvPr/>
        </p:nvSpPr>
        <p:spPr>
          <a:xfrm>
            <a:off x="822960" y="1828800"/>
            <a:ext cx="2377440" cy="2377440"/>
          </a:xfrm>
          <a:prstGeom prst="rect">
            <a:avLst/>
          </a:prstGeom>
          <a:noFill/>
          <a:ln/>
        </p:spPr>
        <p:txBody>
          <a:bodyPr wrap="square" lIns="0" tIns="0" rIns="0" bIns="0" rtlCol="0" anchor="ctr"/>
          <a:lstStyle/>
          <a:p>
            <a:pPr marL="0" indent="0" algn="ctr">
              <a:buNone/>
            </a:pPr>
            <a:r>
              <a:rPr lang="en-US" sz="8000" b="1" dirty="0">
                <a:solidFill>
                  <a:srgbClr val="C9A227"/>
                </a:solidFill>
                <a:latin typeface="Cambria" pitchFamily="34" charset="0"/>
                <a:ea typeface="Cambria" pitchFamily="34" charset="-122"/>
                <a:cs typeface="Cambria" pitchFamily="34" charset="-120"/>
              </a:rPr>
              <a:t>18</a:t>
            </a:r>
            <a:endParaRPr lang="en-US" sz="8000" dirty="0"/>
          </a:p>
        </p:txBody>
      </p:sp>
      <p:sp>
        <p:nvSpPr>
          <p:cNvPr id="4" name="Text 2"/>
          <p:cNvSpPr txBox="1"/>
          <p:nvPr/>
        </p:nvSpPr>
        <p:spPr>
          <a:xfrm>
            <a:off x="3749040" y="1417320"/>
            <a:ext cx="7772400" cy="365760"/>
          </a:xfrm>
          <a:prstGeom prst="rect">
            <a:avLst/>
          </a:prstGeom>
          <a:noFill/>
          <a:ln/>
        </p:spPr>
        <p:txBody>
          <a:bodyPr wrap="square" lIns="0" tIns="0" rIns="0" bIns="0" rtlCol="0" anchor="ctr"/>
          <a:lstStyle/>
          <a:p>
            <a:pPr marL="0" indent="0">
              <a:buNone/>
            </a:pPr>
            <a:r>
              <a:rPr lang="en-US" sz="1400" b="1" kern="0" spc="300" dirty="0">
                <a:solidFill>
                  <a:srgbClr val="C9A227"/>
                </a:solidFill>
                <a:latin typeface="Calibri" pitchFamily="34" charset="0"/>
                <a:ea typeface="Calibri" pitchFamily="34" charset="-122"/>
                <a:cs typeface="Calibri" pitchFamily="34" charset="-120"/>
              </a:rPr>
              <a:t>SECTION 18</a:t>
            </a:r>
            <a:endParaRPr lang="en-US" sz="1400" dirty="0"/>
          </a:p>
        </p:txBody>
      </p:sp>
      <p:sp>
        <p:nvSpPr>
          <p:cNvPr id="5" name="Text 3"/>
          <p:cNvSpPr txBox="1"/>
          <p:nvPr/>
        </p:nvSpPr>
        <p:spPr>
          <a:xfrm>
            <a:off x="3749040" y="1828800"/>
            <a:ext cx="7863840" cy="12801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Risk of Currency Investment</a:t>
            </a:r>
            <a:endParaRPr lang="en-US" sz="3600" dirty="0"/>
          </a:p>
        </p:txBody>
      </p:sp>
      <p:sp>
        <p:nvSpPr>
          <p:cNvPr id="6" name="Text 4"/>
          <p:cNvSpPr txBox="1"/>
          <p:nvPr/>
        </p:nvSpPr>
        <p:spPr>
          <a:xfrm>
            <a:off x="3749040" y="3154680"/>
            <a:ext cx="7772400" cy="640080"/>
          </a:xfrm>
          <a:prstGeom prst="rect">
            <a:avLst/>
          </a:prstGeom>
          <a:noFill/>
          <a:ln/>
        </p:spPr>
        <p:txBody>
          <a:bodyPr wrap="square" lIns="0" tIns="0" rIns="0" bIns="0" rtlCol="0" anchor="t"/>
          <a:lstStyle/>
          <a:p>
            <a:pPr marL="0" indent="0">
              <a:buNone/>
            </a:pPr>
            <a:r>
              <a:rPr lang="en-US" sz="1600" i="1" dirty="0">
                <a:solidFill>
                  <a:srgbClr val="EAD9A0"/>
                </a:solidFill>
                <a:latin typeface="Calibri" pitchFamily="34" charset="0"/>
                <a:ea typeface="Calibri" pitchFamily="34" charset="-122"/>
                <a:cs typeface="Calibri" pitchFamily="34" charset="-120"/>
              </a:rPr>
              <a:t>How exchange rates change the value of investments, receivables and payables</a:t>
            </a:r>
            <a:endParaRPr lang="en-US" sz="1600" dirty="0"/>
          </a:p>
        </p:txBody>
      </p:sp>
      <p:sp>
        <p:nvSpPr>
          <p:cNvPr id="7" name="Text 5"/>
          <p:cNvSpPr txBox="1"/>
          <p:nvPr/>
        </p:nvSpPr>
        <p:spPr>
          <a:xfrm>
            <a:off x="3749040" y="3931920"/>
            <a:ext cx="7772400" cy="2194560"/>
          </a:xfrm>
          <a:prstGeom prst="rect">
            <a:avLst/>
          </a:prstGeom>
          <a:noFill/>
          <a:ln/>
        </p:spPr>
        <p:txBody>
          <a:bodyPr wrap="square" lIns="0" tIns="0" rIns="0" bIns="0" rtlCol="0" anchor="t"/>
          <a:lstStyle/>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Meaning and the INR return on foreign investments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Transaction, translation and economic exposure</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Indian examples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Hedging formulas: forwards, IRP, money market, futures, options</a:t>
            </a:r>
            <a:endParaRPr lang="en-US" sz="1500" dirty="0"/>
          </a:p>
          <a:p>
            <a:pPr marL="177800" indent="-177800" algn="l">
              <a:spcAft>
                <a:spcPts val="400"/>
              </a:spcAft>
              <a:buSzPct val="100000"/>
              <a:buChar char="•"/>
            </a:pPr>
            <a:r>
              <a:rPr lang="en-US" sz="1500" dirty="0">
                <a:solidFill>
                  <a:srgbClr val="DCE2EC"/>
                </a:solidFill>
                <a:latin typeface="Calibri" pitchFamily="34" charset="0"/>
                <a:ea typeface="Calibri" pitchFamily="34" charset="-122"/>
                <a:cs typeface="Calibri" pitchFamily="34" charset="-120"/>
              </a:rPr>
              <a:t>Five quantitative problems (X1–X5)</a:t>
            </a:r>
            <a:endParaRPr lang="en-US" sz="1500" dirty="0"/>
          </a:p>
        </p:txBody>
      </p:sp>
      <p:sp>
        <p:nvSpPr>
          <p:cNvPr id="8" name="Text 6"/>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A9B3C7"/>
                </a:solidFill>
                <a:latin typeface="Calibri" pitchFamily="34" charset="0"/>
                <a:ea typeface="Calibri" pitchFamily="34" charset="-122"/>
                <a:cs typeface="Calibri" pitchFamily="34" charset="-120"/>
              </a:rPr>
              <a:t>Introduction to Risk Management  |  Prof. D. Lazar</a:t>
            </a:r>
            <a:endParaRPr lang="en-US" sz="9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A9B3C7"/>
                </a:solidFill>
                <a:latin typeface="Calibri"/>
                <a:ea typeface="Calibri"/>
                <a:cs typeface="Calibri"/>
              </a:defRPr>
            </a:lvl1pPr>
          </a:lstStyle>
          <a:p>
            <a:pPr algn="r"/>
            <a:fld id="{F7021451-1387-4CA6-816F-3879F97B5CBC}" type="slidenum">
              <a:rPr lang="en-US" b="0"/>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Currency Risk: Meaning and Explanation</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11183112" cy="914400"/>
          </a:xfrm>
          <a:prstGeom prst="roundRect">
            <a:avLst>
              <a:gd name="adj" fmla="val 8000"/>
            </a:avLst>
          </a:prstGeom>
          <a:solidFill>
            <a:srgbClr val="14213D"/>
          </a:solidFill>
          <a:ln w="15875">
            <a:solidFill>
              <a:srgbClr val="C9A227"/>
            </a:solidFill>
            <a:prstDash val="solid"/>
          </a:ln>
        </p:spPr>
      </p:sp>
      <p:sp>
        <p:nvSpPr>
          <p:cNvPr id="7" name="Text 5"/>
          <p:cNvSpPr txBox="1"/>
          <p:nvPr/>
        </p:nvSpPr>
        <p:spPr>
          <a:xfrm>
            <a:off x="685800" y="1307592"/>
            <a:ext cx="10817352" cy="768096"/>
          </a:xfrm>
          <a:prstGeom prst="rect">
            <a:avLst/>
          </a:prstGeom>
          <a:noFill/>
          <a:ln/>
        </p:spPr>
        <p:txBody>
          <a:bodyPr wrap="square" lIns="0" tIns="0" rIns="0" bIns="0" rtlCol="0" anchor="ctr"/>
          <a:lstStyle/>
          <a:p>
            <a:pPr marL="0" indent="0" algn="l">
              <a:buNone/>
            </a:pPr>
            <a:r>
              <a:rPr lang="en-US" sz="1550" i="1" dirty="0">
                <a:solidFill>
                  <a:srgbClr val="FFFFFF"/>
                </a:solidFill>
                <a:latin typeface="Calibri" pitchFamily="34" charset="0"/>
                <a:ea typeface="Calibri" pitchFamily="34" charset="-122"/>
                <a:cs typeface="Calibri" pitchFamily="34" charset="-120"/>
              </a:rPr>
              <a:t>Currency (foreign exchange) risk is the possibility that the rupee value of foreign-currency assets, liabilities, investments or cash flows changes adversely because of movements in exchange rates.</a:t>
            </a:r>
            <a:endParaRPr lang="en-US" sz="1550" dirty="0"/>
          </a:p>
        </p:txBody>
      </p:sp>
      <p:sp>
        <p:nvSpPr>
          <p:cNvPr id="8" name="Shape 6"/>
          <p:cNvSpPr/>
          <p:nvPr/>
        </p:nvSpPr>
        <p:spPr>
          <a:xfrm>
            <a:off x="502920" y="2377440"/>
            <a:ext cx="5541264" cy="3840480"/>
          </a:xfrm>
          <a:prstGeom prst="roundRect">
            <a:avLst>
              <a:gd name="adj" fmla="val 1905"/>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731520" y="2514600"/>
            <a:ext cx="5120640" cy="3611880"/>
          </a:xfrm>
          <a:prstGeom prst="rect">
            <a:avLst/>
          </a:prstGeom>
          <a:noFill/>
          <a:ln/>
        </p:spPr>
        <p:txBody>
          <a:bodyPr wrap="square" lIns="0" tIns="0" rIns="0" bIns="0" rtlCol="0" anchor="t"/>
          <a:lstStyle/>
          <a:p>
            <a:pPr marL="0" indent="0" algn="l">
              <a:spcAft>
                <a:spcPts val="800"/>
              </a:spcAft>
              <a:buNone/>
            </a:pPr>
            <a:r>
              <a:rPr lang="en-US" sz="1600" b="1" dirty="0">
                <a:solidFill>
                  <a:srgbClr val="C9A227"/>
                </a:solidFill>
                <a:latin typeface="Calibri" pitchFamily="34" charset="0"/>
                <a:ea typeface="Calibri" pitchFamily="34" charset="-122"/>
                <a:cs typeface="Calibri" pitchFamily="34" charset="-120"/>
              </a:rPr>
              <a:t>An Indian investor buying US shares (via LRS)</a:t>
            </a:r>
            <a:endParaRPr lang="en-US" sz="1600" dirty="0"/>
          </a:p>
          <a:p>
            <a:pPr marL="0" indent="0" algn="l">
              <a:spcAft>
                <a:spcPts val="800"/>
              </a:spcAft>
              <a:buNone/>
            </a:pPr>
            <a:r>
              <a:rPr lang="en-US" sz="1700" b="1" dirty="0">
                <a:solidFill>
                  <a:srgbClr val="EAD9A0"/>
                </a:solidFill>
                <a:latin typeface="Calibri" pitchFamily="34" charset="0"/>
                <a:ea typeface="Calibri" pitchFamily="34" charset="-122"/>
                <a:cs typeface="Calibri" pitchFamily="34" charset="-120"/>
              </a:rPr>
              <a:t>R</a:t>
            </a:r>
            <a:r>
              <a:rPr lang="en-US" sz="1700" b="1" baseline="-40000" dirty="0">
                <a:solidFill>
                  <a:srgbClr val="EAD9A0"/>
                </a:solidFill>
                <a:latin typeface="Calibri" pitchFamily="34" charset="0"/>
                <a:ea typeface="Calibri" pitchFamily="34" charset="-122"/>
                <a:cs typeface="Calibri" pitchFamily="34" charset="-120"/>
              </a:rPr>
              <a:t>INR</a:t>
            </a:r>
            <a:r>
              <a:rPr lang="en-US" sz="1700" b="1" dirty="0">
                <a:solidFill>
                  <a:srgbClr val="EAD9A0"/>
                </a:solidFill>
                <a:latin typeface="Calibri" pitchFamily="34" charset="0"/>
                <a:ea typeface="Calibri" pitchFamily="34" charset="-122"/>
                <a:cs typeface="Calibri" pitchFamily="34" charset="-120"/>
              </a:rPr>
              <a:t> = (1 + R</a:t>
            </a:r>
            <a:r>
              <a:rPr lang="en-US" sz="1700" b="1" baseline="-40000" dirty="0">
                <a:solidFill>
                  <a:srgbClr val="EAD9A0"/>
                </a:solidFill>
                <a:latin typeface="Calibri" pitchFamily="34" charset="0"/>
                <a:ea typeface="Calibri" pitchFamily="34" charset="-122"/>
                <a:cs typeface="Calibri" pitchFamily="34" charset="-120"/>
              </a:rPr>
              <a:t>USD</a:t>
            </a:r>
            <a:r>
              <a:rPr lang="en-US" sz="1700" b="1" dirty="0">
                <a:solidFill>
                  <a:srgbClr val="EAD9A0"/>
                </a:solidFill>
                <a:latin typeface="Calibri" pitchFamily="34" charset="0"/>
                <a:ea typeface="Calibri" pitchFamily="34" charset="-122"/>
                <a:cs typeface="Calibri" pitchFamily="34" charset="-120"/>
              </a:rPr>
              <a:t>) × (1 + e) − 1</a:t>
            </a:r>
            <a:endParaRPr lang="en-US" sz="1600" dirty="0"/>
          </a:p>
          <a:p>
            <a:pPr marL="0" indent="0" algn="l">
              <a:spcAft>
                <a:spcPts val="800"/>
              </a:spcAft>
              <a:buNone/>
            </a:pPr>
            <a:r>
              <a:rPr lang="en-US" sz="1450" dirty="0">
                <a:solidFill>
                  <a:srgbClr val="FFFFFF"/>
                </a:solidFill>
                <a:latin typeface="Calibri" pitchFamily="34" charset="0"/>
                <a:ea typeface="Calibri" pitchFamily="34" charset="-122"/>
                <a:cs typeface="Calibri" pitchFamily="34" charset="-120"/>
              </a:rPr>
              <a:t>US stock return R</a:t>
            </a:r>
            <a:r>
              <a:rPr lang="en-US" sz="1450" baseline="-40000" dirty="0">
                <a:solidFill>
                  <a:srgbClr val="FFFFFF"/>
                </a:solidFill>
                <a:latin typeface="Calibri" pitchFamily="34" charset="0"/>
                <a:ea typeface="Calibri" pitchFamily="34" charset="-122"/>
                <a:cs typeface="Calibri" pitchFamily="34" charset="-120"/>
              </a:rPr>
              <a:t>USD</a:t>
            </a:r>
            <a:r>
              <a:rPr lang="en-US" sz="1450" dirty="0">
                <a:solidFill>
                  <a:srgbClr val="FFFFFF"/>
                </a:solidFill>
                <a:latin typeface="Calibri" pitchFamily="34" charset="0"/>
                <a:ea typeface="Calibri" pitchFamily="34" charset="-122"/>
                <a:cs typeface="Calibri" pitchFamily="34" charset="-120"/>
              </a:rPr>
              <a:t> = 10%. If the dollar rises 3% against the rupee (e = +3%): R</a:t>
            </a:r>
            <a:r>
              <a:rPr lang="en-US" sz="1450" baseline="-40000" dirty="0">
                <a:solidFill>
                  <a:srgbClr val="FFFFFF"/>
                </a:solidFill>
                <a:latin typeface="Calibri" pitchFamily="34" charset="0"/>
                <a:ea typeface="Calibri" pitchFamily="34" charset="-122"/>
                <a:cs typeface="Calibri" pitchFamily="34" charset="-120"/>
              </a:rPr>
              <a:t>INR</a:t>
            </a:r>
            <a:r>
              <a:rPr lang="en-US" sz="1450" dirty="0">
                <a:solidFill>
                  <a:srgbClr val="FFFFFF"/>
                </a:solidFill>
                <a:latin typeface="Calibri" pitchFamily="34" charset="0"/>
                <a:ea typeface="Calibri" pitchFamily="34" charset="-122"/>
                <a:cs typeface="Calibri" pitchFamily="34" charset="-120"/>
              </a:rPr>
              <a:t> = 1.10 × 1.03 − 1 = </a:t>
            </a:r>
            <a:r>
              <a:rPr lang="en-US" sz="1450" b="1" dirty="0">
                <a:solidFill>
                  <a:srgbClr val="FFFFFF"/>
                </a:solidFill>
                <a:latin typeface="Calibri" pitchFamily="34" charset="0"/>
                <a:ea typeface="Calibri" pitchFamily="34" charset="-122"/>
                <a:cs typeface="Calibri" pitchFamily="34" charset="-120"/>
              </a:rPr>
              <a:t>13.3%</a:t>
            </a:r>
            <a:endParaRPr lang="en-US" sz="1600" dirty="0"/>
          </a:p>
          <a:p>
            <a:pPr marL="0" indent="0" algn="l">
              <a:spcAft>
                <a:spcPts val="800"/>
              </a:spcAft>
              <a:buNone/>
            </a:pPr>
            <a:r>
              <a:rPr lang="en-US" sz="1450" dirty="0">
                <a:solidFill>
                  <a:srgbClr val="FFFFFF"/>
                </a:solidFill>
                <a:latin typeface="Calibri" pitchFamily="34" charset="0"/>
                <a:ea typeface="Calibri" pitchFamily="34" charset="-122"/>
                <a:cs typeface="Calibri" pitchFamily="34" charset="-120"/>
              </a:rPr>
              <a:t>If the rupee strengthens 4% (e = −4%): R</a:t>
            </a:r>
            <a:r>
              <a:rPr lang="en-US" sz="1450" baseline="-40000" dirty="0">
                <a:solidFill>
                  <a:srgbClr val="FFFFFF"/>
                </a:solidFill>
                <a:latin typeface="Calibri" pitchFamily="34" charset="0"/>
                <a:ea typeface="Calibri" pitchFamily="34" charset="-122"/>
                <a:cs typeface="Calibri" pitchFamily="34" charset="-120"/>
              </a:rPr>
              <a:t>INR</a:t>
            </a:r>
            <a:r>
              <a:rPr lang="en-US" sz="1450" dirty="0">
                <a:solidFill>
                  <a:srgbClr val="FFFFFF"/>
                </a:solidFill>
                <a:latin typeface="Calibri" pitchFamily="34" charset="0"/>
                <a:ea typeface="Calibri" pitchFamily="34" charset="-122"/>
                <a:cs typeface="Calibri" pitchFamily="34" charset="-120"/>
              </a:rPr>
              <a:t> = 1.10 × 0.96 − 1 = </a:t>
            </a:r>
            <a:r>
              <a:rPr lang="en-US" sz="1450" b="1" dirty="0">
                <a:solidFill>
                  <a:srgbClr val="FFFFFF"/>
                </a:solidFill>
                <a:latin typeface="Calibri" pitchFamily="34" charset="0"/>
                <a:ea typeface="Calibri" pitchFamily="34" charset="-122"/>
                <a:cs typeface="Calibri" pitchFamily="34" charset="-120"/>
              </a:rPr>
              <a:t>5.6%</a:t>
            </a:r>
            <a:endParaRPr lang="en-US" sz="1600" dirty="0"/>
          </a:p>
          <a:p>
            <a:pPr marL="0" indent="0" algn="l">
              <a:buNone/>
            </a:pPr>
            <a:r>
              <a:rPr lang="en-US" sz="1200" i="1" dirty="0">
                <a:solidFill>
                  <a:srgbClr val="B9C3D6"/>
                </a:solidFill>
                <a:latin typeface="Calibri" pitchFamily="34" charset="0"/>
                <a:ea typeface="Calibri" pitchFamily="34" charset="-122"/>
                <a:cs typeface="Calibri" pitchFamily="34" charset="-120"/>
              </a:rPr>
              <a:t>Key: e = % change in the rupee price of one dollar.</a:t>
            </a:r>
            <a:endParaRPr lang="en-US" sz="1600" dirty="0"/>
          </a:p>
        </p:txBody>
      </p:sp>
      <p:sp>
        <p:nvSpPr>
          <p:cNvPr id="10" name="Shape 8"/>
          <p:cNvSpPr/>
          <p:nvPr/>
        </p:nvSpPr>
        <p:spPr>
          <a:xfrm>
            <a:off x="6144768" y="2377440"/>
            <a:ext cx="5541264" cy="3840480"/>
          </a:xfrm>
          <a:prstGeom prst="roundRect">
            <a:avLst>
              <a:gd name="adj" fmla="val 1905"/>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6373368" y="2514600"/>
            <a:ext cx="5120640" cy="3611880"/>
          </a:xfrm>
          <a:prstGeom prst="rect">
            <a:avLst/>
          </a:prstGeom>
          <a:noFill/>
          <a:ln/>
        </p:spPr>
        <p:txBody>
          <a:bodyPr wrap="square" lIns="0" tIns="0" rIns="0" bIns="0" rtlCol="0" anchor="t"/>
          <a:lstStyle/>
          <a:p>
            <a:pPr marL="0" indent="0" algn="l">
              <a:spcAft>
                <a:spcPts val="600"/>
              </a:spcAft>
              <a:buNone/>
            </a:pPr>
            <a:r>
              <a:rPr lang="en-US" sz="1600" b="1" dirty="0">
                <a:solidFill>
                  <a:srgbClr val="8C6D0F"/>
                </a:solidFill>
                <a:latin typeface="Calibri" pitchFamily="34" charset="0"/>
                <a:ea typeface="Calibri" pitchFamily="34" charset="-122"/>
                <a:cs typeface="Calibri" pitchFamily="34" charset="-120"/>
              </a:rPr>
              <a:t>What moves the rupee</a:t>
            </a:r>
            <a:endParaRPr lang="en-US" sz="16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Interest rate differential between India and the US</a:t>
            </a:r>
            <a:endParaRPr lang="en-US" sz="16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Inflation differential (purchasing power parity)</a:t>
            </a:r>
            <a:endParaRPr lang="en-US" sz="16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Current account deficit, driven heavily by crude oil imports</a:t>
            </a:r>
            <a:endParaRPr lang="en-US" sz="16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FPI equity and debt flows; global risk appetite</a:t>
            </a:r>
            <a:endParaRPr lang="en-US" sz="16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US dollar strength and Fed policy</a:t>
            </a:r>
            <a:endParaRPr lang="en-US" sz="1600" dirty="0"/>
          </a:p>
          <a:p>
            <a:pPr marL="177800" indent="-177800" algn="l">
              <a:spcAft>
                <a:spcPts val="800"/>
              </a:spcAft>
              <a:buSzPct val="100000"/>
              <a:buChar char="•"/>
            </a:pPr>
            <a:r>
              <a:rPr lang="en-US" sz="1500" dirty="0">
                <a:solidFill>
                  <a:srgbClr val="1E2533"/>
                </a:solidFill>
                <a:latin typeface="Calibri" pitchFamily="34" charset="0"/>
                <a:ea typeface="Calibri" pitchFamily="34" charset="-122"/>
                <a:cs typeface="Calibri" pitchFamily="34" charset="-120"/>
              </a:rPr>
              <a:t>RBI intervention using forex reserves</a:t>
            </a:r>
            <a:endParaRPr lang="en-US" sz="16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Three Types of Currency Exposure</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75304" cy="4937760"/>
          </a:xfrm>
          <a:prstGeom prst="roundRect">
            <a:avLst>
              <a:gd name="adj" fmla="val 204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731520" y="1463040"/>
            <a:ext cx="640080" cy="64008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85139" y="1616659"/>
            <a:ext cx="332842" cy="332842"/>
          </a:xfrm>
          <a:prstGeom prst="rect">
            <a:avLst/>
          </a:prstGeom>
        </p:spPr>
      </p:pic>
      <p:sp>
        <p:nvSpPr>
          <p:cNvPr id="9" name="Text 6"/>
          <p:cNvSpPr txBox="1"/>
          <p:nvPr/>
        </p:nvSpPr>
        <p:spPr>
          <a:xfrm>
            <a:off x="1508760" y="1463040"/>
            <a:ext cx="2432304" cy="64008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Transaction exposure</a:t>
            </a:r>
            <a:endParaRPr lang="en-US" sz="1700" dirty="0"/>
          </a:p>
        </p:txBody>
      </p:sp>
      <p:sp>
        <p:nvSpPr>
          <p:cNvPr id="10" name="Text 7"/>
          <p:cNvSpPr txBox="1"/>
          <p:nvPr/>
        </p:nvSpPr>
        <p:spPr>
          <a:xfrm>
            <a:off x="731520" y="2331720"/>
            <a:ext cx="3118104" cy="16459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Effect on contracted foreign-currency cash flows between deal and settlement.</a:t>
            </a:r>
            <a:endParaRPr lang="en-US" sz="1550" dirty="0"/>
          </a:p>
        </p:txBody>
      </p:sp>
      <p:sp>
        <p:nvSpPr>
          <p:cNvPr id="11" name="Shape 8"/>
          <p:cNvSpPr/>
          <p:nvPr/>
        </p:nvSpPr>
        <p:spPr>
          <a:xfrm>
            <a:off x="685800" y="4114800"/>
            <a:ext cx="3209544" cy="1920240"/>
          </a:xfrm>
          <a:prstGeom prst="roundRect">
            <a:avLst>
              <a:gd name="adj" fmla="val 2857"/>
            </a:avLst>
          </a:prstGeom>
          <a:solidFill>
            <a:srgbClr val="F7F3E8"/>
          </a:solidFill>
          <a:ln w="12700">
            <a:solidFill>
              <a:srgbClr val="F7F3E8"/>
            </a:solidFill>
            <a:prstDash val="solid"/>
          </a:ln>
        </p:spPr>
      </p:sp>
      <p:sp>
        <p:nvSpPr>
          <p:cNvPr id="12" name="Text 9"/>
          <p:cNvSpPr txBox="1"/>
          <p:nvPr/>
        </p:nvSpPr>
        <p:spPr>
          <a:xfrm>
            <a:off x="822960" y="4206240"/>
            <a:ext cx="2935224" cy="1737360"/>
          </a:xfrm>
          <a:prstGeom prst="rect">
            <a:avLst/>
          </a:prstGeom>
          <a:noFill/>
          <a:ln/>
        </p:spPr>
        <p:txBody>
          <a:bodyPr wrap="square" lIns="0" tIns="0" rIns="0" bIns="0" rtlCol="0" anchor="t"/>
          <a:lstStyle/>
          <a:p>
            <a:pPr marL="0" indent="0" algn="l">
              <a:buNone/>
            </a:pPr>
            <a:r>
              <a:rPr lang="en-US" sz="1450" b="1" dirty="0">
                <a:solidFill>
                  <a:srgbClr val="8C6D0F"/>
                </a:solidFill>
                <a:latin typeface="Calibri" pitchFamily="34" charset="0"/>
                <a:ea typeface="Calibri" pitchFamily="34" charset="-122"/>
                <a:cs typeface="Calibri" pitchFamily="34" charset="-120"/>
              </a:rPr>
              <a:t>Example</a:t>
            </a:r>
            <a:endParaRPr lang="en-US" sz="1450" dirty="0"/>
          </a:p>
          <a:p>
            <a:pPr marL="0" indent="0" algn="l">
              <a:buNone/>
            </a:pPr>
            <a:r>
              <a:rPr lang="en-US" sz="1450" dirty="0">
                <a:solidFill>
                  <a:srgbClr val="1E2533"/>
                </a:solidFill>
                <a:latin typeface="Calibri" pitchFamily="34" charset="0"/>
                <a:ea typeface="Calibri" pitchFamily="34" charset="-122"/>
                <a:cs typeface="Calibri" pitchFamily="34" charset="-120"/>
              </a:rPr>
              <a:t>An IT firm invoicing $2 million payable in 90 days; an importer with a €5 lakh bill.</a:t>
            </a:r>
            <a:endParaRPr lang="en-US" sz="1450" dirty="0"/>
          </a:p>
        </p:txBody>
      </p:sp>
      <p:sp>
        <p:nvSpPr>
          <p:cNvPr id="13" name="Shape 10"/>
          <p:cNvSpPr/>
          <p:nvPr/>
        </p:nvSpPr>
        <p:spPr>
          <a:xfrm>
            <a:off x="4306824" y="1280160"/>
            <a:ext cx="3575304" cy="4937760"/>
          </a:xfrm>
          <a:prstGeom prst="roundRect">
            <a:avLst>
              <a:gd name="adj" fmla="val 204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4" name="Shape 11"/>
          <p:cNvSpPr/>
          <p:nvPr/>
        </p:nvSpPr>
        <p:spPr>
          <a:xfrm>
            <a:off x="4535424" y="1463040"/>
            <a:ext cx="640080" cy="640080"/>
          </a:xfrm>
          <a:prstGeom prst="ellipse">
            <a:avLst/>
          </a:prstGeom>
          <a:solidFill>
            <a:srgbClr val="14213D"/>
          </a:solidFill>
          <a:ln w="12700">
            <a:solidFill>
              <a:srgbClr val="14213D"/>
            </a:solidFill>
            <a:prstDash val="solid"/>
          </a:ln>
        </p:spPr>
      </p:sp>
      <p:pic>
        <p:nvPicPr>
          <p:cNvPr id="15" name="Image 1" descr="preencoded.png"/>
          <p:cNvPicPr>
            <a:picLocks noChangeAspect="1"/>
          </p:cNvPicPr>
          <p:nvPr/>
        </p:nvPicPr>
        <p:blipFill>
          <a:blip r:embed="rId4"/>
          <a:stretch>
            <a:fillRect/>
          </a:stretch>
        </p:blipFill>
        <p:spPr>
          <a:xfrm>
            <a:off x="4689043" y="1616659"/>
            <a:ext cx="332842" cy="332842"/>
          </a:xfrm>
          <a:prstGeom prst="rect">
            <a:avLst/>
          </a:prstGeom>
        </p:spPr>
      </p:pic>
      <p:sp>
        <p:nvSpPr>
          <p:cNvPr id="16" name="Text 12"/>
          <p:cNvSpPr txBox="1"/>
          <p:nvPr/>
        </p:nvSpPr>
        <p:spPr>
          <a:xfrm>
            <a:off x="5312664" y="1463040"/>
            <a:ext cx="2432304" cy="64008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Translation (accounting) exposure</a:t>
            </a:r>
            <a:endParaRPr lang="en-US" sz="1700" dirty="0"/>
          </a:p>
        </p:txBody>
      </p:sp>
      <p:sp>
        <p:nvSpPr>
          <p:cNvPr id="17" name="Text 13"/>
          <p:cNvSpPr txBox="1"/>
          <p:nvPr/>
        </p:nvSpPr>
        <p:spPr>
          <a:xfrm>
            <a:off x="4535424" y="2331720"/>
            <a:ext cx="3118104" cy="16459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Effect on consolidated financial statements when foreign subsidiaries' accounts are converted to rupees.</a:t>
            </a:r>
            <a:endParaRPr lang="en-US" sz="1550" dirty="0"/>
          </a:p>
        </p:txBody>
      </p:sp>
      <p:sp>
        <p:nvSpPr>
          <p:cNvPr id="18" name="Shape 14"/>
          <p:cNvSpPr/>
          <p:nvPr/>
        </p:nvSpPr>
        <p:spPr>
          <a:xfrm>
            <a:off x="4489704" y="4114800"/>
            <a:ext cx="3209544" cy="1920240"/>
          </a:xfrm>
          <a:prstGeom prst="roundRect">
            <a:avLst>
              <a:gd name="adj" fmla="val 2857"/>
            </a:avLst>
          </a:prstGeom>
          <a:solidFill>
            <a:srgbClr val="F7F3E8"/>
          </a:solidFill>
          <a:ln w="12700">
            <a:solidFill>
              <a:srgbClr val="F7F3E8"/>
            </a:solidFill>
            <a:prstDash val="solid"/>
          </a:ln>
        </p:spPr>
      </p:sp>
      <p:sp>
        <p:nvSpPr>
          <p:cNvPr id="19" name="Text 15"/>
          <p:cNvSpPr txBox="1"/>
          <p:nvPr/>
        </p:nvSpPr>
        <p:spPr>
          <a:xfrm>
            <a:off x="4626864" y="4206240"/>
            <a:ext cx="2935224" cy="1737360"/>
          </a:xfrm>
          <a:prstGeom prst="rect">
            <a:avLst/>
          </a:prstGeom>
          <a:noFill/>
          <a:ln/>
        </p:spPr>
        <p:txBody>
          <a:bodyPr wrap="square" lIns="0" tIns="0" rIns="0" bIns="0" rtlCol="0" anchor="t"/>
          <a:lstStyle/>
          <a:p>
            <a:pPr marL="0" indent="0" algn="l">
              <a:buNone/>
            </a:pPr>
            <a:r>
              <a:rPr lang="en-US" sz="1450" b="1" dirty="0">
                <a:solidFill>
                  <a:srgbClr val="8C6D0F"/>
                </a:solidFill>
                <a:latin typeface="Calibri" pitchFamily="34" charset="0"/>
                <a:ea typeface="Calibri" pitchFamily="34" charset="-122"/>
                <a:cs typeface="Calibri" pitchFamily="34" charset="-120"/>
              </a:rPr>
              <a:t>Example</a:t>
            </a:r>
            <a:endParaRPr lang="en-US" sz="1450" dirty="0"/>
          </a:p>
          <a:p>
            <a:pPr marL="0" indent="0" algn="l">
              <a:buNone/>
            </a:pPr>
            <a:r>
              <a:rPr lang="en-US" sz="1450" dirty="0">
                <a:solidFill>
                  <a:srgbClr val="1E2533"/>
                </a:solidFill>
                <a:latin typeface="Calibri" pitchFamily="34" charset="0"/>
                <a:ea typeface="Calibri" pitchFamily="34" charset="-122"/>
                <a:cs typeface="Calibri" pitchFamily="34" charset="-120"/>
              </a:rPr>
              <a:t>An Indian group with a US subsidiary reports lower rupee profits when the rupee strengthens.</a:t>
            </a:r>
            <a:endParaRPr lang="en-US" sz="1450" dirty="0"/>
          </a:p>
        </p:txBody>
      </p:sp>
      <p:sp>
        <p:nvSpPr>
          <p:cNvPr id="20" name="Shape 16"/>
          <p:cNvSpPr/>
          <p:nvPr/>
        </p:nvSpPr>
        <p:spPr>
          <a:xfrm>
            <a:off x="8110728" y="1280160"/>
            <a:ext cx="3575304" cy="4937760"/>
          </a:xfrm>
          <a:prstGeom prst="roundRect">
            <a:avLst>
              <a:gd name="adj" fmla="val 2046"/>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1" name="Shape 17"/>
          <p:cNvSpPr/>
          <p:nvPr/>
        </p:nvSpPr>
        <p:spPr>
          <a:xfrm>
            <a:off x="8339328" y="1463040"/>
            <a:ext cx="640080" cy="640080"/>
          </a:xfrm>
          <a:prstGeom prst="ellipse">
            <a:avLst/>
          </a:prstGeom>
          <a:solidFill>
            <a:srgbClr val="14213D"/>
          </a:solidFill>
          <a:ln w="12700">
            <a:solidFill>
              <a:srgbClr val="14213D"/>
            </a:solidFill>
            <a:prstDash val="solid"/>
          </a:ln>
        </p:spPr>
      </p:sp>
      <p:pic>
        <p:nvPicPr>
          <p:cNvPr id="22" name="Image 2" descr="preencoded.png"/>
          <p:cNvPicPr>
            <a:picLocks noChangeAspect="1"/>
          </p:cNvPicPr>
          <p:nvPr/>
        </p:nvPicPr>
        <p:blipFill>
          <a:blip r:embed="rId5"/>
          <a:stretch>
            <a:fillRect/>
          </a:stretch>
        </p:blipFill>
        <p:spPr>
          <a:xfrm>
            <a:off x="8492947" y="1616659"/>
            <a:ext cx="332842" cy="332842"/>
          </a:xfrm>
          <a:prstGeom prst="rect">
            <a:avLst/>
          </a:prstGeom>
        </p:spPr>
      </p:pic>
      <p:sp>
        <p:nvSpPr>
          <p:cNvPr id="23" name="Text 18"/>
          <p:cNvSpPr txBox="1"/>
          <p:nvPr/>
        </p:nvSpPr>
        <p:spPr>
          <a:xfrm>
            <a:off x="9116568" y="1463040"/>
            <a:ext cx="2432304" cy="64008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Economic (operating) exposure</a:t>
            </a:r>
            <a:endParaRPr lang="en-US" sz="1700" dirty="0"/>
          </a:p>
        </p:txBody>
      </p:sp>
      <p:sp>
        <p:nvSpPr>
          <p:cNvPr id="24" name="Text 19"/>
          <p:cNvSpPr txBox="1"/>
          <p:nvPr/>
        </p:nvSpPr>
        <p:spPr>
          <a:xfrm>
            <a:off x="8339328" y="2331720"/>
            <a:ext cx="3118104" cy="1645920"/>
          </a:xfrm>
          <a:prstGeom prst="rect">
            <a:avLst/>
          </a:prstGeom>
          <a:noFill/>
          <a:ln/>
        </p:spPr>
        <p:txBody>
          <a:bodyPr wrap="square" lIns="0" tIns="0" rIns="0" bIns="0" rtlCol="0" anchor="t"/>
          <a:lstStyle/>
          <a:p>
            <a:pPr marL="0" indent="0" algn="l">
              <a:buNone/>
            </a:pPr>
            <a:r>
              <a:rPr lang="en-US" sz="1550" dirty="0">
                <a:solidFill>
                  <a:srgbClr val="1E2533"/>
                </a:solidFill>
                <a:latin typeface="Calibri" pitchFamily="34" charset="0"/>
                <a:ea typeface="Calibri" pitchFamily="34" charset="-122"/>
                <a:cs typeface="Calibri" pitchFamily="34" charset="-120"/>
              </a:rPr>
              <a:t>Effect on the present value of future cash flows and competitive position.</a:t>
            </a:r>
            <a:endParaRPr lang="en-US" sz="1550" dirty="0"/>
          </a:p>
        </p:txBody>
      </p:sp>
      <p:sp>
        <p:nvSpPr>
          <p:cNvPr id="25" name="Shape 20"/>
          <p:cNvSpPr/>
          <p:nvPr/>
        </p:nvSpPr>
        <p:spPr>
          <a:xfrm>
            <a:off x="8293608" y="4114800"/>
            <a:ext cx="3209544" cy="1920240"/>
          </a:xfrm>
          <a:prstGeom prst="roundRect">
            <a:avLst>
              <a:gd name="adj" fmla="val 2857"/>
            </a:avLst>
          </a:prstGeom>
          <a:solidFill>
            <a:srgbClr val="F7F3E8"/>
          </a:solidFill>
          <a:ln w="12700">
            <a:solidFill>
              <a:srgbClr val="F7F3E8"/>
            </a:solidFill>
            <a:prstDash val="solid"/>
          </a:ln>
        </p:spPr>
      </p:sp>
      <p:sp>
        <p:nvSpPr>
          <p:cNvPr id="26" name="Text 21"/>
          <p:cNvSpPr txBox="1"/>
          <p:nvPr/>
        </p:nvSpPr>
        <p:spPr>
          <a:xfrm>
            <a:off x="8430768" y="4206240"/>
            <a:ext cx="2935224" cy="1737360"/>
          </a:xfrm>
          <a:prstGeom prst="rect">
            <a:avLst/>
          </a:prstGeom>
          <a:noFill/>
          <a:ln/>
        </p:spPr>
        <p:txBody>
          <a:bodyPr wrap="square" lIns="0" tIns="0" rIns="0" bIns="0" rtlCol="0" anchor="t"/>
          <a:lstStyle/>
          <a:p>
            <a:pPr marL="0" indent="0" algn="l">
              <a:buNone/>
            </a:pPr>
            <a:r>
              <a:rPr lang="en-US" sz="1450" b="1" dirty="0">
                <a:solidFill>
                  <a:srgbClr val="8C6D0F"/>
                </a:solidFill>
                <a:latin typeface="Calibri" pitchFamily="34" charset="0"/>
                <a:ea typeface="Calibri" pitchFamily="34" charset="-122"/>
                <a:cs typeface="Calibri" pitchFamily="34" charset="-120"/>
              </a:rPr>
              <a:t>Example</a:t>
            </a:r>
            <a:endParaRPr lang="en-US" sz="1450" dirty="0"/>
          </a:p>
          <a:p>
            <a:pPr marL="0" indent="0" algn="l">
              <a:buNone/>
            </a:pPr>
            <a:r>
              <a:rPr lang="en-US" sz="1450" dirty="0">
                <a:solidFill>
                  <a:srgbClr val="1E2533"/>
                </a:solidFill>
                <a:latin typeface="Calibri" pitchFamily="34" charset="0"/>
                <a:ea typeface="Calibri" pitchFamily="34" charset="-122"/>
                <a:cs typeface="Calibri" pitchFamily="34" charset="-120"/>
              </a:rPr>
              <a:t>A domestic textile maker loses share to Bangladesh or Vietnam when their currencies weaken against the rupee.</a:t>
            </a:r>
            <a:endParaRPr lang="en-US" sz="1450" dirty="0"/>
          </a:p>
        </p:txBody>
      </p:sp>
      <p:sp>
        <p:nvSpPr>
          <p:cNvPr id="27"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Currency Risk in Action: Indian Examples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33095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Event / situation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Who was hurt or helped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happened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Taper tantrum (May–Aug 2013)</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Importers, unhedged ECB borrowers, oil companies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Fed tapering talk triggered FPI outflows; the rupee fell to about ₹68.8 per dollar in August 2013</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Rupee past ₹80 (Jul 2022)</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Importers hurt; IT and pharma exporters helped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Fed hikes and high crude prices pushed the rupee to record lows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Unhedged foreign currency exposure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Banks lending to such firms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RBI (2014) requires banks to hold extra provisions and capital for loans to firms with unhedged exposure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Students abroad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Families paying US, UK or Australian fees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 5% rupee fall raises a ₹40 lakh fee bill by about ₹2 lakh</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731520">
                <a:tc>
                  <a:txBody>
                    <a:bodyPr/>
                    <a:lstStyle/>
                    <a:p>
                      <a:pPr marL="0" indent="0" algn="l">
                        <a:buNone/>
                      </a:pPr>
                      <a:r>
                        <a:rPr lang="en-US" sz="1400" b="1" dirty="0">
                          <a:solidFill>
                            <a:srgbClr val="1E2533"/>
                          </a:solidFill>
                          <a:latin typeface="Calibri" pitchFamily="34" charset="0"/>
                          <a:ea typeface="Calibri" pitchFamily="34" charset="-122"/>
                          <a:cs typeface="Calibri" pitchFamily="34" charset="-120"/>
                        </a:rPr>
                        <a:t>Crude oil import bill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Oil marketing companies, government finances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533"/>
                          </a:solidFill>
                          <a:latin typeface="Calibri" pitchFamily="34" charset="0"/>
                          <a:ea typeface="Calibri" pitchFamily="34" charset="-122"/>
                          <a:cs typeface="Calibri" pitchFamily="34" charset="-120"/>
                        </a:rPr>
                        <a:t>A weaker rupee and higher crude together raise fuel costs and inflation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Currency Risk: Hedging Formulas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6400800" cy="4937760"/>
          </a:xfrm>
          <a:prstGeom prst="roundRect">
            <a:avLst>
              <a:gd name="adj" fmla="val 148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731520" y="1389888"/>
            <a:ext cx="5943600"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Key formulas</a:t>
            </a:r>
            <a:endParaRPr lang="en-US" sz="1500" dirty="0"/>
          </a:p>
        </p:txBody>
      </p:sp>
      <p:sp>
        <p:nvSpPr>
          <p:cNvPr id="8" name="Text 6"/>
          <p:cNvSpPr txBox="1"/>
          <p:nvPr/>
        </p:nvSpPr>
        <p:spPr>
          <a:xfrm>
            <a:off x="731520" y="1783080"/>
            <a:ext cx="5943600" cy="4343400"/>
          </a:xfrm>
          <a:prstGeom prst="rect">
            <a:avLst/>
          </a:prstGeom>
          <a:noFill/>
          <a:ln/>
        </p:spPr>
        <p:txBody>
          <a:bodyPr wrap="square" lIns="0" tIns="0" rIns="0" bIns="0" rtlCol="0" anchor="t"/>
          <a:lstStyle/>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Covered interest rate parity (forward rate)</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F = S × (1 + i</a:t>
            </a:r>
            <a:r>
              <a:rPr lang="en-US" sz="1650" baseline="-40000" dirty="0">
                <a:solidFill>
                  <a:srgbClr val="1E2533"/>
                </a:solidFill>
                <a:latin typeface="Cambria" pitchFamily="34" charset="0"/>
                <a:ea typeface="Cambria" pitchFamily="34" charset="-122"/>
                <a:cs typeface="Cambria" pitchFamily="34" charset="-120"/>
              </a:rPr>
              <a:t>INR</a:t>
            </a:r>
            <a:r>
              <a:rPr lang="en-US" sz="1650" dirty="0">
                <a:solidFill>
                  <a:srgbClr val="1E2533"/>
                </a:solidFill>
                <a:latin typeface="Cambria" pitchFamily="34" charset="0"/>
                <a:ea typeface="Cambria" pitchFamily="34" charset="-122"/>
                <a:cs typeface="Cambria" pitchFamily="34" charset="-120"/>
              </a:rPr>
              <a:t> × t) ÷ (1 + i</a:t>
            </a:r>
            <a:r>
              <a:rPr lang="en-US" sz="1650" baseline="-40000" dirty="0">
                <a:solidFill>
                  <a:srgbClr val="1E2533"/>
                </a:solidFill>
                <a:latin typeface="Cambria" pitchFamily="34" charset="0"/>
                <a:ea typeface="Cambria" pitchFamily="34" charset="-122"/>
                <a:cs typeface="Cambria" pitchFamily="34" charset="-120"/>
              </a:rPr>
              <a:t>USD</a:t>
            </a:r>
            <a:r>
              <a:rPr lang="en-US" sz="1650" dirty="0">
                <a:solidFill>
                  <a:srgbClr val="1E2533"/>
                </a:solidFill>
                <a:latin typeface="Cambria" pitchFamily="34" charset="0"/>
                <a:ea typeface="Cambria" pitchFamily="34" charset="-122"/>
                <a:cs typeface="Cambria" pitchFamily="34" charset="-120"/>
              </a:rPr>
              <a:t> × t)</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Annualised forward premium</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Premium = (F − S) ÷ S × (12 ÷ months)</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Forward hedge (exporter)</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INR received = FC amount × F</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Money market hedge (importer)</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Cost = [FC ÷ (1 + i</a:t>
            </a:r>
            <a:r>
              <a:rPr lang="en-US" sz="1650" baseline="-40000" dirty="0">
                <a:solidFill>
                  <a:srgbClr val="1E2533"/>
                </a:solidFill>
                <a:latin typeface="Cambria" pitchFamily="34" charset="0"/>
                <a:ea typeface="Cambria" pitchFamily="34" charset="-122"/>
                <a:cs typeface="Cambria" pitchFamily="34" charset="-120"/>
              </a:rPr>
              <a:t>FC</a:t>
            </a:r>
            <a:r>
              <a:rPr lang="en-US" sz="1650" dirty="0">
                <a:solidFill>
                  <a:srgbClr val="1E2533"/>
                </a:solidFill>
                <a:latin typeface="Cambria" pitchFamily="34" charset="0"/>
                <a:ea typeface="Cambria" pitchFamily="34" charset="-122"/>
                <a:cs typeface="Cambria" pitchFamily="34" charset="-120"/>
              </a:rPr>
              <a:t>t)] × S × (1 + i</a:t>
            </a:r>
            <a:r>
              <a:rPr lang="en-US" sz="1650" baseline="-40000" dirty="0">
                <a:solidFill>
                  <a:srgbClr val="1E2533"/>
                </a:solidFill>
                <a:latin typeface="Cambria" pitchFamily="34" charset="0"/>
                <a:ea typeface="Cambria" pitchFamily="34" charset="-122"/>
                <a:cs typeface="Cambria" pitchFamily="34" charset="-120"/>
              </a:rPr>
              <a:t>INR</a:t>
            </a:r>
            <a:r>
              <a:rPr lang="en-US" sz="1650" dirty="0">
                <a:solidFill>
                  <a:srgbClr val="1E2533"/>
                </a:solidFill>
                <a:latin typeface="Cambria" pitchFamily="34" charset="0"/>
                <a:ea typeface="Cambria" pitchFamily="34" charset="-122"/>
                <a:cs typeface="Cambria" pitchFamily="34" charset="-120"/>
              </a:rPr>
              <a:t>t)</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Futures hedge (effective rate)</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Long: S</a:t>
            </a:r>
            <a:r>
              <a:rPr lang="en-US" sz="1650" baseline="-4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(F</a:t>
            </a:r>
            <a:r>
              <a:rPr lang="en-US" sz="1650" baseline="-4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F</a:t>
            </a:r>
            <a:r>
              <a:rPr lang="en-US" sz="1650" baseline="-40000" dirty="0">
                <a:solidFill>
                  <a:srgbClr val="1E2533"/>
                </a:solidFill>
                <a:latin typeface="Cambria" pitchFamily="34" charset="0"/>
                <a:ea typeface="Cambria" pitchFamily="34" charset="-122"/>
                <a:cs typeface="Cambria" pitchFamily="34" charset="-120"/>
              </a:rPr>
              <a:t>1</a:t>
            </a:r>
            <a:r>
              <a:rPr lang="en-US" sz="1650" dirty="0">
                <a:solidFill>
                  <a:srgbClr val="1E2533"/>
                </a:solidFill>
                <a:latin typeface="Cambria" pitchFamily="34" charset="0"/>
                <a:ea typeface="Cambria" pitchFamily="34" charset="-122"/>
                <a:cs typeface="Cambria" pitchFamily="34" charset="-120"/>
              </a:rPr>
              <a:t>);   Short: S</a:t>
            </a:r>
            <a:r>
              <a:rPr lang="en-US" sz="1650" baseline="-4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 + (F</a:t>
            </a:r>
            <a:r>
              <a:rPr lang="en-US" sz="1650" baseline="-40000" dirty="0">
                <a:solidFill>
                  <a:srgbClr val="1E2533"/>
                </a:solidFill>
                <a:latin typeface="Cambria" pitchFamily="34" charset="0"/>
                <a:ea typeface="Cambria" pitchFamily="34" charset="-122"/>
                <a:cs typeface="Cambria" pitchFamily="34" charset="-120"/>
              </a:rPr>
              <a:t>1</a:t>
            </a:r>
            <a:r>
              <a:rPr lang="en-US" sz="1650" dirty="0">
                <a:solidFill>
                  <a:srgbClr val="1E2533"/>
                </a:solidFill>
                <a:latin typeface="Cambria" pitchFamily="34" charset="0"/>
                <a:ea typeface="Cambria" pitchFamily="34" charset="-122"/>
                <a:cs typeface="Cambria" pitchFamily="34" charset="-120"/>
              </a:rPr>
              <a:t> − F</a:t>
            </a:r>
            <a:r>
              <a:rPr lang="en-US" sz="1650" baseline="-40000" dirty="0">
                <a:solidFill>
                  <a:srgbClr val="1E2533"/>
                </a:solidFill>
                <a:latin typeface="Cambria" pitchFamily="34" charset="0"/>
                <a:ea typeface="Cambria" pitchFamily="34" charset="-122"/>
                <a:cs typeface="Cambria" pitchFamily="34" charset="-120"/>
              </a:rPr>
              <a:t>2</a:t>
            </a:r>
            <a:r>
              <a:rPr lang="en-US" sz="1650" dirty="0">
                <a:solidFill>
                  <a:srgbClr val="1E2533"/>
                </a:solidFill>
                <a:latin typeface="Cambria" pitchFamily="34" charset="0"/>
                <a:ea typeface="Cambria" pitchFamily="34" charset="-122"/>
                <a:cs typeface="Cambria" pitchFamily="34" charset="-120"/>
              </a:rPr>
              <a:t>)</a:t>
            </a:r>
            <a:endParaRPr lang="en-US" sz="1450" dirty="0"/>
          </a:p>
          <a:p>
            <a:pPr marL="0" indent="0" algn="l">
              <a:spcBef>
                <a:spcPts val="900"/>
              </a:spcBef>
              <a:buNone/>
            </a:pPr>
            <a:r>
              <a:rPr lang="en-US" sz="1450" b="1" dirty="0">
                <a:solidFill>
                  <a:srgbClr val="14213D"/>
                </a:solidFill>
                <a:latin typeface="Calibri" pitchFamily="34" charset="0"/>
                <a:ea typeface="Calibri" pitchFamily="34" charset="-122"/>
                <a:cs typeface="Calibri" pitchFamily="34" charset="-120"/>
              </a:rPr>
              <a:t>Call option hedge (importer, per unit)</a:t>
            </a:r>
            <a:endParaRPr lang="en-US" sz="1450" dirty="0"/>
          </a:p>
          <a:p>
            <a:pPr marL="0" indent="0" algn="l">
              <a:spcAft>
                <a:spcPts val="200"/>
              </a:spcAft>
              <a:buNone/>
            </a:pPr>
            <a:r>
              <a:rPr lang="en-US" sz="1650" dirty="0">
                <a:solidFill>
                  <a:srgbClr val="1E2533"/>
                </a:solidFill>
                <a:latin typeface="Cambria" pitchFamily="34" charset="0"/>
                <a:ea typeface="Cambria" pitchFamily="34" charset="-122"/>
                <a:cs typeface="Cambria" pitchFamily="34" charset="-120"/>
              </a:rPr>
              <a:t>Cost = min(S</a:t>
            </a:r>
            <a:r>
              <a:rPr lang="en-US" sz="1650" baseline="-40000" dirty="0">
                <a:solidFill>
                  <a:srgbClr val="1E2533"/>
                </a:solidFill>
                <a:latin typeface="Cambria" pitchFamily="34" charset="0"/>
                <a:ea typeface="Cambria" pitchFamily="34" charset="-122"/>
                <a:cs typeface="Cambria" pitchFamily="34" charset="-120"/>
              </a:rPr>
              <a:t>T</a:t>
            </a:r>
            <a:r>
              <a:rPr lang="en-US" sz="1650" dirty="0">
                <a:solidFill>
                  <a:srgbClr val="1E2533"/>
                </a:solidFill>
                <a:latin typeface="Cambria" pitchFamily="34" charset="0"/>
                <a:ea typeface="Cambria" pitchFamily="34" charset="-122"/>
                <a:cs typeface="Cambria" pitchFamily="34" charset="-120"/>
              </a:rPr>
              <a:t>, K) + premium;  break-even vs forward: K + c = F</a:t>
            </a:r>
            <a:endParaRPr lang="en-US" sz="1450" dirty="0"/>
          </a:p>
        </p:txBody>
      </p:sp>
      <p:sp>
        <p:nvSpPr>
          <p:cNvPr id="9" name="Shape 7"/>
          <p:cNvSpPr/>
          <p:nvPr/>
        </p:nvSpPr>
        <p:spPr>
          <a:xfrm>
            <a:off x="7178040" y="1280160"/>
            <a:ext cx="4507992" cy="4937760"/>
          </a:xfrm>
          <a:prstGeom prst="roundRect">
            <a:avLst>
              <a:gd name="adj" fmla="val 1623"/>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0" name="Text 8"/>
          <p:cNvSpPr txBox="1"/>
          <p:nvPr/>
        </p:nvSpPr>
        <p:spPr>
          <a:xfrm>
            <a:off x="7406640" y="1389888"/>
            <a:ext cx="4050792" cy="365760"/>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Notation key</a:t>
            </a:r>
            <a:endParaRPr lang="en-US" sz="15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7406640" y="1810512"/>
          <a:ext cx="4050792"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Symbol</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Meaning</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Spot rate (₹ per unit of foreign currency)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F</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Forward rate for the same maturity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i</a:t>
                      </a:r>
                      <a:r>
                        <a:rPr lang="en-US" sz="1300" b="1" baseline="-40000" dirty="0">
                          <a:solidFill>
                            <a:srgbClr val="1E2533"/>
                          </a:solidFill>
                          <a:latin typeface="Calibri" pitchFamily="34" charset="0"/>
                          <a:ea typeface="Calibri" pitchFamily="34" charset="-122"/>
                          <a:cs typeface="Calibri" pitchFamily="34" charset="-120"/>
                        </a:rPr>
                        <a:t>INR</a:t>
                      </a:r>
                      <a:r>
                        <a:rPr lang="en-US" sz="1300" b="1" dirty="0">
                          <a:solidFill>
                            <a:srgbClr val="1E2533"/>
                          </a:solidFill>
                          <a:latin typeface="Calibri" pitchFamily="34" charset="0"/>
                          <a:ea typeface="Calibri" pitchFamily="34" charset="-122"/>
                          <a:cs typeface="Calibri" pitchFamily="34" charset="-120"/>
                        </a:rPr>
                        <a:t>, i</a:t>
                      </a:r>
                      <a:r>
                        <a:rPr lang="en-US" sz="1300" b="1" baseline="-40000" dirty="0">
                          <a:solidFill>
                            <a:srgbClr val="1E2533"/>
                          </a:solidFill>
                          <a:latin typeface="Calibri" pitchFamily="34" charset="0"/>
                          <a:ea typeface="Calibri" pitchFamily="34" charset="-122"/>
                          <a:cs typeface="Calibri" pitchFamily="34" charset="-120"/>
                        </a:rPr>
                        <a:t>USD</a:t>
                      </a:r>
                      <a:r>
                        <a:rPr lang="en-US" sz="1300" b="1" dirty="0">
                          <a:solidFill>
                            <a:srgbClr val="1E2533"/>
                          </a:solidFill>
                          <a:latin typeface="Calibri" pitchFamily="34" charset="0"/>
                          <a:ea typeface="Calibri" pitchFamily="34" charset="-122"/>
                          <a:cs typeface="Calibri" pitchFamily="34" charset="-120"/>
                        </a:rPr>
                        <a:t>, i</a:t>
                      </a:r>
                      <a:r>
                        <a:rPr lang="en-US" sz="1300" b="1" baseline="-40000" dirty="0">
                          <a:solidFill>
                            <a:srgbClr val="1E2533"/>
                          </a:solidFill>
                          <a:latin typeface="Calibri" pitchFamily="34" charset="0"/>
                          <a:ea typeface="Calibri" pitchFamily="34" charset="-122"/>
                          <a:cs typeface="Calibri" pitchFamily="34" charset="-120"/>
                        </a:rPr>
                        <a:t>FC</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Annual interest rates in each currency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Time to maturity in years</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F</a:t>
                      </a:r>
                      <a:r>
                        <a:rPr lang="en-US" sz="1300" b="1" baseline="-40000" dirty="0">
                          <a:solidFill>
                            <a:srgbClr val="1E2533"/>
                          </a:solidFill>
                          <a:latin typeface="Calibri" pitchFamily="34" charset="0"/>
                          <a:ea typeface="Calibri" pitchFamily="34" charset="-122"/>
                          <a:cs typeface="Calibri" pitchFamily="34" charset="-120"/>
                        </a:rPr>
                        <a:t>1</a:t>
                      </a:r>
                      <a:r>
                        <a:rPr lang="en-US" sz="1300" b="1" dirty="0">
                          <a:solidFill>
                            <a:srgbClr val="1E2533"/>
                          </a:solidFill>
                          <a:latin typeface="Calibri" pitchFamily="34" charset="0"/>
                          <a:ea typeface="Calibri" pitchFamily="34" charset="-122"/>
                          <a:cs typeface="Calibri" pitchFamily="34" charset="-120"/>
                        </a:rPr>
                        <a:t>, F</a:t>
                      </a:r>
                      <a:r>
                        <a:rPr lang="en-US" sz="1300" b="1" baseline="-40000" dirty="0">
                          <a:solidFill>
                            <a:srgbClr val="1E2533"/>
                          </a:solidFill>
                          <a:latin typeface="Calibri" pitchFamily="34" charset="0"/>
                          <a:ea typeface="Calibri" pitchFamily="34" charset="-122"/>
                          <a:cs typeface="Calibri" pitchFamily="34" charset="-120"/>
                        </a:rPr>
                        <a:t>2</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Futures price when hedge is opened / closed</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S</a:t>
                      </a:r>
                      <a:r>
                        <a:rPr lang="en-US" sz="1300" b="1" baseline="-40000" dirty="0">
                          <a:solidFill>
                            <a:srgbClr val="1E2533"/>
                          </a:solidFill>
                          <a:latin typeface="Calibri" pitchFamily="34" charset="0"/>
                          <a:ea typeface="Calibri" pitchFamily="34" charset="-122"/>
                          <a:cs typeface="Calibri" pitchFamily="34" charset="-120"/>
                        </a:rPr>
                        <a:t>2</a:t>
                      </a:r>
                      <a:r>
                        <a:rPr lang="en-US" sz="1300" b="1" dirty="0">
                          <a:solidFill>
                            <a:srgbClr val="1E2533"/>
                          </a:solidFill>
                          <a:latin typeface="Calibri" pitchFamily="34" charset="0"/>
                          <a:ea typeface="Calibri" pitchFamily="34" charset="-122"/>
                          <a:cs typeface="Calibri" pitchFamily="34" charset="-120"/>
                        </a:rPr>
                        <a:t>, S</a:t>
                      </a:r>
                      <a:r>
                        <a:rPr lang="en-US" sz="1300" b="1" baseline="-40000" dirty="0">
                          <a:solidFill>
                            <a:srgbClr val="1E2533"/>
                          </a:solidFill>
                          <a:latin typeface="Calibri" pitchFamily="34" charset="0"/>
                          <a:ea typeface="Calibri" pitchFamily="34" charset="-122"/>
                          <a:cs typeface="Calibri" pitchFamily="34" charset="-120"/>
                        </a:rPr>
                        <a:t>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Spot rate at close-out / at expiry</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K, c</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Option strike and premium (₹ per unit)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Lot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NSE USD-INR futures and options: $1,000 per contract</a:t>
                      </a:r>
                      <a:endParaRPr lang="en-US" sz="1200" dirty="0"/>
                    </a:p>
                  </a:txBody>
                  <a:tcPr marL="76200" marR="762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X1 · Forward Hedge of an IT Exporter's Dollar Receivable</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Basic</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Pune-based IT services firm will receive $2,000,000 from a US client in three months. Its treasury can sell dollars forward to its bank today. Rates are illustrative (₹ per $).</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39"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Receivable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$2,000,000 in 3 months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Spot rate today</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₹87.20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3-month forward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₹87.85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Possible spot rates in 3 months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₹84.50 / ₹87.20 / ₹90.00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Rupee receipt if the firm stays unhedged, in each scenario.</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Rupee receipt with a forward hedge.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Gain or loss of hedging vs staying unhedged in each scenario.</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Why might the firm hedge even though it could miss the ₹90.00 outcome?</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X1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graphicFrame>
        <p:nvGraphicFramePr>
          <p:cNvPr id="140" name="Table 0"/>
          <p:cNvGraphicFramePr>
            <a:graphicFrameLocks noGrp="1"/>
          </p:cNvGraphicFramePr>
          <p:nvPr>
            <p:extLst>
              <p:ext uri="{D42A27DB-BD31-4B8C-83A1-F6EECF244321}">
                <p14:modId xmlns:p14="http://schemas.microsoft.com/office/powerpoint/2010/main" val="1579011935"/>
              </p:ext>
            </p:extLst>
          </p:nvPr>
        </p:nvGraphicFramePr>
        <p:xfrm>
          <a:off x="685800" y="1371600"/>
          <a:ext cx="736092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Spot in 3 months</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Unhedged receipt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Forward receipt</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Hedge vs unhedged</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₹84.50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₹16.90 crore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₹17.57 crore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2E7D4F"/>
                          </a:solidFill>
                          <a:latin typeface="Calibri" pitchFamily="34" charset="0"/>
                          <a:ea typeface="Calibri" pitchFamily="34" charset="-122"/>
                          <a:cs typeface="Calibri" pitchFamily="34" charset="-120"/>
                        </a:rPr>
                        <a:t>+₹67.0 lakh</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₹87.20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₹17.44 crore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₹17.57 crore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400" b="1" dirty="0">
                          <a:solidFill>
                            <a:srgbClr val="2E7D4F"/>
                          </a:solidFill>
                          <a:latin typeface="Calibri" pitchFamily="34" charset="0"/>
                          <a:ea typeface="Calibri" pitchFamily="34" charset="-122"/>
                          <a:cs typeface="Calibri" pitchFamily="34" charset="-120"/>
                        </a:rPr>
                        <a:t>+₹13.0 lakh</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ctr">
                        <a:buNone/>
                      </a:pPr>
                      <a:r>
                        <a:rPr lang="en-US" sz="1400" dirty="0">
                          <a:solidFill>
                            <a:srgbClr val="1E2533"/>
                          </a:solidFill>
                          <a:latin typeface="Calibri" pitchFamily="34" charset="0"/>
                          <a:ea typeface="Calibri" pitchFamily="34" charset="-122"/>
                          <a:cs typeface="Calibri" pitchFamily="34" charset="-120"/>
                        </a:rPr>
                        <a:t>₹90.00</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₹18.00 crore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₹17.57 crore</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A63232"/>
                          </a:solidFill>
                          <a:latin typeface="Calibri" pitchFamily="34" charset="0"/>
                          <a:ea typeface="Calibri" pitchFamily="34" charset="-122"/>
                          <a:cs typeface="Calibri" pitchFamily="34" charset="-120"/>
                        </a:rPr>
                        <a:t>−₹43.0 lakh</a:t>
                      </a:r>
                      <a:endParaRPr lang="en-US" sz="1200" dirty="0"/>
                    </a:p>
                  </a:txBody>
                  <a:tcPr marL="63500" marR="63500" marT="25400" marB="254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txBox="1"/>
          <p:nvPr/>
        </p:nvSpPr>
        <p:spPr>
          <a:xfrm>
            <a:off x="685800" y="2487168"/>
            <a:ext cx="7360920" cy="3657600"/>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Unhedged: receipt = $2,000,000 × S</a:t>
            </a:r>
            <a:r>
              <a:rPr lang="en-US" sz="1550" b="1" baseline="-40000" dirty="0">
                <a:solidFill>
                  <a:srgbClr val="8C6D0F"/>
                </a:solidFill>
                <a:latin typeface="Calibri" pitchFamily="34" charset="0"/>
                <a:ea typeface="Calibri" pitchFamily="34" charset="-122"/>
                <a:cs typeface="Calibri" pitchFamily="34" charset="-120"/>
              </a:rPr>
              <a:t>T</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e.g. at ₹84.50: 2,000,000 × 84.50 = ₹16,90,00,000 = ₹16.90 crore</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Forward hedge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2,000,000 × 87.85 = ₹17,57,00,000 = ₹17.57 crore in every scenario</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Hedge gain or loss = $2 mn × (F − S</a:t>
            </a:r>
            <a:r>
              <a:rPr lang="en-US" sz="1550" b="1" baseline="-40000" dirty="0">
                <a:solidFill>
                  <a:srgbClr val="8C6D0F"/>
                </a:solidFill>
                <a:latin typeface="Calibri" pitchFamily="34" charset="0"/>
                <a:ea typeface="Calibri" pitchFamily="34" charset="-122"/>
                <a:cs typeface="Calibri" pitchFamily="34" charset="-120"/>
              </a:rPr>
              <a:t>T</a:t>
            </a:r>
            <a:r>
              <a:rPr lang="en-US" sz="1550" b="1" dirty="0">
                <a:solidFill>
                  <a:srgbClr val="8C6D0F"/>
                </a:solidFill>
                <a:latin typeface="Calibri" pitchFamily="34" charset="0"/>
                <a:ea typeface="Calibri" pitchFamily="34" charset="-122"/>
                <a:cs typeface="Calibri" pitchFamily="34" charset="-120"/>
              </a:rPr>
              <a:t>)</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₹84.50: +₹67 lakh;  ₹87.20: +₹13 lakh;  ₹90.00: −₹43 lakh (opportunity loss)</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Why hedge?</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The firm's objective is a predictable rupee margin to pay salaries; it gives up the upside to remove the downside.</a:t>
            </a:r>
            <a:endParaRPr lang="en-US" sz="1550" dirty="0"/>
          </a:p>
        </p:txBody>
      </p:sp>
      <p:sp>
        <p:nvSpPr>
          <p:cNvPr id="9"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0"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1"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Forward locks ₹17.57 crore</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Unhedged range: ₹16.90–18.00 crore</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Hedge wins unless the rupee falls below ₹87.85</a:t>
            </a:r>
            <a:endParaRPr lang="en-US" sz="1500" dirty="0"/>
          </a:p>
        </p:txBody>
      </p:sp>
      <p:sp>
        <p:nvSpPr>
          <p:cNvPr id="12"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3"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A forward is not a bet on direction. It trades an uncertain outcome for a certain one, tying back to "risk = not meeting the objective".</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X2 · Forward Rate from Interest Rate Parity and Covered Arbitrage</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bank dealer checks whether the quoted 3-month USD-INR forward is consistent with interest rate parity. Interest rates are simple annual rates for three months. All figures are illustrative.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41"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Spot USD-INR (S)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₹87.20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3-month INR interest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6.40% p.a.</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3-month USD interest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4.20% p.a.</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Quoted 3-month forward</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₹88.10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Arbitrage capital</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Borrow ₹87,20,000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Fair forward rate by covered interest parity.</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Annualised forward premium on the dollar (fair).</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Is the quote over- or under-priced? Design the arbitrage.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Arbitrage profit in ₹.</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X2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Fair forward</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 = 87.20 × (1 + 0.064 × 0.25) ÷ (1 + 0.042 × 0.25) = 87.20 × 1.016 ÷ 1.0105 = ₹87.6746</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Forward premium</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(87.6746 − 87.20) ÷ 87.20 × 4 = 2.18% p.a.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interest differential 2.2%</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Quote ₹88.10 &gt; fair ₹87.67 → dollar is overpriced forward</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Borrow INR → buy USD spot → invest USD → sell USD forward at ₹88.10.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Arbitrage cash flows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Borrow ₹87,20,000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$100,000 at ₹87.20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Invest at 4.2% for 3 months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$101,050;  sell forward: $101,050 × 88.10 = ₹89,02,505</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Repay loan: 87,20,000 × 1.016 = ₹88,59,520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Riskless profit = ₹89,02,505 − ₹88,59,520 = ₹42,985</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Fair forward ₹87.6746</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Premium ≈ 2.18% p.a.</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Quote is too high: sell USD forward</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Profit ≈ ₹42,985 per ₹87.2 lakh</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Arbitrageurs' selling pushes the forward back to parity. In practice, transaction costs, bid-ask spreads and capital controls leave a small no-arbitrage band.</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X3 · Money Market Hedge vs Forward Hedge for an Importer</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Chennai auto-parts importer must pay €500,000 to a German supplier in six months. It can either buy euros forward or use a money market hedge (borrow rupees today, buy euros, invest them until the payment date). Rates are illustrative.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Payable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€500,000 in 6 months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Spot EUR-INR (S)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₹101.50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6-month forward EUR-INR</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₹103.40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EUR deposit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2.5% p.a.</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INR borrowing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7.0% p.a.</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Euros to invest today so that €500,000 is available in 6 months.</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Rupees needed today and the rupee cost in 6 months (money market hedge).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Rupee cost with the forward hedge.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Which hedge is cheaper, by how much, and why?</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X3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Euros to invest today</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PV = 500,000 ÷ (1 + 0.025 × 0.5) = 500,000 ÷ 1.0125 = €493,827.16</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Money market hedge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Rupees borrowed today = €493,827.16 × 101.50 = ₹5,01,23,457</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Repay in 6 months = ₹5,01,23,457 × (1 + 0.07 × 0.5) = ₹5,18,77,778</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Effective rate = ₹5,18,77,778 ÷ 500,000 = ₹103.7556 per €</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Forward hedge</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500,000 × 103.40 = ₹5,17,00,000</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Comparison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Forward is cheaper by ₹1,77,778 (₹0.3556 per €)</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The forward is below the parity-implied rate of ₹103.76, so buying forward is the better hedge.</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Invest €493,827.16 today</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MMH cost ₹5,18,77,778</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Forward cost ₹5,17,00,000</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Choose forward: saves ₹1,77,778</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Both hedges remove currency risk. The choice depends on which is cheaper after interest rates, bank spreads and credit limits.</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X4 · Hedging an Import Payable with NSE USD-INR Futures</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Intermediate</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An electronics importer in Noida must pay $250,000 in two months. It buys USD-INR futures on NSE (lot $1,000; final settlement at the RBI reference rate). Rates are illustrative.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Payable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$250,000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Futures lot size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Futures price when hedged (F</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₹87.60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Case 1: held to expiry; RBI reference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₹89.10 (= S</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 = F</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Case 2: closed early: S</a:t>
                      </a:r>
                      <a:r>
                        <a:rPr lang="en-US" sz="1500" baseline="-40000" dirty="0">
                          <a:solidFill>
                            <a:srgbClr val="1E2533"/>
                          </a:solidFill>
                          <a:latin typeface="Calibri" pitchFamily="34" charset="0"/>
                          <a:ea typeface="Calibri" pitchFamily="34" charset="-122"/>
                          <a:cs typeface="Calibri" pitchFamily="34" charset="-120"/>
                        </a:rPr>
                        <a:t>2</a:t>
                      </a:r>
                      <a:r>
                        <a:rPr lang="en-US" sz="1500" dirty="0">
                          <a:solidFill>
                            <a:srgbClr val="1E2533"/>
                          </a:solidFill>
                          <a:latin typeface="Calibri" pitchFamily="34" charset="0"/>
                          <a:ea typeface="Calibri" pitchFamily="34" charset="-122"/>
                          <a:cs typeface="Calibri" pitchFamily="34" charset="-120"/>
                        </a:rPr>
                        <a:t> / F</a:t>
                      </a:r>
                      <a:r>
                        <a:rPr lang="en-US" sz="1500" baseline="-40000" dirty="0">
                          <a:solidFill>
                            <a:srgbClr val="1E2533"/>
                          </a:solidFill>
                          <a:latin typeface="Calibri" pitchFamily="34" charset="0"/>
                          <a:ea typeface="Calibri" pitchFamily="34" charset="-122"/>
                          <a:cs typeface="Calibri" pitchFamily="34" charset="-120"/>
                        </a:rPr>
                        <a:t>2</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₹89.05 / ₹89.25</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Number of contracts and direction.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Case 1: futures P&amp;L, spot cost and effective rate.</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Case 2: effective rate with basis at close-out.</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Compare with the unhedged cost in Case 1.</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X4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34440"/>
            <a:ext cx="7726680" cy="4983480"/>
          </a:xfrm>
          <a:prstGeom prst="roundRect">
            <a:avLst>
              <a:gd name="adj" fmla="val 146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Text 5"/>
          <p:cNvSpPr txBox="1"/>
          <p:nvPr/>
        </p:nvSpPr>
        <p:spPr>
          <a:xfrm>
            <a:off x="685800" y="1325880"/>
            <a:ext cx="7360920" cy="4818888"/>
          </a:xfrm>
          <a:prstGeom prst="rect">
            <a:avLst/>
          </a:prstGeom>
          <a:noFill/>
          <a:ln/>
        </p:spPr>
        <p:txBody>
          <a:bodyPr wrap="square" lIns="0" tIns="0" rIns="0" bIns="0" rtlCol="0" anchor="t"/>
          <a:lstStyle/>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(a) Contracts</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 = 250,000 ÷ 1,000 = </a:t>
            </a:r>
            <a:r>
              <a:rPr lang="en-US" sz="1500" b="1" dirty="0">
                <a:solidFill>
                  <a:srgbClr val="14213D"/>
                </a:solidFill>
                <a:latin typeface="Cambria" pitchFamily="34" charset="0"/>
                <a:ea typeface="Cambria" pitchFamily="34" charset="-122"/>
                <a:cs typeface="Cambria" pitchFamily="34" charset="-120"/>
              </a:rPr>
              <a:t>250 contracts, long</a:t>
            </a:r>
            <a:r>
              <a:rPr lang="en-US" sz="1500" dirty="0">
                <a:solidFill>
                  <a:srgbClr val="14213D"/>
                </a:solidFill>
                <a:latin typeface="Cambria" pitchFamily="34" charset="0"/>
                <a:ea typeface="Cambria" pitchFamily="34" charset="-122"/>
                <a:cs typeface="Cambria" pitchFamily="34" charset="-120"/>
              </a:rPr>
              <a:t> (importer is short dollars)</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(b) Case 1: held to expiry</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Futures gain = (89.10 − 87.60) × 250,000 = ₹3,75,000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Spot purchase = 89.10 × 250,000 = ₹2,22,75,000</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Net cost = ₹2,22,75,000 − ₹3,75,000 = ₹2,19,00,000 </a:t>
            </a:r>
            <a:r>
              <a:rPr lang="en-US" sz="1500" dirty="0">
                <a:solidFill>
                  <a:srgbClr val="14213D"/>
                </a:solidFill>
                <a:latin typeface="Calibri" pitchFamily="34" charset="0"/>
                <a:ea typeface="Calibri" pitchFamily="34" charset="-122"/>
                <a:cs typeface="Calibri" pitchFamily="34" charset="-120"/>
              </a:rPr>
              <a:t>→</a:t>
            </a:r>
            <a:r>
              <a:rPr lang="en-US" sz="1500" dirty="0">
                <a:solidFill>
                  <a:srgbClr val="14213D"/>
                </a:solidFill>
                <a:latin typeface="Cambria" pitchFamily="34" charset="0"/>
                <a:ea typeface="Cambria" pitchFamily="34" charset="-122"/>
                <a:cs typeface="Cambria" pitchFamily="34" charset="-120"/>
              </a:rPr>
              <a:t> ₹87.60 per $</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(c) Case 2: closed early</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Effective = S</a:t>
            </a:r>
            <a:r>
              <a:rPr lang="en-US" sz="1500" baseline="-4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(F</a:t>
            </a:r>
            <a:r>
              <a:rPr lang="en-US" sz="1500" baseline="-40000" dirty="0">
                <a:solidFill>
                  <a:srgbClr val="14213D"/>
                </a:solidFill>
                <a:latin typeface="Cambria" pitchFamily="34" charset="0"/>
                <a:ea typeface="Cambria" pitchFamily="34" charset="-122"/>
                <a:cs typeface="Cambria" pitchFamily="34" charset="-120"/>
              </a:rPr>
              <a:t>2</a:t>
            </a:r>
            <a:r>
              <a:rPr lang="en-US" sz="1500" dirty="0">
                <a:solidFill>
                  <a:srgbClr val="14213D"/>
                </a:solidFill>
                <a:latin typeface="Cambria" pitchFamily="34" charset="0"/>
                <a:ea typeface="Cambria" pitchFamily="34" charset="-122"/>
                <a:cs typeface="Cambria" pitchFamily="34" charset="-120"/>
              </a:rPr>
              <a:t> − F</a:t>
            </a:r>
            <a:r>
              <a:rPr lang="en-US" sz="1500" baseline="-40000" dirty="0">
                <a:solidFill>
                  <a:srgbClr val="14213D"/>
                </a:solidFill>
                <a:latin typeface="Cambria" pitchFamily="34" charset="0"/>
                <a:ea typeface="Cambria" pitchFamily="34" charset="-122"/>
                <a:cs typeface="Cambria" pitchFamily="34" charset="-120"/>
              </a:rPr>
              <a:t>1</a:t>
            </a:r>
            <a:r>
              <a:rPr lang="en-US" sz="1500" dirty="0">
                <a:solidFill>
                  <a:srgbClr val="14213D"/>
                </a:solidFill>
                <a:latin typeface="Cambria" pitchFamily="34" charset="0"/>
                <a:ea typeface="Cambria" pitchFamily="34" charset="-122"/>
                <a:cs typeface="Cambria" pitchFamily="34" charset="-120"/>
              </a:rPr>
              <a:t>) = 89.05 − (89.25 − 87.60) = ₹87.40 per $</a:t>
            </a:r>
            <a:endParaRPr lang="en-US" sz="1550" dirty="0"/>
          </a:p>
          <a:p>
            <a:pPr marL="0" indent="0" algn="l">
              <a:spcAft>
                <a:spcPts val="100"/>
              </a:spcAft>
              <a:buNone/>
            </a:pPr>
            <a:r>
              <a:rPr lang="en-US" sz="1500" dirty="0">
                <a:solidFill>
                  <a:srgbClr val="1E2533"/>
                </a:solidFill>
                <a:latin typeface="Calibri" pitchFamily="34" charset="0"/>
                <a:ea typeface="Calibri" pitchFamily="34" charset="-122"/>
                <a:cs typeface="Calibri" pitchFamily="34" charset="-120"/>
              </a:rPr>
              <a:t>The basis (S − F = −0.20) moved in the importer's favour, lowering the cost below F</a:t>
            </a:r>
            <a:r>
              <a:rPr lang="en-US" sz="1500" baseline="-40000" dirty="0">
                <a:solidFill>
                  <a:srgbClr val="1E2533"/>
                </a:solidFill>
                <a:latin typeface="Calibri" pitchFamily="34" charset="0"/>
                <a:ea typeface="Calibri" pitchFamily="34" charset="-122"/>
                <a:cs typeface="Calibri" pitchFamily="34" charset="-120"/>
              </a:rPr>
              <a:t>1</a:t>
            </a:r>
            <a:r>
              <a:rPr lang="en-US" sz="1500" dirty="0">
                <a:solidFill>
                  <a:srgbClr val="1E2533"/>
                </a:solidFill>
                <a:latin typeface="Calibri" pitchFamily="34" charset="0"/>
                <a:ea typeface="Calibri" pitchFamily="34" charset="-122"/>
                <a:cs typeface="Calibri" pitchFamily="34" charset="-120"/>
              </a:rPr>
              <a:t>.</a:t>
            </a:r>
            <a:endParaRPr lang="en-US" sz="1550" dirty="0"/>
          </a:p>
          <a:p>
            <a:pPr marL="0" indent="0" algn="l">
              <a:spcBef>
                <a:spcPts val="700"/>
              </a:spcBef>
              <a:spcAft>
                <a:spcPts val="200"/>
              </a:spcAft>
              <a:buNone/>
            </a:pPr>
            <a:r>
              <a:rPr lang="en-US" sz="1550" b="1" dirty="0">
                <a:solidFill>
                  <a:srgbClr val="8C6D0F"/>
                </a:solidFill>
                <a:latin typeface="Calibri" pitchFamily="34" charset="0"/>
                <a:ea typeface="Calibri" pitchFamily="34" charset="-122"/>
                <a:cs typeface="Calibri" pitchFamily="34" charset="-120"/>
              </a:rPr>
              <a:t>(d) Unhedged comparison</a:t>
            </a:r>
            <a:endParaRPr lang="en-US" sz="1550" dirty="0"/>
          </a:p>
          <a:p>
            <a:pPr marL="0" lvl="1" indent="0" algn="l">
              <a:spcAft>
                <a:spcPts val="200"/>
              </a:spcAft>
              <a:buNone/>
            </a:pPr>
            <a:r>
              <a:rPr lang="en-US" sz="1500" dirty="0">
                <a:solidFill>
                  <a:srgbClr val="14213D"/>
                </a:solidFill>
                <a:latin typeface="Cambria" pitchFamily="34" charset="0"/>
                <a:ea typeface="Cambria" pitchFamily="34" charset="-122"/>
                <a:cs typeface="Cambria" pitchFamily="34" charset="-120"/>
              </a:rPr>
              <a:t>Unhedged cost = ₹2,22,75,000; hedging saved ₹3,75,000</a:t>
            </a:r>
            <a:endParaRPr lang="en-US" sz="1550" dirty="0"/>
          </a:p>
        </p:txBody>
      </p:sp>
      <p:sp>
        <p:nvSpPr>
          <p:cNvPr id="8" name="Shape 6"/>
          <p:cNvSpPr/>
          <p:nvPr/>
        </p:nvSpPr>
        <p:spPr>
          <a:xfrm>
            <a:off x="8503920" y="1234440"/>
            <a:ext cx="3182112" cy="4983480"/>
          </a:xfrm>
          <a:prstGeom prst="roundRect">
            <a:avLst>
              <a:gd name="adj" fmla="val 2299"/>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9" name="Text 7"/>
          <p:cNvSpPr txBox="1"/>
          <p:nvPr/>
        </p:nvSpPr>
        <p:spPr>
          <a:xfrm>
            <a:off x="8732520" y="1344168"/>
            <a:ext cx="2724912"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Answer</a:t>
            </a:r>
            <a:endParaRPr lang="en-US" sz="1500" dirty="0"/>
          </a:p>
        </p:txBody>
      </p:sp>
      <p:sp>
        <p:nvSpPr>
          <p:cNvPr id="10" name="Text 8"/>
          <p:cNvSpPr txBox="1"/>
          <p:nvPr/>
        </p:nvSpPr>
        <p:spPr>
          <a:xfrm>
            <a:off x="8732520" y="1737360"/>
            <a:ext cx="2724912" cy="2651760"/>
          </a:xfrm>
          <a:prstGeom prst="rect">
            <a:avLst/>
          </a:prstGeom>
          <a:noFill/>
          <a:ln/>
        </p:spPr>
        <p:txBody>
          <a:bodyPr wrap="square" lIns="0" tIns="0" rIns="0" bIns="0" rtlCol="0" anchor="t"/>
          <a:lstStyle/>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Buy 250 USD-INR futures</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Case 1: ₹87.60 per $ (= F</a:t>
            </a:r>
            <a:r>
              <a:rPr lang="en-US" sz="1500" baseline="-40000" dirty="0">
                <a:solidFill>
                  <a:srgbClr val="FFFFFF"/>
                </a:solidFill>
                <a:latin typeface="Calibri" pitchFamily="34" charset="0"/>
                <a:ea typeface="Calibri" pitchFamily="34" charset="-122"/>
                <a:cs typeface="Calibri" pitchFamily="34" charset="-120"/>
              </a:rPr>
              <a:t>1</a:t>
            </a:r>
            <a:r>
              <a:rPr lang="en-US" sz="1500" dirty="0">
                <a:solidFill>
                  <a:srgbClr val="FFFFFF"/>
                </a:solidFill>
                <a:latin typeface="Calibri" pitchFamily="34" charset="0"/>
                <a:ea typeface="Calibri" pitchFamily="34" charset="-122"/>
                <a:cs typeface="Calibri" pitchFamily="34" charset="-120"/>
              </a:rPr>
              <a:t>)</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Case 2: ₹87.40 per $</a:t>
            </a:r>
            <a:endParaRPr lang="en-US" sz="1500" dirty="0"/>
          </a:p>
          <a:p>
            <a:pPr marL="177800" indent="-177800" algn="l">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Saving vs unhedged: ₹3,75,000</a:t>
            </a:r>
            <a:endParaRPr lang="en-US" sz="1500" dirty="0"/>
          </a:p>
        </p:txBody>
      </p:sp>
      <p:sp>
        <p:nvSpPr>
          <p:cNvPr id="11" name="Shape 9"/>
          <p:cNvSpPr/>
          <p:nvPr/>
        </p:nvSpPr>
        <p:spPr>
          <a:xfrm>
            <a:off x="8686800" y="4480560"/>
            <a:ext cx="2816352" cy="1600200"/>
          </a:xfrm>
          <a:prstGeom prst="roundRect">
            <a:avLst>
              <a:gd name="adj" fmla="val 3429"/>
            </a:avLst>
          </a:prstGeom>
          <a:solidFill>
            <a:srgbClr val="22335C"/>
          </a:solidFill>
          <a:ln w="12700">
            <a:solidFill>
              <a:srgbClr val="C9A227"/>
            </a:solidFill>
            <a:prstDash val="solid"/>
          </a:ln>
        </p:spPr>
      </p:sp>
      <p:sp>
        <p:nvSpPr>
          <p:cNvPr id="12" name="Text 10"/>
          <p:cNvSpPr txBox="1"/>
          <p:nvPr/>
        </p:nvSpPr>
        <p:spPr>
          <a:xfrm>
            <a:off x="8796528" y="4544568"/>
            <a:ext cx="2596896" cy="1463040"/>
          </a:xfrm>
          <a:prstGeom prst="rect">
            <a:avLst/>
          </a:prstGeom>
          <a:noFill/>
          <a:ln/>
        </p:spPr>
        <p:txBody>
          <a:bodyPr wrap="square" lIns="0" tIns="0" rIns="0" bIns="0" rtlCol="0" anchor="t"/>
          <a:lstStyle/>
          <a:p>
            <a:pPr marL="0" indent="0" algn="l">
              <a:buNone/>
            </a:pPr>
            <a:r>
              <a:rPr lang="en-US" sz="1300" b="1" dirty="0">
                <a:solidFill>
                  <a:srgbClr val="C9A227"/>
                </a:solidFill>
                <a:latin typeface="Calibri" pitchFamily="34" charset="0"/>
                <a:ea typeface="Calibri" pitchFamily="34" charset="-122"/>
                <a:cs typeface="Calibri" pitchFamily="34" charset="-120"/>
              </a:rPr>
              <a:t>Insight</a:t>
            </a:r>
            <a:endParaRPr lang="en-US" sz="1300" dirty="0"/>
          </a:p>
          <a:p>
            <a:pPr marL="0" indent="0" algn="l">
              <a:buNone/>
            </a:pPr>
            <a:r>
              <a:rPr lang="en-US" sz="1300" i="1" dirty="0">
                <a:solidFill>
                  <a:srgbClr val="EAD9A0"/>
                </a:solidFill>
                <a:latin typeface="Calibri" pitchFamily="34" charset="0"/>
                <a:ea typeface="Calibri" pitchFamily="34" charset="-122"/>
                <a:cs typeface="Calibri" pitchFamily="34" charset="-120"/>
              </a:rPr>
              <a:t>Exchange-traded futures remove counterparty risk and are transparent, but require daily margins and leave basis risk if closed before expiry.</a:t>
            </a:r>
            <a:endParaRPr lang="en-US" sz="13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X5 · Currency Options vs Forwards for an Importer</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10241280" y="1234440"/>
            <a:ext cx="1444752" cy="329184"/>
          </a:xfrm>
          <a:prstGeom prst="roundRect">
            <a:avLst>
              <a:gd name="adj" fmla="val 22222"/>
            </a:avLst>
          </a:prstGeom>
          <a:solidFill>
            <a:srgbClr val="C9A227"/>
          </a:solidFill>
          <a:ln w="12700">
            <a:solidFill>
              <a:srgbClr val="C9A227"/>
            </a:solidFill>
            <a:prstDash val="solid"/>
          </a:ln>
        </p:spPr>
      </p:sp>
      <p:sp>
        <p:nvSpPr>
          <p:cNvPr id="7" name="Text 5"/>
          <p:cNvSpPr txBox="1"/>
          <p:nvPr/>
        </p:nvSpPr>
        <p:spPr>
          <a:xfrm>
            <a:off x="10241280" y="1234440"/>
            <a:ext cx="1444752" cy="329184"/>
          </a:xfrm>
          <a:prstGeom prst="rect">
            <a:avLst/>
          </a:prstGeom>
          <a:noFill/>
          <a:ln/>
        </p:spPr>
        <p:txBody>
          <a:bodyPr wrap="square" lIns="0" tIns="0" rIns="0" bIns="0"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Advanced</a:t>
            </a:r>
            <a:endParaRPr lang="en-US" sz="1100" dirty="0"/>
          </a:p>
        </p:txBody>
      </p:sp>
      <p:sp>
        <p:nvSpPr>
          <p:cNvPr id="8" name="Shape 6"/>
          <p:cNvSpPr/>
          <p:nvPr/>
        </p:nvSpPr>
        <p:spPr>
          <a:xfrm>
            <a:off x="502920" y="1234440"/>
            <a:ext cx="9509760" cy="914400"/>
          </a:xfrm>
          <a:prstGeom prst="roundRect">
            <a:avLst>
              <a:gd name="adj" fmla="val 8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7"/>
          <p:cNvSpPr txBox="1"/>
          <p:nvPr/>
        </p:nvSpPr>
        <p:spPr>
          <a:xfrm>
            <a:off x="685800" y="1307592"/>
            <a:ext cx="9144000" cy="768096"/>
          </a:xfrm>
          <a:prstGeom prst="rect">
            <a:avLst/>
          </a:prstGeom>
          <a:noFill/>
          <a:ln/>
        </p:spPr>
        <p:txBody>
          <a:bodyPr wrap="square" lIns="0" tIns="0" rIns="0" bIns="0" rtlCol="0" anchor="ctr"/>
          <a:lstStyle/>
          <a:p>
            <a:pPr marL="0" indent="0" algn="l">
              <a:buNone/>
            </a:pPr>
            <a:r>
              <a:rPr lang="en-US" sz="1550" dirty="0">
                <a:solidFill>
                  <a:srgbClr val="1E2533"/>
                </a:solidFill>
                <a:latin typeface="Calibri" pitchFamily="34" charset="0"/>
                <a:ea typeface="Calibri" pitchFamily="34" charset="-122"/>
                <a:cs typeface="Calibri" pitchFamily="34" charset="-120"/>
              </a:rPr>
              <a:t>A pharmaceutical importer must pay $1,000,000 for active ingredients in three months. It compares staying unhedged, buying dollars forward, and buying a USD call (INR put) option. Ignore interest on the premium. Rates are illustrative.</a:t>
            </a:r>
            <a:endParaRPr lang="en-US" sz="1550" dirty="0"/>
          </a:p>
        </p:txBody>
      </p:sp>
      <p:sp>
        <p:nvSpPr>
          <p:cNvPr id="10" name="Shape 8"/>
          <p:cNvSpPr/>
          <p:nvPr/>
        </p:nvSpPr>
        <p:spPr>
          <a:xfrm>
            <a:off x="502920" y="2423160"/>
            <a:ext cx="6309360" cy="3794760"/>
          </a:xfrm>
          <a:prstGeom prst="roundRect">
            <a:avLst>
              <a:gd name="adj" fmla="val 1928"/>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Text 9"/>
          <p:cNvSpPr txBox="1"/>
          <p:nvPr/>
        </p:nvSpPr>
        <p:spPr>
          <a:xfrm>
            <a:off x="731520" y="2532888"/>
            <a:ext cx="2743200" cy="347472"/>
          </a:xfrm>
          <a:prstGeom prst="rect">
            <a:avLst/>
          </a:prstGeom>
          <a:noFill/>
          <a:ln/>
        </p:spPr>
        <p:txBody>
          <a:bodyPr wrap="square" lIns="0" tIns="0" rIns="0" bIns="0" rtlCol="0" anchor="t"/>
          <a:lstStyle/>
          <a:p>
            <a:pPr marL="0" indent="0" algn="l">
              <a:buNone/>
            </a:pPr>
            <a:r>
              <a:rPr lang="en-US" sz="1500" b="1" dirty="0">
                <a:solidFill>
                  <a:srgbClr val="8C6D0F"/>
                </a:solidFill>
                <a:latin typeface="Cambria" pitchFamily="34" charset="0"/>
                <a:ea typeface="Cambria" pitchFamily="34" charset="-122"/>
                <a:cs typeface="Cambria" pitchFamily="34" charset="-120"/>
              </a:rPr>
              <a:t>Given</a:t>
            </a:r>
            <a:endParaRPr lang="en-US" sz="150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731520" y="2926080"/>
          <a:ext cx="5852160" cy="914400"/>
        </p:xfrm>
        <a:graphic>
          <a:graphicData uri="http://schemas.openxmlformats.org/drawingml/2006/table">
            <a:tbl>
              <a:tblPr/>
              <a:tblGrid>
                <a:gridCol w="3659429">
                  <a:extLst>
                    <a:ext uri="{9D8B030D-6E8A-4147-A177-3AD203B41FA5}">
                      <a16:colId xmlns:a16="http://schemas.microsoft.com/office/drawing/2014/main" val="20000"/>
                    </a:ext>
                  </a:extLst>
                </a:gridCol>
                <a:gridCol w="2192731">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Item</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Value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Payable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$1,000,000 in 3 months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3-month forward rate</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₹88.00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Call option strike (K)</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₹88.00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Option premium (c)</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₹0.45 per $</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0">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Spot at maturity: scenarios</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E2533"/>
                          </a:solidFill>
                          <a:latin typeface="Calibri" pitchFamily="34" charset="0"/>
                          <a:ea typeface="Calibri" pitchFamily="34" charset="-122"/>
                          <a:cs typeface="Calibri" pitchFamily="34" charset="-120"/>
                        </a:rPr>
                        <a:t>₹85.00 / ₹88.00 / ₹91.00</a:t>
                      </a:r>
                      <a:endParaRPr lang="en-US" sz="1200" dirty="0"/>
                    </a:p>
                  </a:txBody>
                  <a:tcPr marL="101600" marR="101600" marT="50800" marB="508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hape 10"/>
          <p:cNvSpPr/>
          <p:nvPr/>
        </p:nvSpPr>
        <p:spPr>
          <a:xfrm>
            <a:off x="7086600" y="2423160"/>
            <a:ext cx="4599432" cy="3794760"/>
          </a:xfrm>
          <a:prstGeom prst="roundRect">
            <a:avLst>
              <a:gd name="adj" fmla="val 1928"/>
            </a:avLst>
          </a:prstGeom>
          <a:solidFill>
            <a:srgbClr val="14213D"/>
          </a:solidFill>
          <a:ln w="9525">
            <a:solidFill>
              <a:srgbClr val="14213D"/>
            </a:solidFill>
            <a:prstDash val="solid"/>
          </a:ln>
          <a:effectLst>
            <a:outerShdw blurRad="63500" dist="19050" dir="5400000" algn="bl" rotWithShape="0">
              <a:srgbClr val="000000">
                <a:alpha val="13000"/>
              </a:srgbClr>
            </a:outerShdw>
          </a:effectLst>
        </p:spPr>
      </p:sp>
      <p:sp>
        <p:nvSpPr>
          <p:cNvPr id="14" name="Text 11"/>
          <p:cNvSpPr txBox="1"/>
          <p:nvPr/>
        </p:nvSpPr>
        <p:spPr>
          <a:xfrm>
            <a:off x="7315200" y="2532888"/>
            <a:ext cx="2743200" cy="347472"/>
          </a:xfrm>
          <a:prstGeom prst="rect">
            <a:avLst/>
          </a:prstGeom>
          <a:noFill/>
          <a:ln/>
        </p:spPr>
        <p:txBody>
          <a:bodyPr wrap="square" lIns="0" tIns="0" rIns="0" bIns="0" rtlCol="0" anchor="t"/>
          <a:lstStyle/>
          <a:p>
            <a:pPr marL="0" indent="0" algn="l">
              <a:buNone/>
            </a:pPr>
            <a:r>
              <a:rPr lang="en-US" sz="1500" b="1" dirty="0">
                <a:solidFill>
                  <a:srgbClr val="C9A227"/>
                </a:solidFill>
                <a:latin typeface="Cambria" pitchFamily="34" charset="0"/>
                <a:ea typeface="Cambria" pitchFamily="34" charset="-122"/>
                <a:cs typeface="Cambria" pitchFamily="34" charset="-120"/>
              </a:rPr>
              <a:t>Required</a:t>
            </a:r>
            <a:endParaRPr lang="en-US" sz="1500" dirty="0"/>
          </a:p>
        </p:txBody>
      </p:sp>
      <p:sp>
        <p:nvSpPr>
          <p:cNvPr id="15" name="Text 12"/>
          <p:cNvSpPr txBox="1"/>
          <p:nvPr/>
        </p:nvSpPr>
        <p:spPr>
          <a:xfrm>
            <a:off x="7315200" y="2953512"/>
            <a:ext cx="4142232" cy="3108960"/>
          </a:xfrm>
          <a:prstGeom prst="rect">
            <a:avLst/>
          </a:prstGeom>
          <a:noFill/>
          <a:ln/>
        </p:spPr>
        <p:txBody>
          <a:bodyPr wrap="square" lIns="0" tIns="0" rIns="0" bIns="0" rtlCol="0" anchor="t"/>
          <a:lstStyle/>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(a)  Rupee cost under each strategy in each scenario.</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(b)  Maximum cost with the option.</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(c)  Spot rate below which the option beats the forward.</a:t>
            </a:r>
            <a:endParaRPr lang="en-US" sz="1550" dirty="0"/>
          </a:p>
          <a:p>
            <a:pPr marL="0" indent="0" algn="l">
              <a:spcAft>
                <a:spcPts val="1200"/>
              </a:spcAft>
              <a:buNone/>
            </a:pPr>
            <a:r>
              <a:rPr lang="en-US" sz="1550" dirty="0">
                <a:solidFill>
                  <a:srgbClr val="FFFFFF"/>
                </a:solidFill>
                <a:latin typeface="Calibri" pitchFamily="34" charset="0"/>
                <a:ea typeface="Calibri" pitchFamily="34" charset="-122"/>
                <a:cs typeface="Calibri" pitchFamily="34" charset="-120"/>
              </a:rPr>
              <a:t>(d)  When would you recommend each strategy?</a:t>
            </a:r>
            <a:endParaRPr lang="en-US" sz="155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18</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Problem X5 · Solution</a:t>
            </a:r>
            <a:endParaRPr lang="en-US" sz="24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14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03504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438912">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Spot at maturity</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Unhedged</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Forward @ ₹88.00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Call option (K 88, c 0.45)</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38912">
                <a:tc>
                  <a:txBody>
                    <a:bodyPr/>
                    <a:lstStyle/>
                    <a:p>
                      <a:pPr marL="0" indent="0" algn="ctr">
                        <a:buNone/>
                      </a:pPr>
                      <a:r>
                        <a:rPr lang="en-US" sz="1400" b="1" dirty="0">
                          <a:solidFill>
                            <a:srgbClr val="1E2533"/>
                          </a:solidFill>
                          <a:latin typeface="Calibri" pitchFamily="34" charset="0"/>
                          <a:ea typeface="Calibri" pitchFamily="34" charset="-122"/>
                          <a:cs typeface="Calibri" pitchFamily="34" charset="-120"/>
                        </a:rPr>
                        <a:t>₹85.00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₹8.500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₹8.800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1E2533"/>
                          </a:solidFill>
                          <a:latin typeface="Calibri" pitchFamily="34" charset="0"/>
                          <a:ea typeface="Calibri" pitchFamily="34" charset="-122"/>
                          <a:cs typeface="Calibri" pitchFamily="34" charset="-120"/>
                        </a:rPr>
                        <a:t>₹8.545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lang="en-US" sz="1400" b="1" dirty="0">
                          <a:solidFill>
                            <a:srgbClr val="1E2533"/>
                          </a:solidFill>
                          <a:latin typeface="Calibri" pitchFamily="34" charset="0"/>
                          <a:ea typeface="Calibri" pitchFamily="34" charset="-122"/>
                          <a:cs typeface="Calibri" pitchFamily="34" charset="-120"/>
                        </a:rPr>
                        <a:t>₹88.00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₹8.800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₹8.800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r">
                        <a:buNone/>
                      </a:pPr>
                      <a:r>
                        <a:rPr lang="en-US" sz="1400" b="1" dirty="0">
                          <a:solidFill>
                            <a:srgbClr val="1E2533"/>
                          </a:solidFill>
                          <a:latin typeface="Calibri" pitchFamily="34" charset="0"/>
                          <a:ea typeface="Calibri" pitchFamily="34" charset="-122"/>
                          <a:cs typeface="Calibri" pitchFamily="34" charset="-120"/>
                        </a:rPr>
                        <a:t>₹8.845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438912">
                <a:tc>
                  <a:txBody>
                    <a:bodyPr/>
                    <a:lstStyle/>
                    <a:p>
                      <a:pPr marL="0" indent="0" algn="ctr">
                        <a:buNone/>
                      </a:pPr>
                      <a:r>
                        <a:rPr lang="en-US" sz="1400" b="1" dirty="0">
                          <a:solidFill>
                            <a:srgbClr val="1E2533"/>
                          </a:solidFill>
                          <a:latin typeface="Calibri" pitchFamily="34" charset="0"/>
                          <a:ea typeface="Calibri" pitchFamily="34" charset="-122"/>
                          <a:cs typeface="Calibri" pitchFamily="34" charset="-120"/>
                        </a:rPr>
                        <a:t>₹91.00</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₹9.100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dirty="0">
                          <a:solidFill>
                            <a:srgbClr val="1E2533"/>
                          </a:solidFill>
                          <a:latin typeface="Calibri" pitchFamily="34" charset="0"/>
                          <a:ea typeface="Calibri" pitchFamily="34" charset="-122"/>
                          <a:cs typeface="Calibri" pitchFamily="34" charset="-120"/>
                        </a:rPr>
                        <a:t>₹8.800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r">
                        <a:buNone/>
                      </a:pPr>
                      <a:r>
                        <a:rPr lang="en-US" sz="1400" b="1" dirty="0">
                          <a:solidFill>
                            <a:srgbClr val="1E2533"/>
                          </a:solidFill>
                          <a:latin typeface="Calibri" pitchFamily="34" charset="0"/>
                          <a:ea typeface="Calibri" pitchFamily="34" charset="-122"/>
                          <a:cs typeface="Calibri" pitchFamily="34" charset="-120"/>
                        </a:rPr>
                        <a:t>₹8.845 crore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7" name="Chart 0"/>
          <p:cNvGraphicFramePr/>
          <p:nvPr/>
        </p:nvGraphicFramePr>
        <p:xfrm>
          <a:off x="502920" y="3246120"/>
          <a:ext cx="603504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6812280" y="1280160"/>
            <a:ext cx="4873752" cy="4937760"/>
          </a:xfrm>
          <a:prstGeom prst="roundRect">
            <a:avLst>
              <a:gd name="adj" fmla="val 1501"/>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9" name="Text 5"/>
          <p:cNvSpPr txBox="1"/>
          <p:nvPr/>
        </p:nvSpPr>
        <p:spPr>
          <a:xfrm>
            <a:off x="6995160" y="1389888"/>
            <a:ext cx="4526280" cy="4754880"/>
          </a:xfrm>
          <a:prstGeom prst="rect">
            <a:avLst/>
          </a:prstGeom>
          <a:noFill/>
          <a:ln/>
        </p:spPr>
        <p:txBody>
          <a:bodyPr wrap="square" lIns="0" tIns="0" rIns="0" bIns="0" rtlCol="0" anchor="t"/>
          <a:lstStyle/>
          <a:p>
            <a:pPr marL="0" indent="0" algn="l">
              <a:buNone/>
            </a:pPr>
            <a:r>
              <a:rPr lang="en-US" sz="1400" b="1" dirty="0">
                <a:solidFill>
                  <a:srgbClr val="8C6D0F"/>
                </a:solidFill>
                <a:latin typeface="Calibri" pitchFamily="34" charset="0"/>
                <a:ea typeface="Calibri" pitchFamily="34" charset="-122"/>
                <a:cs typeface="Calibri" pitchFamily="34" charset="-120"/>
              </a:rPr>
              <a:t>(a) Costs</a:t>
            </a:r>
            <a:endParaRPr lang="en-US" sz="1400" dirty="0"/>
          </a:p>
          <a:p>
            <a:pPr marL="0" indent="0" algn="l">
              <a:spcAft>
                <a:spcPts val="700"/>
              </a:spcAft>
              <a:buNone/>
            </a:pPr>
            <a:r>
              <a:rPr lang="en-US" sz="1400" dirty="0">
                <a:solidFill>
                  <a:srgbClr val="1E2533"/>
                </a:solidFill>
                <a:latin typeface="Calibri" pitchFamily="34" charset="0"/>
                <a:ea typeface="Calibri" pitchFamily="34" charset="-122"/>
                <a:cs typeface="Calibri" pitchFamily="34" charset="-120"/>
              </a:rPr>
              <a:t>Option cost = [min(S</a:t>
            </a:r>
            <a:r>
              <a:rPr lang="en-US" sz="1400" baseline="-40000" dirty="0">
                <a:solidFill>
                  <a:srgbClr val="1E2533"/>
                </a:solidFill>
                <a:latin typeface="Calibri" pitchFamily="34" charset="0"/>
                <a:ea typeface="Calibri" pitchFamily="34" charset="-122"/>
                <a:cs typeface="Calibri" pitchFamily="34" charset="-120"/>
              </a:rPr>
              <a:t>T</a:t>
            </a:r>
            <a:r>
              <a:rPr lang="en-US" sz="1400" dirty="0">
                <a:solidFill>
                  <a:srgbClr val="1E2533"/>
                </a:solidFill>
                <a:latin typeface="Calibri" pitchFamily="34" charset="0"/>
                <a:ea typeface="Calibri" pitchFamily="34" charset="-122"/>
                <a:cs typeface="Calibri" pitchFamily="34" charset="-120"/>
              </a:rPr>
              <a:t>, 88.00) + 0.45] × $1,000,000; e.g. at ₹85: (85.00 + 0.45) × 1,000,000 = ₹8.545 crore.</a:t>
            </a:r>
            <a:endParaRPr lang="en-US" sz="1400" dirty="0"/>
          </a:p>
          <a:p>
            <a:pPr marL="0" indent="0" algn="l">
              <a:buNone/>
            </a:pPr>
            <a:r>
              <a:rPr lang="en-US" sz="1400" b="1" dirty="0">
                <a:solidFill>
                  <a:srgbClr val="8C6D0F"/>
                </a:solidFill>
                <a:latin typeface="Calibri" pitchFamily="34" charset="0"/>
                <a:ea typeface="Calibri" pitchFamily="34" charset="-122"/>
                <a:cs typeface="Calibri" pitchFamily="34" charset="-120"/>
              </a:rPr>
              <a:t>(b) Maximum option cost</a:t>
            </a:r>
            <a:endParaRPr lang="en-US" sz="1400" dirty="0"/>
          </a:p>
          <a:p>
            <a:pPr marL="0" indent="0" algn="l">
              <a:spcAft>
                <a:spcPts val="700"/>
              </a:spcAft>
              <a:buNone/>
            </a:pPr>
            <a:r>
              <a:rPr lang="en-US" sz="1400" dirty="0">
                <a:solidFill>
                  <a:srgbClr val="1E2533"/>
                </a:solidFill>
                <a:latin typeface="Calibri" pitchFamily="34" charset="0"/>
                <a:ea typeface="Calibri" pitchFamily="34" charset="-122"/>
                <a:cs typeface="Calibri" pitchFamily="34" charset="-120"/>
              </a:rPr>
              <a:t>(88.00 + 0.45) × 1,000,000 = ₹8.845 crore (a cap).</a:t>
            </a:r>
            <a:endParaRPr lang="en-US" sz="1400" dirty="0"/>
          </a:p>
          <a:p>
            <a:pPr marL="0" indent="0" algn="l">
              <a:buNone/>
            </a:pPr>
            <a:r>
              <a:rPr lang="en-US" sz="1400" b="1" dirty="0">
                <a:solidFill>
                  <a:srgbClr val="8C6D0F"/>
                </a:solidFill>
                <a:latin typeface="Calibri" pitchFamily="34" charset="0"/>
                <a:ea typeface="Calibri" pitchFamily="34" charset="-122"/>
                <a:cs typeface="Calibri" pitchFamily="34" charset="-120"/>
              </a:rPr>
              <a:t>(c) Break-even vs forward</a:t>
            </a:r>
            <a:endParaRPr lang="en-US" sz="1400" dirty="0"/>
          </a:p>
          <a:p>
            <a:pPr marL="0" indent="0" algn="l">
              <a:spcAft>
                <a:spcPts val="700"/>
              </a:spcAft>
              <a:buNone/>
            </a:pPr>
            <a:r>
              <a:rPr lang="en-US" sz="1400" dirty="0">
                <a:solidFill>
                  <a:srgbClr val="1E2533"/>
                </a:solidFill>
                <a:latin typeface="Calibri" pitchFamily="34" charset="0"/>
                <a:ea typeface="Calibri" pitchFamily="34" charset="-122"/>
                <a:cs typeface="Calibri" pitchFamily="34" charset="-120"/>
              </a:rPr>
              <a:t>S</a:t>
            </a:r>
            <a:r>
              <a:rPr lang="en-US" sz="1400" baseline="-40000" dirty="0">
                <a:solidFill>
                  <a:srgbClr val="1E2533"/>
                </a:solidFill>
                <a:latin typeface="Calibri" pitchFamily="34" charset="0"/>
                <a:ea typeface="Calibri" pitchFamily="34" charset="-122"/>
                <a:cs typeface="Calibri" pitchFamily="34" charset="-120"/>
              </a:rPr>
              <a:t>T</a:t>
            </a:r>
            <a:r>
              <a:rPr lang="en-US" sz="1400" dirty="0">
                <a:solidFill>
                  <a:srgbClr val="1E2533"/>
                </a:solidFill>
                <a:latin typeface="Calibri" pitchFamily="34" charset="0"/>
                <a:ea typeface="Calibri" pitchFamily="34" charset="-122"/>
                <a:cs typeface="Calibri" pitchFamily="34" charset="-120"/>
              </a:rPr>
              <a:t> + 0.45 = 88.00 → S</a:t>
            </a:r>
            <a:r>
              <a:rPr lang="en-US" sz="1400" baseline="-40000" dirty="0">
                <a:solidFill>
                  <a:srgbClr val="1E2533"/>
                </a:solidFill>
                <a:latin typeface="Calibri" pitchFamily="34" charset="0"/>
                <a:ea typeface="Calibri" pitchFamily="34" charset="-122"/>
                <a:cs typeface="Calibri" pitchFamily="34" charset="-120"/>
              </a:rPr>
              <a:t>T</a:t>
            </a:r>
            <a:r>
              <a:rPr lang="en-US" sz="1400" dirty="0">
                <a:solidFill>
                  <a:srgbClr val="1E2533"/>
                </a:solidFill>
                <a:latin typeface="Calibri" pitchFamily="34" charset="0"/>
                <a:ea typeface="Calibri" pitchFamily="34" charset="-122"/>
                <a:cs typeface="Calibri" pitchFamily="34" charset="-120"/>
              </a:rPr>
              <a:t> = ₹87.55. Below this, the option is cheaper than the forward.</a:t>
            </a:r>
            <a:endParaRPr lang="en-US" sz="1400" dirty="0"/>
          </a:p>
          <a:p>
            <a:pPr marL="0" indent="0" algn="l">
              <a:buNone/>
            </a:pPr>
            <a:r>
              <a:rPr lang="en-US" sz="1400" b="1" dirty="0">
                <a:solidFill>
                  <a:srgbClr val="8C6D0F"/>
                </a:solidFill>
                <a:latin typeface="Calibri" pitchFamily="34" charset="0"/>
                <a:ea typeface="Calibri" pitchFamily="34" charset="-122"/>
                <a:cs typeface="Calibri" pitchFamily="34" charset="-120"/>
              </a:rPr>
              <a:t>(d) Recommendation</a:t>
            </a:r>
            <a:endParaRPr lang="en-US" sz="1400" dirty="0"/>
          </a:p>
          <a:p>
            <a:pPr marL="0" indent="0" algn="l">
              <a:spcAft>
                <a:spcPts val="700"/>
              </a:spcAft>
              <a:buNone/>
            </a:pPr>
            <a:r>
              <a:rPr lang="en-US" sz="1400" dirty="0">
                <a:solidFill>
                  <a:srgbClr val="1E2533"/>
                </a:solidFill>
                <a:latin typeface="Calibri" pitchFamily="34" charset="0"/>
                <a:ea typeface="Calibri" pitchFamily="34" charset="-122"/>
                <a:cs typeface="Calibri" pitchFamily="34" charset="-120"/>
              </a:rPr>
              <a:t>Forward: when certainty matters most. Option: when the firm wants a cap but believes the rupee may strengthen. Unhedged: only if the exposure is small and within risk appetite.</a:t>
            </a:r>
            <a:endParaRPr lang="en-US" sz="1400" dirty="0"/>
          </a:p>
          <a:p>
            <a:pPr marL="0" indent="0" algn="l">
              <a:buNone/>
            </a:pPr>
            <a:r>
              <a:rPr lang="en-US" sz="1400" i="1" dirty="0">
                <a:solidFill>
                  <a:srgbClr val="5C6577"/>
                </a:solidFill>
                <a:latin typeface="Calibri" pitchFamily="34" charset="0"/>
                <a:ea typeface="Calibri" pitchFamily="34" charset="-122"/>
                <a:cs typeface="Calibri" pitchFamily="34" charset="-120"/>
              </a:rPr>
              <a:t>Insight: an option is insurance: pay a premium, keep the upside.</a:t>
            </a:r>
            <a:endParaRPr lang="en-US" sz="1400" dirty="0"/>
          </a:p>
        </p:txBody>
      </p:sp>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Key Takeaways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463040"/>
            <a:ext cx="502920" cy="502920"/>
          </a:xfrm>
          <a:prstGeom prst="ellipse">
            <a:avLst/>
          </a:prstGeom>
          <a:solidFill>
            <a:srgbClr val="14213D"/>
          </a:solidFill>
          <a:ln w="12700">
            <a:solidFill>
              <a:srgbClr val="14213D"/>
            </a:solidFill>
            <a:prstDash val="solid"/>
          </a:ln>
        </p:spPr>
      </p:sp>
      <p:pic>
        <p:nvPicPr>
          <p:cNvPr id="8" name="Image 0" descr="preencoded.png"/>
          <p:cNvPicPr>
            <a:picLocks noChangeAspect="1"/>
          </p:cNvPicPr>
          <p:nvPr/>
        </p:nvPicPr>
        <p:blipFill>
          <a:blip r:embed="rId3"/>
          <a:stretch>
            <a:fillRect/>
          </a:stretch>
        </p:blipFill>
        <p:spPr>
          <a:xfrm>
            <a:off x="806501" y="1583741"/>
            <a:ext cx="261518" cy="261518"/>
          </a:xfrm>
          <a:prstGeom prst="rect">
            <a:avLst/>
          </a:prstGeom>
        </p:spPr>
      </p:pic>
      <p:sp>
        <p:nvSpPr>
          <p:cNvPr id="9" name="Text 6"/>
          <p:cNvSpPr txBox="1"/>
          <p:nvPr/>
        </p:nvSpPr>
        <p:spPr>
          <a:xfrm>
            <a:off x="1280160"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Risk is about objectives</a:t>
            </a:r>
            <a:endParaRPr lang="en-US" sz="1700" dirty="0"/>
          </a:p>
        </p:txBody>
      </p:sp>
      <p:sp>
        <p:nvSpPr>
          <p:cNvPr id="10" name="Text 7"/>
          <p:cNvSpPr txBox="1"/>
          <p:nvPr/>
        </p:nvSpPr>
        <p:spPr>
          <a:xfrm>
            <a:off x="685800"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Uncertainty matters only when it threatens a goal: return, solvency, margin or reputation.</a:t>
            </a:r>
            <a:endParaRPr lang="en-US" sz="1650" dirty="0"/>
          </a:p>
        </p:txBody>
      </p:sp>
      <p:sp>
        <p:nvSpPr>
          <p:cNvPr id="11" name="Shape 8"/>
          <p:cNvSpPr/>
          <p:nvPr/>
        </p:nvSpPr>
        <p:spPr>
          <a:xfrm>
            <a:off x="4322064"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2" name="Shape 9"/>
          <p:cNvSpPr/>
          <p:nvPr/>
        </p:nvSpPr>
        <p:spPr>
          <a:xfrm>
            <a:off x="4504944" y="1463040"/>
            <a:ext cx="502920" cy="502920"/>
          </a:xfrm>
          <a:prstGeom prst="ellipse">
            <a:avLst/>
          </a:prstGeom>
          <a:solidFill>
            <a:srgbClr val="14213D"/>
          </a:solidFill>
          <a:ln w="12700">
            <a:solidFill>
              <a:srgbClr val="14213D"/>
            </a:solidFill>
            <a:prstDash val="solid"/>
          </a:ln>
        </p:spPr>
      </p:sp>
      <p:pic>
        <p:nvPicPr>
          <p:cNvPr id="13" name="Image 1" descr="preencoded.png"/>
          <p:cNvPicPr>
            <a:picLocks noChangeAspect="1"/>
          </p:cNvPicPr>
          <p:nvPr/>
        </p:nvPicPr>
        <p:blipFill>
          <a:blip r:embed="rId4"/>
          <a:stretch>
            <a:fillRect/>
          </a:stretch>
        </p:blipFill>
        <p:spPr>
          <a:xfrm>
            <a:off x="4625645" y="1583741"/>
            <a:ext cx="261518" cy="261518"/>
          </a:xfrm>
          <a:prstGeom prst="rect">
            <a:avLst/>
          </a:prstGeom>
        </p:spPr>
      </p:pic>
      <p:sp>
        <p:nvSpPr>
          <p:cNvPr id="14" name="Text 10"/>
          <p:cNvSpPr txBox="1"/>
          <p:nvPr/>
        </p:nvSpPr>
        <p:spPr>
          <a:xfrm>
            <a:off x="5099304"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Diversify the diversifiable</a:t>
            </a:r>
            <a:endParaRPr lang="en-US" sz="1700" dirty="0"/>
          </a:p>
        </p:txBody>
      </p:sp>
      <p:sp>
        <p:nvSpPr>
          <p:cNvPr id="15" name="Text 11"/>
          <p:cNvSpPr txBox="1"/>
          <p:nvPr/>
        </p:nvSpPr>
        <p:spPr>
          <a:xfrm>
            <a:off x="4504944"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Unsystematic risk can be diversified away; systematic risk must be priced, hedged or accepted.</a:t>
            </a:r>
            <a:endParaRPr lang="en-US" sz="1650" dirty="0"/>
          </a:p>
        </p:txBody>
      </p:sp>
      <p:sp>
        <p:nvSpPr>
          <p:cNvPr id="16" name="Shape 12"/>
          <p:cNvSpPr/>
          <p:nvPr/>
        </p:nvSpPr>
        <p:spPr>
          <a:xfrm>
            <a:off x="8141208" y="128016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7" name="Shape 13"/>
          <p:cNvSpPr/>
          <p:nvPr/>
        </p:nvSpPr>
        <p:spPr>
          <a:xfrm>
            <a:off x="8324088" y="1463040"/>
            <a:ext cx="502920" cy="502920"/>
          </a:xfrm>
          <a:prstGeom prst="ellipse">
            <a:avLst/>
          </a:prstGeom>
          <a:solidFill>
            <a:srgbClr val="14213D"/>
          </a:solidFill>
          <a:ln w="12700">
            <a:solidFill>
              <a:srgbClr val="14213D"/>
            </a:solidFill>
            <a:prstDash val="solid"/>
          </a:ln>
        </p:spPr>
      </p:sp>
      <p:pic>
        <p:nvPicPr>
          <p:cNvPr id="18" name="Image 2" descr="preencoded.png"/>
          <p:cNvPicPr>
            <a:picLocks noChangeAspect="1"/>
          </p:cNvPicPr>
          <p:nvPr/>
        </p:nvPicPr>
        <p:blipFill>
          <a:blip r:embed="rId5"/>
          <a:stretch>
            <a:fillRect/>
          </a:stretch>
        </p:blipFill>
        <p:spPr>
          <a:xfrm>
            <a:off x="8444789" y="1583741"/>
            <a:ext cx="261518" cy="261518"/>
          </a:xfrm>
          <a:prstGeom prst="rect">
            <a:avLst/>
          </a:prstGeom>
        </p:spPr>
      </p:pic>
      <p:sp>
        <p:nvSpPr>
          <p:cNvPr id="19" name="Text 14"/>
          <p:cNvSpPr txBox="1"/>
          <p:nvPr/>
        </p:nvSpPr>
        <p:spPr>
          <a:xfrm>
            <a:off x="8918448" y="142646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Measure before you manage</a:t>
            </a:r>
            <a:endParaRPr lang="en-US" sz="1700" dirty="0"/>
          </a:p>
        </p:txBody>
      </p:sp>
      <p:sp>
        <p:nvSpPr>
          <p:cNvPr id="20" name="Text 15"/>
          <p:cNvSpPr txBox="1"/>
          <p:nvPr/>
        </p:nvSpPr>
        <p:spPr>
          <a:xfrm>
            <a:off x="8324088" y="203911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σ, β, VaR, ES, duration, convexity, hedge ratios and EL turn risk into numbers boards can act on.</a:t>
            </a:r>
            <a:endParaRPr lang="en-US" sz="1650" dirty="0"/>
          </a:p>
        </p:txBody>
      </p:sp>
      <p:sp>
        <p:nvSpPr>
          <p:cNvPr id="21" name="Shape 16"/>
          <p:cNvSpPr/>
          <p:nvPr/>
        </p:nvSpPr>
        <p:spPr>
          <a:xfrm>
            <a:off x="502920"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2" name="Shape 17"/>
          <p:cNvSpPr/>
          <p:nvPr/>
        </p:nvSpPr>
        <p:spPr>
          <a:xfrm>
            <a:off x="685800" y="4069080"/>
            <a:ext cx="502920" cy="502920"/>
          </a:xfrm>
          <a:prstGeom prst="ellipse">
            <a:avLst/>
          </a:prstGeom>
          <a:solidFill>
            <a:srgbClr val="14213D"/>
          </a:solidFill>
          <a:ln w="12700">
            <a:solidFill>
              <a:srgbClr val="14213D"/>
            </a:solidFill>
            <a:prstDash val="solid"/>
          </a:ln>
        </p:spPr>
      </p:sp>
      <p:pic>
        <p:nvPicPr>
          <p:cNvPr id="23" name="Image 3" descr="preencoded.png"/>
          <p:cNvPicPr>
            <a:picLocks noChangeAspect="1"/>
          </p:cNvPicPr>
          <p:nvPr/>
        </p:nvPicPr>
        <p:blipFill>
          <a:blip r:embed="rId6"/>
          <a:stretch>
            <a:fillRect/>
          </a:stretch>
        </p:blipFill>
        <p:spPr>
          <a:xfrm>
            <a:off x="806501" y="4189781"/>
            <a:ext cx="261518" cy="261518"/>
          </a:xfrm>
          <a:prstGeom prst="rect">
            <a:avLst/>
          </a:prstGeom>
        </p:spPr>
      </p:pic>
      <p:sp>
        <p:nvSpPr>
          <p:cNvPr id="24" name="Text 18"/>
          <p:cNvSpPr txBox="1"/>
          <p:nvPr/>
        </p:nvSpPr>
        <p:spPr>
          <a:xfrm>
            <a:off x="1280160"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Framework and governance</a:t>
            </a:r>
            <a:endParaRPr lang="en-US" sz="1700" dirty="0"/>
          </a:p>
        </p:txBody>
      </p:sp>
      <p:sp>
        <p:nvSpPr>
          <p:cNvPr id="25" name="Text 19"/>
          <p:cNvSpPr txBox="1"/>
          <p:nvPr/>
        </p:nvSpPr>
        <p:spPr>
          <a:xfrm>
            <a:off x="685800"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Policies, process, appetite and three lines of defence, owned by the board, make risk management work.</a:t>
            </a:r>
            <a:endParaRPr lang="en-US" sz="1650" dirty="0"/>
          </a:p>
        </p:txBody>
      </p:sp>
      <p:sp>
        <p:nvSpPr>
          <p:cNvPr id="26" name="Shape 20"/>
          <p:cNvSpPr/>
          <p:nvPr/>
        </p:nvSpPr>
        <p:spPr>
          <a:xfrm>
            <a:off x="4322064"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1"/>
          <p:cNvSpPr/>
          <p:nvPr/>
        </p:nvSpPr>
        <p:spPr>
          <a:xfrm>
            <a:off x="4504944" y="4069080"/>
            <a:ext cx="502920" cy="502920"/>
          </a:xfrm>
          <a:prstGeom prst="ellipse">
            <a:avLst/>
          </a:prstGeom>
          <a:solidFill>
            <a:srgbClr val="14213D"/>
          </a:solidFill>
          <a:ln w="12700">
            <a:solidFill>
              <a:srgbClr val="14213D"/>
            </a:solidFill>
            <a:prstDash val="solid"/>
          </a:ln>
        </p:spPr>
      </p:sp>
      <p:pic>
        <p:nvPicPr>
          <p:cNvPr id="28" name="Image 4" descr="preencoded.png"/>
          <p:cNvPicPr>
            <a:picLocks noChangeAspect="1"/>
          </p:cNvPicPr>
          <p:nvPr/>
        </p:nvPicPr>
        <p:blipFill>
          <a:blip r:embed="rId7"/>
          <a:stretch>
            <a:fillRect/>
          </a:stretch>
        </p:blipFill>
        <p:spPr>
          <a:xfrm>
            <a:off x="4625645" y="4189781"/>
            <a:ext cx="261518" cy="261518"/>
          </a:xfrm>
          <a:prstGeom prst="rect">
            <a:avLst/>
          </a:prstGeom>
        </p:spPr>
      </p:pic>
      <p:sp>
        <p:nvSpPr>
          <p:cNvPr id="29" name="Text 22"/>
          <p:cNvSpPr txBox="1"/>
          <p:nvPr/>
        </p:nvSpPr>
        <p:spPr>
          <a:xfrm>
            <a:off x="5099304"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Treat deliberately</a:t>
            </a:r>
            <a:endParaRPr lang="en-US" sz="1700" dirty="0"/>
          </a:p>
        </p:txBody>
      </p:sp>
      <p:sp>
        <p:nvSpPr>
          <p:cNvPr id="30" name="Text 23"/>
          <p:cNvSpPr txBox="1"/>
          <p:nvPr/>
        </p:nvSpPr>
        <p:spPr>
          <a:xfrm>
            <a:off x="4504944"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Avoid, reduce, transfer or accept, choosing on cost-benefit and residual risk against appetite.</a:t>
            </a:r>
            <a:endParaRPr lang="en-US" sz="1650" dirty="0"/>
          </a:p>
        </p:txBody>
      </p:sp>
      <p:sp>
        <p:nvSpPr>
          <p:cNvPr id="31" name="Shape 24"/>
          <p:cNvSpPr/>
          <p:nvPr/>
        </p:nvSpPr>
        <p:spPr>
          <a:xfrm>
            <a:off x="8141208" y="3886200"/>
            <a:ext cx="3544824" cy="2331720"/>
          </a:xfrm>
          <a:prstGeom prst="roundRect">
            <a:avLst>
              <a:gd name="adj" fmla="val 3137"/>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32" name="Shape 25"/>
          <p:cNvSpPr/>
          <p:nvPr/>
        </p:nvSpPr>
        <p:spPr>
          <a:xfrm>
            <a:off x="8324088" y="4069080"/>
            <a:ext cx="502920" cy="502920"/>
          </a:xfrm>
          <a:prstGeom prst="ellipse">
            <a:avLst/>
          </a:prstGeom>
          <a:solidFill>
            <a:srgbClr val="14213D"/>
          </a:solidFill>
          <a:ln w="12700">
            <a:solidFill>
              <a:srgbClr val="14213D"/>
            </a:solidFill>
            <a:prstDash val="solid"/>
          </a:ln>
        </p:spPr>
      </p:sp>
      <p:pic>
        <p:nvPicPr>
          <p:cNvPr id="33" name="Image 5" descr="preencoded.png"/>
          <p:cNvPicPr>
            <a:picLocks noChangeAspect="1"/>
          </p:cNvPicPr>
          <p:nvPr/>
        </p:nvPicPr>
        <p:blipFill>
          <a:blip r:embed="rId8"/>
          <a:stretch>
            <a:fillRect/>
          </a:stretch>
        </p:blipFill>
        <p:spPr>
          <a:xfrm>
            <a:off x="8444789" y="4189781"/>
            <a:ext cx="261518" cy="261518"/>
          </a:xfrm>
          <a:prstGeom prst="rect">
            <a:avLst/>
          </a:prstGeom>
        </p:spPr>
      </p:pic>
      <p:sp>
        <p:nvSpPr>
          <p:cNvPr id="34" name="Text 26"/>
          <p:cNvSpPr txBox="1"/>
          <p:nvPr/>
        </p:nvSpPr>
        <p:spPr>
          <a:xfrm>
            <a:off x="8918448" y="4032504"/>
            <a:ext cx="2584704" cy="502920"/>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Monitor continuously</a:t>
            </a:r>
            <a:endParaRPr lang="en-US" sz="1700" dirty="0"/>
          </a:p>
        </p:txBody>
      </p:sp>
      <p:sp>
        <p:nvSpPr>
          <p:cNvPr id="35" name="Text 27"/>
          <p:cNvSpPr txBox="1"/>
          <p:nvPr/>
        </p:nvSpPr>
        <p:spPr>
          <a:xfrm>
            <a:off x="8324088" y="4645152"/>
            <a:ext cx="3179064" cy="1463040"/>
          </a:xfrm>
          <a:prstGeom prst="rect">
            <a:avLst/>
          </a:prstGeom>
          <a:noFill/>
          <a:ln/>
        </p:spPr>
        <p:txBody>
          <a:bodyPr wrap="square" lIns="0" tIns="0" rIns="0" bIns="0" rtlCol="0" anchor="t"/>
          <a:lstStyle/>
          <a:p>
            <a:pPr marL="0" indent="0" algn="l">
              <a:buNone/>
            </a:pPr>
            <a:r>
              <a:rPr lang="en-US" sz="1650" dirty="0">
                <a:solidFill>
                  <a:srgbClr val="1E2533"/>
                </a:solidFill>
                <a:latin typeface="Calibri" pitchFamily="34" charset="0"/>
                <a:ea typeface="Calibri" pitchFamily="34" charset="-122"/>
                <a:cs typeface="Calibri" pitchFamily="34" charset="-120"/>
              </a:rPr>
              <a:t>KRIs, limits and stress tests give early warning; risks and their drivers keep changing.</a:t>
            </a:r>
            <a:endParaRPr lang="en-US" sz="1650" dirty="0"/>
          </a:p>
        </p:txBody>
      </p:sp>
      <p:sp>
        <p:nvSpPr>
          <p:cNvPr id="36"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Discussion Questions</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sp>
        <p:nvSpPr>
          <p:cNvPr id="6" name="Shape 4"/>
          <p:cNvSpPr/>
          <p:nvPr/>
        </p:nvSpPr>
        <p:spPr>
          <a:xfrm>
            <a:off x="502920" y="1280160"/>
            <a:ext cx="5394960"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7" name="Shape 5"/>
          <p:cNvSpPr/>
          <p:nvPr/>
        </p:nvSpPr>
        <p:spPr>
          <a:xfrm>
            <a:off x="685800" y="1508760"/>
            <a:ext cx="502920" cy="502920"/>
          </a:xfrm>
          <a:prstGeom prst="ellipse">
            <a:avLst/>
          </a:prstGeom>
          <a:solidFill>
            <a:srgbClr val="14213D"/>
          </a:solidFill>
          <a:ln w="12700">
            <a:solidFill>
              <a:srgbClr val="14213D"/>
            </a:solidFill>
            <a:prstDash val="solid"/>
          </a:ln>
        </p:spPr>
      </p:sp>
      <p:sp>
        <p:nvSpPr>
          <p:cNvPr id="8" name="Text 6"/>
          <p:cNvSpPr txBox="1"/>
          <p:nvPr/>
        </p:nvSpPr>
        <p:spPr>
          <a:xfrm>
            <a:off x="685800" y="1508760"/>
            <a:ext cx="502920" cy="50292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Q1</a:t>
            </a:r>
            <a:endParaRPr lang="en-US" sz="1300" dirty="0"/>
          </a:p>
        </p:txBody>
      </p:sp>
      <p:sp>
        <p:nvSpPr>
          <p:cNvPr id="9" name="Text 7"/>
          <p:cNvSpPr txBox="1"/>
          <p:nvPr/>
        </p:nvSpPr>
        <p:spPr>
          <a:xfrm>
            <a:off x="1371600" y="1389888"/>
            <a:ext cx="4389120" cy="1243584"/>
          </a:xfrm>
          <a:prstGeom prst="rect">
            <a:avLst/>
          </a:prstGeom>
          <a:noFill/>
          <a:ln/>
        </p:spPr>
        <p:txBody>
          <a:bodyPr wrap="square" lIns="0" tIns="0" rIns="0" bIns="0" rtlCol="0" anchor="ctr"/>
          <a:lstStyle/>
          <a:p>
            <a:pPr marL="0" indent="0" algn="l">
              <a:buNone/>
            </a:pPr>
            <a:r>
              <a:rPr lang="en-US" sz="1450" dirty="0">
                <a:solidFill>
                  <a:srgbClr val="1E2533"/>
                </a:solidFill>
                <a:latin typeface="Calibri" pitchFamily="34" charset="0"/>
                <a:ea typeface="Calibri" pitchFamily="34" charset="-122"/>
                <a:cs typeface="Calibri" pitchFamily="34" charset="-120"/>
              </a:rPr>
              <a:t>A bank earns more by lending to riskier borrowers. Using RAROC, explain when this is good risk management and when it is not.</a:t>
            </a:r>
            <a:endParaRPr lang="en-US" sz="1450" dirty="0"/>
          </a:p>
        </p:txBody>
      </p:sp>
      <p:sp>
        <p:nvSpPr>
          <p:cNvPr id="10" name="Shape 8"/>
          <p:cNvSpPr/>
          <p:nvPr/>
        </p:nvSpPr>
        <p:spPr>
          <a:xfrm>
            <a:off x="6144768" y="1280160"/>
            <a:ext cx="5394960"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1" name="Shape 9"/>
          <p:cNvSpPr/>
          <p:nvPr/>
        </p:nvSpPr>
        <p:spPr>
          <a:xfrm>
            <a:off x="6327648" y="1508760"/>
            <a:ext cx="502920" cy="502920"/>
          </a:xfrm>
          <a:prstGeom prst="ellipse">
            <a:avLst/>
          </a:prstGeom>
          <a:solidFill>
            <a:srgbClr val="14213D"/>
          </a:solidFill>
          <a:ln w="12700">
            <a:solidFill>
              <a:srgbClr val="14213D"/>
            </a:solidFill>
            <a:prstDash val="solid"/>
          </a:ln>
        </p:spPr>
      </p:sp>
      <p:sp>
        <p:nvSpPr>
          <p:cNvPr id="12" name="Text 10"/>
          <p:cNvSpPr txBox="1"/>
          <p:nvPr/>
        </p:nvSpPr>
        <p:spPr>
          <a:xfrm>
            <a:off x="6327648" y="1508760"/>
            <a:ext cx="502920" cy="50292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Q2</a:t>
            </a:r>
            <a:endParaRPr lang="en-US" sz="1300" dirty="0"/>
          </a:p>
        </p:txBody>
      </p:sp>
      <p:sp>
        <p:nvSpPr>
          <p:cNvPr id="13" name="Text 11"/>
          <p:cNvSpPr txBox="1"/>
          <p:nvPr/>
        </p:nvSpPr>
        <p:spPr>
          <a:xfrm>
            <a:off x="7013448" y="1389888"/>
            <a:ext cx="4389120" cy="1243584"/>
          </a:xfrm>
          <a:prstGeom prst="rect">
            <a:avLst/>
          </a:prstGeom>
          <a:noFill/>
          <a:ln/>
        </p:spPr>
        <p:txBody>
          <a:bodyPr wrap="square" lIns="0" tIns="0" rIns="0" bIns="0" rtlCol="0" anchor="ctr"/>
          <a:lstStyle/>
          <a:p>
            <a:pPr marL="0" indent="0" algn="l">
              <a:buNone/>
            </a:pPr>
            <a:r>
              <a:rPr lang="en-US" sz="1450" dirty="0">
                <a:solidFill>
                  <a:srgbClr val="1E2533"/>
                </a:solidFill>
                <a:latin typeface="Calibri" pitchFamily="34" charset="0"/>
                <a:ea typeface="Calibri" pitchFamily="34" charset="-122"/>
                <a:cs typeface="Calibri" pitchFamily="34" charset="-120"/>
              </a:rPr>
              <a:t>Why did VaR models fail to warn of losses in March 2020? What would you add to a VaR-based limit system?</a:t>
            </a:r>
            <a:endParaRPr lang="en-US" sz="1450" dirty="0"/>
          </a:p>
        </p:txBody>
      </p:sp>
      <p:sp>
        <p:nvSpPr>
          <p:cNvPr id="14" name="Shape 12"/>
          <p:cNvSpPr/>
          <p:nvPr/>
        </p:nvSpPr>
        <p:spPr>
          <a:xfrm>
            <a:off x="502920" y="2971800"/>
            <a:ext cx="5394960"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5" name="Shape 13"/>
          <p:cNvSpPr/>
          <p:nvPr/>
        </p:nvSpPr>
        <p:spPr>
          <a:xfrm>
            <a:off x="685800" y="3200400"/>
            <a:ext cx="502920" cy="502920"/>
          </a:xfrm>
          <a:prstGeom prst="ellipse">
            <a:avLst/>
          </a:prstGeom>
          <a:solidFill>
            <a:srgbClr val="14213D"/>
          </a:solidFill>
          <a:ln w="12700">
            <a:solidFill>
              <a:srgbClr val="14213D"/>
            </a:solidFill>
            <a:prstDash val="solid"/>
          </a:ln>
        </p:spPr>
      </p:sp>
      <p:sp>
        <p:nvSpPr>
          <p:cNvPr id="16" name="Text 14"/>
          <p:cNvSpPr txBox="1"/>
          <p:nvPr/>
        </p:nvSpPr>
        <p:spPr>
          <a:xfrm>
            <a:off x="685800" y="3200400"/>
            <a:ext cx="502920" cy="50292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Q3</a:t>
            </a:r>
            <a:endParaRPr lang="en-US" sz="1300" dirty="0"/>
          </a:p>
        </p:txBody>
      </p:sp>
      <p:sp>
        <p:nvSpPr>
          <p:cNvPr id="17" name="Text 15"/>
          <p:cNvSpPr txBox="1"/>
          <p:nvPr/>
        </p:nvSpPr>
        <p:spPr>
          <a:xfrm>
            <a:off x="1371600" y="3081528"/>
            <a:ext cx="4389120" cy="1243584"/>
          </a:xfrm>
          <a:prstGeom prst="rect">
            <a:avLst/>
          </a:prstGeom>
          <a:noFill/>
          <a:ln/>
        </p:spPr>
        <p:txBody>
          <a:bodyPr wrap="square" lIns="0" tIns="0" rIns="0" bIns="0" rtlCol="0" anchor="ctr"/>
          <a:lstStyle/>
          <a:p>
            <a:pPr marL="0" indent="0" algn="l">
              <a:buNone/>
            </a:pPr>
            <a:r>
              <a:rPr lang="en-US" sz="1450" dirty="0">
                <a:solidFill>
                  <a:srgbClr val="1E2533"/>
                </a:solidFill>
                <a:latin typeface="Calibri" pitchFamily="34" charset="0"/>
                <a:ea typeface="Calibri" pitchFamily="34" charset="-122"/>
                <a:cs typeface="Calibri" pitchFamily="34" charset="-120"/>
              </a:rPr>
              <a:t>Should a listed Indian exporter hedge 100% of its dollar receivables? Discuss using the objective of stable earnings and shareholder value.</a:t>
            </a:r>
            <a:endParaRPr lang="en-US" sz="1450" dirty="0"/>
          </a:p>
        </p:txBody>
      </p:sp>
      <p:sp>
        <p:nvSpPr>
          <p:cNvPr id="18" name="Shape 16"/>
          <p:cNvSpPr/>
          <p:nvPr/>
        </p:nvSpPr>
        <p:spPr>
          <a:xfrm>
            <a:off x="6144768" y="2971800"/>
            <a:ext cx="5394960"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19" name="Shape 17"/>
          <p:cNvSpPr/>
          <p:nvPr/>
        </p:nvSpPr>
        <p:spPr>
          <a:xfrm>
            <a:off x="6327648" y="3200400"/>
            <a:ext cx="502920" cy="502920"/>
          </a:xfrm>
          <a:prstGeom prst="ellipse">
            <a:avLst/>
          </a:prstGeom>
          <a:solidFill>
            <a:srgbClr val="14213D"/>
          </a:solidFill>
          <a:ln w="12700">
            <a:solidFill>
              <a:srgbClr val="14213D"/>
            </a:solidFill>
            <a:prstDash val="solid"/>
          </a:ln>
        </p:spPr>
      </p:sp>
      <p:sp>
        <p:nvSpPr>
          <p:cNvPr id="20" name="Text 18"/>
          <p:cNvSpPr txBox="1"/>
          <p:nvPr/>
        </p:nvSpPr>
        <p:spPr>
          <a:xfrm>
            <a:off x="6327648" y="3200400"/>
            <a:ext cx="502920" cy="50292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Q4</a:t>
            </a:r>
            <a:endParaRPr lang="en-US" sz="1300" dirty="0"/>
          </a:p>
        </p:txBody>
      </p:sp>
      <p:sp>
        <p:nvSpPr>
          <p:cNvPr id="21" name="Text 19"/>
          <p:cNvSpPr txBox="1"/>
          <p:nvPr/>
        </p:nvSpPr>
        <p:spPr>
          <a:xfrm>
            <a:off x="7013448" y="3081528"/>
            <a:ext cx="4389120" cy="1243584"/>
          </a:xfrm>
          <a:prstGeom prst="rect">
            <a:avLst/>
          </a:prstGeom>
          <a:noFill/>
          <a:ln/>
        </p:spPr>
        <p:txBody>
          <a:bodyPr wrap="square" lIns="0" tIns="0" rIns="0" bIns="0" rtlCol="0" anchor="ctr"/>
          <a:lstStyle/>
          <a:p>
            <a:pPr marL="0" indent="0" algn="l">
              <a:buNone/>
            </a:pPr>
            <a:r>
              <a:rPr lang="en-US" sz="1450" dirty="0">
                <a:solidFill>
                  <a:srgbClr val="1E2533"/>
                </a:solidFill>
                <a:latin typeface="Calibri" pitchFamily="34" charset="0"/>
                <a:ea typeface="Calibri" pitchFamily="34" charset="-122"/>
                <a:cs typeface="Calibri" pitchFamily="34" charset="-120"/>
              </a:rPr>
              <a:t>Compare the governance failures at IL&amp;FS and Yes Bank. Which line of defence failed in each case?</a:t>
            </a:r>
            <a:endParaRPr lang="en-US" sz="1450" dirty="0"/>
          </a:p>
        </p:txBody>
      </p:sp>
      <p:sp>
        <p:nvSpPr>
          <p:cNvPr id="22" name="Shape 20"/>
          <p:cNvSpPr/>
          <p:nvPr/>
        </p:nvSpPr>
        <p:spPr>
          <a:xfrm>
            <a:off x="502920" y="4663440"/>
            <a:ext cx="5394960"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3" name="Shape 21"/>
          <p:cNvSpPr/>
          <p:nvPr/>
        </p:nvSpPr>
        <p:spPr>
          <a:xfrm>
            <a:off x="685800" y="4892040"/>
            <a:ext cx="502920" cy="502920"/>
          </a:xfrm>
          <a:prstGeom prst="ellipse">
            <a:avLst/>
          </a:prstGeom>
          <a:solidFill>
            <a:srgbClr val="14213D"/>
          </a:solidFill>
          <a:ln w="12700">
            <a:solidFill>
              <a:srgbClr val="14213D"/>
            </a:solidFill>
            <a:prstDash val="solid"/>
          </a:ln>
        </p:spPr>
      </p:sp>
      <p:sp>
        <p:nvSpPr>
          <p:cNvPr id="24" name="Text 22"/>
          <p:cNvSpPr txBox="1"/>
          <p:nvPr/>
        </p:nvSpPr>
        <p:spPr>
          <a:xfrm>
            <a:off x="685800" y="4892040"/>
            <a:ext cx="502920" cy="50292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Q5</a:t>
            </a:r>
            <a:endParaRPr lang="en-US" sz="1300" dirty="0"/>
          </a:p>
        </p:txBody>
      </p:sp>
      <p:sp>
        <p:nvSpPr>
          <p:cNvPr id="25" name="Text 23"/>
          <p:cNvSpPr txBox="1"/>
          <p:nvPr/>
        </p:nvSpPr>
        <p:spPr>
          <a:xfrm>
            <a:off x="1371600" y="4773168"/>
            <a:ext cx="4389120" cy="1243584"/>
          </a:xfrm>
          <a:prstGeom prst="rect">
            <a:avLst/>
          </a:prstGeom>
          <a:noFill/>
          <a:ln/>
        </p:spPr>
        <p:txBody>
          <a:bodyPr wrap="square" lIns="0" tIns="0" rIns="0" bIns="0" rtlCol="0" anchor="ctr"/>
          <a:lstStyle/>
          <a:p>
            <a:pPr marL="0" indent="0" algn="l">
              <a:buNone/>
            </a:pPr>
            <a:r>
              <a:rPr lang="en-US" sz="1450" dirty="0">
                <a:solidFill>
                  <a:srgbClr val="1E2533"/>
                </a:solidFill>
                <a:latin typeface="Calibri" pitchFamily="34" charset="0"/>
                <a:ea typeface="Calibri" pitchFamily="34" charset="-122"/>
                <a:cs typeface="Calibri" pitchFamily="34" charset="-120"/>
              </a:rPr>
              <a:t>A university holds its corpus in bank fixed deposits. Identify its credit, interest rate, liquidity and concentration risks and propose three KRIs.</a:t>
            </a:r>
            <a:endParaRPr lang="en-US" sz="1450" dirty="0"/>
          </a:p>
        </p:txBody>
      </p:sp>
      <p:sp>
        <p:nvSpPr>
          <p:cNvPr id="26" name="Shape 24"/>
          <p:cNvSpPr/>
          <p:nvPr/>
        </p:nvSpPr>
        <p:spPr>
          <a:xfrm>
            <a:off x="6144768" y="4663440"/>
            <a:ext cx="5394960" cy="1463040"/>
          </a:xfrm>
          <a:prstGeom prst="roundRect">
            <a:avLst>
              <a:gd name="adj" fmla="val 5000"/>
            </a:avLst>
          </a:prstGeom>
          <a:solidFill>
            <a:srgbClr val="FFFFFF"/>
          </a:solidFill>
          <a:ln w="9525">
            <a:solidFill>
              <a:srgbClr val="FFFFFF"/>
            </a:solidFill>
            <a:prstDash val="solid"/>
          </a:ln>
          <a:effectLst>
            <a:outerShdw blurRad="63500" dist="19050" dir="5400000" algn="bl" rotWithShape="0">
              <a:srgbClr val="000000">
                <a:alpha val="13000"/>
              </a:srgbClr>
            </a:outerShdw>
          </a:effectLst>
        </p:spPr>
      </p:sp>
      <p:sp>
        <p:nvSpPr>
          <p:cNvPr id="27" name="Shape 25"/>
          <p:cNvSpPr/>
          <p:nvPr/>
        </p:nvSpPr>
        <p:spPr>
          <a:xfrm>
            <a:off x="6327648" y="4892040"/>
            <a:ext cx="502920" cy="502920"/>
          </a:xfrm>
          <a:prstGeom prst="ellipse">
            <a:avLst/>
          </a:prstGeom>
          <a:solidFill>
            <a:srgbClr val="14213D"/>
          </a:solidFill>
          <a:ln w="12700">
            <a:solidFill>
              <a:srgbClr val="14213D"/>
            </a:solidFill>
            <a:prstDash val="solid"/>
          </a:ln>
        </p:spPr>
      </p:sp>
      <p:sp>
        <p:nvSpPr>
          <p:cNvPr id="28" name="Text 26"/>
          <p:cNvSpPr txBox="1"/>
          <p:nvPr/>
        </p:nvSpPr>
        <p:spPr>
          <a:xfrm>
            <a:off x="6327648" y="4892040"/>
            <a:ext cx="502920" cy="502920"/>
          </a:xfrm>
          <a:prstGeom prst="rect">
            <a:avLst/>
          </a:prstGeom>
          <a:noFill/>
          <a:ln/>
        </p:spPr>
        <p:txBody>
          <a:bodyPr wrap="square" lIns="0" tIns="0" rIns="0" bIns="0" rtlCol="0" anchor="ctr"/>
          <a:lstStyle/>
          <a:p>
            <a:pPr marL="0" indent="0" algn="ctr">
              <a:buNone/>
            </a:pPr>
            <a:r>
              <a:rPr lang="en-US" sz="1300" b="1" dirty="0">
                <a:solidFill>
                  <a:srgbClr val="C9A227"/>
                </a:solidFill>
                <a:latin typeface="Cambria" pitchFamily="34" charset="0"/>
                <a:ea typeface="Cambria" pitchFamily="34" charset="-122"/>
                <a:cs typeface="Cambria" pitchFamily="34" charset="-120"/>
              </a:rPr>
              <a:t>Q6</a:t>
            </a:r>
            <a:endParaRPr lang="en-US" sz="1300" dirty="0"/>
          </a:p>
        </p:txBody>
      </p:sp>
      <p:sp>
        <p:nvSpPr>
          <p:cNvPr id="29" name="Text 27"/>
          <p:cNvSpPr txBox="1"/>
          <p:nvPr/>
        </p:nvSpPr>
        <p:spPr>
          <a:xfrm>
            <a:off x="7013448" y="4773168"/>
            <a:ext cx="4389120" cy="1243584"/>
          </a:xfrm>
          <a:prstGeom prst="rect">
            <a:avLst/>
          </a:prstGeom>
          <a:noFill/>
          <a:ln/>
        </p:spPr>
        <p:txBody>
          <a:bodyPr wrap="square" lIns="0" tIns="0" rIns="0" bIns="0" rtlCol="0" anchor="ctr"/>
          <a:lstStyle/>
          <a:p>
            <a:pPr marL="0" indent="0" algn="l">
              <a:buNone/>
            </a:pPr>
            <a:r>
              <a:rPr lang="en-US" sz="1450" dirty="0">
                <a:solidFill>
                  <a:srgbClr val="1E2533"/>
                </a:solidFill>
                <a:latin typeface="Calibri" pitchFamily="34" charset="0"/>
                <a:ea typeface="Calibri" pitchFamily="34" charset="-122"/>
                <a:cs typeface="Calibri" pitchFamily="34" charset="-120"/>
              </a:rPr>
              <a:t>SEBI suspended several agricultural futures in 2021. Who bears more risk as a result, and how could they manage it without futures?</a:t>
            </a:r>
            <a:endParaRPr lang="en-US" sz="1450" dirty="0"/>
          </a:p>
        </p:txBody>
      </p:sp>
      <p:sp>
        <p:nvSpPr>
          <p:cNvPr id="30"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7F3E8"/>
        </a:solidFill>
        <a:effectLst/>
      </p:bgPr>
    </p:bg>
    <p:spTree>
      <p:nvGrpSpPr>
        <p:cNvPr id="1" name=""/>
        <p:cNvGrpSpPr/>
        <p:nvPr/>
      </p:nvGrpSpPr>
      <p:grpSpPr>
        <a:xfrm>
          <a:off x="0" y="0"/>
          <a:ext cx="0" cy="0"/>
          <a:chOff x="0" y="0"/>
          <a:chExt cx="0" cy="0"/>
        </a:xfrm>
      </p:grpSpPr>
      <p:sp>
        <p:nvSpPr>
          <p:cNvPr id="2" name="Shape 0"/>
          <p:cNvSpPr/>
          <p:nvPr/>
        </p:nvSpPr>
        <p:spPr>
          <a:xfrm>
            <a:off x="502920" y="384048"/>
            <a:ext cx="512064" cy="512064"/>
          </a:xfrm>
          <a:prstGeom prst="ellipse">
            <a:avLst/>
          </a:prstGeom>
          <a:solidFill>
            <a:srgbClr val="14213D"/>
          </a:solidFill>
          <a:ln w="12700">
            <a:solidFill>
              <a:srgbClr val="14213D"/>
            </a:solidFill>
            <a:prstDash val="solid"/>
          </a:ln>
        </p:spPr>
      </p:sp>
      <p:sp>
        <p:nvSpPr>
          <p:cNvPr id="3" name="Text 1"/>
          <p:cNvSpPr txBox="1"/>
          <p:nvPr/>
        </p:nvSpPr>
        <p:spPr>
          <a:xfrm>
            <a:off x="502920" y="384048"/>
            <a:ext cx="512064" cy="512064"/>
          </a:xfrm>
          <a:prstGeom prst="rect">
            <a:avLst/>
          </a:prstGeom>
          <a:noFill/>
          <a:ln/>
        </p:spPr>
        <p:txBody>
          <a:bodyPr wrap="square" lIns="0" tIns="0" rIns="0" bIns="0" rtlCol="0" anchor="ctr"/>
          <a:lstStyle/>
          <a:p>
            <a:pPr marL="0" indent="0" algn="ctr">
              <a:buNone/>
            </a:pPr>
            <a:r>
              <a:rPr lang="en-US" sz="1400" b="1" dirty="0">
                <a:solidFill>
                  <a:srgbClr val="C9A227"/>
                </a:solidFill>
                <a:latin typeface="Cambria" pitchFamily="34" charset="0"/>
                <a:ea typeface="Cambria" pitchFamily="34" charset="-122"/>
                <a:cs typeface="Cambria" pitchFamily="34" charset="-120"/>
              </a:rPr>
              <a:t>★</a:t>
            </a:r>
            <a:endParaRPr lang="en-US" sz="1400" dirty="0"/>
          </a:p>
        </p:txBody>
      </p:sp>
      <p:sp>
        <p:nvSpPr>
          <p:cNvPr id="4" name="Text 2"/>
          <p:cNvSpPr txBox="1"/>
          <p:nvPr/>
        </p:nvSpPr>
        <p:spPr>
          <a:xfrm>
            <a:off x="1188720" y="274320"/>
            <a:ext cx="10469880" cy="731520"/>
          </a:xfrm>
          <a:prstGeom prst="rect">
            <a:avLst/>
          </a:prstGeom>
          <a:noFill/>
          <a:ln/>
        </p:spPr>
        <p:txBody>
          <a:bodyPr wrap="square" lIns="0" tIns="0" rIns="0" bIns="0"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References and Further Reading</a:t>
            </a:r>
            <a:endParaRPr lang="en-US" sz="2600" dirty="0"/>
          </a:p>
        </p:txBody>
      </p:sp>
      <p:sp>
        <p:nvSpPr>
          <p:cNvPr id="5" name="Text 3"/>
          <p:cNvSpPr txBox="1"/>
          <p:nvPr/>
        </p:nvSpPr>
        <p:spPr>
          <a:xfrm>
            <a:off x="502920" y="6464808"/>
            <a:ext cx="7315200" cy="256032"/>
          </a:xfrm>
          <a:prstGeom prst="rect">
            <a:avLst/>
          </a:prstGeom>
          <a:noFill/>
          <a:ln/>
        </p:spPr>
        <p:txBody>
          <a:bodyPr wrap="square" lIns="0" tIns="0" rIns="0" bIns="0" rtlCol="0" anchor="ctr"/>
          <a:lstStyle/>
          <a:p>
            <a:pPr marL="0" indent="0">
              <a:buNone/>
            </a:pPr>
            <a:r>
              <a:rPr lang="en-US" sz="900" dirty="0">
                <a:solidFill>
                  <a:srgbClr val="5C6577"/>
                </a:solidFill>
                <a:latin typeface="Calibri" pitchFamily="34" charset="0"/>
                <a:ea typeface="Calibri" pitchFamily="34" charset="-122"/>
                <a:cs typeface="Calibri" pitchFamily="34" charset="-120"/>
              </a:rPr>
              <a:t>Introduction to Risk Management  |  Prof. D. Lazar</a:t>
            </a:r>
            <a:endParaRPr lang="en-US" sz="900" dirty="0"/>
          </a:p>
        </p:txBody>
      </p:sp>
      <p:graphicFrame>
        <p:nvGraphicFramePr>
          <p:cNvPr id="15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914400"/>
        </p:xfrm>
        <a:graphic>
          <a:graphicData uri="http://schemas.openxmlformats.org/drawingml/2006/table">
            <a:tbl>
              <a:tblPr/>
              <a:tblGrid>
                <a:gridCol w="6766560">
                  <a:extLst>
                    <a:ext uri="{9D8B030D-6E8A-4147-A177-3AD203B41FA5}">
                      <a16:colId xmlns:a16="http://schemas.microsoft.com/office/drawing/2014/main" val="20000"/>
                    </a:ext>
                  </a:extLst>
                </a:gridCol>
                <a:gridCol w="4416552">
                  <a:extLst>
                    <a:ext uri="{9D8B030D-6E8A-4147-A177-3AD203B41FA5}">
                      <a16:colId xmlns:a16="http://schemas.microsoft.com/office/drawing/2014/main" val="20001"/>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Source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Use in this session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Hull, J. C. Risk Management and Financial Institutions (Wiley, latest edition)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VaR, ES, backtesting, duration, credit and operational risk</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Jorion, P. Value at Risk: The New Benchmark for Managing Financial Risk (McGraw-Hill)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Parametric and historical VaR; portfolio VaR</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Hull, J. C. Options, Futures and Other Derivatives (Pearson)</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Hedge ratios, basis risk, currency and index hedging</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ISO 31000:2018 Risk management: Guidelines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Definition, principles, framework and process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4"/>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COSO (2017) Enterprise Risk Management: Integrating with Strategy and Performance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ERM components and principles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IIA (2020) The IIA's Three Lines Model</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Roles of management, risk functions and internal audit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6"/>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Basel Committee: Minimum capital requirements for market risk (FRTB, 2019); Supervisory framework for backtesting (1996)</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ES at 97.5%; traffic-light zones and plus factors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Companies Act 2013; SEBI (LODR) Regulations 2015; RBI and IRDAI master directions; NSE and MCX contract specifications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Indian governance requirements; lot sizes and contract terms</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7F3E8"/>
                    </a:solidFill>
                  </a:tcPr>
                </a:tc>
                <a:extLst>
                  <a:ext uri="{0D108BD9-81ED-4DB2-BD59-A6C34878D82A}">
                    <a16:rowId xmlns:a16="http://schemas.microsoft.com/office/drawing/2014/main" val="10008"/>
                  </a:ext>
                </a:extLst>
              </a:tr>
              <a:tr h="475488">
                <a:tc>
                  <a:txBody>
                    <a:bodyPr/>
                    <a:lstStyle/>
                    <a:p>
                      <a:pPr marL="0" indent="0" algn="l">
                        <a:buNone/>
                      </a:pPr>
                      <a:r>
                        <a:rPr lang="en-US" sz="1300" b="1" dirty="0">
                          <a:solidFill>
                            <a:srgbClr val="1E2533"/>
                          </a:solidFill>
                          <a:latin typeface="Calibri" pitchFamily="34" charset="0"/>
                          <a:ea typeface="Calibri" pitchFamily="34" charset="-122"/>
                          <a:cs typeface="Calibri" pitchFamily="34" charset="-120"/>
                        </a:rPr>
                        <a:t>Froot, Scharfstein &amp; Stein (1993), Journal of Finance</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533"/>
                          </a:solidFill>
                          <a:latin typeface="Calibri" pitchFamily="34" charset="0"/>
                          <a:ea typeface="Calibri" pitchFamily="34" charset="-122"/>
                          <a:cs typeface="Calibri" pitchFamily="34" charset="-120"/>
                        </a:rPr>
                        <a:t>Why hedging adds value: avoiding under-investment</a:t>
                      </a:r>
                      <a:endParaRPr lang="en-US" sz="1200" dirty="0"/>
                    </a:p>
                  </a:txBody>
                  <a:tcPr marL="76200" marR="76200" marT="38100" marB="38100" anchor="ctr">
                    <a:lnL w="6350" cap="flat" cmpd="sng" algn="ctr">
                      <a:solidFill>
                        <a:srgbClr val="D8D0BC"/>
                      </a:solidFill>
                      <a:prstDash val="solid"/>
                      <a:round/>
                      <a:headEnd type="none" w="med" len="med"/>
                      <a:tailEnd type="none" w="med" len="med"/>
                    </a:lnL>
                    <a:lnR w="6350" cap="flat" cmpd="sng" algn="ctr">
                      <a:solidFill>
                        <a:srgbClr val="D8D0BC"/>
                      </a:solidFill>
                      <a:prstDash val="solid"/>
                      <a:round/>
                      <a:headEnd type="none" w="med" len="med"/>
                      <a:tailEnd type="none" w="med" len="med"/>
                    </a:lnR>
                    <a:lnT w="6350" cap="flat" cmpd="sng" algn="ctr">
                      <a:solidFill>
                        <a:srgbClr val="D8D0BC"/>
                      </a:solidFill>
                      <a:prstDash val="solid"/>
                      <a:round/>
                      <a:headEnd type="none" w="med" len="med"/>
                      <a:tailEnd type="none" w="med" len="med"/>
                    </a:lnT>
                    <a:lnB w="6350" cap="flat" cmpd="sng" algn="ctr">
                      <a:solidFill>
                        <a:srgbClr val="D8D0B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01400" y="6464808"/>
            <a:ext cx="50292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C6577"/>
                </a:solidFill>
                <a:latin typeface="Calibri"/>
                <a:ea typeface="Calibri"/>
                <a:cs typeface="Calibri"/>
              </a:defRPr>
            </a:lvl1pPr>
          </a:lstStyle>
          <a:p>
            <a:pPr algn="r"/>
            <a:fld id="{F7021451-1387-4CA6-816F-3879F97B5CBC}" type="slidenum">
              <a:rPr lang="en-US" b="0"/>
              <a:t>150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24069</Words>
  <Application>Microsoft Office PowerPoint</Application>
  <PresentationFormat>Widescreen</PresentationFormat>
  <Paragraphs>3612</Paragraphs>
  <Slides>150</Slides>
  <Notes>150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150</vt:i4>
      </vt:variant>
    </vt:vector>
  </HeadingPairs>
  <TitlesOfParts>
    <vt:vector size="15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Risk Management</dc:title>
  <dc:subject>PptxGenJS Presentation</dc:subject>
  <dc:creator>Prof. D. Lazar</dc:creator>
  <cp:lastModifiedBy>HP</cp:lastModifiedBy>
  <cp:revision>2</cp:revision>
  <dcterms:created xsi:type="dcterms:W3CDTF">2026-09-11T02:18:05Z</dcterms:created>
  <dcterms:modified xsi:type="dcterms:W3CDTF">2026-09-11T02:38:13Z</dcterms:modified>
</cp:coreProperties>
</file>